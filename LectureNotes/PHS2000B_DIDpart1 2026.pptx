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8"/>
  </p:notesMasterIdLst>
  <p:sldIdLst>
    <p:sldId id="256" r:id="rId2"/>
    <p:sldId id="478" r:id="rId3"/>
    <p:sldId id="533" r:id="rId4"/>
    <p:sldId id="593" r:id="rId5"/>
    <p:sldId id="564" r:id="rId6"/>
    <p:sldId id="608" r:id="rId7"/>
    <p:sldId id="534" r:id="rId8"/>
    <p:sldId id="595" r:id="rId9"/>
    <p:sldId id="536" r:id="rId10"/>
    <p:sldId id="555" r:id="rId11"/>
    <p:sldId id="352" r:id="rId12"/>
    <p:sldId id="539" r:id="rId13"/>
    <p:sldId id="540" r:id="rId14"/>
    <p:sldId id="582" r:id="rId15"/>
    <p:sldId id="583" r:id="rId16"/>
    <p:sldId id="385" r:id="rId17"/>
    <p:sldId id="372" r:id="rId18"/>
    <p:sldId id="585" r:id="rId19"/>
    <p:sldId id="589" r:id="rId20"/>
    <p:sldId id="580" r:id="rId21"/>
    <p:sldId id="581" r:id="rId22"/>
    <p:sldId id="542" r:id="rId23"/>
    <p:sldId id="609" r:id="rId24"/>
    <p:sldId id="2677" r:id="rId25"/>
    <p:sldId id="2678" r:id="rId26"/>
    <p:sldId id="2676" r:id="rId27"/>
    <p:sldId id="587" r:id="rId28"/>
    <p:sldId id="545" r:id="rId29"/>
    <p:sldId id="546" r:id="rId30"/>
    <p:sldId id="543" r:id="rId31"/>
    <p:sldId id="588" r:id="rId32"/>
    <p:sldId id="597" r:id="rId33"/>
    <p:sldId id="2679" r:id="rId34"/>
    <p:sldId id="598" r:id="rId35"/>
    <p:sldId id="384" r:id="rId36"/>
    <p:sldId id="596" r:id="rId37"/>
    <p:sldId id="552" r:id="rId38"/>
    <p:sldId id="591" r:id="rId39"/>
    <p:sldId id="547" r:id="rId40"/>
    <p:sldId id="549" r:id="rId41"/>
    <p:sldId id="548" r:id="rId42"/>
    <p:sldId id="550" r:id="rId43"/>
    <p:sldId id="584" r:id="rId44"/>
    <p:sldId id="556" r:id="rId45"/>
    <p:sldId id="586" r:id="rId46"/>
    <p:sldId id="55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461" autoAdjust="0"/>
    <p:restoredTop sz="94660"/>
  </p:normalViewPr>
  <p:slideViewPr>
    <p:cSldViewPr snapToGrid="0">
      <p:cViewPr varScale="1">
        <p:scale>
          <a:sx n="99" d="100"/>
          <a:sy n="99" d="100"/>
        </p:scale>
        <p:origin x="200" y="6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1B01-D058-49E0-9A3D-303879822D61}" type="datetimeFigureOut">
              <a:rPr lang="en-US" smtClean="0"/>
              <a:t>4/6/26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0480-EA9E-4AEB-AFD3-F76844A6F321}" type="slidenum">
              <a:rPr lang="en-US" smtClean="0"/>
              <a:t>‹#›</a:t>
            </a:fld>
            <a:endParaRPr lang="en-US"/>
          </a:p>
        </p:txBody>
      </p:sp>
    </p:spTree>
    <p:extLst>
      <p:ext uri="{BB962C8B-B14F-4D97-AF65-F5344CB8AC3E}">
        <p14:creationId xmlns:p14="http://schemas.microsoft.com/office/powerpoint/2010/main" val="2743886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D968C-2F49-4FA7-AEDD-59EB6B4F6572}" type="slidenum">
              <a:rPr lang="en-US" smtClean="0"/>
              <a:t>11</a:t>
            </a:fld>
            <a:endParaRPr lang="en-US"/>
          </a:p>
        </p:txBody>
      </p:sp>
    </p:spTree>
    <p:extLst>
      <p:ext uri="{BB962C8B-B14F-4D97-AF65-F5344CB8AC3E}">
        <p14:creationId xmlns:p14="http://schemas.microsoft.com/office/powerpoint/2010/main" val="1248794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D968C-2F49-4FA7-AEDD-59EB6B4F6572}" type="slidenum">
              <a:rPr lang="en-US" smtClean="0"/>
              <a:t>16</a:t>
            </a:fld>
            <a:endParaRPr lang="en-US"/>
          </a:p>
        </p:txBody>
      </p:sp>
    </p:spTree>
    <p:extLst>
      <p:ext uri="{BB962C8B-B14F-4D97-AF65-F5344CB8AC3E}">
        <p14:creationId xmlns:p14="http://schemas.microsoft.com/office/powerpoint/2010/main" val="1540814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D968C-2F49-4FA7-AEDD-59EB6B4F6572}" type="slidenum">
              <a:rPr lang="en-US" smtClean="0"/>
              <a:t>17</a:t>
            </a:fld>
            <a:endParaRPr lang="en-US"/>
          </a:p>
        </p:txBody>
      </p:sp>
    </p:spTree>
    <p:extLst>
      <p:ext uri="{BB962C8B-B14F-4D97-AF65-F5344CB8AC3E}">
        <p14:creationId xmlns:p14="http://schemas.microsoft.com/office/powerpoint/2010/main" val="3214359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D968C-2F49-4FA7-AEDD-59EB6B4F6572}" type="slidenum">
              <a:rPr lang="en-US" smtClean="0"/>
              <a:t>19</a:t>
            </a:fld>
            <a:endParaRPr lang="en-US"/>
          </a:p>
        </p:txBody>
      </p:sp>
    </p:spTree>
    <p:extLst>
      <p:ext uri="{BB962C8B-B14F-4D97-AF65-F5344CB8AC3E}">
        <p14:creationId xmlns:p14="http://schemas.microsoft.com/office/powerpoint/2010/main" val="52920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93CA4-EA09-FD9E-DA31-91F2AE44F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BD7EC-D638-959C-E2AF-1BD1F505B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C876C-DFF1-CFC8-49AE-350121DB55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EDC933-01C9-F802-443E-F601B5EDD288}"/>
              </a:ext>
            </a:extLst>
          </p:cNvPr>
          <p:cNvSpPr>
            <a:spLocks noGrp="1"/>
          </p:cNvSpPr>
          <p:nvPr>
            <p:ph type="sldNum" sz="quarter" idx="10"/>
          </p:nvPr>
        </p:nvSpPr>
        <p:spPr/>
        <p:txBody>
          <a:bodyPr/>
          <a:lstStyle/>
          <a:p>
            <a:fld id="{963F5536-7C40-4D79-8D59-3C9CBA8A0204}" type="slidenum">
              <a:rPr lang="en-US" smtClean="0"/>
              <a:pPr/>
              <a:t>24</a:t>
            </a:fld>
            <a:endParaRPr lang="en-US"/>
          </a:p>
        </p:txBody>
      </p:sp>
    </p:spTree>
    <p:extLst>
      <p:ext uri="{BB962C8B-B14F-4D97-AF65-F5344CB8AC3E}">
        <p14:creationId xmlns:p14="http://schemas.microsoft.com/office/powerpoint/2010/main" val="4275113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93CA4-EA09-FD9E-DA31-91F2AE44F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BD7EC-D638-959C-E2AF-1BD1F505B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C876C-DFF1-CFC8-49AE-350121DB55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EDC933-01C9-F802-443E-F601B5EDD288}"/>
              </a:ext>
            </a:extLst>
          </p:cNvPr>
          <p:cNvSpPr>
            <a:spLocks noGrp="1"/>
          </p:cNvSpPr>
          <p:nvPr>
            <p:ph type="sldNum" sz="quarter" idx="10"/>
          </p:nvPr>
        </p:nvSpPr>
        <p:spPr/>
        <p:txBody>
          <a:bodyPr/>
          <a:lstStyle/>
          <a:p>
            <a:fld id="{963F5536-7C40-4D79-8D59-3C9CBA8A0204}" type="slidenum">
              <a:rPr lang="en-US" smtClean="0"/>
              <a:pPr/>
              <a:t>26</a:t>
            </a:fld>
            <a:endParaRPr lang="en-US"/>
          </a:p>
        </p:txBody>
      </p:sp>
    </p:spTree>
    <p:extLst>
      <p:ext uri="{BB962C8B-B14F-4D97-AF65-F5344CB8AC3E}">
        <p14:creationId xmlns:p14="http://schemas.microsoft.com/office/powerpoint/2010/main" val="41545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FD968C-2F49-4FA7-AEDD-59EB6B4F6572}" type="slidenum">
              <a:rPr lang="en-US" smtClean="0"/>
              <a:t>35</a:t>
            </a:fld>
            <a:endParaRPr lang="en-US"/>
          </a:p>
        </p:txBody>
      </p:sp>
    </p:spTree>
    <p:extLst>
      <p:ext uri="{BB962C8B-B14F-4D97-AF65-F5344CB8AC3E}">
        <p14:creationId xmlns:p14="http://schemas.microsoft.com/office/powerpoint/2010/main" val="2972810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1CAD397-B5BB-4023-976E-38841C0C4C36}" type="datetime1">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81480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C66506-50EE-42DB-AEE2-8995A27B0E7B}" type="datetime1">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99631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0F182-7112-4762-ADB3-B9B07CE16456}" type="datetime1">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542590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787B54-E113-4AE5-BA9B-8C08E4208841}" type="datetime1">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30419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6881AB-ABCB-4329-91DD-A9BDEFCCE3A2}" type="datetime1">
              <a:rPr lang="en-US" smtClean="0"/>
              <a:t>4/6/26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0800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3EBC82-A260-48AB-AB56-65B58FBE8336}" type="datetime1">
              <a:rPr lang="en-US" smtClean="0"/>
              <a:t>4/6/26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85550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C4B89A-50D7-4B43-B168-5F3F61B1E14D}" type="datetime1">
              <a:rPr lang="en-US" smtClean="0"/>
              <a:t>4/6/26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068843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22FAA5-9B88-4678-9A12-FB521DD0B3C4}" type="datetime1">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24783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80D2BC-C3EF-4EF4-B278-9B996941CEFA}" type="datetime1">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11735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95992-326D-4B53-BEDD-DBBA090A574A}" type="datetime1">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144581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614B0B-AF7F-45CA-9C29-5123FC41CEDE}" type="datetime1">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27281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3A030-2654-4989-A5C3-93EC9AAF5993}" type="datetime1">
              <a:rPr lang="en-US" smtClean="0"/>
              <a:t>4/6/26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98AAF4-35A4-40F4-A7AE-C8E2C41B9252}" type="slidenum">
              <a:rPr lang="en-US" smtClean="0"/>
              <a:t>‹#›</a:t>
            </a:fld>
            <a:endParaRPr lang="en-US"/>
          </a:p>
        </p:txBody>
      </p:sp>
    </p:spTree>
    <p:extLst>
      <p:ext uri="{BB962C8B-B14F-4D97-AF65-F5344CB8AC3E}">
        <p14:creationId xmlns:p14="http://schemas.microsoft.com/office/powerpoint/2010/main" val="370653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collections.nlm.nih.gov/ext/cholera/PDF/0050707.pdf"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ncbi.nlm.nih.gov/pmc/articles/PMC8006863/#:~:text=The%20difference%2Din%2Ddifference%20method%20is%20one%20of%20the%20oldest,relatively%20infrequently%20by%20epidemiologists%20today."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healthaffairs.org/doi/10.1377/hlthaff.2019.01835" TargetMode="External"/><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academic.oup.com/qje/article-abstract/136/3/1783/6124639"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academic.oup.com/qje/article-abstract/136/3/1783/6124639"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eb.mit.edu/14.771/www/emp_handout.pdf"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iff.healthpolicydatascience.org/"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jstor-org.ezp-prod1.hul.harvard.edu/stable/25098683?seq=1#metadata_info_tab_conten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PHS 2000 </a:t>
            </a:r>
            <a:br>
              <a:rPr lang="en-US" dirty="0"/>
            </a:br>
            <a:r>
              <a:rPr lang="en-US" dirty="0"/>
              <a:t>Econometric Methods 2026 </a:t>
            </a:r>
            <a:br>
              <a:rPr lang="en-US" dirty="0"/>
            </a:br>
            <a:r>
              <a:rPr lang="en-US" dirty="0"/>
              <a:t>Lecture 5</a:t>
            </a:r>
            <a:br>
              <a:rPr lang="en-US" dirty="0"/>
            </a:br>
            <a:r>
              <a:rPr lang="en-US" dirty="0"/>
              <a:t>ITS/DID</a:t>
            </a:r>
          </a:p>
        </p:txBody>
      </p:sp>
      <p:sp>
        <p:nvSpPr>
          <p:cNvPr id="3" name="Subtitle 2"/>
          <p:cNvSpPr>
            <a:spLocks noGrp="1"/>
          </p:cNvSpPr>
          <p:nvPr>
            <p:ph type="subTitle" idx="1"/>
          </p:nvPr>
        </p:nvSpPr>
        <p:spPr>
          <a:xfrm>
            <a:off x="1524000" y="4615543"/>
            <a:ext cx="9144000" cy="1349828"/>
          </a:xfrm>
        </p:spPr>
        <p:txBody>
          <a:bodyPr>
            <a:normAutofit/>
          </a:bodyPr>
          <a:lstStyle/>
          <a:p>
            <a:r>
              <a:rPr lang="en-US" dirty="0"/>
              <a:t>Maggie McConnell</a:t>
            </a:r>
          </a:p>
          <a:p>
            <a:r>
              <a:rPr lang="en-US" dirty="0"/>
              <a:t>Department of Global Health and Population</a:t>
            </a:r>
          </a:p>
          <a:p>
            <a:r>
              <a:rPr lang="en-US" dirty="0"/>
              <a:t>Harvard T. H. Chan School of Public Health</a:t>
            </a:r>
          </a:p>
        </p:txBody>
      </p:sp>
    </p:spTree>
    <p:extLst>
      <p:ext uri="{BB962C8B-B14F-4D97-AF65-F5344CB8AC3E}">
        <p14:creationId xmlns:p14="http://schemas.microsoft.com/office/powerpoint/2010/main" val="192452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4BD-D56D-477A-8912-82EEC4ED6B5B}"/>
              </a:ext>
            </a:extLst>
          </p:cNvPr>
          <p:cNvSpPr>
            <a:spLocks noGrp="1"/>
          </p:cNvSpPr>
          <p:nvPr>
            <p:ph type="title"/>
          </p:nvPr>
        </p:nvSpPr>
        <p:spPr/>
        <p:txBody>
          <a:bodyPr/>
          <a:lstStyle/>
          <a:p>
            <a:r>
              <a:rPr lang="en-US" dirty="0"/>
              <a:t>Plan of presentation</a:t>
            </a:r>
          </a:p>
        </p:txBody>
      </p:sp>
      <p:sp>
        <p:nvSpPr>
          <p:cNvPr id="3" name="Content Placeholder 2">
            <a:extLst>
              <a:ext uri="{FF2B5EF4-FFF2-40B4-BE49-F238E27FC236}">
                <a16:creationId xmlns:a16="http://schemas.microsoft.com/office/drawing/2014/main" id="{1FFFEA00-08D8-4FF1-80C7-0297A5F0BFFE}"/>
              </a:ext>
            </a:extLst>
          </p:cNvPr>
          <p:cNvSpPr>
            <a:spLocks noGrp="1"/>
          </p:cNvSpPr>
          <p:nvPr>
            <p:ph idx="1"/>
          </p:nvPr>
        </p:nvSpPr>
        <p:spPr/>
        <p:txBody>
          <a:bodyPr>
            <a:normAutofit/>
          </a:bodyPr>
          <a:lstStyle/>
          <a:p>
            <a:pPr marL="514350" indent="-514350">
              <a:buFont typeface="+mj-lt"/>
              <a:buAutoNum type="arabicPeriod"/>
            </a:pPr>
            <a:r>
              <a:rPr lang="en-US" dirty="0"/>
              <a:t>Wrap-up ITS/Controlled ITS</a:t>
            </a:r>
          </a:p>
          <a:p>
            <a:pPr marL="514350" indent="-514350">
              <a:buFont typeface="+mj-lt"/>
              <a:buAutoNum type="arabicPeriod"/>
            </a:pPr>
            <a:r>
              <a:rPr lang="en-US" b="1" dirty="0"/>
              <a:t>Difference in Differences model</a:t>
            </a:r>
          </a:p>
          <a:p>
            <a:pPr marL="514350" indent="-514350">
              <a:buFont typeface="+mj-lt"/>
              <a:buAutoNum type="arabicPeriod"/>
            </a:pPr>
            <a:r>
              <a:rPr lang="en-US" dirty="0"/>
              <a:t>Example</a:t>
            </a:r>
          </a:p>
          <a:p>
            <a:pPr marL="514350" indent="-514350">
              <a:buFont typeface="+mj-lt"/>
              <a:buAutoNum type="arabicPeriod"/>
            </a:pPr>
            <a:r>
              <a:rPr lang="en-US" dirty="0"/>
              <a:t>Clustering and standard errors</a:t>
            </a:r>
          </a:p>
          <a:p>
            <a:pPr marL="514350" indent="-514350">
              <a:buFont typeface="+mj-lt"/>
              <a:buAutoNum type="arabicPeriod"/>
            </a:pPr>
            <a:r>
              <a:rPr lang="en-US" dirty="0"/>
              <a:t>Contrasting difference in differences approach with interrupted time series</a:t>
            </a:r>
          </a:p>
          <a:p>
            <a:pPr marL="0" indent="0">
              <a:buNone/>
            </a:pPr>
            <a:endParaRPr lang="en-US" dirty="0"/>
          </a:p>
        </p:txBody>
      </p:sp>
      <p:sp>
        <p:nvSpPr>
          <p:cNvPr id="4" name="Slide Number Placeholder 3">
            <a:extLst>
              <a:ext uri="{FF2B5EF4-FFF2-40B4-BE49-F238E27FC236}">
                <a16:creationId xmlns:a16="http://schemas.microsoft.com/office/drawing/2014/main" id="{3CAA4F05-9E5D-415A-8F80-BF59CD751D8C}"/>
              </a:ext>
            </a:extLst>
          </p:cNvPr>
          <p:cNvSpPr>
            <a:spLocks noGrp="1"/>
          </p:cNvSpPr>
          <p:nvPr>
            <p:ph type="sldNum" sz="quarter" idx="12"/>
          </p:nvPr>
        </p:nvSpPr>
        <p:spPr/>
        <p:txBody>
          <a:bodyPr/>
          <a:lstStyle/>
          <a:p>
            <a:fld id="{4698AAF4-35A4-40F4-A7AE-C8E2C41B9252}" type="slidenum">
              <a:rPr lang="en-US" smtClean="0"/>
              <a:t>2</a:t>
            </a:fld>
            <a:endParaRPr lang="en-US"/>
          </a:p>
        </p:txBody>
      </p:sp>
    </p:spTree>
    <p:extLst>
      <p:ext uri="{BB962C8B-B14F-4D97-AF65-F5344CB8AC3E}">
        <p14:creationId xmlns:p14="http://schemas.microsoft.com/office/powerpoint/2010/main" val="2723431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C129F-7309-4998-A800-A49BE9C8DA4E}"/>
              </a:ext>
            </a:extLst>
          </p:cNvPr>
          <p:cNvSpPr>
            <a:spLocks noGrp="1"/>
          </p:cNvSpPr>
          <p:nvPr>
            <p:ph type="title"/>
          </p:nvPr>
        </p:nvSpPr>
        <p:spPr/>
        <p:txBody>
          <a:bodyPr/>
          <a:lstStyle/>
          <a:p>
            <a:r>
              <a:rPr lang="en-US" dirty="0"/>
              <a:t>Controlled interrupted time series (CITS)</a:t>
            </a:r>
          </a:p>
        </p:txBody>
      </p:sp>
      <p:sp>
        <p:nvSpPr>
          <p:cNvPr id="3" name="Content Placeholder 2">
            <a:extLst>
              <a:ext uri="{FF2B5EF4-FFF2-40B4-BE49-F238E27FC236}">
                <a16:creationId xmlns:a16="http://schemas.microsoft.com/office/drawing/2014/main" id="{80C46A5E-1606-4D52-9B34-1D865599077B}"/>
              </a:ext>
            </a:extLst>
          </p:cNvPr>
          <p:cNvSpPr>
            <a:spLocks noGrp="1"/>
          </p:cNvSpPr>
          <p:nvPr>
            <p:ph idx="1"/>
          </p:nvPr>
        </p:nvSpPr>
        <p:spPr>
          <a:xfrm>
            <a:off x="838200" y="1772816"/>
            <a:ext cx="10515600" cy="4948659"/>
          </a:xfrm>
        </p:spPr>
        <p:txBody>
          <a:bodyPr>
            <a:normAutofit fontScale="92500" lnSpcReduction="20000"/>
          </a:bodyPr>
          <a:lstStyle/>
          <a:p>
            <a:r>
              <a:rPr lang="en-US" dirty="0"/>
              <a:t>What kind of confounding do we worry about with ITS?</a:t>
            </a:r>
          </a:p>
          <a:p>
            <a:endParaRPr lang="en-US" dirty="0"/>
          </a:p>
          <a:p>
            <a:r>
              <a:rPr lang="en-US" dirty="0"/>
              <a:t>Given worries about confounding over time </a:t>
            </a:r>
            <a:r>
              <a:rPr lang="en-US" dirty="0">
                <a:sym typeface="Wingdings" pitchFamily="2" charset="2"/>
              </a:rPr>
              <a:t> would be nice to have control regions</a:t>
            </a:r>
            <a:endParaRPr lang="en-US" dirty="0"/>
          </a:p>
          <a:p>
            <a:pPr lvl="1"/>
            <a:r>
              <a:rPr lang="en-US" dirty="0"/>
              <a:t>These areas did not get the treatment and should not see a treatment effect</a:t>
            </a:r>
          </a:p>
          <a:p>
            <a:pPr lvl="1"/>
            <a:r>
              <a:rPr lang="en-US" dirty="0"/>
              <a:t>If we do see “treatment” effect in control areas, suggests the “intervention” effect due to some common factor affecting both the treated &amp; control areas</a:t>
            </a:r>
          </a:p>
          <a:p>
            <a:endParaRPr lang="en-US" dirty="0"/>
          </a:p>
          <a:p>
            <a:r>
              <a:rPr lang="en-US" dirty="0"/>
              <a:t>Assume we have a second region/hospital that did not get the intervention. This is the control group.</a:t>
            </a:r>
          </a:p>
          <a:p>
            <a:pPr marL="0" indent="0">
              <a:buNone/>
            </a:pPr>
            <a:endParaRPr lang="en-US" dirty="0"/>
          </a:p>
          <a:p>
            <a:r>
              <a:rPr lang="en-US" dirty="0"/>
              <a:t>Counterfactual – jump and change in trend in the control group would have been the same as in the treatment group without treatment </a:t>
            </a:r>
          </a:p>
          <a:p>
            <a:endParaRPr lang="en-US" dirty="0"/>
          </a:p>
        </p:txBody>
      </p:sp>
      <p:sp>
        <p:nvSpPr>
          <p:cNvPr id="4" name="Slide Number Placeholder 3">
            <a:extLst>
              <a:ext uri="{FF2B5EF4-FFF2-40B4-BE49-F238E27FC236}">
                <a16:creationId xmlns:a16="http://schemas.microsoft.com/office/drawing/2014/main" id="{A0141B9B-D167-4F9D-9663-4DF5209E87EC}"/>
              </a:ext>
            </a:extLst>
          </p:cNvPr>
          <p:cNvSpPr>
            <a:spLocks noGrp="1"/>
          </p:cNvSpPr>
          <p:nvPr>
            <p:ph type="sldNum" sz="quarter" idx="12"/>
          </p:nvPr>
        </p:nvSpPr>
        <p:spPr/>
        <p:txBody>
          <a:bodyPr/>
          <a:lstStyle/>
          <a:p>
            <a:fld id="{4698AAF4-35A4-40F4-A7AE-C8E2C41B9252}" type="slidenum">
              <a:rPr lang="en-US" smtClean="0"/>
              <a:t>3</a:t>
            </a:fld>
            <a:endParaRPr lang="en-US"/>
          </a:p>
        </p:txBody>
      </p:sp>
    </p:spTree>
    <p:extLst>
      <p:ext uri="{BB962C8B-B14F-4D97-AF65-F5344CB8AC3E}">
        <p14:creationId xmlns:p14="http://schemas.microsoft.com/office/powerpoint/2010/main" val="151891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56CC1-CBFC-4F23-A44B-BEE0457D0190}"/>
              </a:ext>
            </a:extLst>
          </p:cNvPr>
          <p:cNvSpPr>
            <a:spLocks noGrp="1"/>
          </p:cNvSpPr>
          <p:nvPr>
            <p:ph type="title"/>
          </p:nvPr>
        </p:nvSpPr>
        <p:spPr/>
        <p:txBody>
          <a:bodyPr/>
          <a:lstStyle/>
          <a:p>
            <a:r>
              <a:rPr lang="en-US" dirty="0"/>
              <a:t>Controlled Interrupted Time Series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E9F43C-D348-494F-8AB2-487E19883D20}"/>
                  </a:ext>
                </a:extLst>
              </p:cNvPr>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𝑖</m:t>
                          </m:r>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𝛽</m:t>
                      </m:r>
                      <m:r>
                        <m:rPr>
                          <m:nor/>
                        </m:rPr>
                        <a:rPr lang="en-US" baseline="-25000" dirty="0"/>
                        <m:t>1</m:t>
                      </m:r>
                      <m:r>
                        <a:rPr lang="en-US" i="1">
                          <a:latin typeface="Cambria Math" panose="02040503050406030204" pitchFamily="18" charset="0"/>
                        </a:rPr>
                        <m:t>𝑡𝑖𝑚𝑒</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𝑃𝑜𝑠𝑡</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rPr>
                        <m:t>𝑃𝑜𝑠𝑡</m:t>
                      </m:r>
                      <m:r>
                        <a:rPr lang="en-US" i="1">
                          <a:latin typeface="Cambria Math" panose="02040503050406030204" pitchFamily="18" charset="0"/>
                        </a:rPr>
                        <m:t>∗</m:t>
                      </m:r>
                      <m:r>
                        <a:rPr lang="en-US" i="1">
                          <a:latin typeface="Cambria Math" panose="02040503050406030204" pitchFamily="18" charset="0"/>
                        </a:rPr>
                        <m:t>𝑡𝑖𝑚𝑒</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rPr>
                        <m:t>𝑇𝑟𝑒𝑎𝑡𝑒𝑑</m:t>
                      </m:r>
                      <m:r>
                        <a:rPr lang="en-US" i="1">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5</m:t>
                              </m:r>
                            </m:sub>
                          </m:sSub>
                          <m:r>
                            <a:rPr lang="en-US" i="1">
                              <a:latin typeface="Cambria Math" panose="02040503050406030204" pitchFamily="18" charset="0"/>
                            </a:rPr>
                            <m:t>𝑡𝑖𝑚𝑒</m:t>
                          </m:r>
                          <m:r>
                            <a:rPr lang="en-US" i="1">
                              <a:latin typeface="Cambria Math" panose="02040503050406030204" pitchFamily="18" charset="0"/>
                            </a:rPr>
                            <m:t>∗</m:t>
                          </m:r>
                          <m:r>
                            <a:rPr lang="en-US" b="0" i="1" smtClean="0">
                              <a:latin typeface="Cambria Math" panose="02040503050406030204" pitchFamily="18" charset="0"/>
                            </a:rPr>
                            <m:t>𝑇𝑟𝑒𝑎𝑡𝑒𝑑</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6</m:t>
                              </m:r>
                            </m:sub>
                          </m:sSub>
                          <m:r>
                            <a:rPr lang="en-US" b="0" i="1" smtClean="0">
                              <a:latin typeface="Cambria Math" panose="02040503050406030204" pitchFamily="18" charset="0"/>
                            </a:rPr>
                            <m:t>𝑇𝑟𝑒𝑎𝑡𝑒𝑑</m:t>
                          </m:r>
                          <m:r>
                            <a:rPr lang="en-US" i="1">
                              <a:latin typeface="Cambria Math" panose="02040503050406030204" pitchFamily="18" charset="0"/>
                            </a:rPr>
                            <m:t>∗</m:t>
                          </m:r>
                          <m:r>
                            <a:rPr lang="en-US" i="1">
                              <a:latin typeface="Cambria Math" panose="02040503050406030204" pitchFamily="18" charset="0"/>
                            </a:rPr>
                            <m:t>𝑃𝑜𝑠𝑡</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7</m:t>
                              </m:r>
                            </m:sub>
                          </m:sSub>
                          <m:r>
                            <a:rPr lang="en-US" i="1">
                              <a:latin typeface="Cambria Math" panose="02040503050406030204" pitchFamily="18" charset="0"/>
                            </a:rPr>
                            <m:t>𝑡𝑖𝑚𝑒</m:t>
                          </m:r>
                          <m:r>
                            <a:rPr lang="en-US" i="1">
                              <a:latin typeface="Cambria Math" panose="02040503050406030204" pitchFamily="18" charset="0"/>
                            </a:rPr>
                            <m:t>∗</m:t>
                          </m:r>
                          <m:r>
                            <a:rPr lang="en-US" i="1">
                              <a:latin typeface="Cambria Math" panose="02040503050406030204" pitchFamily="18" charset="0"/>
                            </a:rPr>
                            <m:t>𝑃𝑜𝑠𝑡</m:t>
                          </m:r>
                          <m:r>
                            <a:rPr lang="en-US" b="0" i="1" smtClean="0">
                              <a:latin typeface="Cambria Math" panose="02040503050406030204" pitchFamily="18" charset="0"/>
                            </a:rPr>
                            <m:t>∗</m:t>
                          </m:r>
                          <m:r>
                            <a:rPr lang="en-US" b="0" i="1" smtClean="0">
                              <a:latin typeface="Cambria Math" panose="02040503050406030204" pitchFamily="18" charset="0"/>
                            </a:rPr>
                            <m:t>𝑇𝑟𝑒𝑎𝑡𝑒𝑑</m:t>
                          </m:r>
                          <m:r>
                            <a:rPr lang="en-US" i="1">
                              <a:latin typeface="Cambria Math" panose="02040503050406030204" pitchFamily="18" charset="0"/>
                            </a:rPr>
                            <m:t>+</m:t>
                          </m:r>
                          <m:r>
                            <a:rPr lang="en-US" b="0" i="1" smtClean="0">
                              <a:latin typeface="Cambria Math" panose="02040503050406030204" pitchFamily="18" charset="0"/>
                            </a:rPr>
                            <m:t>𝜖</m:t>
                          </m:r>
                        </m:e>
                        <m:sub>
                          <m:r>
                            <a:rPr lang="en-US" b="0" i="1" smtClean="0">
                              <a:latin typeface="Cambria Math" panose="02040503050406030204" pitchFamily="18" charset="0"/>
                            </a:rPr>
                            <m:t>𝑖𝑡</m:t>
                          </m:r>
                        </m:sub>
                      </m:sSub>
                    </m:oMath>
                  </m:oMathPara>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𝑖𝑡</m:t>
                        </m:r>
                      </m:sub>
                    </m:sSub>
                  </m:oMath>
                </a14:m>
                <a:r>
                  <a:rPr lang="en-US" dirty="0"/>
                  <a:t>: Outcome of interest at time </a:t>
                </a:r>
                <a14:m>
                  <m:oMath xmlns:m="http://schemas.openxmlformats.org/officeDocument/2006/math">
                    <m:r>
                      <a:rPr lang="en-US" b="0" i="1" smtClean="0">
                        <a:latin typeface="Cambria Math" panose="02040503050406030204" pitchFamily="18" charset="0"/>
                      </a:rPr>
                      <m:t>𝑡</m:t>
                    </m:r>
                  </m:oMath>
                </a14:m>
                <a:r>
                  <a:rPr lang="en-US" b="0" dirty="0"/>
                  <a:t> in region </a:t>
                </a:r>
                <a:r>
                  <a:rPr lang="en-US" b="0" dirty="0" err="1"/>
                  <a:t>i</a:t>
                </a:r>
                <a:endParaRPr lang="en-US" b="0" dirty="0"/>
              </a:p>
              <a:p>
                <a14:m>
                  <m:oMath xmlns:m="http://schemas.openxmlformats.org/officeDocument/2006/math">
                    <m:r>
                      <a:rPr lang="en-US" b="0" i="1" smtClean="0">
                        <a:latin typeface="Cambria Math" panose="02040503050406030204" pitchFamily="18" charset="0"/>
                      </a:rPr>
                      <m:t>𝑃𝑜𝑠𝑡</m:t>
                    </m:r>
                  </m:oMath>
                </a14:m>
                <a:r>
                  <a:rPr lang="en-US" dirty="0"/>
                  <a:t>: an indicator for the “post-policy change” period</a:t>
                </a:r>
              </a:p>
              <a:p>
                <a:r>
                  <a:rPr lang="en-US" i="1" dirty="0"/>
                  <a:t>Treated</a:t>
                </a:r>
                <a:r>
                  <a:rPr lang="en-US" dirty="0"/>
                  <a:t>: an indicator for the region ”treated” by the policy change</a:t>
                </a:r>
                <a:endParaRPr lang="en-US" i="1" dirty="0"/>
              </a:p>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4</m:t>
                        </m:r>
                      </m:sub>
                    </m:sSub>
                  </m:oMath>
                </a14:m>
                <a:r>
                  <a:rPr lang="en-US" dirty="0"/>
                  <a:t>: difference in levels at time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=0</m:t>
                    </m:r>
                  </m:oMath>
                </a14:m>
                <a:endParaRPr lang="en-US" dirty="0"/>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5</m:t>
                        </m:r>
                      </m:sub>
                    </m:sSub>
                  </m:oMath>
                </a14:m>
                <a:r>
                  <a:rPr lang="en-US" dirty="0"/>
                  <a:t>: difference in slope at baseline</a:t>
                </a:r>
              </a:p>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6</m:t>
                        </m:r>
                      </m:sub>
                    </m:sSub>
                  </m:oMath>
                </a14:m>
                <a:r>
                  <a:rPr lang="en-US" dirty="0"/>
                  <a:t>: difference in intercept shift post policy change (relative to shift in control)</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7</m:t>
                        </m:r>
                      </m:sub>
                    </m:sSub>
                  </m:oMath>
                </a14:m>
                <a:r>
                  <a:rPr lang="en-US" dirty="0"/>
                  <a:t>: difference in slope change (relative to change in slope in control)</a:t>
                </a:r>
              </a:p>
            </p:txBody>
          </p:sp>
        </mc:Choice>
        <mc:Fallback xmlns="">
          <p:sp>
            <p:nvSpPr>
              <p:cNvPr id="3" name="Content Placeholder 2">
                <a:extLst>
                  <a:ext uri="{FF2B5EF4-FFF2-40B4-BE49-F238E27FC236}">
                    <a16:creationId xmlns:a16="http://schemas.microsoft.com/office/drawing/2014/main" id="{DBE9F43C-D348-494F-8AB2-487E19883D20}"/>
                  </a:ext>
                </a:extLst>
              </p:cNvPr>
              <p:cNvSpPr>
                <a:spLocks noGrp="1" noRot="1" noChangeAspect="1" noMove="1" noResize="1" noEditPoints="1" noAdjustHandles="1" noChangeArrowheads="1" noChangeShapeType="1" noTextEdit="1"/>
              </p:cNvSpPr>
              <p:nvPr>
                <p:ph idx="1"/>
              </p:nvPr>
            </p:nvSpPr>
            <p:spPr>
              <a:blipFill>
                <a:blip r:embed="rId2"/>
                <a:stretch>
                  <a:fillRect l="-965" r="-121" b="-17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A56E4CF-3EC9-471D-A40A-9AAFF238E375}"/>
              </a:ext>
            </a:extLst>
          </p:cNvPr>
          <p:cNvSpPr>
            <a:spLocks noGrp="1"/>
          </p:cNvSpPr>
          <p:nvPr>
            <p:ph type="sldNum" sz="quarter" idx="12"/>
          </p:nvPr>
        </p:nvSpPr>
        <p:spPr/>
        <p:txBody>
          <a:bodyPr/>
          <a:lstStyle/>
          <a:p>
            <a:fld id="{4698AAF4-35A4-40F4-A7AE-C8E2C41B9252}" type="slidenum">
              <a:rPr lang="en-US" smtClean="0"/>
              <a:t>4</a:t>
            </a:fld>
            <a:endParaRPr lang="en-US"/>
          </a:p>
        </p:txBody>
      </p:sp>
    </p:spTree>
    <p:extLst>
      <p:ext uri="{BB962C8B-B14F-4D97-AF65-F5344CB8AC3E}">
        <p14:creationId xmlns:p14="http://schemas.microsoft.com/office/powerpoint/2010/main" val="202777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Controlled ITS</a:t>
            </a:r>
          </a:p>
        </p:txBody>
      </p:sp>
      <p:sp>
        <p:nvSpPr>
          <p:cNvPr id="3" name="Content Placeholder 2"/>
          <p:cNvSpPr>
            <a:spLocks noGrp="1"/>
          </p:cNvSpPr>
          <p:nvPr>
            <p:ph idx="1"/>
          </p:nvPr>
        </p:nvSpPr>
        <p:spPr/>
        <p:txBody>
          <a:bodyPr>
            <a:normAutofit/>
          </a:bodyPr>
          <a:lstStyle/>
          <a:p>
            <a:r>
              <a:rPr lang="en-US" dirty="0"/>
              <a:t>Control group does not need to be identical to treatment group in the pre-intervention period </a:t>
            </a:r>
          </a:p>
          <a:p>
            <a:pPr lvl="1"/>
            <a:r>
              <a:rPr lang="en-US" dirty="0"/>
              <a:t>Different intercept</a:t>
            </a:r>
          </a:p>
          <a:p>
            <a:pPr lvl="1"/>
            <a:r>
              <a:rPr lang="en-US" dirty="0"/>
              <a:t>Different slope  </a:t>
            </a:r>
          </a:p>
          <a:p>
            <a:r>
              <a:rPr lang="en-US" dirty="0"/>
              <a:t>Counterfactual: </a:t>
            </a:r>
            <a:r>
              <a:rPr lang="en-US" dirty="0">
                <a:solidFill>
                  <a:srgbClr val="FF0000"/>
                </a:solidFill>
              </a:rPr>
              <a:t>changes from trend</a:t>
            </a:r>
            <a:r>
              <a:rPr lang="en-US" dirty="0"/>
              <a:t> seen in the control group in the post intervention period would have occurred in the intervention group without the intervention</a:t>
            </a:r>
          </a:p>
          <a:p>
            <a:r>
              <a:rPr lang="en-US" dirty="0"/>
              <a:t>Less convincing if the control group is dissimilar to the treatment group </a:t>
            </a:r>
          </a:p>
          <a:p>
            <a:r>
              <a:rPr lang="en-US" dirty="0"/>
              <a:t>We have to </a:t>
            </a:r>
            <a:r>
              <a:rPr lang="en-US" u="sng" dirty="0"/>
              <a:t>really</a:t>
            </a:r>
            <a:r>
              <a:rPr lang="en-US" dirty="0"/>
              <a:t> believe our modeling of trends in the control group</a:t>
            </a:r>
          </a:p>
          <a:p>
            <a:pPr marL="0" indent="0">
              <a:buNone/>
            </a:pPr>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5</a:t>
            </a:fld>
            <a:endParaRPr lang="en-US"/>
          </a:p>
        </p:txBody>
      </p:sp>
    </p:spTree>
    <p:extLst>
      <p:ext uri="{BB962C8B-B14F-4D97-AF65-F5344CB8AC3E}">
        <p14:creationId xmlns:p14="http://schemas.microsoft.com/office/powerpoint/2010/main" val="383272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4ABCA-BEED-B36D-4504-70C4FBAE3231}"/>
              </a:ext>
            </a:extLst>
          </p:cNvPr>
          <p:cNvSpPr>
            <a:spLocks noGrp="1"/>
          </p:cNvSpPr>
          <p:nvPr>
            <p:ph type="title"/>
          </p:nvPr>
        </p:nvSpPr>
        <p:spPr>
          <a:xfrm>
            <a:off x="6507596" y="132844"/>
            <a:ext cx="5738191" cy="1325563"/>
          </a:xfrm>
        </p:spPr>
        <p:txBody>
          <a:bodyPr>
            <a:normAutofit/>
          </a:bodyPr>
          <a:lstStyle/>
          <a:p>
            <a:r>
              <a:rPr lang="en-US" sz="3600" dirty="0"/>
              <a:t>CITS Example –Contraception</a:t>
            </a:r>
          </a:p>
        </p:txBody>
      </p:sp>
      <p:sp>
        <p:nvSpPr>
          <p:cNvPr id="4" name="Slide Number Placeholder 3">
            <a:extLst>
              <a:ext uri="{FF2B5EF4-FFF2-40B4-BE49-F238E27FC236}">
                <a16:creationId xmlns:a16="http://schemas.microsoft.com/office/drawing/2014/main" id="{8FEB3ADE-5F34-ED80-C6FB-7F48582CA6F0}"/>
              </a:ext>
            </a:extLst>
          </p:cNvPr>
          <p:cNvSpPr>
            <a:spLocks noGrp="1"/>
          </p:cNvSpPr>
          <p:nvPr>
            <p:ph type="sldNum" sz="quarter" idx="12"/>
          </p:nvPr>
        </p:nvSpPr>
        <p:spPr/>
        <p:txBody>
          <a:bodyPr/>
          <a:lstStyle/>
          <a:p>
            <a:fld id="{4698AAF4-35A4-40F4-A7AE-C8E2C41B9252}" type="slidenum">
              <a:rPr lang="en-US" smtClean="0"/>
              <a:t>6</a:t>
            </a:fld>
            <a:endParaRPr lang="en-US"/>
          </a:p>
        </p:txBody>
      </p:sp>
      <p:sp>
        <p:nvSpPr>
          <p:cNvPr id="9" name="TextBox 8">
            <a:extLst>
              <a:ext uri="{FF2B5EF4-FFF2-40B4-BE49-F238E27FC236}">
                <a16:creationId xmlns:a16="http://schemas.microsoft.com/office/drawing/2014/main" id="{982F83DE-3B79-0F57-093F-BA7E024586A9}"/>
              </a:ext>
            </a:extLst>
          </p:cNvPr>
          <p:cNvSpPr txBox="1"/>
          <p:nvPr/>
        </p:nvSpPr>
        <p:spPr>
          <a:xfrm>
            <a:off x="7188200" y="1179909"/>
            <a:ext cx="4165600" cy="923330"/>
          </a:xfrm>
          <a:prstGeom prst="rect">
            <a:avLst/>
          </a:prstGeom>
          <a:noFill/>
        </p:spPr>
        <p:txBody>
          <a:bodyPr wrap="square" rtlCol="0">
            <a:spAutoFit/>
          </a:bodyPr>
          <a:lstStyle/>
          <a:p>
            <a:r>
              <a:rPr lang="en-US" u="sng" dirty="0"/>
              <a:t>Policy change</a:t>
            </a:r>
            <a:r>
              <a:rPr lang="en-US" dirty="0"/>
              <a:t>: Financial incentives for effective contraception in Medicaid</a:t>
            </a:r>
          </a:p>
          <a:p>
            <a:r>
              <a:rPr lang="en-US" dirty="0"/>
              <a:t>- why might we want a comparison group?</a:t>
            </a:r>
          </a:p>
        </p:txBody>
      </p:sp>
      <p:sp>
        <p:nvSpPr>
          <p:cNvPr id="3" name="TextBox 2">
            <a:extLst>
              <a:ext uri="{FF2B5EF4-FFF2-40B4-BE49-F238E27FC236}">
                <a16:creationId xmlns:a16="http://schemas.microsoft.com/office/drawing/2014/main" id="{180DAA99-7F04-AC18-C4C2-D390C15B3EB3}"/>
              </a:ext>
            </a:extLst>
          </p:cNvPr>
          <p:cNvSpPr txBox="1"/>
          <p:nvPr/>
        </p:nvSpPr>
        <p:spPr>
          <a:xfrm>
            <a:off x="7188200" y="2359382"/>
            <a:ext cx="4165600" cy="2308324"/>
          </a:xfrm>
          <a:prstGeom prst="rect">
            <a:avLst/>
          </a:prstGeom>
          <a:noFill/>
        </p:spPr>
        <p:txBody>
          <a:bodyPr wrap="square" rtlCol="0">
            <a:spAutoFit/>
          </a:bodyPr>
          <a:lstStyle/>
          <a:p>
            <a:r>
              <a:rPr lang="en-US" u="sng" dirty="0"/>
              <a:t>Control group</a:t>
            </a:r>
            <a:r>
              <a:rPr lang="en-US" dirty="0"/>
              <a:t>: privately insured</a:t>
            </a:r>
          </a:p>
          <a:p>
            <a:endParaRPr lang="en-US" dirty="0"/>
          </a:p>
          <a:p>
            <a:r>
              <a:rPr lang="en-US" dirty="0"/>
              <a:t>How plausible is the assumption we need for CITS to be valid?</a:t>
            </a:r>
          </a:p>
          <a:p>
            <a:r>
              <a:rPr lang="en-US" dirty="0"/>
              <a:t>- control group trends would be expected to continue for treatment group without intervention</a:t>
            </a:r>
          </a:p>
          <a:p>
            <a:endParaRPr lang="en-US" dirty="0"/>
          </a:p>
        </p:txBody>
      </p:sp>
      <p:pic>
        <p:nvPicPr>
          <p:cNvPr id="11" name="Content Placeholder 10" descr="A screenshot of a computer&#10;&#10;Description automatically generated">
            <a:extLst>
              <a:ext uri="{FF2B5EF4-FFF2-40B4-BE49-F238E27FC236}">
                <a16:creationId xmlns:a16="http://schemas.microsoft.com/office/drawing/2014/main" id="{42295A56-F0B8-3256-68FD-4E66344BD7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53809" y="5541327"/>
            <a:ext cx="5257800" cy="779124"/>
          </a:xfrm>
        </p:spPr>
      </p:pic>
      <p:pic>
        <p:nvPicPr>
          <p:cNvPr id="13" name="Picture 12" descr="A screenshot of a graph&#10;&#10;Description automatically generated">
            <a:extLst>
              <a:ext uri="{FF2B5EF4-FFF2-40B4-BE49-F238E27FC236}">
                <a16:creationId xmlns:a16="http://schemas.microsoft.com/office/drawing/2014/main" id="{774BD4B6-A206-B353-EA74-FD0B874C1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606791" cy="6858000"/>
          </a:xfrm>
          <a:prstGeom prst="rect">
            <a:avLst/>
          </a:prstGeom>
        </p:spPr>
      </p:pic>
    </p:spTree>
    <p:extLst>
      <p:ext uri="{BB962C8B-B14F-4D97-AF65-F5344CB8AC3E}">
        <p14:creationId xmlns:p14="http://schemas.microsoft.com/office/powerpoint/2010/main" val="81712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FD28-A426-4604-8A6C-40AED3370242}"/>
              </a:ext>
            </a:extLst>
          </p:cNvPr>
          <p:cNvSpPr>
            <a:spLocks noGrp="1"/>
          </p:cNvSpPr>
          <p:nvPr>
            <p:ph type="title"/>
          </p:nvPr>
        </p:nvSpPr>
        <p:spPr/>
        <p:txBody>
          <a:bodyPr/>
          <a:lstStyle/>
          <a:p>
            <a:r>
              <a:rPr lang="en-US" dirty="0"/>
              <a:t>Summary: Interrupted time series</a:t>
            </a:r>
          </a:p>
        </p:txBody>
      </p:sp>
      <p:sp>
        <p:nvSpPr>
          <p:cNvPr id="3" name="Content Placeholder 2">
            <a:extLst>
              <a:ext uri="{FF2B5EF4-FFF2-40B4-BE49-F238E27FC236}">
                <a16:creationId xmlns:a16="http://schemas.microsoft.com/office/drawing/2014/main" id="{3829A33F-85FF-4116-877D-3A92AB5E3561}"/>
              </a:ext>
            </a:extLst>
          </p:cNvPr>
          <p:cNvSpPr>
            <a:spLocks noGrp="1"/>
          </p:cNvSpPr>
          <p:nvPr>
            <p:ph idx="1"/>
          </p:nvPr>
        </p:nvSpPr>
        <p:spPr>
          <a:xfrm>
            <a:off x="838200" y="1825625"/>
            <a:ext cx="10515600" cy="4895850"/>
          </a:xfrm>
        </p:spPr>
        <p:txBody>
          <a:bodyPr>
            <a:normAutofit/>
          </a:bodyPr>
          <a:lstStyle/>
          <a:p>
            <a:r>
              <a:rPr lang="en-US" dirty="0"/>
              <a:t>ITS analysis offers an interesting empirical approach to assessing policy impact when we have routinely collected temporal data</a:t>
            </a:r>
          </a:p>
          <a:p>
            <a:endParaRPr lang="en-US" dirty="0"/>
          </a:p>
          <a:p>
            <a:r>
              <a:rPr lang="en-US" dirty="0"/>
              <a:t>The main identification assumption is that the timing of the reform is not correlated with other things affecting the outcome and observed trends in the data would have continued without the intervention </a:t>
            </a:r>
          </a:p>
          <a:p>
            <a:endParaRPr lang="en-US" dirty="0"/>
          </a:p>
          <a:p>
            <a:r>
              <a:rPr lang="en-US" b="1" dirty="0"/>
              <a:t>ITS works best if the policy start is clearly defined and impact is immediate (or predictably delayed) and large</a:t>
            </a:r>
          </a:p>
          <a:p>
            <a:endParaRPr lang="en-US" dirty="0"/>
          </a:p>
        </p:txBody>
      </p:sp>
      <p:sp>
        <p:nvSpPr>
          <p:cNvPr id="4" name="Slide Number Placeholder 3">
            <a:extLst>
              <a:ext uri="{FF2B5EF4-FFF2-40B4-BE49-F238E27FC236}">
                <a16:creationId xmlns:a16="http://schemas.microsoft.com/office/drawing/2014/main" id="{DAAF818B-404E-408C-B1B9-DC2D3FAA1899}"/>
              </a:ext>
            </a:extLst>
          </p:cNvPr>
          <p:cNvSpPr>
            <a:spLocks noGrp="1"/>
          </p:cNvSpPr>
          <p:nvPr>
            <p:ph type="sldNum" sz="quarter" idx="12"/>
          </p:nvPr>
        </p:nvSpPr>
        <p:spPr/>
        <p:txBody>
          <a:bodyPr/>
          <a:lstStyle/>
          <a:p>
            <a:fld id="{4698AAF4-35A4-40F4-A7AE-C8E2C41B9252}" type="slidenum">
              <a:rPr lang="en-US" smtClean="0"/>
              <a:t>7</a:t>
            </a:fld>
            <a:endParaRPr lang="en-US"/>
          </a:p>
        </p:txBody>
      </p:sp>
    </p:spTree>
    <p:extLst>
      <p:ext uri="{BB962C8B-B14F-4D97-AF65-F5344CB8AC3E}">
        <p14:creationId xmlns:p14="http://schemas.microsoft.com/office/powerpoint/2010/main" val="3161063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FD28-A426-4604-8A6C-40AED3370242}"/>
              </a:ext>
            </a:extLst>
          </p:cNvPr>
          <p:cNvSpPr>
            <a:spLocks noGrp="1"/>
          </p:cNvSpPr>
          <p:nvPr>
            <p:ph type="title"/>
          </p:nvPr>
        </p:nvSpPr>
        <p:spPr/>
        <p:txBody>
          <a:bodyPr/>
          <a:lstStyle/>
          <a:p>
            <a:r>
              <a:rPr lang="en-US" dirty="0"/>
              <a:t>Summary: Interrupted time series</a:t>
            </a:r>
          </a:p>
        </p:txBody>
      </p:sp>
      <p:sp>
        <p:nvSpPr>
          <p:cNvPr id="3" name="Content Placeholder 2">
            <a:extLst>
              <a:ext uri="{FF2B5EF4-FFF2-40B4-BE49-F238E27FC236}">
                <a16:creationId xmlns:a16="http://schemas.microsoft.com/office/drawing/2014/main" id="{3829A33F-85FF-4116-877D-3A92AB5E3561}"/>
              </a:ext>
            </a:extLst>
          </p:cNvPr>
          <p:cNvSpPr>
            <a:spLocks noGrp="1"/>
          </p:cNvSpPr>
          <p:nvPr>
            <p:ph idx="1"/>
          </p:nvPr>
        </p:nvSpPr>
        <p:spPr>
          <a:xfrm>
            <a:off x="838200" y="1825625"/>
            <a:ext cx="10515600" cy="4895850"/>
          </a:xfrm>
        </p:spPr>
        <p:txBody>
          <a:bodyPr>
            <a:normAutofit/>
          </a:bodyPr>
          <a:lstStyle/>
          <a:p>
            <a:r>
              <a:rPr lang="en-US" dirty="0"/>
              <a:t>CITS can offer a more robust alternative that controls for confounding changes that happened at the same time</a:t>
            </a:r>
          </a:p>
          <a:p>
            <a:endParaRPr lang="en-US" dirty="0"/>
          </a:p>
          <a:p>
            <a:r>
              <a:rPr lang="en-US" dirty="0"/>
              <a:t>Requires a credible control group that experienced the same confounding changes but not the treatment we are interested in </a:t>
            </a:r>
          </a:p>
          <a:p>
            <a:pPr lvl="1"/>
            <a:r>
              <a:rPr lang="en-US" dirty="0"/>
              <a:t>This is not always easy to find</a:t>
            </a:r>
          </a:p>
          <a:p>
            <a:pPr lvl="1"/>
            <a:r>
              <a:rPr lang="en-US" dirty="0"/>
              <a:t>We will discuss alternative strategy for finding a control group (synthetic control) tomorrow</a:t>
            </a:r>
          </a:p>
        </p:txBody>
      </p:sp>
      <p:sp>
        <p:nvSpPr>
          <p:cNvPr id="4" name="Slide Number Placeholder 3">
            <a:extLst>
              <a:ext uri="{FF2B5EF4-FFF2-40B4-BE49-F238E27FC236}">
                <a16:creationId xmlns:a16="http://schemas.microsoft.com/office/drawing/2014/main" id="{DAAF818B-404E-408C-B1B9-DC2D3FAA1899}"/>
              </a:ext>
            </a:extLst>
          </p:cNvPr>
          <p:cNvSpPr>
            <a:spLocks noGrp="1"/>
          </p:cNvSpPr>
          <p:nvPr>
            <p:ph type="sldNum" sz="quarter" idx="12"/>
          </p:nvPr>
        </p:nvSpPr>
        <p:spPr/>
        <p:txBody>
          <a:bodyPr/>
          <a:lstStyle/>
          <a:p>
            <a:fld id="{4698AAF4-35A4-40F4-A7AE-C8E2C41B9252}" type="slidenum">
              <a:rPr lang="en-US" smtClean="0"/>
              <a:t>8</a:t>
            </a:fld>
            <a:endParaRPr lang="en-US"/>
          </a:p>
        </p:txBody>
      </p:sp>
    </p:spTree>
    <p:extLst>
      <p:ext uri="{BB962C8B-B14F-4D97-AF65-F5344CB8AC3E}">
        <p14:creationId xmlns:p14="http://schemas.microsoft.com/office/powerpoint/2010/main" val="3239620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6063-6848-4FA9-9036-5BFECF0B2F3E}"/>
              </a:ext>
            </a:extLst>
          </p:cNvPr>
          <p:cNvSpPr>
            <a:spLocks noGrp="1"/>
          </p:cNvSpPr>
          <p:nvPr>
            <p:ph type="title"/>
          </p:nvPr>
        </p:nvSpPr>
        <p:spPr/>
        <p:txBody>
          <a:bodyPr/>
          <a:lstStyle/>
          <a:p>
            <a:r>
              <a:rPr lang="en-US" dirty="0"/>
              <a:t>Difference-in-Differences logic – simplest case</a:t>
            </a:r>
          </a:p>
        </p:txBody>
      </p:sp>
      <p:sp>
        <p:nvSpPr>
          <p:cNvPr id="3" name="Content Placeholder 2">
            <a:extLst>
              <a:ext uri="{FF2B5EF4-FFF2-40B4-BE49-F238E27FC236}">
                <a16:creationId xmlns:a16="http://schemas.microsoft.com/office/drawing/2014/main" id="{9950AFC8-ADDB-42CE-A2E1-1BF0B48C658C}"/>
              </a:ext>
            </a:extLst>
          </p:cNvPr>
          <p:cNvSpPr>
            <a:spLocks noGrp="1"/>
          </p:cNvSpPr>
          <p:nvPr>
            <p:ph idx="1"/>
          </p:nvPr>
        </p:nvSpPr>
        <p:spPr>
          <a:xfrm>
            <a:off x="838200" y="1825625"/>
            <a:ext cx="10515600" cy="4895850"/>
          </a:xfrm>
        </p:spPr>
        <p:txBody>
          <a:bodyPr>
            <a:normAutofit/>
          </a:bodyPr>
          <a:lstStyle/>
          <a:p>
            <a:endParaRPr lang="en-US" dirty="0"/>
          </a:p>
          <a:p>
            <a:r>
              <a:rPr lang="en-US" dirty="0"/>
              <a:t>Suppose we have two areas that are similar at baseline and one gets the intervention (treatment area) and one does not (control area)</a:t>
            </a:r>
          </a:p>
          <a:p>
            <a:endParaRPr lang="en-US" dirty="0"/>
          </a:p>
          <a:p>
            <a:r>
              <a:rPr lang="en-US" dirty="0"/>
              <a:t>If the areas are similar, we could argue that counterfactual is that the increase over baseline in the treated areas would have been similar to the increase over baseline in the control area without intervention</a:t>
            </a:r>
          </a:p>
          <a:p>
            <a:endParaRPr lang="en-US" dirty="0"/>
          </a:p>
          <a:p>
            <a:r>
              <a:rPr lang="en-US" dirty="0"/>
              <a:t>Notice this is similar to the logic of controlled ITS</a:t>
            </a:r>
          </a:p>
        </p:txBody>
      </p:sp>
      <p:sp>
        <p:nvSpPr>
          <p:cNvPr id="4" name="Slide Number Placeholder 3">
            <a:extLst>
              <a:ext uri="{FF2B5EF4-FFF2-40B4-BE49-F238E27FC236}">
                <a16:creationId xmlns:a16="http://schemas.microsoft.com/office/drawing/2014/main" id="{31E7E1C8-D616-496B-9B41-44D6B75077B9}"/>
              </a:ext>
            </a:extLst>
          </p:cNvPr>
          <p:cNvSpPr>
            <a:spLocks noGrp="1"/>
          </p:cNvSpPr>
          <p:nvPr>
            <p:ph type="sldNum" sz="quarter" idx="12"/>
          </p:nvPr>
        </p:nvSpPr>
        <p:spPr/>
        <p:txBody>
          <a:bodyPr/>
          <a:lstStyle/>
          <a:p>
            <a:fld id="{4698AAF4-35A4-40F4-A7AE-C8E2C41B9252}" type="slidenum">
              <a:rPr lang="en-US" smtClean="0"/>
              <a:t>9</a:t>
            </a:fld>
            <a:endParaRPr lang="en-US"/>
          </a:p>
        </p:txBody>
      </p:sp>
    </p:spTree>
    <p:extLst>
      <p:ext uri="{BB962C8B-B14F-4D97-AF65-F5344CB8AC3E}">
        <p14:creationId xmlns:p14="http://schemas.microsoft.com/office/powerpoint/2010/main" val="120492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Difference-in-differences estimator:</a:t>
            </a:r>
          </a:p>
        </p:txBody>
      </p:sp>
      <p:sp>
        <p:nvSpPr>
          <p:cNvPr id="3" name="Content Placeholder 2"/>
          <p:cNvSpPr>
            <a:spLocks noGrp="1"/>
          </p:cNvSpPr>
          <p:nvPr>
            <p:ph idx="1"/>
          </p:nvPr>
        </p:nvSpPr>
        <p:spPr/>
        <p:txBody>
          <a:bodyPr/>
          <a:lstStyle/>
          <a:p>
            <a:r>
              <a:rPr lang="en-US" dirty="0"/>
              <a:t>Estimate difference in outcome between post- and pre-intervention levels in program areas (“treated”)</a:t>
            </a:r>
          </a:p>
          <a:p>
            <a:r>
              <a:rPr lang="en-US" dirty="0"/>
              <a:t>Estimate difference in outcome between post- and pre-intervention levels in non-program areas (“controls”)</a:t>
            </a:r>
          </a:p>
          <a:p>
            <a:r>
              <a:rPr lang="en-US" dirty="0"/>
              <a:t>Estimate difference in changes in outcome levels between treated and controls</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10</a:t>
            </a:fld>
            <a:endParaRPr lang="en-US"/>
          </a:p>
        </p:txBody>
      </p:sp>
    </p:spTree>
    <p:extLst>
      <p:ext uri="{BB962C8B-B14F-4D97-AF65-F5344CB8AC3E}">
        <p14:creationId xmlns:p14="http://schemas.microsoft.com/office/powerpoint/2010/main" val="267455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difference</a:t>
            </a:r>
          </a:p>
        </p:txBody>
      </p:sp>
      <p:graphicFrame>
        <p:nvGraphicFramePr>
          <p:cNvPr id="4" name="Content Placeholder 3"/>
          <p:cNvGraphicFramePr>
            <a:graphicFrameLocks noGrp="1"/>
          </p:cNvGraphicFramePr>
          <p:nvPr>
            <p:ph idx="1"/>
          </p:nvPr>
        </p:nvGraphicFramePr>
        <p:xfrm>
          <a:off x="793966" y="2551018"/>
          <a:ext cx="4028373" cy="1854200"/>
        </p:xfrm>
        <a:graphic>
          <a:graphicData uri="http://schemas.openxmlformats.org/drawingml/2006/table">
            <a:tbl>
              <a:tblPr firstRow="1" bandRow="1">
                <a:tableStyleId>{5940675A-B579-460E-94D1-54222C63F5DA}</a:tableStyleId>
              </a:tblPr>
              <a:tblGrid>
                <a:gridCol w="1342791">
                  <a:extLst>
                    <a:ext uri="{9D8B030D-6E8A-4147-A177-3AD203B41FA5}">
                      <a16:colId xmlns:a16="http://schemas.microsoft.com/office/drawing/2014/main" val="788954117"/>
                    </a:ext>
                  </a:extLst>
                </a:gridCol>
                <a:gridCol w="1342791">
                  <a:extLst>
                    <a:ext uri="{9D8B030D-6E8A-4147-A177-3AD203B41FA5}">
                      <a16:colId xmlns:a16="http://schemas.microsoft.com/office/drawing/2014/main" val="1160174753"/>
                    </a:ext>
                  </a:extLst>
                </a:gridCol>
                <a:gridCol w="1342791">
                  <a:extLst>
                    <a:ext uri="{9D8B030D-6E8A-4147-A177-3AD203B41FA5}">
                      <a16:colId xmlns:a16="http://schemas.microsoft.com/office/drawing/2014/main" val="2538357744"/>
                    </a:ext>
                  </a:extLst>
                </a:gridCol>
              </a:tblGrid>
              <a:tr h="370840">
                <a:tc>
                  <a:txBody>
                    <a:bodyPr/>
                    <a:lstStyle/>
                    <a:p>
                      <a:endParaRPr lang="en-US" dirty="0"/>
                    </a:p>
                  </a:txBody>
                  <a:tcPr/>
                </a:tc>
                <a:tc>
                  <a:txBody>
                    <a:bodyPr/>
                    <a:lstStyle/>
                    <a:p>
                      <a:r>
                        <a:rPr lang="en-US" b="1" dirty="0"/>
                        <a:t>Treatment</a:t>
                      </a:r>
                    </a:p>
                  </a:txBody>
                  <a:tcPr>
                    <a:solidFill>
                      <a:srgbClr val="FFC000"/>
                    </a:solidFill>
                  </a:tcPr>
                </a:tc>
                <a:tc>
                  <a:txBody>
                    <a:bodyPr/>
                    <a:lstStyle/>
                    <a:p>
                      <a:r>
                        <a:rPr lang="en-US" b="1" dirty="0"/>
                        <a:t>Control</a:t>
                      </a:r>
                    </a:p>
                  </a:txBody>
                  <a:tcPr>
                    <a:solidFill>
                      <a:srgbClr val="92D050"/>
                    </a:solidFill>
                  </a:tcPr>
                </a:tc>
                <a:extLst>
                  <a:ext uri="{0D108BD9-81ED-4DB2-BD59-A6C34878D82A}">
                    <a16:rowId xmlns:a16="http://schemas.microsoft.com/office/drawing/2014/main" val="1110327387"/>
                  </a:ext>
                </a:extLst>
              </a:tr>
              <a:tr h="370840">
                <a:tc>
                  <a:txBody>
                    <a:bodyPr/>
                    <a:lstStyle/>
                    <a:p>
                      <a:r>
                        <a:rPr lang="en-US" b="1" dirty="0"/>
                        <a:t>Before</a:t>
                      </a:r>
                    </a:p>
                  </a:txBody>
                  <a:tcPr/>
                </a:tc>
                <a:tc>
                  <a:txBody>
                    <a:bodyPr/>
                    <a:lstStyle/>
                    <a:p>
                      <a:r>
                        <a:rPr lang="en-US" dirty="0"/>
                        <a:t>A</a:t>
                      </a:r>
                    </a:p>
                  </a:txBody>
                  <a:tcPr>
                    <a:solidFill>
                      <a:srgbClr val="FFC000"/>
                    </a:solidFill>
                  </a:tcPr>
                </a:tc>
                <a:tc>
                  <a:txBody>
                    <a:bodyPr/>
                    <a:lstStyle/>
                    <a:p>
                      <a:r>
                        <a:rPr lang="en-US" dirty="0"/>
                        <a:t>C</a:t>
                      </a:r>
                    </a:p>
                  </a:txBody>
                  <a:tcPr>
                    <a:solidFill>
                      <a:srgbClr val="92D050"/>
                    </a:solidFill>
                  </a:tcPr>
                </a:tc>
                <a:extLst>
                  <a:ext uri="{0D108BD9-81ED-4DB2-BD59-A6C34878D82A}">
                    <a16:rowId xmlns:a16="http://schemas.microsoft.com/office/drawing/2014/main" val="1787357134"/>
                  </a:ext>
                </a:extLst>
              </a:tr>
              <a:tr h="370840">
                <a:tc>
                  <a:txBody>
                    <a:bodyPr/>
                    <a:lstStyle/>
                    <a:p>
                      <a:r>
                        <a:rPr lang="en-US" b="1" dirty="0"/>
                        <a:t>After</a:t>
                      </a:r>
                    </a:p>
                  </a:txBody>
                  <a:tcPr/>
                </a:tc>
                <a:tc>
                  <a:txBody>
                    <a:bodyPr/>
                    <a:lstStyle/>
                    <a:p>
                      <a:r>
                        <a:rPr lang="en-US" dirty="0"/>
                        <a:t>B</a:t>
                      </a:r>
                    </a:p>
                  </a:txBody>
                  <a:tcPr>
                    <a:solidFill>
                      <a:srgbClr val="FFC000"/>
                    </a:solidFill>
                  </a:tcPr>
                </a:tc>
                <a:tc>
                  <a:txBody>
                    <a:bodyPr/>
                    <a:lstStyle/>
                    <a:p>
                      <a:r>
                        <a:rPr lang="en-US" dirty="0"/>
                        <a:t>D</a:t>
                      </a:r>
                    </a:p>
                  </a:txBody>
                  <a:tcPr>
                    <a:solidFill>
                      <a:srgbClr val="92D050"/>
                    </a:solidFill>
                  </a:tcPr>
                </a:tc>
                <a:extLst>
                  <a:ext uri="{0D108BD9-81ED-4DB2-BD59-A6C34878D82A}">
                    <a16:rowId xmlns:a16="http://schemas.microsoft.com/office/drawing/2014/main" val="932169063"/>
                  </a:ext>
                </a:extLst>
              </a:tr>
              <a:tr h="370840">
                <a:tc>
                  <a:txBody>
                    <a:bodyPr/>
                    <a:lstStyle/>
                    <a:p>
                      <a:r>
                        <a:rPr lang="en-US" b="1" dirty="0"/>
                        <a:t>Change</a:t>
                      </a:r>
                    </a:p>
                  </a:txBody>
                  <a:tcPr/>
                </a:tc>
                <a:tc>
                  <a:txBody>
                    <a:bodyPr/>
                    <a:lstStyle/>
                    <a:p>
                      <a:r>
                        <a:rPr lang="en-US" dirty="0"/>
                        <a:t>B-A</a:t>
                      </a:r>
                    </a:p>
                  </a:txBody>
                  <a:tcPr>
                    <a:solidFill>
                      <a:srgbClr val="FFC000"/>
                    </a:solidFill>
                  </a:tcPr>
                </a:tc>
                <a:tc>
                  <a:txBody>
                    <a:bodyPr/>
                    <a:lstStyle/>
                    <a:p>
                      <a:r>
                        <a:rPr lang="en-US" dirty="0"/>
                        <a:t>D-C</a:t>
                      </a:r>
                    </a:p>
                  </a:txBody>
                  <a:tcPr>
                    <a:solidFill>
                      <a:srgbClr val="92D050"/>
                    </a:solidFill>
                  </a:tcPr>
                </a:tc>
                <a:extLst>
                  <a:ext uri="{0D108BD9-81ED-4DB2-BD59-A6C34878D82A}">
                    <a16:rowId xmlns:a16="http://schemas.microsoft.com/office/drawing/2014/main" val="1968576149"/>
                  </a:ext>
                </a:extLst>
              </a:tr>
              <a:tr h="370840">
                <a:tc>
                  <a:txBody>
                    <a:bodyPr/>
                    <a:lstStyle/>
                    <a:p>
                      <a:r>
                        <a:rPr lang="en-US" b="1" dirty="0"/>
                        <a:t>DD</a:t>
                      </a:r>
                    </a:p>
                  </a:txBody>
                  <a:tcPr/>
                </a:tc>
                <a:tc gridSpan="2">
                  <a:txBody>
                    <a:bodyPr/>
                    <a:lstStyle/>
                    <a:p>
                      <a:pPr algn="ctr"/>
                      <a:r>
                        <a:rPr lang="en-US" dirty="0"/>
                        <a:t>( B-A ) – ( D-C )</a:t>
                      </a:r>
                    </a:p>
                  </a:txBody>
                  <a:tcPr>
                    <a:noFill/>
                  </a:tcPr>
                </a:tc>
                <a:tc hMerge="1">
                  <a:txBody>
                    <a:bodyPr/>
                    <a:lstStyle/>
                    <a:p>
                      <a:endParaRPr lang="en-US" dirty="0"/>
                    </a:p>
                  </a:txBody>
                  <a:tcPr>
                    <a:solidFill>
                      <a:srgbClr val="92D050"/>
                    </a:solidFill>
                  </a:tcPr>
                </a:tc>
                <a:extLst>
                  <a:ext uri="{0D108BD9-81ED-4DB2-BD59-A6C34878D82A}">
                    <a16:rowId xmlns:a16="http://schemas.microsoft.com/office/drawing/2014/main" val="2335676235"/>
                  </a:ext>
                </a:extLst>
              </a:tr>
            </a:tbl>
          </a:graphicData>
        </a:graphic>
      </p:graphicFrame>
      <p:sp>
        <p:nvSpPr>
          <p:cNvPr id="5" name="Rectangle 4"/>
          <p:cNvSpPr/>
          <p:nvPr/>
        </p:nvSpPr>
        <p:spPr>
          <a:xfrm>
            <a:off x="563236" y="5275022"/>
            <a:ext cx="9551461" cy="923330"/>
          </a:xfrm>
          <a:prstGeom prst="rect">
            <a:avLst/>
          </a:prstGeom>
        </p:spPr>
        <p:txBody>
          <a:bodyPr wrap="none">
            <a:spAutoFit/>
          </a:bodyPr>
          <a:lstStyle/>
          <a:p>
            <a:r>
              <a:rPr lang="en-US" dirty="0"/>
              <a:t>Did the outcomes in the treated areas improve by more than in the control areas?</a:t>
            </a:r>
          </a:p>
          <a:p>
            <a:endParaRPr lang="en-US" dirty="0"/>
          </a:p>
          <a:p>
            <a:r>
              <a:rPr lang="en-US" dirty="0"/>
              <a:t>DD = ( c</a:t>
            </a:r>
            <a:r>
              <a:rPr lang="en-US" altLang="en-US" dirty="0"/>
              <a:t>hange in treatment ) –  ( change in control )  </a:t>
            </a:r>
            <a:r>
              <a:rPr lang="en-US" dirty="0"/>
              <a:t>= ( </a:t>
            </a:r>
            <a:r>
              <a:rPr lang="en-US" dirty="0" err="1"/>
              <a:t>Treat</a:t>
            </a:r>
            <a:r>
              <a:rPr lang="en-US" baseline="30000" dirty="0" err="1"/>
              <a:t>post</a:t>
            </a:r>
            <a:r>
              <a:rPr lang="en-US" dirty="0"/>
              <a:t> - </a:t>
            </a:r>
            <a:r>
              <a:rPr lang="en-US" dirty="0" err="1"/>
              <a:t>Treat</a:t>
            </a:r>
            <a:r>
              <a:rPr lang="en-US" baseline="30000" dirty="0" err="1"/>
              <a:t>pre</a:t>
            </a:r>
            <a:r>
              <a:rPr lang="en-US" dirty="0"/>
              <a:t> ) – (</a:t>
            </a:r>
            <a:r>
              <a:rPr lang="en-US" dirty="0" err="1"/>
              <a:t>Control</a:t>
            </a:r>
            <a:r>
              <a:rPr lang="en-US" baseline="30000" dirty="0" err="1"/>
              <a:t>post</a:t>
            </a:r>
            <a:r>
              <a:rPr lang="en-US" dirty="0"/>
              <a:t> - </a:t>
            </a:r>
            <a:r>
              <a:rPr lang="en-US" dirty="0" err="1"/>
              <a:t>Control</a:t>
            </a:r>
            <a:r>
              <a:rPr lang="en-US" baseline="30000" dirty="0" err="1"/>
              <a:t>pre</a:t>
            </a:r>
            <a:r>
              <a:rPr lang="en-US" dirty="0"/>
              <a:t> ) </a:t>
            </a:r>
          </a:p>
        </p:txBody>
      </p:sp>
      <p:grpSp>
        <p:nvGrpSpPr>
          <p:cNvPr id="10" name="Group 9"/>
          <p:cNvGrpSpPr/>
          <p:nvPr/>
        </p:nvGrpSpPr>
        <p:grpSpPr>
          <a:xfrm>
            <a:off x="5964045" y="1635562"/>
            <a:ext cx="3254029" cy="2700953"/>
            <a:chOff x="891251" y="1840375"/>
            <a:chExt cx="4791919" cy="3923817"/>
          </a:xfrm>
        </p:grpSpPr>
        <p:cxnSp>
          <p:nvCxnSpPr>
            <p:cNvPr id="7" name="Straight Connector 6"/>
            <p:cNvCxnSpPr/>
            <p:nvPr/>
          </p:nvCxnSpPr>
          <p:spPr bwMode="auto">
            <a:xfrm>
              <a:off x="891251" y="1840375"/>
              <a:ext cx="0" cy="392381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891251" y="5764192"/>
              <a:ext cx="479191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6" name="Group 15"/>
          <p:cNvGrpSpPr/>
          <p:nvPr/>
        </p:nvGrpSpPr>
        <p:grpSpPr>
          <a:xfrm>
            <a:off x="6424039" y="3170987"/>
            <a:ext cx="5263476" cy="656872"/>
            <a:chOff x="6424039" y="3170987"/>
            <a:chExt cx="5263476" cy="656872"/>
          </a:xfrm>
        </p:grpSpPr>
        <p:cxnSp>
          <p:nvCxnSpPr>
            <p:cNvPr id="14" name="Straight Connector 13"/>
            <p:cNvCxnSpPr>
              <a:stCxn id="31" idx="3"/>
              <a:endCxn id="36" idx="6"/>
            </p:cNvCxnSpPr>
            <p:nvPr/>
          </p:nvCxnSpPr>
          <p:spPr bwMode="auto">
            <a:xfrm flipV="1">
              <a:off x="6756181" y="3340264"/>
              <a:ext cx="1802786" cy="31831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29" name="Group 28"/>
            <p:cNvGrpSpPr/>
            <p:nvPr/>
          </p:nvGrpSpPr>
          <p:grpSpPr>
            <a:xfrm>
              <a:off x="6424039" y="3489305"/>
              <a:ext cx="332142" cy="338554"/>
              <a:chOff x="1752599" y="3777734"/>
              <a:chExt cx="332142" cy="338554"/>
            </a:xfrm>
          </p:grpSpPr>
          <p:sp>
            <p:nvSpPr>
              <p:cNvPr id="30" name="Oval 29"/>
              <p:cNvSpPr/>
              <p:nvPr/>
            </p:nvSpPr>
            <p:spPr bwMode="auto">
              <a:xfrm>
                <a:off x="1758826" y="3804136"/>
                <a:ext cx="308468" cy="285750"/>
              </a:xfrm>
              <a:prstGeom prst="ellipse">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1" name="Rectangle 30"/>
              <p:cNvSpPr/>
              <p:nvPr/>
            </p:nvSpPr>
            <p:spPr>
              <a:xfrm>
                <a:off x="1752599" y="3777734"/>
                <a:ext cx="332142" cy="338554"/>
              </a:xfrm>
              <a:prstGeom prst="rect">
                <a:avLst/>
              </a:prstGeom>
            </p:spPr>
            <p:txBody>
              <a:bodyPr wrap="none">
                <a:spAutoFit/>
              </a:bodyPr>
              <a:lstStyle/>
              <a:p>
                <a:pPr fontAlgn="base">
                  <a:spcBef>
                    <a:spcPct val="0"/>
                  </a:spcBef>
                  <a:spcAft>
                    <a:spcPct val="0"/>
                  </a:spcAft>
                </a:pPr>
                <a:r>
                  <a:rPr lang="en-US" sz="1600" dirty="0">
                    <a:latin typeface="Arial" charset="0"/>
                  </a:rPr>
                  <a:t>C</a:t>
                </a:r>
              </a:p>
            </p:txBody>
          </p:sp>
        </p:grpSp>
        <p:grpSp>
          <p:nvGrpSpPr>
            <p:cNvPr id="35" name="Group 34"/>
            <p:cNvGrpSpPr/>
            <p:nvPr/>
          </p:nvGrpSpPr>
          <p:grpSpPr>
            <a:xfrm>
              <a:off x="8244272" y="3170987"/>
              <a:ext cx="332142" cy="338554"/>
              <a:chOff x="1752599" y="3777734"/>
              <a:chExt cx="332142" cy="338554"/>
            </a:xfrm>
          </p:grpSpPr>
          <p:sp>
            <p:nvSpPr>
              <p:cNvPr id="36" name="Oval 35"/>
              <p:cNvSpPr/>
              <p:nvPr/>
            </p:nvSpPr>
            <p:spPr bwMode="auto">
              <a:xfrm>
                <a:off x="1758826" y="3804136"/>
                <a:ext cx="308468" cy="285750"/>
              </a:xfrm>
              <a:prstGeom prst="ellipse">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7" name="Rectangle 36"/>
              <p:cNvSpPr/>
              <p:nvPr/>
            </p:nvSpPr>
            <p:spPr>
              <a:xfrm>
                <a:off x="1752599" y="3777734"/>
                <a:ext cx="332142" cy="338554"/>
              </a:xfrm>
              <a:prstGeom prst="rect">
                <a:avLst/>
              </a:prstGeom>
            </p:spPr>
            <p:txBody>
              <a:bodyPr wrap="none">
                <a:spAutoFit/>
              </a:bodyPr>
              <a:lstStyle/>
              <a:p>
                <a:pPr fontAlgn="base">
                  <a:spcBef>
                    <a:spcPct val="0"/>
                  </a:spcBef>
                  <a:spcAft>
                    <a:spcPct val="0"/>
                  </a:spcAft>
                </a:pPr>
                <a:r>
                  <a:rPr lang="en-US" sz="1600" dirty="0">
                    <a:latin typeface="Arial" charset="0"/>
                  </a:rPr>
                  <a:t>D</a:t>
                </a:r>
              </a:p>
            </p:txBody>
          </p:sp>
        </p:grpSp>
        <p:sp>
          <p:nvSpPr>
            <p:cNvPr id="46" name="Right Brace 45"/>
            <p:cNvSpPr/>
            <p:nvPr/>
          </p:nvSpPr>
          <p:spPr bwMode="auto">
            <a:xfrm>
              <a:off x="8651709" y="3352336"/>
              <a:ext cx="182249" cy="28621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48" name="Rectangle 47"/>
            <p:cNvSpPr/>
            <p:nvPr/>
          </p:nvSpPr>
          <p:spPr>
            <a:xfrm>
              <a:off x="8880336" y="3331798"/>
              <a:ext cx="2807179" cy="338554"/>
            </a:xfrm>
            <a:prstGeom prst="rect">
              <a:avLst/>
            </a:prstGeom>
          </p:spPr>
          <p:txBody>
            <a:bodyPr wrap="none">
              <a:spAutoFit/>
            </a:bodyPr>
            <a:lstStyle/>
            <a:p>
              <a:r>
                <a:rPr lang="en-US" sz="1600" dirty="0"/>
                <a:t>D-C: change in control group</a:t>
              </a:r>
            </a:p>
          </p:txBody>
        </p:sp>
      </p:grpSp>
      <p:grpSp>
        <p:nvGrpSpPr>
          <p:cNvPr id="15" name="Group 14"/>
          <p:cNvGrpSpPr/>
          <p:nvPr/>
        </p:nvGrpSpPr>
        <p:grpSpPr>
          <a:xfrm>
            <a:off x="6417316" y="1721473"/>
            <a:ext cx="5282575" cy="1570326"/>
            <a:chOff x="6417316" y="1721473"/>
            <a:chExt cx="5282575" cy="1570326"/>
          </a:xfrm>
        </p:grpSpPr>
        <p:cxnSp>
          <p:nvCxnSpPr>
            <p:cNvPr id="41" name="Straight Connector 40"/>
            <p:cNvCxnSpPr>
              <a:stCxn id="3" idx="6"/>
              <a:endCxn id="33" idx="2"/>
            </p:cNvCxnSpPr>
            <p:nvPr/>
          </p:nvCxnSpPr>
          <p:spPr bwMode="auto">
            <a:xfrm flipV="1">
              <a:off x="6732011" y="1890750"/>
              <a:ext cx="1529708" cy="1231772"/>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8" name="Group 7"/>
            <p:cNvGrpSpPr/>
            <p:nvPr/>
          </p:nvGrpSpPr>
          <p:grpSpPr>
            <a:xfrm>
              <a:off x="6417316" y="2953245"/>
              <a:ext cx="320922" cy="338554"/>
              <a:chOff x="1752599" y="3777734"/>
              <a:chExt cx="320922" cy="338554"/>
            </a:xfrm>
          </p:grpSpPr>
          <p:sp>
            <p:nvSpPr>
              <p:cNvPr id="3" name="Oval 2"/>
              <p:cNvSpPr/>
              <p:nvPr/>
            </p:nvSpPr>
            <p:spPr bwMode="auto">
              <a:xfrm>
                <a:off x="1758826" y="3804136"/>
                <a:ext cx="308468" cy="285750"/>
              </a:xfrm>
              <a:prstGeom prst="ellips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6" name="Rectangle 5"/>
              <p:cNvSpPr/>
              <p:nvPr/>
            </p:nvSpPr>
            <p:spPr>
              <a:xfrm>
                <a:off x="1752599" y="3777734"/>
                <a:ext cx="320922" cy="338554"/>
              </a:xfrm>
              <a:prstGeom prst="rect">
                <a:avLst/>
              </a:prstGeom>
            </p:spPr>
            <p:txBody>
              <a:bodyPr wrap="none">
                <a:spAutoFit/>
              </a:bodyPr>
              <a:lstStyle/>
              <a:p>
                <a:pPr fontAlgn="base">
                  <a:spcBef>
                    <a:spcPct val="0"/>
                  </a:spcBef>
                  <a:spcAft>
                    <a:spcPct val="0"/>
                  </a:spcAft>
                </a:pPr>
                <a:r>
                  <a:rPr lang="en-US" sz="1600" dirty="0">
                    <a:latin typeface="Arial" charset="0"/>
                  </a:rPr>
                  <a:t>A</a:t>
                </a:r>
              </a:p>
            </p:txBody>
          </p:sp>
        </p:grpSp>
        <p:grpSp>
          <p:nvGrpSpPr>
            <p:cNvPr id="32" name="Group 31"/>
            <p:cNvGrpSpPr/>
            <p:nvPr/>
          </p:nvGrpSpPr>
          <p:grpSpPr>
            <a:xfrm>
              <a:off x="8255492" y="1721473"/>
              <a:ext cx="320922" cy="338554"/>
              <a:chOff x="1752599" y="3777734"/>
              <a:chExt cx="320922" cy="338554"/>
            </a:xfrm>
          </p:grpSpPr>
          <p:sp>
            <p:nvSpPr>
              <p:cNvPr id="33" name="Oval 32"/>
              <p:cNvSpPr/>
              <p:nvPr/>
            </p:nvSpPr>
            <p:spPr bwMode="auto">
              <a:xfrm>
                <a:off x="1758826" y="3804136"/>
                <a:ext cx="308468" cy="285750"/>
              </a:xfrm>
              <a:prstGeom prst="ellips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4" name="Rectangle 33"/>
              <p:cNvSpPr/>
              <p:nvPr/>
            </p:nvSpPr>
            <p:spPr>
              <a:xfrm>
                <a:off x="1752599" y="3777734"/>
                <a:ext cx="320922" cy="338554"/>
              </a:xfrm>
              <a:prstGeom prst="rect">
                <a:avLst/>
              </a:prstGeom>
            </p:spPr>
            <p:txBody>
              <a:bodyPr wrap="none">
                <a:spAutoFit/>
              </a:bodyPr>
              <a:lstStyle/>
              <a:p>
                <a:pPr fontAlgn="base">
                  <a:spcBef>
                    <a:spcPct val="0"/>
                  </a:spcBef>
                  <a:spcAft>
                    <a:spcPct val="0"/>
                  </a:spcAft>
                </a:pPr>
                <a:r>
                  <a:rPr lang="en-US" sz="1600" dirty="0">
                    <a:latin typeface="Arial" charset="0"/>
                  </a:rPr>
                  <a:t>B</a:t>
                </a:r>
              </a:p>
            </p:txBody>
          </p:sp>
        </p:grpSp>
        <p:sp>
          <p:nvSpPr>
            <p:cNvPr id="49" name="Right Brace 48"/>
            <p:cNvSpPr/>
            <p:nvPr/>
          </p:nvSpPr>
          <p:spPr bwMode="auto">
            <a:xfrm>
              <a:off x="8638955" y="1890750"/>
              <a:ext cx="195004" cy="1231772"/>
            </a:xfrm>
            <a:prstGeom prst="rightBrace">
              <a:avLst>
                <a:gd name="adj1" fmla="val 8333"/>
                <a:gd name="adj2" fmla="val 87537"/>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50" name="Rectangle 49"/>
            <p:cNvSpPr/>
            <p:nvPr/>
          </p:nvSpPr>
          <p:spPr>
            <a:xfrm>
              <a:off x="8891109" y="2805346"/>
              <a:ext cx="2808782" cy="338554"/>
            </a:xfrm>
            <a:prstGeom prst="rect">
              <a:avLst/>
            </a:prstGeom>
          </p:spPr>
          <p:txBody>
            <a:bodyPr wrap="none">
              <a:spAutoFit/>
            </a:bodyPr>
            <a:lstStyle/>
            <a:p>
              <a:r>
                <a:rPr lang="en-US" sz="1600" dirty="0"/>
                <a:t>B-A: change in treated group</a:t>
              </a:r>
            </a:p>
          </p:txBody>
        </p:sp>
      </p:grpSp>
      <p:sp>
        <p:nvSpPr>
          <p:cNvPr id="58" name="Rectangle 57"/>
          <p:cNvSpPr/>
          <p:nvPr/>
        </p:nvSpPr>
        <p:spPr>
          <a:xfrm>
            <a:off x="6120270" y="4362917"/>
            <a:ext cx="462499" cy="338554"/>
          </a:xfrm>
          <a:prstGeom prst="rect">
            <a:avLst/>
          </a:prstGeom>
        </p:spPr>
        <p:txBody>
          <a:bodyPr wrap="none">
            <a:spAutoFit/>
          </a:bodyPr>
          <a:lstStyle/>
          <a:p>
            <a:r>
              <a:rPr lang="en-US" sz="1600" dirty="0"/>
              <a:t>Pre</a:t>
            </a:r>
          </a:p>
        </p:txBody>
      </p:sp>
      <p:sp>
        <p:nvSpPr>
          <p:cNvPr id="59" name="Rectangle 58"/>
          <p:cNvSpPr/>
          <p:nvPr/>
        </p:nvSpPr>
        <p:spPr>
          <a:xfrm>
            <a:off x="8079963" y="4364788"/>
            <a:ext cx="542136" cy="338554"/>
          </a:xfrm>
          <a:prstGeom prst="rect">
            <a:avLst/>
          </a:prstGeom>
        </p:spPr>
        <p:txBody>
          <a:bodyPr wrap="none">
            <a:spAutoFit/>
          </a:bodyPr>
          <a:lstStyle/>
          <a:p>
            <a:r>
              <a:rPr lang="en-US" sz="1600" dirty="0"/>
              <a:t>Post</a:t>
            </a:r>
          </a:p>
        </p:txBody>
      </p:sp>
      <p:sp>
        <p:nvSpPr>
          <p:cNvPr id="11" name="Rectangle 10"/>
          <p:cNvSpPr/>
          <p:nvPr/>
        </p:nvSpPr>
        <p:spPr bwMode="auto">
          <a:xfrm>
            <a:off x="3483770" y="2454033"/>
            <a:ext cx="1512290" cy="20322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38" name="Rectangle 37"/>
          <p:cNvSpPr/>
          <p:nvPr/>
        </p:nvSpPr>
        <p:spPr bwMode="auto">
          <a:xfrm>
            <a:off x="651153" y="4045273"/>
            <a:ext cx="4562309" cy="62864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grpSp>
        <p:nvGrpSpPr>
          <p:cNvPr id="19" name="Group 18"/>
          <p:cNvGrpSpPr/>
          <p:nvPr/>
        </p:nvGrpSpPr>
        <p:grpSpPr>
          <a:xfrm>
            <a:off x="6732011" y="1890750"/>
            <a:ext cx="5155096" cy="1234855"/>
            <a:chOff x="6732011" y="1890750"/>
            <a:chExt cx="5155096" cy="1234855"/>
          </a:xfrm>
        </p:grpSpPr>
        <p:grpSp>
          <p:nvGrpSpPr>
            <p:cNvPr id="17" name="Group 16"/>
            <p:cNvGrpSpPr/>
            <p:nvPr/>
          </p:nvGrpSpPr>
          <p:grpSpPr>
            <a:xfrm>
              <a:off x="6732011" y="1890750"/>
              <a:ext cx="5155096" cy="1234855"/>
              <a:chOff x="6732011" y="1890750"/>
              <a:chExt cx="5155096" cy="1234855"/>
            </a:xfrm>
          </p:grpSpPr>
          <p:cxnSp>
            <p:nvCxnSpPr>
              <p:cNvPr id="52" name="Straight Connector 51"/>
              <p:cNvCxnSpPr/>
              <p:nvPr/>
            </p:nvCxnSpPr>
            <p:spPr bwMode="auto">
              <a:xfrm flipV="1">
                <a:off x="6732011" y="2807287"/>
                <a:ext cx="1803282" cy="31831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53" name="Right Brace 52"/>
              <p:cNvSpPr/>
              <p:nvPr/>
            </p:nvSpPr>
            <p:spPr bwMode="auto">
              <a:xfrm>
                <a:off x="8951092" y="1890750"/>
                <a:ext cx="195004" cy="904348"/>
              </a:xfrm>
              <a:prstGeom prst="rightBrace">
                <a:avLst>
                  <a:gd name="adj1" fmla="val 8333"/>
                  <a:gd name="adj2" fmla="val 3986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54" name="Rectangle 53"/>
              <p:cNvSpPr/>
              <p:nvPr/>
            </p:nvSpPr>
            <p:spPr>
              <a:xfrm>
                <a:off x="9124812" y="1966243"/>
                <a:ext cx="2762295" cy="584775"/>
              </a:xfrm>
              <a:prstGeom prst="rect">
                <a:avLst/>
              </a:prstGeom>
            </p:spPr>
            <p:txBody>
              <a:bodyPr wrap="none">
                <a:spAutoFit/>
              </a:bodyPr>
              <a:lstStyle/>
              <a:p>
                <a:r>
                  <a:rPr lang="en-US" sz="1600" dirty="0"/>
                  <a:t>DD: change in treated group</a:t>
                </a:r>
                <a:br>
                  <a:rPr lang="en-US" sz="1600" dirty="0"/>
                </a:br>
                <a:r>
                  <a:rPr lang="en-US" sz="1600" dirty="0"/>
                  <a:t>relative to change in control</a:t>
                </a:r>
              </a:p>
            </p:txBody>
          </p:sp>
          <p:sp>
            <p:nvSpPr>
              <p:cNvPr id="56" name="Oval 55"/>
              <p:cNvSpPr/>
              <p:nvPr/>
            </p:nvSpPr>
            <p:spPr bwMode="auto">
              <a:xfrm>
                <a:off x="8259849" y="2680696"/>
                <a:ext cx="308468" cy="285750"/>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grpSp>
        <p:sp>
          <p:nvSpPr>
            <p:cNvPr id="18" name="Rectangle 17"/>
            <p:cNvSpPr/>
            <p:nvPr/>
          </p:nvSpPr>
          <p:spPr>
            <a:xfrm>
              <a:off x="8253622" y="2641093"/>
              <a:ext cx="184731" cy="369332"/>
            </a:xfrm>
            <a:prstGeom prst="rect">
              <a:avLst/>
            </a:prstGeom>
          </p:spPr>
          <p:txBody>
            <a:bodyPr wrap="none">
              <a:spAutoFit/>
            </a:bodyPr>
            <a:lstStyle/>
            <a:p>
              <a:pPr fontAlgn="base">
                <a:spcBef>
                  <a:spcPct val="0"/>
                </a:spcBef>
                <a:spcAft>
                  <a:spcPct val="0"/>
                </a:spcAft>
              </a:pPr>
              <a:endParaRPr lang="en-US" dirty="0">
                <a:latin typeface="Arial" charset="0"/>
              </a:endParaRPr>
            </a:p>
          </p:txBody>
        </p:sp>
      </p:grpSp>
      <p:sp>
        <p:nvSpPr>
          <p:cNvPr id="12" name="Slide Number Placeholder 11"/>
          <p:cNvSpPr>
            <a:spLocks noGrp="1"/>
          </p:cNvSpPr>
          <p:nvPr>
            <p:ph type="sldNum" sz="quarter" idx="12"/>
          </p:nvPr>
        </p:nvSpPr>
        <p:spPr/>
        <p:txBody>
          <a:bodyPr/>
          <a:lstStyle/>
          <a:p>
            <a:fld id="{C2E33B48-9DB3-4522-8ABC-1F69633D0FAE}" type="slidenum">
              <a:rPr lang="en-US" smtClean="0"/>
              <a:t>11</a:t>
            </a:fld>
            <a:endParaRPr lang="en-US"/>
          </a:p>
        </p:txBody>
      </p:sp>
    </p:spTree>
    <p:extLst>
      <p:ext uri="{BB962C8B-B14F-4D97-AF65-F5344CB8AC3E}">
        <p14:creationId xmlns:p14="http://schemas.microsoft.com/office/powerpoint/2010/main" val="70313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4EBE-447F-485A-9489-0BC9D04A1664}"/>
              </a:ext>
            </a:extLst>
          </p:cNvPr>
          <p:cNvSpPr>
            <a:spLocks noGrp="1"/>
          </p:cNvSpPr>
          <p:nvPr>
            <p:ph type="title"/>
          </p:nvPr>
        </p:nvSpPr>
        <p:spPr/>
        <p:txBody>
          <a:bodyPr/>
          <a:lstStyle/>
          <a:p>
            <a:r>
              <a:rPr lang="en-US" dirty="0"/>
              <a:t>Difference-in-Differences estimator: 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01050F-3D83-42D0-9D9E-533D9F76A3F9}"/>
                  </a:ext>
                </a:extLst>
              </p:cNvPr>
              <p:cNvSpPr>
                <a:spLocks noGrp="1"/>
              </p:cNvSpPr>
              <p:nvPr>
                <p:ph idx="1"/>
              </p:nvPr>
            </p:nvSpPr>
            <p:spPr/>
            <p:txBody>
              <a:bodyPr/>
              <a:lstStyle/>
              <a:p>
                <a:r>
                  <a:rPr lang="en-US" dirty="0"/>
                  <a:t>Define:</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oMath>
                </a14:m>
                <a:r>
                  <a:rPr lang="en-US" dirty="0"/>
                  <a:t>: outcome of interest</a:t>
                </a:r>
              </a:p>
              <a:p>
                <a:pPr lvl="1"/>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={0,1}</m:t>
                    </m:r>
                  </m:oMath>
                </a14:m>
                <a:r>
                  <a:rPr lang="en-US" dirty="0"/>
                  <a:t> where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m:t>
                    </m:r>
                  </m:oMath>
                </a14:m>
                <a:r>
                  <a:rPr lang="en-US" dirty="0"/>
                  <a:t> represent pre-intervention period while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=1</m:t>
                    </m:r>
                  </m:oMath>
                </a14:m>
                <a:r>
                  <a:rPr lang="en-US" dirty="0"/>
                  <a:t> represents post-intervention period</a:t>
                </a:r>
              </a:p>
              <a:p>
                <a:pPr lvl="1"/>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={0,1}</m:t>
                    </m:r>
                  </m:oMath>
                </a14:m>
                <a:r>
                  <a:rPr lang="en-US" dirty="0"/>
                  <a:t> where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=1</m:t>
                    </m:r>
                  </m:oMath>
                </a14:m>
                <a:r>
                  <a:rPr lang="en-US" dirty="0"/>
                  <a:t> indicates being in treatment group while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=0</m:t>
                    </m:r>
                  </m:oMath>
                </a14:m>
                <a:r>
                  <a:rPr lang="en-US" dirty="0"/>
                  <a:t> indicates being in control group</a:t>
                </a:r>
              </a:p>
              <a:p>
                <a:endParaRPr lang="en-US" dirty="0"/>
              </a:p>
              <a:p>
                <a:r>
                  <a:rPr lang="en-US" dirty="0"/>
                  <a:t>The basic Difference-in-Differences estimator is given by:</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dirty="0" smtClean="0">
                              <a:latin typeface="Cambria Math" panose="02040503050406030204" pitchFamily="18" charset="0"/>
                            </a:rPr>
                          </m:ctrlPr>
                        </m:dPr>
                        <m:e>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b="0" i="1" dirty="0" smtClean="0">
                                          <a:latin typeface="Cambria Math" panose="02040503050406030204" pitchFamily="18" charset="0"/>
                                        </a:rPr>
                                        <m:t>1</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𝑇</m:t>
                              </m:r>
                              <m:r>
                                <a:rPr lang="en-US" b="0" i="1" dirty="0" smtClean="0">
                                  <a:latin typeface="Cambria Math" panose="02040503050406030204" pitchFamily="18" charset="0"/>
                                </a:rPr>
                                <m:t>=1</m:t>
                              </m:r>
                            </m:e>
                          </m:d>
                          <m:r>
                            <a:rPr lang="en-US" b="0" i="1" dirty="0" smtClean="0">
                              <a:latin typeface="Cambria Math" panose="02040503050406030204" pitchFamily="18" charset="0"/>
                            </a:rPr>
                            <m:t>−</m:t>
                          </m:r>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0</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=1</m:t>
                              </m:r>
                            </m:e>
                          </m:d>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1</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=0</m:t>
                              </m:r>
                            </m:e>
                          </m:d>
                          <m:r>
                            <a:rPr lang="en-US" i="1" dirty="0">
                              <a:latin typeface="Cambria Math" panose="02040503050406030204" pitchFamily="18" charset="0"/>
                            </a:rPr>
                            <m:t>−</m:t>
                          </m:r>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0</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=0</m:t>
                              </m:r>
                            </m:e>
                          </m:d>
                        </m:e>
                      </m:d>
                    </m:oMath>
                  </m:oMathPara>
                </a14:m>
                <a:endParaRPr lang="en-US" dirty="0"/>
              </a:p>
            </p:txBody>
          </p:sp>
        </mc:Choice>
        <mc:Fallback xmlns="">
          <p:sp>
            <p:nvSpPr>
              <p:cNvPr id="3" name="Content Placeholder 2">
                <a:extLst>
                  <a:ext uri="{FF2B5EF4-FFF2-40B4-BE49-F238E27FC236}">
                    <a16:creationId xmlns:a16="http://schemas.microsoft.com/office/drawing/2014/main" id="{FF01050F-3D83-42D0-9D9E-533D9F76A3F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9C81470-EE57-4A7A-BC8F-CBD345E9477F}"/>
              </a:ext>
            </a:extLst>
          </p:cNvPr>
          <p:cNvSpPr>
            <a:spLocks noGrp="1"/>
          </p:cNvSpPr>
          <p:nvPr>
            <p:ph type="sldNum" sz="quarter" idx="12"/>
          </p:nvPr>
        </p:nvSpPr>
        <p:spPr/>
        <p:txBody>
          <a:bodyPr/>
          <a:lstStyle/>
          <a:p>
            <a:fld id="{4698AAF4-35A4-40F4-A7AE-C8E2C41B9252}" type="slidenum">
              <a:rPr lang="en-US" smtClean="0"/>
              <a:t>12</a:t>
            </a:fld>
            <a:endParaRPr lang="en-US"/>
          </a:p>
        </p:txBody>
      </p:sp>
      <p:sp>
        <p:nvSpPr>
          <p:cNvPr id="5" name="TextBox 10">
            <a:extLst>
              <a:ext uri="{FF2B5EF4-FFF2-40B4-BE49-F238E27FC236}">
                <a16:creationId xmlns:a16="http://schemas.microsoft.com/office/drawing/2014/main" id="{BF95A196-B312-402D-A149-A1D7FE19627E}"/>
              </a:ext>
            </a:extLst>
          </p:cNvPr>
          <p:cNvSpPr txBox="1">
            <a:spLocks noChangeArrowheads="1"/>
          </p:cNvSpPr>
          <p:nvPr/>
        </p:nvSpPr>
        <p:spPr bwMode="auto">
          <a:xfrm>
            <a:off x="485192" y="6094740"/>
            <a:ext cx="103542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2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b="0" dirty="0">
                <a:latin typeface="+mn-lt"/>
              </a:rPr>
              <a:t>=Dif (over time) in treatment group  –  Dif (over time) in control group</a:t>
            </a:r>
          </a:p>
        </p:txBody>
      </p:sp>
    </p:spTree>
    <p:extLst>
      <p:ext uri="{BB962C8B-B14F-4D97-AF65-F5344CB8AC3E}">
        <p14:creationId xmlns:p14="http://schemas.microsoft.com/office/powerpoint/2010/main" val="1694859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BA4B2-CDA0-4C4E-8668-DD99EEEA9388}"/>
              </a:ext>
            </a:extLst>
          </p:cNvPr>
          <p:cNvSpPr>
            <a:spLocks noGrp="1"/>
          </p:cNvSpPr>
          <p:nvPr>
            <p:ph type="title"/>
          </p:nvPr>
        </p:nvSpPr>
        <p:spPr/>
        <p:txBody>
          <a:bodyPr/>
          <a:lstStyle/>
          <a:p>
            <a:r>
              <a:rPr lang="en-US" dirty="0"/>
              <a:t>Difference-in-Differences logic</a:t>
            </a:r>
          </a:p>
        </p:txBody>
      </p:sp>
      <p:sp>
        <p:nvSpPr>
          <p:cNvPr id="3" name="Content Placeholder 2">
            <a:extLst>
              <a:ext uri="{FF2B5EF4-FFF2-40B4-BE49-F238E27FC236}">
                <a16:creationId xmlns:a16="http://schemas.microsoft.com/office/drawing/2014/main" id="{34A3A9D8-5373-40A7-924E-675E20B6272E}"/>
              </a:ext>
            </a:extLst>
          </p:cNvPr>
          <p:cNvSpPr>
            <a:spLocks noGrp="1"/>
          </p:cNvSpPr>
          <p:nvPr>
            <p:ph idx="1"/>
          </p:nvPr>
        </p:nvSpPr>
        <p:spPr>
          <a:xfrm>
            <a:off x="838200" y="1825625"/>
            <a:ext cx="10515600" cy="4895850"/>
          </a:xfrm>
        </p:spPr>
        <p:txBody>
          <a:bodyPr>
            <a:normAutofit/>
          </a:bodyPr>
          <a:lstStyle/>
          <a:p>
            <a:r>
              <a:rPr lang="en-US" dirty="0"/>
              <a:t>The real causal question is: How would the “treated” have done without the treatment? </a:t>
            </a:r>
          </a:p>
          <a:p>
            <a:r>
              <a:rPr lang="en-US" dirty="0"/>
              <a:t>Differences in differences assumes the control group can tell us </a:t>
            </a:r>
            <a:r>
              <a:rPr lang="en-US" i="1" dirty="0"/>
              <a:t>what would have </a:t>
            </a:r>
            <a:r>
              <a:rPr lang="en-US" dirty="0"/>
              <a:t>happened in the post intervention period in the treatment group with no intervention</a:t>
            </a:r>
          </a:p>
          <a:p>
            <a:endParaRPr lang="en-US" dirty="0"/>
          </a:p>
          <a:p>
            <a:r>
              <a:rPr lang="en-US" dirty="0"/>
              <a:t>The counterfactual is that if the treatment group had not got the treatment, the </a:t>
            </a:r>
            <a:r>
              <a:rPr lang="en-US" i="1" dirty="0"/>
              <a:t>change</a:t>
            </a:r>
            <a:r>
              <a:rPr lang="en-US" dirty="0"/>
              <a:t> we would have seen is the </a:t>
            </a:r>
            <a:r>
              <a:rPr lang="en-US" i="1" dirty="0"/>
              <a:t>change</a:t>
            </a:r>
            <a:r>
              <a:rPr lang="en-US" dirty="0"/>
              <a:t> observed in the control group over the same period</a:t>
            </a:r>
          </a:p>
          <a:p>
            <a:endParaRPr lang="en-US" dirty="0"/>
          </a:p>
        </p:txBody>
      </p:sp>
      <p:sp>
        <p:nvSpPr>
          <p:cNvPr id="4" name="Slide Number Placeholder 3">
            <a:extLst>
              <a:ext uri="{FF2B5EF4-FFF2-40B4-BE49-F238E27FC236}">
                <a16:creationId xmlns:a16="http://schemas.microsoft.com/office/drawing/2014/main" id="{BAA7A1C8-AC8C-463C-9FA7-1C8BD3A6CD3C}"/>
              </a:ext>
            </a:extLst>
          </p:cNvPr>
          <p:cNvSpPr>
            <a:spLocks noGrp="1"/>
          </p:cNvSpPr>
          <p:nvPr>
            <p:ph type="sldNum" sz="quarter" idx="12"/>
          </p:nvPr>
        </p:nvSpPr>
        <p:spPr/>
        <p:txBody>
          <a:bodyPr/>
          <a:lstStyle/>
          <a:p>
            <a:fld id="{4698AAF4-35A4-40F4-A7AE-C8E2C41B9252}" type="slidenum">
              <a:rPr lang="en-US" smtClean="0"/>
              <a:t>13</a:t>
            </a:fld>
            <a:endParaRPr lang="en-US"/>
          </a:p>
        </p:txBody>
      </p:sp>
    </p:spTree>
    <p:extLst>
      <p:ext uri="{BB962C8B-B14F-4D97-AF65-F5344CB8AC3E}">
        <p14:creationId xmlns:p14="http://schemas.microsoft.com/office/powerpoint/2010/main" val="292506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CC82A-A457-2752-4F84-E27F364C9744}"/>
              </a:ext>
            </a:extLst>
          </p:cNvPr>
          <p:cNvSpPr>
            <a:spLocks noGrp="1"/>
          </p:cNvSpPr>
          <p:nvPr>
            <p:ph type="title"/>
          </p:nvPr>
        </p:nvSpPr>
        <p:spPr/>
        <p:txBody>
          <a:bodyPr/>
          <a:lstStyle/>
          <a:p>
            <a:r>
              <a:rPr lang="en-US" dirty="0"/>
              <a:t>Simplest difference in difference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7C568C-7CE0-84EC-0FA7-C6798B6FBC3A}"/>
                  </a:ext>
                </a:extLst>
              </p:cNvPr>
              <p:cNvSpPr>
                <a:spLocks noGrp="1"/>
              </p:cNvSpPr>
              <p:nvPr>
                <p:ph idx="1"/>
              </p:nvPr>
            </p:nvSpPr>
            <p:spPr/>
            <p:txBody>
              <a:bodyPr/>
              <a:lstStyle/>
              <a:p>
                <a:r>
                  <a:rPr lang="en-US" dirty="0">
                    <a:effectLst/>
                    <a:latin typeface="Arial" panose="020B0604020202020204" pitchFamily="34" charset="0"/>
                  </a:rPr>
                  <a:t>The simplest difference-in-difference specification is a 2 period (pre, post) and two group (treated, control) specification:</a:t>
                </a:r>
              </a:p>
              <a:p>
                <a:endParaRPr lang="en-US" dirty="0">
                  <a:latin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rPr>
                        <m:t>+</m:t>
                      </m:r>
                      <m:r>
                        <a:rPr lang="en-US" i="1">
                          <a:latin typeface="Cambria Math" panose="02040503050406030204" pitchFamily="18" charset="0"/>
                        </a:rPr>
                        <m:t>𝛽</m:t>
                      </m:r>
                      <m:sSub>
                        <m:sSubPr>
                          <m:ctrlPr>
                            <a:rPr lang="en-US" i="1">
                              <a:latin typeface="Cambria Math" panose="02040503050406030204" pitchFamily="18" charset="0"/>
                            </a:rPr>
                          </m:ctrlPr>
                        </m:sSubPr>
                        <m:e>
                          <m:r>
                            <a:rPr lang="en-US" b="0" i="1" smtClean="0">
                              <a:latin typeface="Cambria Math" panose="02040503050406030204" pitchFamily="18" charset="0"/>
                            </a:rPr>
                            <m:t>𝑇𝑟𝑒𝑎𝑡𝑒𝑑</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b="0" i="1" smtClean="0">
                              <a:latin typeface="Cambria Math" panose="02040503050406030204" pitchFamily="18" charset="0"/>
                            </a:rPr>
                            <m:t>𝑃𝑜𝑠𝑡</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𝑇𝑟𝑒𝑎𝑡𝑒𝑑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𝑃𝑜𝑠𝑡</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𝑖𝑡</m:t>
                          </m:r>
                        </m:sub>
                      </m:sSub>
                    </m:oMath>
                  </m:oMathPara>
                </a14:m>
                <a:endParaRPr lang="en-US" dirty="0">
                  <a:effectLst/>
                  <a:latin typeface="Arial" panose="020B0604020202020204" pitchFamily="34" charset="0"/>
                </a:endParaRPr>
              </a:p>
              <a:p>
                <a:endParaRPr lang="en-US"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4B7C568C-7CE0-84EC-0FA7-C6798B6FBC3A}"/>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B810665-6C92-50C5-E4FF-F3211A7B806C}"/>
              </a:ext>
            </a:extLst>
          </p:cNvPr>
          <p:cNvSpPr>
            <a:spLocks noGrp="1"/>
          </p:cNvSpPr>
          <p:nvPr>
            <p:ph type="sldNum" sz="quarter" idx="12"/>
          </p:nvPr>
        </p:nvSpPr>
        <p:spPr/>
        <p:txBody>
          <a:bodyPr/>
          <a:lstStyle/>
          <a:p>
            <a:fld id="{4698AAF4-35A4-40F4-A7AE-C8E2C41B9252}" type="slidenum">
              <a:rPr lang="en-US" smtClean="0"/>
              <a:t>14</a:t>
            </a:fld>
            <a:endParaRPr lang="en-US"/>
          </a:p>
        </p:txBody>
      </p:sp>
    </p:spTree>
    <p:extLst>
      <p:ext uri="{BB962C8B-B14F-4D97-AF65-F5344CB8AC3E}">
        <p14:creationId xmlns:p14="http://schemas.microsoft.com/office/powerpoint/2010/main" val="77197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72C9E-99C9-7615-7CF4-8827E98DDFD2}"/>
              </a:ext>
            </a:extLst>
          </p:cNvPr>
          <p:cNvSpPr>
            <a:spLocks noGrp="1"/>
          </p:cNvSpPr>
          <p:nvPr>
            <p:ph type="title"/>
          </p:nvPr>
        </p:nvSpPr>
        <p:spPr/>
        <p:txBody>
          <a:bodyPr/>
          <a:lstStyle/>
          <a:p>
            <a:r>
              <a:rPr lang="en-US" dirty="0"/>
              <a:t>Difference in difference – another example</a:t>
            </a:r>
          </a:p>
        </p:txBody>
      </p:sp>
      <p:pic>
        <p:nvPicPr>
          <p:cNvPr id="6" name="Content Placeholder 5" descr="Chart, line chart&#10;&#10;Description automatically generated">
            <a:extLst>
              <a:ext uri="{FF2B5EF4-FFF2-40B4-BE49-F238E27FC236}">
                <a16:creationId xmlns:a16="http://schemas.microsoft.com/office/drawing/2014/main" id="{1697A2E2-316F-9EE3-913F-3BFFBEA615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1837" y="1847247"/>
            <a:ext cx="6281780" cy="4352544"/>
          </a:xfrm>
        </p:spPr>
      </p:pic>
      <p:sp>
        <p:nvSpPr>
          <p:cNvPr id="4" name="Slide Number Placeholder 3">
            <a:extLst>
              <a:ext uri="{FF2B5EF4-FFF2-40B4-BE49-F238E27FC236}">
                <a16:creationId xmlns:a16="http://schemas.microsoft.com/office/drawing/2014/main" id="{FC32AC0B-F30D-3591-E997-B450DEE59FEA}"/>
              </a:ext>
            </a:extLst>
          </p:cNvPr>
          <p:cNvSpPr>
            <a:spLocks noGrp="1"/>
          </p:cNvSpPr>
          <p:nvPr>
            <p:ph type="sldNum" sz="quarter" idx="12"/>
          </p:nvPr>
        </p:nvSpPr>
        <p:spPr/>
        <p:txBody>
          <a:bodyPr/>
          <a:lstStyle/>
          <a:p>
            <a:fld id="{4698AAF4-35A4-40F4-A7AE-C8E2C41B9252}" type="slidenum">
              <a:rPr lang="en-US" smtClean="0"/>
              <a:t>15</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5598A4F-83D3-96E7-CC3A-E7E6D7167724}"/>
                  </a:ext>
                </a:extLst>
              </p:cNvPr>
              <p:cNvSpPr txBox="1"/>
              <p:nvPr/>
            </p:nvSpPr>
            <p:spPr>
              <a:xfrm>
                <a:off x="6460564" y="2247670"/>
                <a:ext cx="4649695" cy="3416320"/>
              </a:xfrm>
              <a:prstGeom prst="rect">
                <a:avLst/>
              </a:prstGeom>
              <a:noFill/>
            </p:spPr>
            <p:txBody>
              <a:bodyPr wrap="square" rtlCol="0">
                <a:spAutoFit/>
              </a:bodyPr>
              <a:lstStyle/>
              <a:p>
                <a:r>
                  <a:rPr lang="en-US" dirty="0"/>
                  <a:t>We can compare the change over time in the treated group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α</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rPr>
                      <m:t>𝛾</m:t>
                    </m:r>
                  </m:oMath>
                </a14:m>
                <a:r>
                  <a:rPr lang="en-US"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𝛿</m:t>
                    </m:r>
                  </m:oMath>
                </a14:m>
                <a:r>
                  <a:rPr lang="en-US" dirty="0"/>
                  <a:t>)-(</a:t>
                </a:r>
                <a14:m>
                  <m:oMath xmlns:m="http://schemas.openxmlformats.org/officeDocument/2006/math">
                    <m:r>
                      <m:rPr>
                        <m:sty m:val="p"/>
                      </m:rPr>
                      <a:rPr lang="el-GR" i="1">
                        <a:latin typeface="Cambria Math" panose="02040503050406030204" pitchFamily="18" charset="0"/>
                        <a:ea typeface="Cambria Math" panose="02040503050406030204" pitchFamily="18" charset="0"/>
                      </a:rPr>
                      <m:t>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0"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a:t>
                </a:r>
                <a:r>
                  <a:rPr lang="en-US" dirty="0"/>
                  <a:t> </a:t>
                </a:r>
                <a14:m>
                  <m:oMath xmlns:m="http://schemas.openxmlformats.org/officeDocument/2006/math">
                    <m:r>
                      <a:rPr lang="en-US" i="1">
                        <a:latin typeface="Cambria Math" panose="02040503050406030204" pitchFamily="18" charset="0"/>
                      </a:rPr>
                      <m:t>𝛾</m:t>
                    </m:r>
                  </m:oMath>
                </a14:m>
                <a:r>
                  <a:rPr lang="en-US"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 </m:t>
                    </m:r>
                  </m:oMath>
                </a14:m>
                <a:r>
                  <a:rPr lang="en-US" b="0" dirty="0">
                    <a:ea typeface="Cambria Math" panose="02040503050406030204" pitchFamily="18" charset="0"/>
                  </a:rPr>
                  <a:t>to the change over time in the control grou</a:t>
                </a:r>
                <a:r>
                  <a:rPr lang="en-US" dirty="0">
                    <a:ea typeface="Cambria Math" panose="02040503050406030204" pitchFamily="18" charset="0"/>
                  </a:rPr>
                  <a:t>p (</a:t>
                </a:r>
                <a14:m>
                  <m:oMath xmlns:m="http://schemas.openxmlformats.org/officeDocument/2006/math">
                    <m:r>
                      <m:rPr>
                        <m:sty m:val="p"/>
                      </m:rPr>
                      <a:rPr lang="el-GR" i="1">
                        <a:latin typeface="Cambria Math" panose="02040503050406030204" pitchFamily="18" charset="0"/>
                        <a:ea typeface="Cambria Math" panose="02040503050406030204" pitchFamily="18" charset="0"/>
                      </a:rPr>
                      <m:t>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𝛾</m:t>
                    </m:r>
                    <m:r>
                      <a:rPr lang="en-US" b="0" i="1" smtClean="0">
                        <a:latin typeface="Cambria Math" panose="02040503050406030204" pitchFamily="18" charset="0"/>
                      </a:rPr>
                      <m:t>−</m:t>
                    </m:r>
                  </m:oMath>
                </a14:m>
                <a:r>
                  <a:rPr lang="el-GR" dirty="0">
                    <a:ea typeface="Cambria Math" panose="02040503050406030204" pitchFamily="18" charset="0"/>
                  </a:rPr>
                  <a:t> </a:t>
                </a:r>
                <a14:m>
                  <m:oMath xmlns:m="http://schemas.openxmlformats.org/officeDocument/2006/math">
                    <m:r>
                      <m:rPr>
                        <m:sty m:val="p"/>
                      </m:rPr>
                      <a:rPr lang="el-GR" i="1">
                        <a:latin typeface="Cambria Math" panose="02040503050406030204" pitchFamily="18" charset="0"/>
                        <a:ea typeface="Cambria Math" panose="02040503050406030204" pitchFamily="18" charset="0"/>
                      </a:rPr>
                      <m:t>α</m:t>
                    </m:r>
                  </m:oMath>
                </a14:m>
                <a:r>
                  <a:rPr lang="en-US" b="0" dirty="0">
                    <a:ea typeface="Cambria Math" panose="02040503050406030204" pitchFamily="18" charset="0"/>
                  </a:rPr>
                  <a:t>) =</a:t>
                </a:r>
                <a:r>
                  <a:rPr lang="en-US" dirty="0"/>
                  <a:t> </a:t>
                </a:r>
                <a14:m>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 </m:t>
                    </m:r>
                  </m:oMath>
                </a14:m>
                <a:r>
                  <a:rPr lang="en-US" b="0" dirty="0">
                    <a:ea typeface="Cambria Math" panose="02040503050406030204" pitchFamily="18" charset="0"/>
                  </a:rPr>
                  <a:t>to get the “treatment effect=</a:t>
                </a:r>
                <a14:m>
                  <m:oMath xmlns:m="http://schemas.openxmlformats.org/officeDocument/2006/math">
                    <m:r>
                      <a:rPr lang="en-US" i="1">
                        <a:latin typeface="Cambria Math" panose="02040503050406030204" pitchFamily="18" charset="0"/>
                        <a:ea typeface="Cambria Math" panose="02040503050406030204" pitchFamily="18" charset="0"/>
                      </a:rPr>
                      <m:t>𝛿</m:t>
                    </m:r>
                  </m:oMath>
                </a14:m>
                <a:endParaRPr lang="en-US" b="0" dirty="0">
                  <a:ea typeface="Cambria Math" panose="02040503050406030204" pitchFamily="18" charset="0"/>
                </a:endParaRPr>
              </a:p>
              <a:p>
                <a:endParaRPr lang="en-US" dirty="0">
                  <a:ea typeface="Cambria Math" panose="02040503050406030204" pitchFamily="18" charset="0"/>
                </a:endParaRPr>
              </a:p>
              <a:p>
                <a:r>
                  <a:rPr lang="en-US" dirty="0"/>
                  <a:t>What is the sign of </a:t>
                </a:r>
                <a14:m>
                  <m:oMath xmlns:m="http://schemas.openxmlformats.org/officeDocument/2006/math">
                    <m:r>
                      <a:rPr lang="en-US" i="1" smtClean="0">
                        <a:latin typeface="Cambria Math" panose="02040503050406030204" pitchFamily="18" charset="0"/>
                      </a:rPr>
                      <m:t>𝛾</m:t>
                    </m:r>
                  </m:oMath>
                </a14:m>
                <a:r>
                  <a:rPr lang="en-US" dirty="0"/>
                  <a:t> – the estimate of the change over time in the control group?</a:t>
                </a:r>
              </a:p>
              <a:p>
                <a:endParaRPr lang="en-US" dirty="0"/>
              </a:p>
              <a:p>
                <a:r>
                  <a:rPr lang="en-US" dirty="0"/>
                  <a:t>What about </a:t>
                </a:r>
                <a14:m>
                  <m:oMath xmlns:m="http://schemas.openxmlformats.org/officeDocument/2006/math">
                    <m:r>
                      <a:rPr lang="en-US" i="1" smtClean="0">
                        <a:latin typeface="Cambria Math" panose="02040503050406030204" pitchFamily="18" charset="0"/>
                        <a:ea typeface="Cambria Math" panose="02040503050406030204" pitchFamily="18" charset="0"/>
                      </a:rPr>
                      <m:t>𝛿</m:t>
                    </m:r>
                  </m:oMath>
                </a14:m>
                <a:r>
                  <a:rPr lang="en-US" dirty="0"/>
                  <a:t> – the estimate of the “treatment” effect?</a:t>
                </a:r>
              </a:p>
              <a:p>
                <a:endParaRPr lang="en-US" dirty="0"/>
              </a:p>
              <a:p>
                <a:endParaRPr lang="en-US" b="0" dirty="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75598A4F-83D3-96E7-CC3A-E7E6D7167724}"/>
                  </a:ext>
                </a:extLst>
              </p:cNvPr>
              <p:cNvSpPr txBox="1">
                <a:spLocks noRot="1" noChangeAspect="1" noMove="1" noResize="1" noEditPoints="1" noAdjustHandles="1" noChangeArrowheads="1" noChangeShapeType="1" noTextEdit="1"/>
              </p:cNvSpPr>
              <p:nvPr/>
            </p:nvSpPr>
            <p:spPr>
              <a:xfrm>
                <a:off x="6460564" y="2247670"/>
                <a:ext cx="4649695" cy="3416320"/>
              </a:xfrm>
              <a:prstGeom prst="rect">
                <a:avLst/>
              </a:prstGeom>
              <a:blipFill>
                <a:blip r:embed="rId3"/>
                <a:stretch>
                  <a:fillRect l="-1087" t="-1115" r="-543"/>
                </a:stretch>
              </a:blipFill>
            </p:spPr>
            <p:txBody>
              <a:bodyPr/>
              <a:lstStyle/>
              <a:p>
                <a:r>
                  <a:rPr lang="en-US">
                    <a:noFill/>
                  </a:rPr>
                  <a:t> </a:t>
                </a:r>
              </a:p>
            </p:txBody>
          </p:sp>
        </mc:Fallback>
      </mc:AlternateContent>
    </p:spTree>
    <p:extLst>
      <p:ext uri="{BB962C8B-B14F-4D97-AF65-F5344CB8AC3E}">
        <p14:creationId xmlns:p14="http://schemas.microsoft.com/office/powerpoint/2010/main" val="561638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6525"/>
            <a:ext cx="10515600" cy="1325563"/>
          </a:xfrm>
        </p:spPr>
        <p:txBody>
          <a:bodyPr/>
          <a:lstStyle/>
          <a:p>
            <a:r>
              <a:rPr lang="en-US" dirty="0"/>
              <a:t>Difference in differences is a classic strategy for generating public health evidence</a:t>
            </a:r>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16099" y="1600200"/>
            <a:ext cx="3359802" cy="4525963"/>
          </a:xfrm>
        </p:spPr>
      </p:pic>
      <p:sp>
        <p:nvSpPr>
          <p:cNvPr id="4" name="Slide Number Placeholder 3"/>
          <p:cNvSpPr>
            <a:spLocks noGrp="1"/>
          </p:cNvSpPr>
          <p:nvPr>
            <p:ph type="sldNum" sz="quarter" idx="12"/>
          </p:nvPr>
        </p:nvSpPr>
        <p:spPr/>
        <p:txBody>
          <a:bodyPr/>
          <a:lstStyle/>
          <a:p>
            <a:fld id="{C2E33B48-9DB3-4522-8ABC-1F69633D0FAE}" type="slidenum">
              <a:rPr lang="en-US" smtClean="0"/>
              <a:t>16</a:t>
            </a:fld>
            <a:endParaRPr lang="en-US"/>
          </a:p>
        </p:txBody>
      </p:sp>
    </p:spTree>
    <p:extLst>
      <p:ext uri="{BB962C8B-B14F-4D97-AF65-F5344CB8AC3E}">
        <p14:creationId xmlns:p14="http://schemas.microsoft.com/office/powerpoint/2010/main" val="74366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John Snow </a:t>
            </a:r>
            <a:r>
              <a:rPr lang="en-US" dirty="0" err="1"/>
              <a:t>DiD</a:t>
            </a:r>
            <a:r>
              <a:rPr lang="en-US" dirty="0"/>
              <a:t> analysis</a:t>
            </a:r>
          </a:p>
        </p:txBody>
      </p:sp>
      <p:sp>
        <p:nvSpPr>
          <p:cNvPr id="3" name="Content Placeholder 2"/>
          <p:cNvSpPr>
            <a:spLocks noGrp="1"/>
          </p:cNvSpPr>
          <p:nvPr>
            <p:ph idx="1"/>
          </p:nvPr>
        </p:nvSpPr>
        <p:spPr/>
        <p:txBody>
          <a:bodyPr/>
          <a:lstStyle/>
          <a:p>
            <a:r>
              <a:rPr lang="en-US" sz="2000" dirty="0"/>
              <a:t>London had cholera outbreaks in 1849 and 1853</a:t>
            </a:r>
          </a:p>
          <a:p>
            <a:r>
              <a:rPr lang="en-US" sz="2000" dirty="0"/>
              <a:t>Two water companies: Lambeth Waterworks &amp; </a:t>
            </a:r>
            <a:r>
              <a:rPr lang="en-US" sz="2000" dirty="0" err="1"/>
              <a:t>Southwark</a:t>
            </a:r>
            <a:r>
              <a:rPr lang="en-US" sz="2000" dirty="0"/>
              <a:t> and Vauxhall Water Co.</a:t>
            </a:r>
          </a:p>
          <a:p>
            <a:pPr lvl="1"/>
            <a:r>
              <a:rPr lang="en-US" sz="1800" dirty="0"/>
              <a:t>Both got their water from the Thames river</a:t>
            </a:r>
          </a:p>
          <a:p>
            <a:pPr lvl="1"/>
            <a:r>
              <a:rPr lang="en-US" sz="1800" dirty="0"/>
              <a:t>In 1852 Lambeth moved its water intake to the Thames Ditton river, which is higher upstream </a:t>
            </a:r>
          </a:p>
          <a:p>
            <a:pPr marL="457200" lvl="1" indent="0">
              <a:buNone/>
            </a:pPr>
            <a:endParaRPr lang="en-US" sz="1800" dirty="0"/>
          </a:p>
        </p:txBody>
      </p:sp>
      <p:sp>
        <p:nvSpPr>
          <p:cNvPr id="4" name="Slide Number Placeholder 3"/>
          <p:cNvSpPr>
            <a:spLocks noGrp="1"/>
          </p:cNvSpPr>
          <p:nvPr>
            <p:ph type="sldNum" sz="quarter" idx="12"/>
          </p:nvPr>
        </p:nvSpPr>
        <p:spPr/>
        <p:txBody>
          <a:bodyPr/>
          <a:lstStyle/>
          <a:p>
            <a:fld id="{C2E33B48-9DB3-4522-8ABC-1F69633D0FAE}" type="slidenum">
              <a:rPr lang="en-US" smtClean="0"/>
              <a:t>17</a:t>
            </a:fld>
            <a:endParaRPr lang="en-US"/>
          </a:p>
        </p:txBody>
      </p:sp>
      <p:pic>
        <p:nvPicPr>
          <p:cNvPr id="5" name="Picture 4"/>
          <p:cNvPicPr>
            <a:picLocks noChangeAspect="1"/>
          </p:cNvPicPr>
          <p:nvPr/>
        </p:nvPicPr>
        <p:blipFill>
          <a:blip r:embed="rId3"/>
          <a:stretch>
            <a:fillRect/>
          </a:stretch>
        </p:blipFill>
        <p:spPr>
          <a:xfrm>
            <a:off x="2272145" y="3692361"/>
            <a:ext cx="7342910" cy="2325446"/>
          </a:xfrm>
          <a:prstGeom prst="rect">
            <a:avLst/>
          </a:prstGeom>
        </p:spPr>
      </p:pic>
      <p:sp>
        <p:nvSpPr>
          <p:cNvPr id="6" name="Rectangle 5"/>
          <p:cNvSpPr/>
          <p:nvPr/>
        </p:nvSpPr>
        <p:spPr>
          <a:xfrm>
            <a:off x="609600" y="6581001"/>
            <a:ext cx="4759573" cy="276999"/>
          </a:xfrm>
          <a:prstGeom prst="rect">
            <a:avLst/>
          </a:prstGeom>
        </p:spPr>
        <p:txBody>
          <a:bodyPr wrap="none">
            <a:spAutoFit/>
          </a:bodyPr>
          <a:lstStyle/>
          <a:p>
            <a:r>
              <a:rPr lang="en-US" sz="1200" dirty="0"/>
              <a:t>Source: John Snow 1855 “</a:t>
            </a:r>
            <a:r>
              <a:rPr lang="en-US" sz="1200" dirty="0">
                <a:hlinkClick r:id="rId4"/>
              </a:rPr>
              <a:t>On the Mode of Communication of Cholera</a:t>
            </a:r>
            <a:r>
              <a:rPr lang="en-US" sz="1200" dirty="0"/>
              <a:t>“ </a:t>
            </a:r>
          </a:p>
        </p:txBody>
      </p:sp>
    </p:spTree>
    <p:extLst>
      <p:ext uri="{BB962C8B-B14F-4D97-AF65-F5344CB8AC3E}">
        <p14:creationId xmlns:p14="http://schemas.microsoft.com/office/powerpoint/2010/main" val="234203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D65A37-3BAF-D468-FAD0-93EC905E8DA4}"/>
              </a:ext>
            </a:extLst>
          </p:cNvPr>
          <p:cNvSpPr>
            <a:spLocks noGrp="1"/>
          </p:cNvSpPr>
          <p:nvPr>
            <p:ph type="sldNum" sz="quarter" idx="12"/>
          </p:nvPr>
        </p:nvSpPr>
        <p:spPr/>
        <p:txBody>
          <a:bodyPr/>
          <a:lstStyle/>
          <a:p>
            <a:fld id="{4698AAF4-35A4-40F4-A7AE-C8E2C41B9252}" type="slidenum">
              <a:rPr lang="en-US" smtClean="0"/>
              <a:t>18</a:t>
            </a:fld>
            <a:endParaRPr lang="en-US"/>
          </a:p>
        </p:txBody>
      </p:sp>
      <p:pic>
        <p:nvPicPr>
          <p:cNvPr id="1026" name="Picture 2">
            <a:extLst>
              <a:ext uri="{FF2B5EF4-FFF2-40B4-BE49-F238E27FC236}">
                <a16:creationId xmlns:a16="http://schemas.microsoft.com/office/drawing/2014/main" id="{E29D1B04-2F8A-B4C2-C53E-DA0DE6496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0875" y="0"/>
            <a:ext cx="68929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A4F3DEF-65F0-CCA4-EAB2-F99A38226F58}"/>
              </a:ext>
            </a:extLst>
          </p:cNvPr>
          <p:cNvSpPr txBox="1"/>
          <p:nvPr/>
        </p:nvSpPr>
        <p:spPr>
          <a:xfrm>
            <a:off x="304800" y="1371600"/>
            <a:ext cx="3200400" cy="3970318"/>
          </a:xfrm>
          <a:prstGeom prst="rect">
            <a:avLst/>
          </a:prstGeom>
          <a:noFill/>
        </p:spPr>
        <p:txBody>
          <a:bodyPr wrap="square" rtlCol="0">
            <a:spAutoFit/>
          </a:bodyPr>
          <a:lstStyle/>
          <a:p>
            <a:r>
              <a:rPr lang="en-US" sz="1800" b="0" i="0" dirty="0">
                <a:solidFill>
                  <a:srgbClr val="000000"/>
                </a:solidFill>
                <a:effectLst/>
                <a:latin typeface="Cambria" panose="02040503050406030204" pitchFamily="18" charset="0"/>
                <a:hlinkClick r:id="rId3"/>
              </a:rPr>
              <a:t>Difference-in-Difference in the Time of Cholera: a Gentle Introduction for Epidemiologists</a:t>
            </a:r>
            <a:endParaRPr lang="en-US" sz="1800" b="0" i="0" dirty="0">
              <a:solidFill>
                <a:srgbClr val="000000"/>
              </a:solidFill>
              <a:effectLst/>
              <a:latin typeface="Cambria" panose="02040503050406030204" pitchFamily="18" charset="0"/>
            </a:endParaRPr>
          </a:p>
          <a:p>
            <a:endParaRPr lang="en-US" dirty="0">
              <a:solidFill>
                <a:srgbClr val="000000"/>
              </a:solidFill>
              <a:latin typeface="Cambria" panose="02040503050406030204" pitchFamily="18" charset="0"/>
            </a:endParaRPr>
          </a:p>
          <a:p>
            <a:r>
              <a:rPr lang="en-US" sz="1800" b="0" i="0" dirty="0">
                <a:solidFill>
                  <a:srgbClr val="000000"/>
                </a:solidFill>
                <a:effectLst/>
                <a:latin typeface="Cambria" panose="02040503050406030204" pitchFamily="18" charset="0"/>
              </a:rPr>
              <a:t>Variable A indicates different water sources</a:t>
            </a:r>
          </a:p>
          <a:p>
            <a:endParaRPr lang="en-US" dirty="0">
              <a:solidFill>
                <a:srgbClr val="000000"/>
              </a:solidFill>
              <a:latin typeface="Cambria" panose="02040503050406030204" pitchFamily="18" charset="0"/>
            </a:endParaRPr>
          </a:p>
          <a:p>
            <a:r>
              <a:rPr lang="en-US" sz="1800" b="0" i="0" dirty="0">
                <a:solidFill>
                  <a:srgbClr val="000000"/>
                </a:solidFill>
                <a:effectLst/>
                <a:latin typeface="Cambria" panose="02040503050406030204" pitchFamily="18" charset="0"/>
              </a:rPr>
              <a:t>Variable T indicates measurement takes </a:t>
            </a:r>
            <a:r>
              <a:rPr lang="en-US" dirty="0">
                <a:solidFill>
                  <a:srgbClr val="000000"/>
                </a:solidFill>
                <a:latin typeface="Cambria" panose="02040503050406030204" pitchFamily="18" charset="0"/>
              </a:rPr>
              <a:t>place </a:t>
            </a:r>
            <a:r>
              <a:rPr lang="en-US" sz="1800" b="0" i="0" dirty="0">
                <a:solidFill>
                  <a:srgbClr val="000000"/>
                </a:solidFill>
                <a:effectLst/>
                <a:latin typeface="Cambria" panose="02040503050406030204" pitchFamily="18" charset="0"/>
              </a:rPr>
              <a:t>before and after the change of water source</a:t>
            </a:r>
          </a:p>
          <a:p>
            <a:endParaRPr lang="en-US" dirty="0">
              <a:solidFill>
                <a:srgbClr val="000000"/>
              </a:solidFill>
              <a:latin typeface="Cambria" panose="02040503050406030204" pitchFamily="18" charset="0"/>
            </a:endParaRPr>
          </a:p>
          <a:p>
            <a:r>
              <a:rPr lang="en-US" sz="1800" b="0" i="0" dirty="0">
                <a:solidFill>
                  <a:srgbClr val="000000"/>
                </a:solidFill>
                <a:effectLst/>
                <a:latin typeface="Cambria" panose="02040503050406030204" pitchFamily="18" charset="0"/>
              </a:rPr>
              <a:t>Y is a death from cholera</a:t>
            </a:r>
          </a:p>
        </p:txBody>
      </p:sp>
    </p:spTree>
    <p:extLst>
      <p:ext uri="{BB962C8B-B14F-4D97-AF65-F5344CB8AC3E}">
        <p14:creationId xmlns:p14="http://schemas.microsoft.com/office/powerpoint/2010/main" val="1610074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Simplest difference in difference case</a:t>
            </a:r>
          </a:p>
        </p:txBody>
      </p:sp>
      <p:sp>
        <p:nvSpPr>
          <p:cNvPr id="3" name="Content Placeholder 2"/>
          <p:cNvSpPr>
            <a:spLocks noGrp="1"/>
          </p:cNvSpPr>
          <p:nvPr>
            <p:ph idx="1"/>
          </p:nvPr>
        </p:nvSpPr>
        <p:spPr/>
        <p:txBody>
          <a:bodyPr>
            <a:normAutofit/>
          </a:bodyPr>
          <a:lstStyle/>
          <a:p>
            <a:r>
              <a:rPr lang="en-US" sz="2400" dirty="0"/>
              <a:t>We are comparing 4 data points: control pre, control post, treated pre, treated post</a:t>
            </a:r>
          </a:p>
          <a:p>
            <a:endParaRPr lang="en-US" sz="2400" dirty="0"/>
          </a:p>
          <a:p>
            <a:r>
              <a:rPr lang="en-US" sz="2400" dirty="0"/>
              <a:t>The difference between control pre and post must be a good counterfactual for what would have happened to the treatment group without treatment</a:t>
            </a:r>
          </a:p>
          <a:p>
            <a:endParaRPr lang="en-US" sz="2400" dirty="0"/>
          </a:p>
          <a:p>
            <a:r>
              <a:rPr lang="en-US" sz="2400" dirty="0"/>
              <a:t>But what if in the control district there was a hand-washing campaign at the same time the treatment group changed its water source</a:t>
            </a:r>
          </a:p>
          <a:p>
            <a:pPr lvl="1"/>
            <a:r>
              <a:rPr lang="en-US" sz="2000" dirty="0">
                <a:solidFill>
                  <a:srgbClr val="C00000"/>
                </a:solidFill>
              </a:rPr>
              <a:t>Do we find the counterfactual assumption plausible in this case?</a:t>
            </a:r>
          </a:p>
          <a:p>
            <a:pPr marL="457200" lvl="1" indent="0">
              <a:buNone/>
            </a:pPr>
            <a:endParaRPr lang="en-US" sz="2000" dirty="0"/>
          </a:p>
        </p:txBody>
      </p:sp>
      <p:sp>
        <p:nvSpPr>
          <p:cNvPr id="4" name="Slide Number Placeholder 3"/>
          <p:cNvSpPr>
            <a:spLocks noGrp="1"/>
          </p:cNvSpPr>
          <p:nvPr>
            <p:ph type="sldNum" sz="quarter" idx="12"/>
          </p:nvPr>
        </p:nvSpPr>
        <p:spPr/>
        <p:txBody>
          <a:bodyPr/>
          <a:lstStyle/>
          <a:p>
            <a:fld id="{C2E33B48-9DB3-4522-8ABC-1F69633D0FAE}" type="slidenum">
              <a:rPr lang="en-US" smtClean="0"/>
              <a:t>19</a:t>
            </a:fld>
            <a:endParaRPr lang="en-US"/>
          </a:p>
        </p:txBody>
      </p:sp>
    </p:spTree>
    <p:extLst>
      <p:ext uri="{BB962C8B-B14F-4D97-AF65-F5344CB8AC3E}">
        <p14:creationId xmlns:p14="http://schemas.microsoft.com/office/powerpoint/2010/main" val="90545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AB5C-968E-A6EA-1CFC-340089CE0E24}"/>
              </a:ext>
            </a:extLst>
          </p:cNvPr>
          <p:cNvSpPr>
            <a:spLocks noGrp="1"/>
          </p:cNvSpPr>
          <p:nvPr>
            <p:ph type="title"/>
          </p:nvPr>
        </p:nvSpPr>
        <p:spPr/>
        <p:txBody>
          <a:bodyPr/>
          <a:lstStyle/>
          <a:p>
            <a:r>
              <a:rPr lang="en-US" dirty="0"/>
              <a:t>Another example – rollout of health insurance</a:t>
            </a:r>
          </a:p>
        </p:txBody>
      </p:sp>
      <p:sp>
        <p:nvSpPr>
          <p:cNvPr id="3" name="Content Placeholder 2">
            <a:extLst>
              <a:ext uri="{FF2B5EF4-FFF2-40B4-BE49-F238E27FC236}">
                <a16:creationId xmlns:a16="http://schemas.microsoft.com/office/drawing/2014/main" id="{58AB3674-3735-2557-61D3-0524B18128DE}"/>
              </a:ext>
            </a:extLst>
          </p:cNvPr>
          <p:cNvSpPr>
            <a:spLocks noGrp="1"/>
          </p:cNvSpPr>
          <p:nvPr>
            <p:ph idx="1"/>
          </p:nvPr>
        </p:nvSpPr>
        <p:spPr/>
        <p:txBody>
          <a:bodyPr>
            <a:normAutofit lnSpcReduction="10000"/>
          </a:bodyPr>
          <a:lstStyle/>
          <a:p>
            <a:r>
              <a:rPr lang="en-US" dirty="0">
                <a:effectLst/>
                <a:latin typeface="Calibri" panose="020F0502020204030204" pitchFamily="34" charset="0"/>
                <a:cs typeface="Calibri" panose="020F0502020204030204" pitchFamily="34" charset="0"/>
              </a:rPr>
              <a:t>Assume you want to evaluate the effect of a recently introduced health insurance on health seeking behavior at the individual level </a:t>
            </a:r>
          </a:p>
          <a:p>
            <a:r>
              <a:rPr lang="en-US" dirty="0">
                <a:effectLst/>
                <a:latin typeface="Calibri" panose="020F0502020204030204" pitchFamily="34" charset="0"/>
                <a:cs typeface="Calibri" panose="020F0502020204030204" pitchFamily="34" charset="0"/>
              </a:rPr>
              <a:t>Further assume that the health insurance was piloted only in 3 out of 25 districts of the respective region of interest </a:t>
            </a:r>
          </a:p>
          <a:p>
            <a:r>
              <a:rPr lang="en-US" dirty="0">
                <a:effectLst/>
                <a:latin typeface="Calibri" panose="020F0502020204030204" pitchFamily="34" charset="0"/>
                <a:cs typeface="Calibri" panose="020F0502020204030204" pitchFamily="34" charset="0"/>
              </a:rPr>
              <a:t>You have two cross-sectional health surveys: one before the introduction of the insurance scheme, and one after. Both surveys contain information on:</a:t>
            </a:r>
          </a:p>
          <a:p>
            <a:pPr lvl="1"/>
            <a:r>
              <a:rPr lang="en-US" dirty="0">
                <a:effectLst/>
                <a:latin typeface="Calibri" panose="020F0502020204030204" pitchFamily="34" charset="0"/>
                <a:cs typeface="Calibri" panose="020F0502020204030204" pitchFamily="34" charset="0"/>
              </a:rPr>
              <a:t>Total number of visits at health center </a:t>
            </a:r>
          </a:p>
          <a:p>
            <a:pPr lvl="1"/>
            <a:r>
              <a:rPr lang="en-US" dirty="0">
                <a:effectLst/>
                <a:latin typeface="Calibri" panose="020F0502020204030204" pitchFamily="34" charset="0"/>
                <a:cs typeface="Calibri" panose="020F0502020204030204" pitchFamily="34" charset="0"/>
              </a:rPr>
              <a:t>Total average health cost per person </a:t>
            </a:r>
          </a:p>
          <a:p>
            <a:pPr marL="0" indent="0">
              <a:buNone/>
            </a:pPr>
            <a:br>
              <a:rPr lang="en-US" dirty="0">
                <a:effectLst/>
                <a:latin typeface="Calibri" panose="020F0502020204030204" pitchFamily="34" charset="0"/>
                <a:cs typeface="Calibri" panose="020F0502020204030204" pitchFamily="34" charset="0"/>
              </a:rPr>
            </a:br>
            <a:endParaRPr lang="en-US" dirty="0">
              <a:effectLst/>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D60CBB05-5D87-BA02-A5D1-17F3CE938F2C}"/>
              </a:ext>
            </a:extLst>
          </p:cNvPr>
          <p:cNvSpPr>
            <a:spLocks noGrp="1"/>
          </p:cNvSpPr>
          <p:nvPr>
            <p:ph type="sldNum" sz="quarter" idx="12"/>
          </p:nvPr>
        </p:nvSpPr>
        <p:spPr/>
        <p:txBody>
          <a:bodyPr/>
          <a:lstStyle/>
          <a:p>
            <a:fld id="{4698AAF4-35A4-40F4-A7AE-C8E2C41B9252}" type="slidenum">
              <a:rPr lang="en-US" smtClean="0"/>
              <a:t>20</a:t>
            </a:fld>
            <a:endParaRPr lang="en-US"/>
          </a:p>
        </p:txBody>
      </p:sp>
    </p:spTree>
    <p:extLst>
      <p:ext uri="{BB962C8B-B14F-4D97-AF65-F5344CB8AC3E}">
        <p14:creationId xmlns:p14="http://schemas.microsoft.com/office/powerpoint/2010/main" val="353497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2915-50EA-FF27-73DB-B9C51FDFC8A9}"/>
              </a:ext>
            </a:extLst>
          </p:cNvPr>
          <p:cNvSpPr>
            <a:spLocks noGrp="1"/>
          </p:cNvSpPr>
          <p:nvPr>
            <p:ph type="title"/>
          </p:nvPr>
        </p:nvSpPr>
        <p:spPr/>
        <p:txBody>
          <a:bodyPr/>
          <a:lstStyle/>
          <a:p>
            <a:r>
              <a:rPr lang="en-US" dirty="0"/>
              <a:t>Example – rollout of health insurance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43AAF0-2DDF-2062-E39E-D7763F15040A}"/>
                  </a:ext>
                </a:extLst>
              </p:cNvPr>
              <p:cNvSpPr>
                <a:spLocks noGrp="1"/>
              </p:cNvSpPr>
              <p:nvPr>
                <p:ph idx="1"/>
              </p:nvPr>
            </p:nvSpPr>
            <p:spPr/>
            <p:txBody>
              <a:bodyPr>
                <a:normAutofit lnSpcReduction="10000"/>
              </a:bodyPr>
              <a:lstStyle/>
              <a:p>
                <a:r>
                  <a:rPr lang="en-US" dirty="0">
                    <a:effectLst/>
                    <a:latin typeface="Calibri" panose="020F0502020204030204" pitchFamily="34" charset="0"/>
                    <a:cs typeface="Calibri" panose="020F0502020204030204" pitchFamily="34" charset="0"/>
                  </a:rPr>
                  <a:t>You estimate the following difference in difference model where V is the number of visits: </a:t>
                </a:r>
              </a:p>
              <a:p>
                <a:pPr marL="0" indent="0">
                  <a:buNone/>
                </a:pPr>
                <a:endParaRPr lang="en-US" b="0" i="1" dirty="0">
                  <a:latin typeface="Calibri" panose="020F0502020204030204" pitchFamily="34" charset="0"/>
                  <a:cs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dirty="0" smtClean="0">
                              <a:latin typeface="Cambria Math" panose="02040503050406030204" pitchFamily="18" charset="0"/>
                            </a:rPr>
                          </m:ctrlPr>
                        </m:dPr>
                        <m:e>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𝑝𝑜𝑠𝑡</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𝑇</m:t>
                              </m:r>
                              <m:r>
                                <a:rPr lang="en-US" b="0" i="1" dirty="0" smtClean="0">
                                  <a:latin typeface="Cambria Math" panose="02040503050406030204" pitchFamily="18" charset="0"/>
                                </a:rPr>
                                <m:t>=1</m:t>
                              </m:r>
                            </m:e>
                          </m:d>
                          <m:r>
                            <a:rPr lang="en-US" b="0" i="1" dirty="0" smtClean="0">
                              <a:latin typeface="Cambria Math" panose="02040503050406030204" pitchFamily="18" charset="0"/>
                            </a:rPr>
                            <m:t>−</m:t>
                          </m:r>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𝑝𝑟𝑒</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=1</m:t>
                              </m:r>
                            </m:e>
                          </m:d>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𝑝𝑜𝑠𝑡</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=0</m:t>
                              </m:r>
                            </m:e>
                          </m:d>
                          <m:r>
                            <a:rPr lang="en-US" i="1" dirty="0">
                              <a:latin typeface="Cambria Math" panose="02040503050406030204" pitchFamily="18" charset="0"/>
                            </a:rPr>
                            <m:t>−</m:t>
                          </m:r>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𝑝𝑟𝑒</m:t>
                                      </m:r>
                                    </m:sub>
                                  </m:sSub>
                                </m:e>
                              </m:acc>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=0</m:t>
                              </m:r>
                            </m:e>
                          </m:d>
                        </m:e>
                      </m:d>
                      <m:r>
                        <a:rPr lang="en-US" i="1" dirty="0">
                          <a:latin typeface="Cambria Math" panose="02040503050406030204" pitchFamily="18" charset="0"/>
                        </a:rPr>
                        <m:t> </m:t>
                      </m:r>
                    </m:oMath>
                  </m:oMathPara>
                </a14:m>
                <a:endParaRPr lang="en-US" dirty="0">
                  <a:effectLst/>
                  <a:latin typeface="Calibri" panose="020F0502020204030204" pitchFamily="34" charset="0"/>
                  <a:cs typeface="Calibri" panose="020F0502020204030204" pitchFamily="34" charset="0"/>
                </a:endParaRPr>
              </a:p>
              <a:p>
                <a:endParaRPr lang="en-US" dirty="0">
                  <a:effectLst/>
                  <a:latin typeface="Calibri" panose="020F0502020204030204" pitchFamily="34" charset="0"/>
                  <a:cs typeface="Calibri" panose="020F0502020204030204" pitchFamily="34" charset="0"/>
                </a:endParaRPr>
              </a:p>
              <a:p>
                <a:r>
                  <a:rPr lang="en-US" dirty="0">
                    <a:effectLst/>
                    <a:latin typeface="Calibri" panose="020F0502020204030204" pitchFamily="34" charset="0"/>
                    <a:cs typeface="Calibri" panose="020F0502020204030204" pitchFamily="34" charset="0"/>
                  </a:rPr>
                  <a:t>Would this provide a correct estimate if the 3 target districts had higher income than the rest of the country? </a:t>
                </a:r>
              </a:p>
              <a:p>
                <a:r>
                  <a:rPr lang="en-US" dirty="0">
                    <a:effectLst/>
                    <a:latin typeface="Calibri" panose="020F0502020204030204" pitchFamily="34" charset="0"/>
                    <a:cs typeface="Calibri" panose="020F0502020204030204" pitchFamily="34" charset="0"/>
                  </a:rPr>
                  <a:t>What if the government responded to complaints from the areas where the rollout had not yet occurred (control </a:t>
                </a:r>
                <a:r>
                  <a:rPr lang="en-US" dirty="0">
                    <a:latin typeface="Calibri" panose="020F0502020204030204" pitchFamily="34" charset="0"/>
                    <a:cs typeface="Calibri" panose="020F0502020204030204" pitchFamily="34" charset="0"/>
                  </a:rPr>
                  <a:t>districts) </a:t>
                </a:r>
                <a:r>
                  <a:rPr lang="en-US" dirty="0">
                    <a:effectLst/>
                    <a:latin typeface="Calibri" panose="020F0502020204030204" pitchFamily="34" charset="0"/>
                    <a:cs typeface="Calibri" panose="020F0502020204030204" pitchFamily="34" charset="0"/>
                  </a:rPr>
                  <a:t>by providing block grants for facility improvement? </a:t>
                </a:r>
              </a:p>
              <a:p>
                <a:endParaRPr lang="en-US" dirty="0"/>
              </a:p>
            </p:txBody>
          </p:sp>
        </mc:Choice>
        <mc:Fallback xmlns="">
          <p:sp>
            <p:nvSpPr>
              <p:cNvPr id="3" name="Content Placeholder 2">
                <a:extLst>
                  <a:ext uri="{FF2B5EF4-FFF2-40B4-BE49-F238E27FC236}">
                    <a16:creationId xmlns:a16="http://schemas.microsoft.com/office/drawing/2014/main" id="{BD43AAF0-2DDF-2062-E39E-D7763F15040A}"/>
                  </a:ext>
                </a:extLst>
              </p:cNvPr>
              <p:cNvSpPr>
                <a:spLocks noGrp="1" noRot="1" noChangeAspect="1" noMove="1" noResize="1" noEditPoints="1" noAdjustHandles="1" noChangeArrowheads="1" noChangeShapeType="1" noTextEdit="1"/>
              </p:cNvSpPr>
              <p:nvPr>
                <p:ph idx="1"/>
              </p:nvPr>
            </p:nvSpPr>
            <p:spPr>
              <a:blipFill>
                <a:blip r:embed="rId2"/>
                <a:stretch>
                  <a:fillRect l="-1086" t="-3198" r="-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EBD62AB-70A0-6AFA-5A4C-DB068AC78589}"/>
              </a:ext>
            </a:extLst>
          </p:cNvPr>
          <p:cNvSpPr>
            <a:spLocks noGrp="1"/>
          </p:cNvSpPr>
          <p:nvPr>
            <p:ph type="sldNum" sz="quarter" idx="12"/>
          </p:nvPr>
        </p:nvSpPr>
        <p:spPr/>
        <p:txBody>
          <a:bodyPr/>
          <a:lstStyle/>
          <a:p>
            <a:fld id="{4698AAF4-35A4-40F4-A7AE-C8E2C41B9252}" type="slidenum">
              <a:rPr lang="en-US" smtClean="0"/>
              <a:t>21</a:t>
            </a:fld>
            <a:endParaRPr lang="en-US"/>
          </a:p>
        </p:txBody>
      </p:sp>
    </p:spTree>
    <p:extLst>
      <p:ext uri="{BB962C8B-B14F-4D97-AF65-F5344CB8AC3E}">
        <p14:creationId xmlns:p14="http://schemas.microsoft.com/office/powerpoint/2010/main" val="279527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EBD5-4B64-4C15-991C-45266FAB5FB3}"/>
              </a:ext>
            </a:extLst>
          </p:cNvPr>
          <p:cNvSpPr>
            <a:spLocks noGrp="1"/>
          </p:cNvSpPr>
          <p:nvPr>
            <p:ph type="title"/>
          </p:nvPr>
        </p:nvSpPr>
        <p:spPr/>
        <p:txBody>
          <a:bodyPr/>
          <a:lstStyle/>
          <a:p>
            <a:r>
              <a:rPr lang="en-US" dirty="0"/>
              <a:t>Multiple groups and time periods</a:t>
            </a:r>
          </a:p>
        </p:txBody>
      </p:sp>
      <p:sp>
        <p:nvSpPr>
          <p:cNvPr id="3" name="Content Placeholder 2">
            <a:extLst>
              <a:ext uri="{FF2B5EF4-FFF2-40B4-BE49-F238E27FC236}">
                <a16:creationId xmlns:a16="http://schemas.microsoft.com/office/drawing/2014/main" id="{7D0F7F05-D0B9-41C5-945B-266EA8B7C3F4}"/>
              </a:ext>
            </a:extLst>
          </p:cNvPr>
          <p:cNvSpPr>
            <a:spLocks noGrp="1"/>
          </p:cNvSpPr>
          <p:nvPr>
            <p:ph idx="1"/>
          </p:nvPr>
        </p:nvSpPr>
        <p:spPr/>
        <p:txBody>
          <a:bodyPr>
            <a:normAutofit fontScale="92500"/>
          </a:bodyPr>
          <a:lstStyle/>
          <a:p>
            <a:r>
              <a:rPr lang="en-US" dirty="0"/>
              <a:t>We need at least two groups – treatment and control – and two time periods – pre and post – to get a difference-in-differences estimator</a:t>
            </a:r>
          </a:p>
          <a:p>
            <a:pPr lvl="1"/>
            <a:r>
              <a:rPr lang="en-US" dirty="0"/>
              <a:t>Essentially at least four observations</a:t>
            </a:r>
          </a:p>
          <a:p>
            <a:pPr lvl="1"/>
            <a:r>
              <a:rPr lang="en-US" dirty="0"/>
              <a:t>However -- need more data for inference (valid </a:t>
            </a:r>
            <a:r>
              <a:rPr lang="en-US"/>
              <a:t>standard errors)</a:t>
            </a:r>
            <a:endParaRPr lang="en-US" dirty="0"/>
          </a:p>
          <a:p>
            <a:pPr lvl="1"/>
            <a:r>
              <a:rPr lang="en-US" dirty="0"/>
              <a:t>With more data we can strengthen our belief in the assumptions that make </a:t>
            </a:r>
            <a:r>
              <a:rPr lang="en-US" dirty="0" err="1"/>
              <a:t>DiD</a:t>
            </a:r>
            <a:r>
              <a:rPr lang="en-US" dirty="0"/>
              <a:t> valid</a:t>
            </a:r>
          </a:p>
          <a:p>
            <a:pPr lvl="2"/>
            <a:r>
              <a:rPr lang="en-US" dirty="0"/>
              <a:t>Hard for one district to make a convincing control group </a:t>
            </a:r>
            <a:r>
              <a:rPr lang="en-US" dirty="0">
                <a:sym typeface="Wingdings" pitchFamily="2" charset="2"/>
              </a:rPr>
              <a:t></a:t>
            </a:r>
            <a:r>
              <a:rPr lang="en-US" dirty="0"/>
              <a:t> averaging across many districts together means the counterfactual assumption is more plausible</a:t>
            </a:r>
          </a:p>
          <a:p>
            <a:pPr lvl="2"/>
            <a:r>
              <a:rPr lang="en-US" dirty="0"/>
              <a:t>With just one observation from the pre-period, harder to know that we haven’t gotten noise </a:t>
            </a:r>
            <a:r>
              <a:rPr lang="en-US" dirty="0">
                <a:sym typeface="Wingdings" pitchFamily="2" charset="2"/>
              </a:rPr>
              <a:t> more pre-period data allows better modeling of changes over time</a:t>
            </a:r>
            <a:endParaRPr lang="en-US" dirty="0"/>
          </a:p>
          <a:p>
            <a:r>
              <a:rPr lang="en-US" dirty="0"/>
              <a:t>DID is a flexible methodology we can extend in many ways</a:t>
            </a:r>
          </a:p>
          <a:p>
            <a:pPr lvl="1"/>
            <a:r>
              <a:rPr lang="en-US" dirty="0"/>
              <a:t>For example, we can include two post periods – an initial period of “transition” and a period where policy is fully implemented</a:t>
            </a:r>
          </a:p>
        </p:txBody>
      </p:sp>
      <p:sp>
        <p:nvSpPr>
          <p:cNvPr id="4" name="Slide Number Placeholder 3">
            <a:extLst>
              <a:ext uri="{FF2B5EF4-FFF2-40B4-BE49-F238E27FC236}">
                <a16:creationId xmlns:a16="http://schemas.microsoft.com/office/drawing/2014/main" id="{BA317777-F89F-4D8A-8F64-0E8E08BCCD49}"/>
              </a:ext>
            </a:extLst>
          </p:cNvPr>
          <p:cNvSpPr>
            <a:spLocks noGrp="1"/>
          </p:cNvSpPr>
          <p:nvPr>
            <p:ph type="sldNum" sz="quarter" idx="12"/>
          </p:nvPr>
        </p:nvSpPr>
        <p:spPr/>
        <p:txBody>
          <a:bodyPr/>
          <a:lstStyle/>
          <a:p>
            <a:fld id="{4698AAF4-35A4-40F4-A7AE-C8E2C41B9252}" type="slidenum">
              <a:rPr lang="en-US" smtClean="0"/>
              <a:t>22</a:t>
            </a:fld>
            <a:endParaRPr lang="en-US"/>
          </a:p>
        </p:txBody>
      </p:sp>
    </p:spTree>
    <p:extLst>
      <p:ext uri="{BB962C8B-B14F-4D97-AF65-F5344CB8AC3E}">
        <p14:creationId xmlns:p14="http://schemas.microsoft.com/office/powerpoint/2010/main" val="32711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25C5E-B1F1-B453-B829-D88435AEECC5}"/>
              </a:ext>
            </a:extLst>
          </p:cNvPr>
          <p:cNvSpPr>
            <a:spLocks noGrp="1"/>
          </p:cNvSpPr>
          <p:nvPr>
            <p:ph type="title"/>
          </p:nvPr>
        </p:nvSpPr>
        <p:spPr/>
        <p:txBody>
          <a:bodyPr/>
          <a:lstStyle/>
          <a:p>
            <a:r>
              <a:rPr lang="en-US" dirty="0"/>
              <a:t>Detour: Panel data</a:t>
            </a:r>
          </a:p>
        </p:txBody>
      </p:sp>
      <p:sp>
        <p:nvSpPr>
          <p:cNvPr id="3" name="Content Placeholder 2">
            <a:extLst>
              <a:ext uri="{FF2B5EF4-FFF2-40B4-BE49-F238E27FC236}">
                <a16:creationId xmlns:a16="http://schemas.microsoft.com/office/drawing/2014/main" id="{903938BB-3C10-EB99-C37B-B42B45981A35}"/>
              </a:ext>
            </a:extLst>
          </p:cNvPr>
          <p:cNvSpPr>
            <a:spLocks noGrp="1"/>
          </p:cNvSpPr>
          <p:nvPr>
            <p:ph idx="1"/>
          </p:nvPr>
        </p:nvSpPr>
        <p:spPr/>
        <p:txBody>
          <a:bodyPr>
            <a:normAutofit fontScale="92500" lnSpcReduction="20000"/>
          </a:bodyPr>
          <a:lstStyle/>
          <a:p>
            <a:r>
              <a:rPr lang="en-US" dirty="0"/>
              <a:t>In ITS approaches, we are modeling </a:t>
            </a:r>
            <a:r>
              <a:rPr lang="en-US" i="1" dirty="0"/>
              <a:t>trends</a:t>
            </a:r>
            <a:r>
              <a:rPr lang="en-US" dirty="0"/>
              <a:t> using (often linear) functions, assumes outcomes follow a predictable function</a:t>
            </a:r>
          </a:p>
          <a:p>
            <a:endParaRPr lang="en-US" dirty="0"/>
          </a:p>
          <a:p>
            <a:r>
              <a:rPr lang="en-US" dirty="0"/>
              <a:t>We are typically comparing 1 treatment group and 1 control group – single trend for each </a:t>
            </a:r>
          </a:p>
          <a:p>
            <a:endParaRPr lang="en-US" dirty="0"/>
          </a:p>
          <a:p>
            <a:r>
              <a:rPr lang="en-US" dirty="0" err="1"/>
              <a:t>DiD</a:t>
            </a:r>
            <a:r>
              <a:rPr lang="en-US" dirty="0"/>
              <a:t> approaches instead exploit richer (often individual) level </a:t>
            </a:r>
            <a:r>
              <a:rPr lang="en-US" b="1" dirty="0"/>
              <a:t>panel data – </a:t>
            </a:r>
            <a:r>
              <a:rPr lang="en-US" dirty="0"/>
              <a:t>where we have repeated observations of the same units over time</a:t>
            </a:r>
            <a:endParaRPr lang="en-US" b="1" dirty="0"/>
          </a:p>
          <a:p>
            <a:pPr lvl="1"/>
            <a:r>
              <a:rPr lang="en-US" dirty="0"/>
              <a:t>Can accommodate settings where there are many implementing groups (states, regions, </a:t>
            </a:r>
            <a:r>
              <a:rPr lang="en-US" dirty="0" err="1"/>
              <a:t>etc</a:t>
            </a:r>
            <a:r>
              <a:rPr lang="en-US" dirty="0"/>
              <a:t>) and many potential control groups (states, regions, </a:t>
            </a:r>
            <a:r>
              <a:rPr lang="en-US" dirty="0" err="1"/>
              <a:t>etc</a:t>
            </a:r>
            <a:r>
              <a:rPr lang="en-US" dirty="0"/>
              <a:t>) </a:t>
            </a:r>
          </a:p>
          <a:p>
            <a:pPr lvl="1"/>
            <a:r>
              <a:rPr lang="en-US" dirty="0"/>
              <a:t>Can give us much more power to detect responses to policy outcomes </a:t>
            </a:r>
          </a:p>
          <a:p>
            <a:pPr lvl="1"/>
            <a:r>
              <a:rPr lang="en-US" dirty="0"/>
              <a:t>Can allow for more flexible modeling of what is happening at different points of time and in different location</a:t>
            </a:r>
          </a:p>
          <a:p>
            <a:endParaRPr lang="en-US" dirty="0"/>
          </a:p>
          <a:p>
            <a:endParaRPr lang="en-US" dirty="0"/>
          </a:p>
        </p:txBody>
      </p:sp>
      <p:sp>
        <p:nvSpPr>
          <p:cNvPr id="4" name="Slide Number Placeholder 3">
            <a:extLst>
              <a:ext uri="{FF2B5EF4-FFF2-40B4-BE49-F238E27FC236}">
                <a16:creationId xmlns:a16="http://schemas.microsoft.com/office/drawing/2014/main" id="{FB2C6EF8-6141-C8E1-E350-74037AA2DDA2}"/>
              </a:ext>
            </a:extLst>
          </p:cNvPr>
          <p:cNvSpPr>
            <a:spLocks noGrp="1"/>
          </p:cNvSpPr>
          <p:nvPr>
            <p:ph type="sldNum" sz="quarter" idx="12"/>
          </p:nvPr>
        </p:nvSpPr>
        <p:spPr/>
        <p:txBody>
          <a:bodyPr/>
          <a:lstStyle/>
          <a:p>
            <a:fld id="{4698AAF4-35A4-40F4-A7AE-C8E2C41B9252}" type="slidenum">
              <a:rPr lang="en-US" smtClean="0"/>
              <a:t>23</a:t>
            </a:fld>
            <a:endParaRPr lang="en-US"/>
          </a:p>
        </p:txBody>
      </p:sp>
    </p:spTree>
    <p:extLst>
      <p:ext uri="{BB962C8B-B14F-4D97-AF65-F5344CB8AC3E}">
        <p14:creationId xmlns:p14="http://schemas.microsoft.com/office/powerpoint/2010/main" val="391676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32918-3C57-7209-6B48-0945166842AA}"/>
            </a:ext>
          </a:extLst>
        </p:cNvPr>
        <p:cNvGrpSpPr/>
        <p:nvPr/>
      </p:nvGrpSpPr>
      <p:grpSpPr>
        <a:xfrm>
          <a:off x="0" y="0"/>
          <a:ext cx="0" cy="0"/>
          <a:chOff x="0" y="0"/>
          <a:chExt cx="0" cy="0"/>
        </a:xfrm>
      </p:grpSpPr>
      <p:graphicFrame>
        <p:nvGraphicFramePr>
          <p:cNvPr id="12" name="Table 11"/>
          <p:cNvGraphicFramePr>
            <a:graphicFrameLocks noGrp="1"/>
          </p:cNvGraphicFramePr>
          <p:nvPr/>
        </p:nvGraphicFramePr>
        <p:xfrm>
          <a:off x="693234" y="1372245"/>
          <a:ext cx="5841379" cy="5120630"/>
        </p:xfrm>
        <a:graphic>
          <a:graphicData uri="http://schemas.openxmlformats.org/drawingml/2006/table">
            <a:tbl>
              <a:tblPr>
                <a:tableStyleId>{5C22544A-7EE6-4342-B048-85BDC9FD1C3A}</a:tableStyleId>
              </a:tblPr>
              <a:tblGrid>
                <a:gridCol w="625605">
                  <a:extLst>
                    <a:ext uri="{9D8B030D-6E8A-4147-A177-3AD203B41FA5}">
                      <a16:colId xmlns:a16="http://schemas.microsoft.com/office/drawing/2014/main" val="1473447919"/>
                    </a:ext>
                  </a:extLst>
                </a:gridCol>
                <a:gridCol w="791564">
                  <a:extLst>
                    <a:ext uri="{9D8B030D-6E8A-4147-A177-3AD203B41FA5}">
                      <a16:colId xmlns:a16="http://schemas.microsoft.com/office/drawing/2014/main" val="2744435622"/>
                    </a:ext>
                  </a:extLst>
                </a:gridCol>
                <a:gridCol w="903195">
                  <a:extLst>
                    <a:ext uri="{9D8B030D-6E8A-4147-A177-3AD203B41FA5}">
                      <a16:colId xmlns:a16="http://schemas.microsoft.com/office/drawing/2014/main" val="478310002"/>
                    </a:ext>
                  </a:extLst>
                </a:gridCol>
                <a:gridCol w="876241">
                  <a:extLst>
                    <a:ext uri="{9D8B030D-6E8A-4147-A177-3AD203B41FA5}">
                      <a16:colId xmlns:a16="http://schemas.microsoft.com/office/drawing/2014/main" val="853203909"/>
                    </a:ext>
                  </a:extLst>
                </a:gridCol>
                <a:gridCol w="864400">
                  <a:extLst>
                    <a:ext uri="{9D8B030D-6E8A-4147-A177-3AD203B41FA5}">
                      <a16:colId xmlns:a16="http://schemas.microsoft.com/office/drawing/2014/main" val="3391319376"/>
                    </a:ext>
                  </a:extLst>
                </a:gridCol>
                <a:gridCol w="982811">
                  <a:extLst>
                    <a:ext uri="{9D8B030D-6E8A-4147-A177-3AD203B41FA5}">
                      <a16:colId xmlns:a16="http://schemas.microsoft.com/office/drawing/2014/main" val="3307262063"/>
                    </a:ext>
                  </a:extLst>
                </a:gridCol>
                <a:gridCol w="797563">
                  <a:extLst>
                    <a:ext uri="{9D8B030D-6E8A-4147-A177-3AD203B41FA5}">
                      <a16:colId xmlns:a16="http://schemas.microsoft.com/office/drawing/2014/main" val="4262661911"/>
                    </a:ext>
                  </a:extLst>
                </a:gridCol>
              </a:tblGrid>
              <a:tr h="267820">
                <a:tc>
                  <a:txBody>
                    <a:bodyPr/>
                    <a:lstStyle/>
                    <a:p>
                      <a:pPr algn="ctr" fontAlgn="b"/>
                      <a:r>
                        <a:rPr lang="en-US" sz="1200" b="0" i="0" u="none" strike="noStrike" dirty="0">
                          <a:solidFill>
                            <a:srgbClr val="000000"/>
                          </a:solidFill>
                          <a:effectLst/>
                          <a:latin typeface="Calibri" panose="020F0502020204030204" pitchFamily="34" charset="0"/>
                        </a:rPr>
                        <a:t>State</a:t>
                      </a:r>
                    </a:p>
                  </a:txBody>
                  <a:tcPr marL="9525" marR="9525" marT="9525" marB="0" anchor="b"/>
                </a:tc>
                <a:tc>
                  <a:txBody>
                    <a:bodyPr/>
                    <a:lstStyle/>
                    <a:p>
                      <a:pPr algn="ctr" fontAlgn="b"/>
                      <a:r>
                        <a:rPr lang="en-US" sz="1200" u="none" strike="noStrike" dirty="0">
                          <a:effectLst/>
                        </a:rPr>
                        <a:t>Person</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Year</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Age</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Married</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Health spending</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Policy</a:t>
                      </a:r>
                    </a:p>
                  </a:txBody>
                  <a:tcPr marL="9525" marR="9525" marT="9525" marB="0" anchor="b"/>
                </a:tc>
                <a:extLst>
                  <a:ext uri="{0D108BD9-81ED-4DB2-BD59-A6C34878D82A}">
                    <a16:rowId xmlns:a16="http://schemas.microsoft.com/office/drawing/2014/main" val="3061031405"/>
                  </a:ext>
                </a:extLst>
              </a:tr>
              <a:tr h="156985">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30,129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823258"/>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31,128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91704482"/>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25,876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3286417"/>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41,034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584769112"/>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42,308</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135408980"/>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42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24,506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98418523"/>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25</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32,556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460095335"/>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34,599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745574953"/>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33,677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31067750"/>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130,129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40006142"/>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131,128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extLst>
                  <a:ext uri="{0D108BD9-81ED-4DB2-BD59-A6C34878D82A}">
                    <a16:rowId xmlns:a16="http://schemas.microsoft.com/office/drawing/2014/main" val="2694150858"/>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130,876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2581396"/>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40</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141,034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779207219"/>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142,308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71097380"/>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124,506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93929931"/>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132,556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231123295"/>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134,599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7926048"/>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31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115,677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4673363"/>
                  </a:ext>
                </a:extLst>
              </a:tr>
            </a:tbl>
          </a:graphicData>
        </a:graphic>
      </p:graphicFrame>
      <p:sp>
        <p:nvSpPr>
          <p:cNvPr id="5" name="Title 4">
            <a:extLst>
              <a:ext uri="{FF2B5EF4-FFF2-40B4-BE49-F238E27FC236}">
                <a16:creationId xmlns:a16="http://schemas.microsoft.com/office/drawing/2014/main" id="{EBAE9678-FB0C-17C9-D22B-8291BD7FF8DB}"/>
              </a:ext>
            </a:extLst>
          </p:cNvPr>
          <p:cNvSpPr>
            <a:spLocks noGrp="1"/>
          </p:cNvSpPr>
          <p:nvPr>
            <p:ph type="title"/>
          </p:nvPr>
        </p:nvSpPr>
        <p:spPr/>
        <p:txBody>
          <a:bodyPr/>
          <a:lstStyle/>
          <a:p>
            <a:r>
              <a:rPr lang="en-US" dirty="0"/>
              <a:t>Detour – Panel data</a:t>
            </a:r>
          </a:p>
        </p:txBody>
      </p:sp>
      <p:sp>
        <p:nvSpPr>
          <p:cNvPr id="2" name="TextBox 1">
            <a:extLst>
              <a:ext uri="{FF2B5EF4-FFF2-40B4-BE49-F238E27FC236}">
                <a16:creationId xmlns:a16="http://schemas.microsoft.com/office/drawing/2014/main" id="{3598184E-67A4-9E09-1539-4573A46D56EE}"/>
              </a:ext>
            </a:extLst>
          </p:cNvPr>
          <p:cNvSpPr txBox="1"/>
          <p:nvPr/>
        </p:nvSpPr>
        <p:spPr>
          <a:xfrm>
            <a:off x="7181385" y="1460810"/>
            <a:ext cx="4460488" cy="1754326"/>
          </a:xfrm>
          <a:prstGeom prst="rect">
            <a:avLst/>
          </a:prstGeom>
          <a:noFill/>
        </p:spPr>
        <p:txBody>
          <a:bodyPr wrap="square" rtlCol="0">
            <a:spAutoFit/>
          </a:bodyPr>
          <a:lstStyle/>
          <a:p>
            <a:r>
              <a:rPr lang="en-US" dirty="0"/>
              <a:t>- In what year did each state implement the policy?</a:t>
            </a:r>
          </a:p>
          <a:p>
            <a:endParaRPr lang="en-US" dirty="0"/>
          </a:p>
          <a:p>
            <a:r>
              <a:rPr lang="en-US" dirty="0"/>
              <a:t>- What is different between the states? </a:t>
            </a:r>
          </a:p>
          <a:p>
            <a:endParaRPr lang="en-US" dirty="0"/>
          </a:p>
          <a:p>
            <a:r>
              <a:rPr lang="en-US" dirty="0"/>
              <a:t>- what is changing over time?</a:t>
            </a:r>
          </a:p>
        </p:txBody>
      </p:sp>
    </p:spTree>
    <p:extLst>
      <p:ext uri="{BB962C8B-B14F-4D97-AF65-F5344CB8AC3E}">
        <p14:creationId xmlns:p14="http://schemas.microsoft.com/office/powerpoint/2010/main" val="3914758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25C5E-B1F1-B453-B829-D88435AEECC5}"/>
              </a:ext>
            </a:extLst>
          </p:cNvPr>
          <p:cNvSpPr>
            <a:spLocks noGrp="1"/>
          </p:cNvSpPr>
          <p:nvPr>
            <p:ph type="title"/>
          </p:nvPr>
        </p:nvSpPr>
        <p:spPr/>
        <p:txBody>
          <a:bodyPr/>
          <a:lstStyle/>
          <a:p>
            <a:r>
              <a:rPr lang="en-US" dirty="0"/>
              <a:t>Detour: Panel data and Fixed Effects</a:t>
            </a:r>
          </a:p>
        </p:txBody>
      </p:sp>
      <p:sp>
        <p:nvSpPr>
          <p:cNvPr id="3" name="Content Placeholder 2">
            <a:extLst>
              <a:ext uri="{FF2B5EF4-FFF2-40B4-BE49-F238E27FC236}">
                <a16:creationId xmlns:a16="http://schemas.microsoft.com/office/drawing/2014/main" id="{903938BB-3C10-EB99-C37B-B42B45981A35}"/>
              </a:ext>
            </a:extLst>
          </p:cNvPr>
          <p:cNvSpPr>
            <a:spLocks noGrp="1"/>
          </p:cNvSpPr>
          <p:nvPr>
            <p:ph idx="1"/>
          </p:nvPr>
        </p:nvSpPr>
        <p:spPr/>
        <p:txBody>
          <a:bodyPr>
            <a:normAutofit lnSpcReduction="10000"/>
          </a:bodyPr>
          <a:lstStyle/>
          <a:p>
            <a:r>
              <a:rPr lang="en-US" dirty="0"/>
              <a:t>Most difference in difference approaches in econometrics make heavy use of fixed effects</a:t>
            </a:r>
          </a:p>
          <a:p>
            <a:pPr lvl="1"/>
            <a:r>
              <a:rPr lang="en-US" dirty="0"/>
              <a:t>Estimating separate intercept for each time point, each state</a:t>
            </a:r>
          </a:p>
          <a:p>
            <a:pPr lvl="1"/>
            <a:r>
              <a:rPr lang="en-US" dirty="0"/>
              <a:t>Allows us to difference out the contribution of each state, year with maximal flexibility</a:t>
            </a:r>
          </a:p>
          <a:p>
            <a:r>
              <a:rPr lang="en-US" dirty="0"/>
              <a:t>We don’t care about these estimates – they typically aren’t presented in regression tables</a:t>
            </a:r>
          </a:p>
          <a:p>
            <a:r>
              <a:rPr lang="en-US" dirty="0"/>
              <a:t>We want to remove these so we can isolate the effect of a treatment or policy change from</a:t>
            </a:r>
          </a:p>
          <a:p>
            <a:pPr lvl="2"/>
            <a:r>
              <a:rPr lang="en-US" dirty="0"/>
              <a:t>Other things that are happening at the same time</a:t>
            </a:r>
          </a:p>
          <a:p>
            <a:pPr lvl="2"/>
            <a:r>
              <a:rPr lang="en-US" dirty="0"/>
              <a:t>Ways that implementing states tend to be different from other states</a:t>
            </a:r>
          </a:p>
          <a:p>
            <a:pPr lvl="2"/>
            <a:r>
              <a:rPr lang="en-US" dirty="0"/>
              <a:t>Fixed effects allow a very flexible way of doing this – “all else equal”</a:t>
            </a:r>
          </a:p>
          <a:p>
            <a:pPr lvl="2"/>
            <a:endParaRPr lang="en-US" dirty="0"/>
          </a:p>
          <a:p>
            <a:endParaRPr lang="en-US" dirty="0"/>
          </a:p>
        </p:txBody>
      </p:sp>
      <p:sp>
        <p:nvSpPr>
          <p:cNvPr id="4" name="Slide Number Placeholder 3">
            <a:extLst>
              <a:ext uri="{FF2B5EF4-FFF2-40B4-BE49-F238E27FC236}">
                <a16:creationId xmlns:a16="http://schemas.microsoft.com/office/drawing/2014/main" id="{FB2C6EF8-6141-C8E1-E350-74037AA2DDA2}"/>
              </a:ext>
            </a:extLst>
          </p:cNvPr>
          <p:cNvSpPr>
            <a:spLocks noGrp="1"/>
          </p:cNvSpPr>
          <p:nvPr>
            <p:ph type="sldNum" sz="quarter" idx="12"/>
          </p:nvPr>
        </p:nvSpPr>
        <p:spPr/>
        <p:txBody>
          <a:bodyPr/>
          <a:lstStyle/>
          <a:p>
            <a:fld id="{4698AAF4-35A4-40F4-A7AE-C8E2C41B9252}" type="slidenum">
              <a:rPr lang="en-US" smtClean="0"/>
              <a:t>25</a:t>
            </a:fld>
            <a:endParaRPr lang="en-US"/>
          </a:p>
        </p:txBody>
      </p:sp>
    </p:spTree>
    <p:extLst>
      <p:ext uri="{BB962C8B-B14F-4D97-AF65-F5344CB8AC3E}">
        <p14:creationId xmlns:p14="http://schemas.microsoft.com/office/powerpoint/2010/main" val="3467487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32918-3C57-7209-6B48-0945166842AA}"/>
            </a:ext>
          </a:extLst>
        </p:cNvPr>
        <p:cNvGrpSpPr/>
        <p:nvPr/>
      </p:nvGrpSpPr>
      <p:grpSpPr>
        <a:xfrm>
          <a:off x="0" y="0"/>
          <a:ext cx="0" cy="0"/>
          <a:chOff x="0" y="0"/>
          <a:chExt cx="0" cy="0"/>
        </a:xfrm>
      </p:grpSpPr>
      <p:graphicFrame>
        <p:nvGraphicFramePr>
          <p:cNvPr id="12" name="Table 11"/>
          <p:cNvGraphicFramePr>
            <a:graphicFrameLocks noGrp="1"/>
          </p:cNvGraphicFramePr>
          <p:nvPr/>
        </p:nvGraphicFramePr>
        <p:xfrm>
          <a:off x="838200" y="1362052"/>
          <a:ext cx="9603305" cy="5130823"/>
        </p:xfrm>
        <a:graphic>
          <a:graphicData uri="http://schemas.openxmlformats.org/drawingml/2006/table">
            <a:tbl>
              <a:tblPr>
                <a:tableStyleId>{5C22544A-7EE6-4342-B048-85BDC9FD1C3A}</a:tableStyleId>
              </a:tblPr>
              <a:tblGrid>
                <a:gridCol w="589156">
                  <a:extLst>
                    <a:ext uri="{9D8B030D-6E8A-4147-A177-3AD203B41FA5}">
                      <a16:colId xmlns:a16="http://schemas.microsoft.com/office/drawing/2014/main" val="1473447919"/>
                    </a:ext>
                  </a:extLst>
                </a:gridCol>
                <a:gridCol w="724829">
                  <a:extLst>
                    <a:ext uri="{9D8B030D-6E8A-4147-A177-3AD203B41FA5}">
                      <a16:colId xmlns:a16="http://schemas.microsoft.com/office/drawing/2014/main" val="210174292"/>
                    </a:ext>
                  </a:extLst>
                </a:gridCol>
                <a:gridCol w="933717">
                  <a:extLst>
                    <a:ext uri="{9D8B030D-6E8A-4147-A177-3AD203B41FA5}">
                      <a16:colId xmlns:a16="http://schemas.microsoft.com/office/drawing/2014/main" val="1212580721"/>
                    </a:ext>
                  </a:extLst>
                </a:gridCol>
                <a:gridCol w="745446">
                  <a:extLst>
                    <a:ext uri="{9D8B030D-6E8A-4147-A177-3AD203B41FA5}">
                      <a16:colId xmlns:a16="http://schemas.microsoft.com/office/drawing/2014/main" val="2744435622"/>
                    </a:ext>
                  </a:extLst>
                </a:gridCol>
                <a:gridCol w="850573">
                  <a:extLst>
                    <a:ext uri="{9D8B030D-6E8A-4147-A177-3AD203B41FA5}">
                      <a16:colId xmlns:a16="http://schemas.microsoft.com/office/drawing/2014/main" val="478310002"/>
                    </a:ext>
                  </a:extLst>
                </a:gridCol>
                <a:gridCol w="812346">
                  <a:extLst>
                    <a:ext uri="{9D8B030D-6E8A-4147-A177-3AD203B41FA5}">
                      <a16:colId xmlns:a16="http://schemas.microsoft.com/office/drawing/2014/main" val="1586878179"/>
                    </a:ext>
                  </a:extLst>
                </a:gridCol>
                <a:gridCol w="707218">
                  <a:extLst>
                    <a:ext uri="{9D8B030D-6E8A-4147-A177-3AD203B41FA5}">
                      <a16:colId xmlns:a16="http://schemas.microsoft.com/office/drawing/2014/main" val="1088015781"/>
                    </a:ext>
                  </a:extLst>
                </a:gridCol>
                <a:gridCol w="924144">
                  <a:extLst>
                    <a:ext uri="{9D8B030D-6E8A-4147-A177-3AD203B41FA5}">
                      <a16:colId xmlns:a16="http://schemas.microsoft.com/office/drawing/2014/main" val="1266995355"/>
                    </a:ext>
                  </a:extLst>
                </a:gridCol>
                <a:gridCol w="825190">
                  <a:extLst>
                    <a:ext uri="{9D8B030D-6E8A-4147-A177-3AD203B41FA5}">
                      <a16:colId xmlns:a16="http://schemas.microsoft.com/office/drawing/2014/main" val="853203909"/>
                    </a:ext>
                  </a:extLst>
                </a:gridCol>
                <a:gridCol w="814039">
                  <a:extLst>
                    <a:ext uri="{9D8B030D-6E8A-4147-A177-3AD203B41FA5}">
                      <a16:colId xmlns:a16="http://schemas.microsoft.com/office/drawing/2014/main" val="3391319376"/>
                    </a:ext>
                  </a:extLst>
                </a:gridCol>
                <a:gridCol w="925551">
                  <a:extLst>
                    <a:ext uri="{9D8B030D-6E8A-4147-A177-3AD203B41FA5}">
                      <a16:colId xmlns:a16="http://schemas.microsoft.com/office/drawing/2014/main" val="3307262063"/>
                    </a:ext>
                  </a:extLst>
                </a:gridCol>
                <a:gridCol w="751096">
                  <a:extLst>
                    <a:ext uri="{9D8B030D-6E8A-4147-A177-3AD203B41FA5}">
                      <a16:colId xmlns:a16="http://schemas.microsoft.com/office/drawing/2014/main" val="4262661911"/>
                    </a:ext>
                  </a:extLst>
                </a:gridCol>
              </a:tblGrid>
              <a:tr h="267820">
                <a:tc>
                  <a:txBody>
                    <a:bodyPr/>
                    <a:lstStyle/>
                    <a:p>
                      <a:pPr algn="ctr" fontAlgn="b"/>
                      <a:r>
                        <a:rPr lang="en-US" sz="1200" b="0" i="0" u="none" strike="noStrike" dirty="0">
                          <a:solidFill>
                            <a:srgbClr val="000000"/>
                          </a:solidFill>
                          <a:effectLst/>
                          <a:latin typeface="Calibri" panose="020F0502020204030204" pitchFamily="34" charset="0"/>
                        </a:rPr>
                        <a:t>State</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State_1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State_2</a:t>
                      </a:r>
                    </a:p>
                  </a:txBody>
                  <a:tcPr marL="9525" marR="9525" marT="9525" marB="0" anchor="b"/>
                </a:tc>
                <a:tc>
                  <a:txBody>
                    <a:bodyPr/>
                    <a:lstStyle/>
                    <a:p>
                      <a:pPr algn="ctr" fontAlgn="b"/>
                      <a:r>
                        <a:rPr lang="en-US" sz="1200" u="none" strike="noStrike" dirty="0">
                          <a:effectLst/>
                        </a:rPr>
                        <a:t>Person</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Year</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Year_90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Year_92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Year_94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Age</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Married</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Health spending</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Policy</a:t>
                      </a:r>
                    </a:p>
                  </a:txBody>
                  <a:tcPr marL="9525" marR="9525" marT="9525" marB="0" anchor="b"/>
                </a:tc>
                <a:extLst>
                  <a:ext uri="{0D108BD9-81ED-4DB2-BD59-A6C34878D82A}">
                    <a16:rowId xmlns:a16="http://schemas.microsoft.com/office/drawing/2014/main" val="3061031405"/>
                  </a:ext>
                </a:extLst>
              </a:tr>
              <a:tr h="156985">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30,129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823258"/>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31,128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91704482"/>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25,876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3286417"/>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41,034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584769112"/>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42,308</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135408980"/>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42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24,506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98418523"/>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25</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32,556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460095335"/>
                  </a:ext>
                </a:extLst>
              </a:tr>
              <a:tr h="278013">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34,599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745574953"/>
                  </a:ext>
                </a:extLst>
              </a:tr>
              <a:tr h="267820">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33,677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31067750"/>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130,129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40006142"/>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131,128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extLst>
                  <a:ext uri="{0D108BD9-81ED-4DB2-BD59-A6C34878D82A}">
                    <a16:rowId xmlns:a16="http://schemas.microsoft.com/office/drawing/2014/main" val="2694150858"/>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1994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130,876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2581396"/>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40</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141,034</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779207219"/>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142,308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71097380"/>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46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124,506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93929931"/>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132,556</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3231123295"/>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u="none" strike="noStrike" dirty="0">
                          <a:effectLst/>
                        </a:rPr>
                        <a:t>134,599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7926048"/>
                  </a:ext>
                </a:extLst>
              </a:tr>
              <a:tr h="267820">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0</a:t>
                      </a: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1994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b="0" i="0" u="none" strike="noStrike" dirty="0">
                          <a:solidFill>
                            <a:srgbClr val="000000"/>
                          </a:solidFill>
                          <a:effectLst/>
                          <a:latin typeface="Calibri" panose="020F0502020204030204" pitchFamily="34" charset="0"/>
                        </a:rPr>
                        <a:t>31</a:t>
                      </a: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115,677</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4673363"/>
                  </a:ext>
                </a:extLst>
              </a:tr>
            </a:tbl>
          </a:graphicData>
        </a:graphic>
      </p:graphicFrame>
      <p:sp>
        <p:nvSpPr>
          <p:cNvPr id="5" name="Title 4">
            <a:extLst>
              <a:ext uri="{FF2B5EF4-FFF2-40B4-BE49-F238E27FC236}">
                <a16:creationId xmlns:a16="http://schemas.microsoft.com/office/drawing/2014/main" id="{EBAE9678-FB0C-17C9-D22B-8291BD7FF8DB}"/>
              </a:ext>
            </a:extLst>
          </p:cNvPr>
          <p:cNvSpPr>
            <a:spLocks noGrp="1"/>
          </p:cNvSpPr>
          <p:nvPr>
            <p:ph type="title"/>
          </p:nvPr>
        </p:nvSpPr>
        <p:spPr/>
        <p:txBody>
          <a:bodyPr/>
          <a:lstStyle/>
          <a:p>
            <a:r>
              <a:rPr lang="en-US" dirty="0"/>
              <a:t>Detour – Fixed Effects – Data structure</a:t>
            </a:r>
          </a:p>
        </p:txBody>
      </p:sp>
    </p:spTree>
    <p:extLst>
      <p:ext uri="{BB962C8B-B14F-4D97-AF65-F5344CB8AC3E}">
        <p14:creationId xmlns:p14="http://schemas.microsoft.com/office/powerpoint/2010/main" val="1176167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EBD5-4B64-4C15-991C-45266FAB5FB3}"/>
              </a:ext>
            </a:extLst>
          </p:cNvPr>
          <p:cNvSpPr>
            <a:spLocks noGrp="1"/>
          </p:cNvSpPr>
          <p:nvPr>
            <p:ph type="title"/>
          </p:nvPr>
        </p:nvSpPr>
        <p:spPr/>
        <p:txBody>
          <a:bodyPr/>
          <a:lstStyle/>
          <a:p>
            <a:r>
              <a:rPr lang="en-US" dirty="0"/>
              <a:t>Multiple groups and time periods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0F7F05-D0B9-41C5-945B-266EA8B7C3F4}"/>
                  </a:ext>
                </a:extLst>
              </p:cNvPr>
              <p:cNvSpPr>
                <a:spLocks noGrp="1"/>
              </p:cNvSpPr>
              <p:nvPr>
                <p:ph idx="1"/>
              </p:nvPr>
            </p:nvSpPr>
            <p:spPr>
              <a:xfrm>
                <a:off x="838200" y="1825624"/>
                <a:ext cx="10515600" cy="4667251"/>
              </a:xfrm>
            </p:spPr>
            <p:txBody>
              <a:bodyPr>
                <a:normAutofit fontScale="85000" lnSpcReduction="20000"/>
              </a:bodyPr>
              <a:lstStyle/>
              <a:p>
                <a:r>
                  <a:rPr lang="en-US" dirty="0"/>
                  <a:t>Typical </a:t>
                </a:r>
                <a:r>
                  <a:rPr lang="en-US" dirty="0" err="1"/>
                  <a:t>DiD</a:t>
                </a:r>
                <a:r>
                  <a:rPr lang="en-US" dirty="0"/>
                  <a:t> specification</a:t>
                </a:r>
              </a:p>
              <a:p>
                <a:pPr lvl="1"/>
                <a:r>
                  <a:rPr lang="en-US" dirty="0"/>
                  <a:t>We have multiple groups (</a:t>
                </a:r>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={1…</m:t>
                    </m:r>
                    <m:r>
                      <a:rPr lang="en-US" i="1" dirty="0" smtClean="0">
                        <a:latin typeface="Cambria Math" panose="02040503050406030204" pitchFamily="18" charset="0"/>
                      </a:rPr>
                      <m:t>𝑀</m:t>
                    </m:r>
                    <m:r>
                      <a:rPr lang="en-US" i="1" dirty="0" smtClean="0">
                        <a:latin typeface="Cambria Math" panose="02040503050406030204" pitchFamily="18" charset="0"/>
                      </a:rPr>
                      <m:t>}</m:t>
                    </m:r>
                  </m:oMath>
                </a14:m>
                <a:r>
                  <a:rPr lang="en-US" dirty="0"/>
                  <a:t>) with some getting the treatment and some not getting it (group fixed effects)</a:t>
                </a:r>
              </a:p>
              <a:p>
                <a:pPr lvl="2"/>
                <a:r>
                  <a:rPr lang="en-US" dirty="0"/>
                  <a:t>”Treated” binary variable gets subsumed by these group fixed effects</a:t>
                </a:r>
              </a:p>
              <a:p>
                <a:pPr lvl="1"/>
                <a:r>
                  <a:rPr lang="en-US" dirty="0"/>
                  <a:t>We have multiple time periods (</a:t>
                </a:r>
                <a14:m>
                  <m:oMath xmlns:m="http://schemas.openxmlformats.org/officeDocument/2006/math">
                    <m:r>
                      <a:rPr lang="en-US" b="0" i="1" dirty="0" smtClean="0">
                        <a:latin typeface="Cambria Math" panose="02040503050406030204" pitchFamily="18" charset="0"/>
                      </a:rPr>
                      <m:t>𝑡</m:t>
                    </m:r>
                    <m:r>
                      <a:rPr lang="en-US" i="1" dirty="0">
                        <a:latin typeface="Cambria Math" panose="02040503050406030204" pitchFamily="18" charset="0"/>
                      </a:rPr>
                      <m:t>={1…</m:t>
                    </m:r>
                    <m:r>
                      <a:rPr lang="en-US" b="0" i="1" dirty="0" smtClean="0">
                        <a:latin typeface="Cambria Math" panose="02040503050406030204" pitchFamily="18" charset="0"/>
                      </a:rPr>
                      <m:t>𝐾</m:t>
                    </m:r>
                    <m:r>
                      <a:rPr lang="en-US" i="1" dirty="0">
                        <a:latin typeface="Cambria Math" panose="02040503050406030204" pitchFamily="18" charset="0"/>
                      </a:rPr>
                      <m:t>}</m:t>
                    </m:r>
                  </m:oMath>
                </a14:m>
                <a:r>
                  <a:rPr lang="en-US" dirty="0"/>
                  <a:t>) both pre- and post-intervention (time fixed effects)</a:t>
                </a:r>
              </a:p>
              <a:p>
                <a:pPr lvl="2"/>
                <a:r>
                  <a:rPr lang="en-US" dirty="0"/>
                  <a:t>“Post” binary variable gets subsumed by these time fixed effects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𝑖𝑔𝑡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𝑔</m:t>
                          </m:r>
                          <m:r>
                            <a:rPr lang="en-US" b="0" i="1" smtClean="0">
                              <a:latin typeface="Cambria Math" panose="02040503050406030204" pitchFamily="18" charset="0"/>
                            </a:rPr>
                            <m:t>=1</m:t>
                          </m:r>
                        </m:sub>
                        <m:sup>
                          <m:r>
                            <a:rPr lang="en-US" b="0" i="1" smtClean="0">
                              <a:latin typeface="Cambria Math" panose="02040503050406030204" pitchFamily="18" charset="0"/>
                            </a:rPr>
                            <m:t>𝑀</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𝑔</m:t>
                              </m:r>
                            </m:sub>
                          </m:sSub>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𝐾</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m:t>
                      </m:r>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𝑝𝑜𝑠𝑡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𝑇</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𝑖𝑔𝑡</m:t>
                          </m:r>
                        </m:sub>
                      </m:sSub>
                    </m:oMath>
                  </m:oMathPara>
                </a14:m>
                <a:endParaRPr lang="en-US" dirty="0"/>
              </a:p>
              <a:p>
                <a:pPr lvl="1"/>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𝛽</m:t>
                    </m:r>
                  </m:oMath>
                </a14:m>
                <a:r>
                  <a:rPr lang="en-US" dirty="0"/>
                  <a:t> tells us the average effect of treatment on the treated</a:t>
                </a:r>
              </a:p>
              <a:p>
                <a:pPr lvl="2"/>
                <a:r>
                  <a:rPr lang="en-US" dirty="0"/>
                  <a:t>The difference in the outcome in the post-intervention period in the treated areas after accounting for state and time level differences</a:t>
                </a:r>
              </a:p>
              <a:p>
                <a:pPr lvl="1"/>
                <a:r>
                  <a:rPr lang="en-US" dirty="0"/>
                  <a:t>Models can be more complex, i.e. modeling time trends, covariates, phased in implementation</a:t>
                </a:r>
              </a:p>
            </p:txBody>
          </p:sp>
        </mc:Choice>
        <mc:Fallback xmlns="">
          <p:sp>
            <p:nvSpPr>
              <p:cNvPr id="3" name="Content Placeholder 2">
                <a:extLst>
                  <a:ext uri="{FF2B5EF4-FFF2-40B4-BE49-F238E27FC236}">
                    <a16:creationId xmlns:a16="http://schemas.microsoft.com/office/drawing/2014/main" id="{7D0F7F05-D0B9-41C5-945B-266EA8B7C3F4}"/>
                  </a:ext>
                </a:extLst>
              </p:cNvPr>
              <p:cNvSpPr>
                <a:spLocks noGrp="1" noRot="1" noChangeAspect="1" noMove="1" noResize="1" noEditPoints="1" noAdjustHandles="1" noChangeArrowheads="1" noChangeShapeType="1" noTextEdit="1"/>
              </p:cNvSpPr>
              <p:nvPr>
                <p:ph idx="1"/>
              </p:nvPr>
            </p:nvSpPr>
            <p:spPr>
              <a:xfrm>
                <a:off x="838200" y="1825624"/>
                <a:ext cx="10515600" cy="4667251"/>
              </a:xfrm>
              <a:blipFill>
                <a:blip r:embed="rId2"/>
                <a:stretch>
                  <a:fillRect l="-844" t="-2981" b="-62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A317777-F89F-4D8A-8F64-0E8E08BCCD49}"/>
              </a:ext>
            </a:extLst>
          </p:cNvPr>
          <p:cNvSpPr>
            <a:spLocks noGrp="1"/>
          </p:cNvSpPr>
          <p:nvPr>
            <p:ph type="sldNum" sz="quarter" idx="12"/>
          </p:nvPr>
        </p:nvSpPr>
        <p:spPr/>
        <p:txBody>
          <a:bodyPr/>
          <a:lstStyle/>
          <a:p>
            <a:fld id="{4698AAF4-35A4-40F4-A7AE-C8E2C41B9252}" type="slidenum">
              <a:rPr lang="en-US" smtClean="0"/>
              <a:t>27</a:t>
            </a:fld>
            <a:endParaRPr lang="en-US"/>
          </a:p>
        </p:txBody>
      </p:sp>
    </p:spTree>
    <p:extLst>
      <p:ext uri="{BB962C8B-B14F-4D97-AF65-F5344CB8AC3E}">
        <p14:creationId xmlns:p14="http://schemas.microsoft.com/office/powerpoint/2010/main" val="316913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0D3BD-5A03-425B-BE0F-07B4426D00A0}"/>
              </a:ext>
            </a:extLst>
          </p:cNvPr>
          <p:cNvSpPr>
            <a:spLocks noGrp="1"/>
          </p:cNvSpPr>
          <p:nvPr>
            <p:ph type="title"/>
          </p:nvPr>
        </p:nvSpPr>
        <p:spPr/>
        <p:txBody>
          <a:bodyPr/>
          <a:lstStyle/>
          <a:p>
            <a:r>
              <a:rPr lang="en-US" dirty="0"/>
              <a:t>Adding covariates</a:t>
            </a:r>
          </a:p>
        </p:txBody>
      </p:sp>
      <p:sp>
        <p:nvSpPr>
          <p:cNvPr id="3" name="Content Placeholder 2">
            <a:extLst>
              <a:ext uri="{FF2B5EF4-FFF2-40B4-BE49-F238E27FC236}">
                <a16:creationId xmlns:a16="http://schemas.microsoft.com/office/drawing/2014/main" id="{8BA47E1C-1C1C-4A37-8D69-525EE514E93F}"/>
              </a:ext>
            </a:extLst>
          </p:cNvPr>
          <p:cNvSpPr>
            <a:spLocks noGrp="1"/>
          </p:cNvSpPr>
          <p:nvPr>
            <p:ph idx="1"/>
          </p:nvPr>
        </p:nvSpPr>
        <p:spPr/>
        <p:txBody>
          <a:bodyPr>
            <a:normAutofit fontScale="92500" lnSpcReduction="20000"/>
          </a:bodyPr>
          <a:lstStyle/>
          <a:p>
            <a:r>
              <a:rPr lang="en-US" dirty="0"/>
              <a:t>We could adjust the model covariates – without these the model may suffer from omitted variable bias</a:t>
            </a:r>
          </a:p>
          <a:p>
            <a:r>
              <a:rPr lang="en-US" dirty="0"/>
              <a:t>If the intervention is time varying at the group level, the key omitted variables that affect identification of the effect are time varying group level covariates</a:t>
            </a:r>
          </a:p>
          <a:p>
            <a:r>
              <a:rPr lang="en-US" dirty="0"/>
              <a:t>Adding individual level covariates may improve fit but is unlikely to effect estimates of program effect</a:t>
            </a:r>
          </a:p>
          <a:p>
            <a:r>
              <a:rPr lang="en-US" dirty="0"/>
              <a:t>Variation at the group level often captured with group fixed effects</a:t>
            </a:r>
          </a:p>
          <a:p>
            <a:r>
              <a:rPr lang="en-US" dirty="0"/>
              <a:t>Adding </a:t>
            </a:r>
            <a:r>
              <a:rPr lang="en-US" u="sng" dirty="0"/>
              <a:t>time varying group level covariates </a:t>
            </a:r>
            <a:r>
              <a:rPr lang="en-US" dirty="0"/>
              <a:t>potentially has large effect on the estimates</a:t>
            </a:r>
          </a:p>
          <a:p>
            <a:r>
              <a:rPr lang="en-US" i="1" dirty="0"/>
              <a:t>Key question</a:t>
            </a:r>
            <a:r>
              <a:rPr lang="en-US" dirty="0"/>
              <a:t>: are there factors that affect the treatment group but not the control group in the post-period? Or vice versa?</a:t>
            </a:r>
          </a:p>
        </p:txBody>
      </p:sp>
      <p:sp>
        <p:nvSpPr>
          <p:cNvPr id="4" name="Slide Number Placeholder 3">
            <a:extLst>
              <a:ext uri="{FF2B5EF4-FFF2-40B4-BE49-F238E27FC236}">
                <a16:creationId xmlns:a16="http://schemas.microsoft.com/office/drawing/2014/main" id="{67B3D636-EB1B-4EF0-B3FA-0B87F76FA449}"/>
              </a:ext>
            </a:extLst>
          </p:cNvPr>
          <p:cNvSpPr>
            <a:spLocks noGrp="1"/>
          </p:cNvSpPr>
          <p:nvPr>
            <p:ph type="sldNum" sz="quarter" idx="12"/>
          </p:nvPr>
        </p:nvSpPr>
        <p:spPr/>
        <p:txBody>
          <a:bodyPr/>
          <a:lstStyle/>
          <a:p>
            <a:fld id="{4698AAF4-35A4-40F4-A7AE-C8E2C41B9252}" type="slidenum">
              <a:rPr lang="en-US" smtClean="0"/>
              <a:t>28</a:t>
            </a:fld>
            <a:endParaRPr lang="en-US"/>
          </a:p>
        </p:txBody>
      </p:sp>
    </p:spTree>
    <p:extLst>
      <p:ext uri="{BB962C8B-B14F-4D97-AF65-F5344CB8AC3E}">
        <p14:creationId xmlns:p14="http://schemas.microsoft.com/office/powerpoint/2010/main" val="215923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2004-9649-45AB-A212-64DAA7F4121F}"/>
              </a:ext>
            </a:extLst>
          </p:cNvPr>
          <p:cNvSpPr>
            <a:spLocks noGrp="1"/>
          </p:cNvSpPr>
          <p:nvPr>
            <p:ph type="title"/>
          </p:nvPr>
        </p:nvSpPr>
        <p:spPr/>
        <p:txBody>
          <a:bodyPr/>
          <a:lstStyle/>
          <a:p>
            <a:r>
              <a:rPr lang="en-US" dirty="0"/>
              <a:t>Key assumptions: Counterfactual</a:t>
            </a:r>
          </a:p>
        </p:txBody>
      </p:sp>
      <p:sp>
        <p:nvSpPr>
          <p:cNvPr id="3" name="Content Placeholder 2">
            <a:extLst>
              <a:ext uri="{FF2B5EF4-FFF2-40B4-BE49-F238E27FC236}">
                <a16:creationId xmlns:a16="http://schemas.microsoft.com/office/drawing/2014/main" id="{DC59C128-131F-433F-9EFC-AC17CD0A0DEE}"/>
              </a:ext>
            </a:extLst>
          </p:cNvPr>
          <p:cNvSpPr>
            <a:spLocks noGrp="1"/>
          </p:cNvSpPr>
          <p:nvPr>
            <p:ph idx="1"/>
          </p:nvPr>
        </p:nvSpPr>
        <p:spPr>
          <a:xfrm>
            <a:off x="838199" y="1825625"/>
            <a:ext cx="11063991" cy="4351338"/>
          </a:xfrm>
        </p:spPr>
        <p:txBody>
          <a:bodyPr>
            <a:normAutofit/>
          </a:bodyPr>
          <a:lstStyle/>
          <a:p>
            <a:r>
              <a:rPr lang="en-US" dirty="0"/>
              <a:t>Key assumption in Difference-in-Differences </a:t>
            </a:r>
          </a:p>
          <a:p>
            <a:pPr lvl="1"/>
            <a:r>
              <a:rPr lang="en-US" dirty="0"/>
              <a:t>Treatment group would have followed the same trajectory as the control group in the post-intervention period if the intervention had not occurred</a:t>
            </a:r>
          </a:p>
          <a:p>
            <a:endParaRPr lang="en-US" dirty="0"/>
          </a:p>
          <a:p>
            <a:r>
              <a:rPr lang="en-US" dirty="0"/>
              <a:t>This counterfactual is </a:t>
            </a:r>
            <a:r>
              <a:rPr lang="en-US" b="1" dirty="0"/>
              <a:t>not</a:t>
            </a:r>
            <a:r>
              <a:rPr lang="en-US" dirty="0"/>
              <a:t> testable</a:t>
            </a:r>
          </a:p>
          <a:p>
            <a:pPr lvl="1"/>
            <a:r>
              <a:rPr lang="en-US" dirty="0"/>
              <a:t>This counterfactual may feel more believable if </a:t>
            </a:r>
          </a:p>
          <a:p>
            <a:pPr lvl="2"/>
            <a:r>
              <a:rPr lang="en-US" dirty="0"/>
              <a:t>Control and treatment areas are qualitatively similar before the intervention</a:t>
            </a:r>
          </a:p>
          <a:p>
            <a:pPr lvl="2"/>
            <a:r>
              <a:rPr lang="en-US" dirty="0"/>
              <a:t>The composition of control and treatment groups are not changing over time in different ways</a:t>
            </a:r>
          </a:p>
          <a:p>
            <a:pPr lvl="2"/>
            <a:r>
              <a:rPr lang="en-US" dirty="0"/>
              <a:t>The control and treatment group are on a similar trajectory before the intervention</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B8E92EC7-B794-4399-8687-C49F5A9668F4}"/>
              </a:ext>
            </a:extLst>
          </p:cNvPr>
          <p:cNvSpPr>
            <a:spLocks noGrp="1"/>
          </p:cNvSpPr>
          <p:nvPr>
            <p:ph type="sldNum" sz="quarter" idx="12"/>
          </p:nvPr>
        </p:nvSpPr>
        <p:spPr/>
        <p:txBody>
          <a:bodyPr/>
          <a:lstStyle/>
          <a:p>
            <a:fld id="{4698AAF4-35A4-40F4-A7AE-C8E2C41B9252}" type="slidenum">
              <a:rPr lang="en-US" smtClean="0"/>
              <a:t>29</a:t>
            </a:fld>
            <a:endParaRPr lang="en-US"/>
          </a:p>
        </p:txBody>
      </p:sp>
    </p:spTree>
    <p:extLst>
      <p:ext uri="{BB962C8B-B14F-4D97-AF65-F5344CB8AC3E}">
        <p14:creationId xmlns:p14="http://schemas.microsoft.com/office/powerpoint/2010/main" val="343298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4462-E6AC-4346-AD0D-ABB1BCA7704E}"/>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96D7B7E3-F76E-410A-A5F9-00F1ECCD42D2}"/>
              </a:ext>
            </a:extLst>
          </p:cNvPr>
          <p:cNvSpPr>
            <a:spLocks noGrp="1"/>
          </p:cNvSpPr>
          <p:nvPr>
            <p:ph idx="1"/>
          </p:nvPr>
        </p:nvSpPr>
        <p:spPr/>
        <p:txBody>
          <a:bodyPr>
            <a:normAutofit fontScale="92500" lnSpcReduction="20000"/>
          </a:bodyPr>
          <a:lstStyle/>
          <a:p>
            <a:r>
              <a:rPr lang="en-US" dirty="0"/>
              <a:t>50 states in the US with different policies</a:t>
            </a:r>
          </a:p>
          <a:p>
            <a:endParaRPr lang="en-US" dirty="0"/>
          </a:p>
          <a:p>
            <a:r>
              <a:rPr lang="en-US" dirty="0"/>
              <a:t>States that adopt policy are treatment group, those that do not are control group</a:t>
            </a:r>
          </a:p>
          <a:p>
            <a:endParaRPr lang="en-US" dirty="0"/>
          </a:p>
          <a:p>
            <a:r>
              <a:rPr lang="en-US" dirty="0"/>
              <a:t>Treatment may start at different time in different groups</a:t>
            </a:r>
          </a:p>
          <a:p>
            <a:endParaRPr lang="en-US" dirty="0"/>
          </a:p>
          <a:p>
            <a:r>
              <a:rPr lang="en-US" dirty="0"/>
              <a:t>Examples</a:t>
            </a:r>
          </a:p>
          <a:p>
            <a:pPr lvl="1"/>
            <a:r>
              <a:rPr lang="en-US" dirty="0"/>
              <a:t>Medicaid expansion under the Affordable Care Act</a:t>
            </a:r>
          </a:p>
          <a:p>
            <a:pPr lvl="1"/>
            <a:r>
              <a:rPr lang="en-US" dirty="0"/>
              <a:t>State level rollout of SNAP/benefit programs</a:t>
            </a:r>
          </a:p>
          <a:p>
            <a:pPr lvl="1"/>
            <a:r>
              <a:rPr lang="en-US" dirty="0"/>
              <a:t>State-level rollout of COVID-19 lotteries</a:t>
            </a:r>
          </a:p>
          <a:p>
            <a:pPr lvl="1"/>
            <a:r>
              <a:rPr lang="en-US" dirty="0"/>
              <a:t>State-level rollout of anti-discrimination laws against LGBT discrimination</a:t>
            </a:r>
          </a:p>
          <a:p>
            <a:endParaRPr lang="en-US" dirty="0"/>
          </a:p>
        </p:txBody>
      </p:sp>
      <p:sp>
        <p:nvSpPr>
          <p:cNvPr id="4" name="Slide Number Placeholder 3">
            <a:extLst>
              <a:ext uri="{FF2B5EF4-FFF2-40B4-BE49-F238E27FC236}">
                <a16:creationId xmlns:a16="http://schemas.microsoft.com/office/drawing/2014/main" id="{97A3CBF5-110A-42D5-A9BE-C64735DC3D18}"/>
              </a:ext>
            </a:extLst>
          </p:cNvPr>
          <p:cNvSpPr>
            <a:spLocks noGrp="1"/>
          </p:cNvSpPr>
          <p:nvPr>
            <p:ph type="sldNum" sz="quarter" idx="12"/>
          </p:nvPr>
        </p:nvSpPr>
        <p:spPr/>
        <p:txBody>
          <a:bodyPr/>
          <a:lstStyle/>
          <a:p>
            <a:fld id="{4698AAF4-35A4-40F4-A7AE-C8E2C41B9252}" type="slidenum">
              <a:rPr lang="en-US" smtClean="0"/>
              <a:t>30</a:t>
            </a:fld>
            <a:endParaRPr lang="en-US"/>
          </a:p>
        </p:txBody>
      </p:sp>
    </p:spTree>
    <p:extLst>
      <p:ext uri="{BB962C8B-B14F-4D97-AF65-F5344CB8AC3E}">
        <p14:creationId xmlns:p14="http://schemas.microsoft.com/office/powerpoint/2010/main" val="114403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ED2451-2B18-51DC-6B4C-830F957D9511}"/>
              </a:ext>
            </a:extLst>
          </p:cNvPr>
          <p:cNvSpPr>
            <a:spLocks noGrp="1"/>
          </p:cNvSpPr>
          <p:nvPr>
            <p:ph type="sldNum" sz="quarter" idx="12"/>
          </p:nvPr>
        </p:nvSpPr>
        <p:spPr/>
        <p:txBody>
          <a:bodyPr/>
          <a:lstStyle/>
          <a:p>
            <a:fld id="{4698AAF4-35A4-40F4-A7AE-C8E2C41B9252}" type="slidenum">
              <a:rPr lang="en-US" smtClean="0"/>
              <a:t>31</a:t>
            </a:fld>
            <a:endParaRPr lang="en-US"/>
          </a:p>
        </p:txBody>
      </p:sp>
      <p:pic>
        <p:nvPicPr>
          <p:cNvPr id="1026" name="Picture 2" descr="Exhibit 2">
            <a:extLst>
              <a:ext uri="{FF2B5EF4-FFF2-40B4-BE49-F238E27FC236}">
                <a16:creationId xmlns:a16="http://schemas.microsoft.com/office/drawing/2014/main" id="{00B02075-7DE4-D654-5977-763E3072E7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461" y="674400"/>
            <a:ext cx="6350000" cy="5029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0AD05D-D0FB-5BEC-9068-BE08C08357F4}"/>
              </a:ext>
            </a:extLst>
          </p:cNvPr>
          <p:cNvSpPr txBox="1"/>
          <p:nvPr/>
        </p:nvSpPr>
        <p:spPr>
          <a:xfrm>
            <a:off x="212034" y="674400"/>
            <a:ext cx="2835966" cy="5262979"/>
          </a:xfrm>
          <a:prstGeom prst="rect">
            <a:avLst/>
          </a:prstGeom>
          <a:noFill/>
        </p:spPr>
        <p:txBody>
          <a:bodyPr wrap="square" rtlCol="0">
            <a:spAutoFit/>
          </a:bodyPr>
          <a:lstStyle/>
          <a:p>
            <a:pPr algn="l"/>
            <a:r>
              <a:rPr lang="en-US" sz="1600" b="0" i="0" dirty="0">
                <a:solidFill>
                  <a:srgbClr val="3C3C3B"/>
                </a:solidFill>
                <a:effectLst/>
                <a:latin typeface="Calibri" panose="020F0502020204030204" pitchFamily="34" charset="0"/>
                <a:cs typeface="Calibri" panose="020F0502020204030204" pitchFamily="34" charset="0"/>
                <a:hlinkClick r:id="rId3"/>
              </a:rPr>
              <a:t>Medicaid Expansion Improved Perinatal Insurance Continuity For Low-Income Women</a:t>
            </a:r>
            <a:endParaRPr lang="en-US" sz="1600" b="0" i="0" dirty="0">
              <a:solidFill>
                <a:srgbClr val="3C3C3B"/>
              </a:solidFill>
              <a:effectLst/>
              <a:latin typeface="Calibri" panose="020F0502020204030204" pitchFamily="34" charset="0"/>
              <a:cs typeface="Calibri" panose="020F0502020204030204" pitchFamily="34" charset="0"/>
            </a:endParaRPr>
          </a:p>
          <a:p>
            <a:pPr algn="l"/>
            <a:r>
              <a:rPr lang="en-US" sz="1600" dirty="0" err="1">
                <a:solidFill>
                  <a:srgbClr val="3C3C3B"/>
                </a:solidFill>
                <a:latin typeface="Calibri" panose="020F0502020204030204" pitchFamily="34" charset="0"/>
                <a:cs typeface="Calibri" panose="020F0502020204030204" pitchFamily="34" charset="0"/>
              </a:rPr>
              <a:t>Daw</a:t>
            </a:r>
            <a:r>
              <a:rPr lang="en-US" sz="1600" dirty="0">
                <a:solidFill>
                  <a:srgbClr val="3C3C3B"/>
                </a:solidFill>
                <a:latin typeface="Calibri" panose="020F0502020204030204" pitchFamily="34" charset="0"/>
                <a:cs typeface="Calibri" panose="020F0502020204030204" pitchFamily="34" charset="0"/>
              </a:rPr>
              <a:t> et al 2020</a:t>
            </a:r>
          </a:p>
          <a:p>
            <a:pPr algn="l"/>
            <a:endParaRPr lang="en-US" sz="1600" b="0" i="0" dirty="0">
              <a:solidFill>
                <a:srgbClr val="3C3C3B"/>
              </a:solidFill>
              <a:effectLst/>
              <a:latin typeface="Calibri" panose="020F0502020204030204" pitchFamily="34" charset="0"/>
              <a:cs typeface="Calibri" panose="020F0502020204030204" pitchFamily="34" charset="0"/>
            </a:endParaRPr>
          </a:p>
          <a:p>
            <a:r>
              <a:rPr lang="en-US" sz="1600" b="0" i="1" u="sng" dirty="0">
                <a:solidFill>
                  <a:srgbClr val="3C3C3B"/>
                </a:solidFill>
                <a:effectLst/>
                <a:latin typeface="Calibri" panose="020F0502020204030204" pitchFamily="34" charset="0"/>
                <a:cs typeface="Calibri" panose="020F0502020204030204" pitchFamily="34" charset="0"/>
              </a:rPr>
              <a:t>Question</a:t>
            </a:r>
            <a:r>
              <a:rPr lang="en-US" sz="1600" b="0" i="0" dirty="0">
                <a:solidFill>
                  <a:srgbClr val="3C3C3B"/>
                </a:solidFill>
                <a:effectLst/>
                <a:latin typeface="Calibri" panose="020F0502020204030204" pitchFamily="34" charset="0"/>
                <a:cs typeface="Calibri" panose="020F0502020204030204" pitchFamily="34" charset="0"/>
              </a:rPr>
              <a:t>: What is the impact of Medicaid expansion on “churn” (lapses in insurance coverage)</a:t>
            </a:r>
          </a:p>
          <a:p>
            <a:pPr algn="l"/>
            <a:endParaRPr lang="en-US" sz="1600" b="0" i="0" dirty="0">
              <a:solidFill>
                <a:srgbClr val="3C3C3B"/>
              </a:solidFill>
              <a:effectLst/>
              <a:latin typeface="Calibri" panose="020F0502020204030204" pitchFamily="34" charset="0"/>
              <a:cs typeface="Calibri" panose="020F0502020204030204" pitchFamily="34" charset="0"/>
            </a:endParaRPr>
          </a:p>
          <a:p>
            <a:pPr algn="l"/>
            <a:r>
              <a:rPr lang="en-US" sz="1600" b="0" i="1" u="sng" dirty="0">
                <a:solidFill>
                  <a:srgbClr val="3C3C3B"/>
                </a:solidFill>
                <a:effectLst/>
                <a:latin typeface="Calibri" panose="020F0502020204030204" pitchFamily="34" charset="0"/>
                <a:cs typeface="Calibri" panose="020F0502020204030204" pitchFamily="34" charset="0"/>
              </a:rPr>
              <a:t>Outcome</a:t>
            </a:r>
            <a:r>
              <a:rPr lang="en-US" sz="1600" b="0" i="0" dirty="0">
                <a:solidFill>
                  <a:srgbClr val="3C3C3B"/>
                </a:solidFill>
                <a:effectLst/>
                <a:latin typeface="Calibri" panose="020F0502020204030204" pitchFamily="34" charset="0"/>
                <a:cs typeface="Calibri" panose="020F0502020204030204" pitchFamily="34" charset="0"/>
              </a:rPr>
              <a:t>: transitions from insured to uninsured during pregnancy/postpartum period</a:t>
            </a:r>
          </a:p>
          <a:p>
            <a:pPr algn="l"/>
            <a:endParaRPr lang="en-US" sz="1600" dirty="0">
              <a:solidFill>
                <a:srgbClr val="3C3C3B"/>
              </a:solidFill>
              <a:latin typeface="Calibri" panose="020F0502020204030204" pitchFamily="34" charset="0"/>
              <a:cs typeface="Calibri" panose="020F0502020204030204" pitchFamily="34" charset="0"/>
            </a:endParaRPr>
          </a:p>
          <a:p>
            <a:pPr algn="l"/>
            <a:r>
              <a:rPr lang="en-US" sz="1600" u="sng" dirty="0">
                <a:solidFill>
                  <a:srgbClr val="3C3C3B"/>
                </a:solidFill>
                <a:latin typeface="Calibri" panose="020F0502020204030204" pitchFamily="34" charset="0"/>
                <a:cs typeface="Calibri" panose="020F0502020204030204" pitchFamily="34" charset="0"/>
              </a:rPr>
              <a:t>Treated</a:t>
            </a:r>
            <a:r>
              <a:rPr lang="en-US" sz="1600" dirty="0">
                <a:solidFill>
                  <a:srgbClr val="3C3C3B"/>
                </a:solidFill>
                <a:latin typeface="Calibri" panose="020F0502020204030204" pitchFamily="34" charset="0"/>
                <a:cs typeface="Calibri" panose="020F0502020204030204" pitchFamily="34" charset="0"/>
              </a:rPr>
              <a:t>: states that expanded Medicaid</a:t>
            </a:r>
          </a:p>
          <a:p>
            <a:pPr algn="l"/>
            <a:endParaRPr lang="en-US" sz="1600" dirty="0">
              <a:solidFill>
                <a:srgbClr val="3C3C3B"/>
              </a:solidFill>
              <a:latin typeface="Calibri" panose="020F0502020204030204" pitchFamily="34" charset="0"/>
              <a:cs typeface="Calibri" panose="020F0502020204030204" pitchFamily="34" charset="0"/>
            </a:endParaRPr>
          </a:p>
          <a:p>
            <a:pPr algn="l"/>
            <a:r>
              <a:rPr lang="en-US" sz="1600" u="sng" dirty="0">
                <a:solidFill>
                  <a:srgbClr val="3C3C3B"/>
                </a:solidFill>
                <a:latin typeface="Calibri" panose="020F0502020204030204" pitchFamily="34" charset="0"/>
                <a:cs typeface="Calibri" panose="020F0502020204030204" pitchFamily="34" charset="0"/>
              </a:rPr>
              <a:t>Control</a:t>
            </a:r>
            <a:r>
              <a:rPr lang="en-US" sz="1600" dirty="0">
                <a:solidFill>
                  <a:srgbClr val="3C3C3B"/>
                </a:solidFill>
                <a:latin typeface="Calibri" panose="020F0502020204030204" pitchFamily="34" charset="0"/>
                <a:cs typeface="Calibri" panose="020F0502020204030204" pitchFamily="34" charset="0"/>
              </a:rPr>
              <a:t>: states that did not</a:t>
            </a:r>
          </a:p>
          <a:p>
            <a:pPr algn="l"/>
            <a:endParaRPr lang="en-US" sz="1600" b="0" i="0" dirty="0">
              <a:solidFill>
                <a:srgbClr val="3C3C3B"/>
              </a:solidFill>
              <a:effectLst/>
              <a:latin typeface="Calibri" panose="020F0502020204030204" pitchFamily="34" charset="0"/>
              <a:cs typeface="Calibri" panose="020F0502020204030204" pitchFamily="34" charset="0"/>
            </a:endParaRPr>
          </a:p>
          <a:p>
            <a:pPr algn="l"/>
            <a:r>
              <a:rPr lang="en-US" sz="1600" dirty="0">
                <a:solidFill>
                  <a:srgbClr val="C00000"/>
                </a:solidFill>
                <a:latin typeface="Calibri" panose="020F0502020204030204" pitchFamily="34" charset="0"/>
                <a:cs typeface="Calibri" panose="020F0502020204030204" pitchFamily="34" charset="0"/>
              </a:rPr>
              <a:t>How convinced are you that the counterfactual assumption is reasonable here?</a:t>
            </a:r>
            <a:endParaRPr lang="en-US" sz="1600" b="0" i="0" dirty="0">
              <a:solidFill>
                <a:srgbClr val="C0000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246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2004-9649-45AB-A212-64DAA7F4121F}"/>
              </a:ext>
            </a:extLst>
          </p:cNvPr>
          <p:cNvSpPr>
            <a:spLocks noGrp="1"/>
          </p:cNvSpPr>
          <p:nvPr>
            <p:ph type="title"/>
          </p:nvPr>
        </p:nvSpPr>
        <p:spPr/>
        <p:txBody>
          <a:bodyPr/>
          <a:lstStyle/>
          <a:p>
            <a:r>
              <a:rPr lang="en-US" dirty="0"/>
              <a:t>Event study specification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C59C128-131F-433F-9EFC-AC17CD0A0DEE}"/>
                  </a:ext>
                </a:extLst>
              </p:cNvPr>
              <p:cNvSpPr>
                <a:spLocks noGrp="1"/>
              </p:cNvSpPr>
              <p:nvPr>
                <p:ph idx="1"/>
              </p:nvPr>
            </p:nvSpPr>
            <p:spPr/>
            <p:txBody>
              <a:bodyPr>
                <a:normAutofit/>
              </a:bodyPr>
              <a:lstStyle/>
              <a:p>
                <a:r>
                  <a:rPr lang="en-US" sz="2000" dirty="0"/>
                  <a:t>One way to demonstrate how trends compare in control versus treatment in the period </a:t>
                </a:r>
                <a:r>
                  <a:rPr lang="en-US" sz="2000" i="1" dirty="0"/>
                  <a:t>before</a:t>
                </a:r>
                <a:r>
                  <a:rPr lang="en-US" sz="2000" dirty="0"/>
                  <a:t> the policy change is by estimating an “event study”</a:t>
                </a:r>
              </a:p>
              <a:p>
                <a:pPr lvl="1"/>
                <a:r>
                  <a:rPr lang="en-US" sz="1800" dirty="0"/>
                  <a:t>Maintain basic difference in differences structure – fixed effects for each time period, fixed effects for each state</a:t>
                </a:r>
              </a:p>
              <a:p>
                <a:r>
                  <a:rPr lang="en-US" sz="2000" dirty="0"/>
                  <a:t>Instead of looking at a binary variable indicating whether treatment had occurred</a:t>
                </a:r>
              </a:p>
              <a:p>
                <a:pPr lvl="1"/>
                <a:r>
                  <a:rPr lang="en-US" sz="1800" dirty="0"/>
                  <a:t>Estimate a time to event variable indexed on </a:t>
                </a:r>
                <a:r>
                  <a:rPr lang="en-US" sz="1800" u="sng" dirty="0"/>
                  <a:t>when</a:t>
                </a:r>
                <a:r>
                  <a:rPr lang="en-US" sz="1800" dirty="0"/>
                  <a:t> the intervention occurred</a:t>
                </a:r>
              </a:p>
              <a:p>
                <a:pPr lvl="1"/>
                <a:r>
                  <a:rPr lang="en-US" sz="1800" dirty="0"/>
                  <a:t>Typically estimated by non-parametrically estimating leads and lags from the timing of the intervention</a:t>
                </a:r>
              </a:p>
              <a:p>
                <a:pPr lvl="1"/>
                <a:r>
                  <a:rPr lang="en-US" sz="1800" dirty="0"/>
                  <a:t>Allows for visualization of whether “pre-trends” differ in treated areas compared to control</a:t>
                </a:r>
              </a:p>
              <a:p>
                <a:pPr lvl="1"/>
                <a:r>
                  <a:rPr lang="en-US" sz="1800" dirty="0"/>
                  <a:t>Allows for more flexible specification of the timing of treatment effects</a:t>
                </a:r>
              </a:p>
              <a:p>
                <a:endParaRPr lang="en-US" sz="2000" dirty="0"/>
              </a:p>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𝑌</m:t>
                        </m:r>
                      </m:e>
                      <m:sub>
                        <m:r>
                          <a:rPr lang="en-US" sz="2000" i="1">
                            <a:latin typeface="Cambria Math" panose="02040503050406030204" pitchFamily="18" charset="0"/>
                          </a:rPr>
                          <m:t>𝑖𝑔𝑡</m:t>
                        </m:r>
                      </m:sub>
                    </m:sSub>
                    <m:r>
                      <a:rPr lang="en-US" sz="2000" i="1">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𝑔</m:t>
                        </m:r>
                        <m:r>
                          <a:rPr lang="en-US" sz="2000" i="1">
                            <a:latin typeface="Cambria Math" panose="02040503050406030204" pitchFamily="18" charset="0"/>
                          </a:rPr>
                          <m:t>=1</m:t>
                        </m:r>
                      </m:sub>
                      <m:sup>
                        <m:r>
                          <a:rPr lang="en-US" sz="2000" i="1">
                            <a:latin typeface="Cambria Math" panose="02040503050406030204" pitchFamily="18" charset="0"/>
                          </a:rPr>
                          <m:t>𝑀</m:t>
                        </m:r>
                      </m:sup>
                      <m:e>
                        <m:sSub>
                          <m:sSubPr>
                            <m:ctrlPr>
                              <a:rPr lang="en-US" sz="2000" i="1" smtClean="0">
                                <a:latin typeface="Cambria Math" panose="02040503050406030204" pitchFamily="18" charset="0"/>
                              </a:rPr>
                            </m:ctrlPr>
                          </m:sSubPr>
                          <m:e>
                            <m:r>
                              <a:rPr lang="en-US" sz="2000" i="1">
                                <a:latin typeface="Cambria Math" panose="02040503050406030204" pitchFamily="18" charset="0"/>
                              </a:rPr>
                              <m:t>𝛼</m:t>
                            </m:r>
                          </m:e>
                          <m:sub>
                            <m:r>
                              <a:rPr lang="en-US" sz="2000" i="1">
                                <a:latin typeface="Cambria Math" panose="02040503050406030204" pitchFamily="18" charset="0"/>
                              </a:rPr>
                              <m:t>𝑔</m:t>
                            </m:r>
                          </m:sub>
                        </m:sSub>
                      </m:e>
                    </m:nary>
                    <m:r>
                      <a:rPr lang="en-US" sz="2000" i="1">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𝑡</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smtClean="0">
                                <a:latin typeface="Cambria Math" panose="02040503050406030204" pitchFamily="18" charset="0"/>
                              </a:rPr>
                              <m:t>𝛾</m:t>
                            </m:r>
                          </m:e>
                          <m:sub>
                            <m:r>
                              <a:rPr lang="en-US" sz="2000" i="1">
                                <a:latin typeface="Cambria Math" panose="02040503050406030204" pitchFamily="18" charset="0"/>
                              </a:rPr>
                              <m:t>𝑡</m:t>
                            </m:r>
                          </m:sub>
                        </m:sSub>
                      </m:e>
                    </m:nary>
                    <m:r>
                      <a:rPr lang="en-US" sz="2000" i="1">
                        <a:latin typeface="Cambria Math" panose="02040503050406030204" pitchFamily="18" charset="0"/>
                      </a:rPr>
                      <m:t>+</m:t>
                    </m:r>
                    <m:nary>
                      <m:naryPr>
                        <m:chr m:val="∑"/>
                        <m:ctrlPr>
                          <a:rPr lang="en-US" sz="2000" i="1">
                            <a:latin typeface="Cambria Math" panose="02040503050406030204" pitchFamily="18" charset="0"/>
                          </a:rPr>
                        </m:ctrlPr>
                      </m:naryPr>
                      <m:sub>
                        <m:r>
                          <a:rPr lang="en-US" sz="2000" i="1" smtClean="0">
                            <a:latin typeface="Cambria Math" panose="02040503050406030204" pitchFamily="18" charset="0"/>
                          </a:rPr>
                          <m:t>𝞽</m:t>
                        </m:r>
                        <m:r>
                          <a:rPr lang="en-US" sz="2000" i="1">
                            <a:latin typeface="Cambria Math" panose="02040503050406030204" pitchFamily="18" charset="0"/>
                          </a:rPr>
                          <m:t>=</m:t>
                        </m:r>
                        <m:r>
                          <a:rPr lang="en-US" sz="2000" b="0" i="1" smtClean="0">
                            <a:latin typeface="Cambria Math" panose="02040503050406030204" pitchFamily="18" charset="0"/>
                          </a:rPr>
                          <m:t>−</m:t>
                        </m:r>
                        <m:r>
                          <a:rPr lang="en-US" sz="2000" b="0" i="1" smtClean="0">
                            <a:latin typeface="Cambria Math" panose="02040503050406030204" pitchFamily="18" charset="0"/>
                          </a:rPr>
                          <m:t>𝑞</m:t>
                        </m:r>
                      </m:sub>
                      <m:sup>
                        <m:r>
                          <a:rPr lang="en-US" sz="2000" b="0" i="1" smtClean="0">
                            <a:latin typeface="Cambria Math" panose="02040503050406030204" pitchFamily="18" charset="0"/>
                          </a:rPr>
                          <m:t>−1</m:t>
                        </m:r>
                      </m:sup>
                      <m:e>
                        <m:sSub>
                          <m:sSubPr>
                            <m:ctrlPr>
                              <a:rPr lang="en-US" sz="2000" i="1">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𝑔</m:t>
                            </m:r>
                            <m:r>
                              <a:rPr lang="en-US" sz="2000" b="0" i="1" smtClean="0">
                                <a:latin typeface="Cambria Math" panose="02040503050406030204" pitchFamily="18" charset="0"/>
                              </a:rPr>
                              <m:t>𝞽</m:t>
                            </m:r>
                          </m:sub>
                        </m:sSub>
                      </m:e>
                    </m:nary>
                    <m:r>
                      <a:rPr lang="en-US" sz="2000" i="1">
                        <a:latin typeface="Cambria Math" panose="02040503050406030204" pitchFamily="18" charset="0"/>
                      </a:rPr>
                      <m:t>+</m:t>
                    </m:r>
                    <m:nary>
                      <m:naryPr>
                        <m:chr m:val="∑"/>
                        <m:ctrlPr>
                          <a:rPr lang="en-US" sz="2000" i="1">
                            <a:latin typeface="Cambria Math" panose="02040503050406030204" pitchFamily="18" charset="0"/>
                          </a:rPr>
                        </m:ctrlPr>
                      </m:naryPr>
                      <m:sub>
                        <m:r>
                          <a:rPr lang="en-US" sz="2000" i="1" smtClean="0">
                            <a:latin typeface="Cambria Math" panose="02040503050406030204" pitchFamily="18" charset="0"/>
                          </a:rPr>
                          <m:t>𝞽</m:t>
                        </m:r>
                        <m:r>
                          <a:rPr lang="en-US" sz="2000" i="1">
                            <a:latin typeface="Cambria Math" panose="02040503050406030204" pitchFamily="18" charset="0"/>
                          </a:rPr>
                          <m:t>=</m:t>
                        </m:r>
                        <m:r>
                          <a:rPr lang="en-US" sz="2000" b="0" i="1" smtClean="0">
                            <a:latin typeface="Cambria Math" panose="02040503050406030204" pitchFamily="18" charset="0"/>
                          </a:rPr>
                          <m:t>0</m:t>
                        </m:r>
                      </m:sub>
                      <m:sup>
                        <m:r>
                          <a:rPr lang="en-US" sz="2000" b="0" i="1" smtClean="0">
                            <a:latin typeface="Cambria Math" panose="02040503050406030204" pitchFamily="18" charset="0"/>
                          </a:rPr>
                          <m:t>𝑚</m:t>
                        </m:r>
                      </m:sup>
                      <m:e>
                        <m:sSub>
                          <m:sSubPr>
                            <m:ctrlPr>
                              <a:rPr lang="en-US" sz="2000" i="1">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𝑔</m:t>
                            </m:r>
                            <m:r>
                              <a:rPr lang="en-US" sz="2000" b="0" i="1" smtClean="0">
                                <a:latin typeface="Cambria Math" panose="02040503050406030204" pitchFamily="18" charset="0"/>
                              </a:rPr>
                              <m:t>𝞽</m:t>
                            </m:r>
                          </m:sub>
                        </m:sSub>
                      </m:e>
                    </m:nary>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𝜖</m:t>
                        </m:r>
                      </m:e>
                      <m:sub>
                        <m:r>
                          <a:rPr lang="en-US" sz="2000" i="1">
                            <a:latin typeface="Cambria Math" panose="02040503050406030204" pitchFamily="18" charset="0"/>
                          </a:rPr>
                          <m:t>𝑖𝑔𝑡</m:t>
                        </m:r>
                      </m:sub>
                    </m:sSub>
                  </m:oMath>
                </a14:m>
                <a:endParaRPr lang="en-US" sz="2000" dirty="0"/>
              </a:p>
              <a:p>
                <a:endParaRPr lang="en-US" sz="2000" dirty="0"/>
              </a:p>
            </p:txBody>
          </p:sp>
        </mc:Choice>
        <mc:Fallback>
          <p:sp>
            <p:nvSpPr>
              <p:cNvPr id="3" name="Content Placeholder 2">
                <a:extLst>
                  <a:ext uri="{FF2B5EF4-FFF2-40B4-BE49-F238E27FC236}">
                    <a16:creationId xmlns:a16="http://schemas.microsoft.com/office/drawing/2014/main" id="{DC59C128-131F-433F-9EFC-AC17CD0A0DEE}"/>
                  </a:ext>
                </a:extLst>
              </p:cNvPr>
              <p:cNvSpPr>
                <a:spLocks noGrp="1" noRot="1" noChangeAspect="1" noMove="1" noResize="1" noEditPoints="1" noAdjustHandles="1" noChangeArrowheads="1" noChangeShapeType="1" noTextEdit="1"/>
              </p:cNvSpPr>
              <p:nvPr>
                <p:ph idx="1"/>
              </p:nvPr>
            </p:nvSpPr>
            <p:spPr>
              <a:blipFill>
                <a:blip r:embed="rId2"/>
                <a:stretch>
                  <a:fillRect l="-603" t="-1453" b="-87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8E92EC7-B794-4399-8687-C49F5A9668F4}"/>
              </a:ext>
            </a:extLst>
          </p:cNvPr>
          <p:cNvSpPr>
            <a:spLocks noGrp="1"/>
          </p:cNvSpPr>
          <p:nvPr>
            <p:ph type="sldNum" sz="quarter" idx="12"/>
          </p:nvPr>
        </p:nvSpPr>
        <p:spPr/>
        <p:txBody>
          <a:bodyPr/>
          <a:lstStyle/>
          <a:p>
            <a:fld id="{4698AAF4-35A4-40F4-A7AE-C8E2C41B9252}" type="slidenum">
              <a:rPr lang="en-US" smtClean="0"/>
              <a:t>32</a:t>
            </a:fld>
            <a:endParaRPr lang="en-US"/>
          </a:p>
        </p:txBody>
      </p:sp>
    </p:spTree>
    <p:extLst>
      <p:ext uri="{BB962C8B-B14F-4D97-AF65-F5344CB8AC3E}">
        <p14:creationId xmlns:p14="http://schemas.microsoft.com/office/powerpoint/2010/main" val="96279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B0ED2-9A95-5185-0409-B1D0A0E04737}"/>
              </a:ext>
            </a:extLst>
          </p:cNvPr>
          <p:cNvSpPr>
            <a:spLocks noGrp="1"/>
          </p:cNvSpPr>
          <p:nvPr>
            <p:ph type="title"/>
          </p:nvPr>
        </p:nvSpPr>
        <p:spPr>
          <a:xfrm>
            <a:off x="568247" y="239595"/>
            <a:ext cx="10515600" cy="1325563"/>
          </a:xfrm>
        </p:spPr>
        <p:txBody>
          <a:bodyPr/>
          <a:lstStyle/>
          <a:p>
            <a:r>
              <a:rPr lang="en-US" dirty="0"/>
              <a:t>Example</a:t>
            </a:r>
          </a:p>
        </p:txBody>
      </p:sp>
      <p:sp>
        <p:nvSpPr>
          <p:cNvPr id="4" name="Slide Number Placeholder 3">
            <a:extLst>
              <a:ext uri="{FF2B5EF4-FFF2-40B4-BE49-F238E27FC236}">
                <a16:creationId xmlns:a16="http://schemas.microsoft.com/office/drawing/2014/main" id="{FA29B48A-F1A7-4E46-F8F6-C461ADE9F625}"/>
              </a:ext>
            </a:extLst>
          </p:cNvPr>
          <p:cNvSpPr>
            <a:spLocks noGrp="1"/>
          </p:cNvSpPr>
          <p:nvPr>
            <p:ph type="sldNum" sz="quarter" idx="12"/>
          </p:nvPr>
        </p:nvSpPr>
        <p:spPr/>
        <p:txBody>
          <a:bodyPr/>
          <a:lstStyle/>
          <a:p>
            <a:fld id="{4698AAF4-35A4-40F4-A7AE-C8E2C41B9252}" type="slidenum">
              <a:rPr lang="en-US" smtClean="0"/>
              <a:t>33</a:t>
            </a:fld>
            <a:endParaRPr lang="en-US"/>
          </a:p>
        </p:txBody>
      </p:sp>
      <p:sp>
        <p:nvSpPr>
          <p:cNvPr id="6" name="TextBox 5">
            <a:extLst>
              <a:ext uri="{FF2B5EF4-FFF2-40B4-BE49-F238E27FC236}">
                <a16:creationId xmlns:a16="http://schemas.microsoft.com/office/drawing/2014/main" id="{DFAEF797-74BC-224A-C83B-B39AC9496DE9}"/>
              </a:ext>
            </a:extLst>
          </p:cNvPr>
          <p:cNvSpPr txBox="1"/>
          <p:nvPr/>
        </p:nvSpPr>
        <p:spPr>
          <a:xfrm>
            <a:off x="261731" y="1565158"/>
            <a:ext cx="3589622" cy="923330"/>
          </a:xfrm>
          <a:prstGeom prst="rect">
            <a:avLst/>
          </a:prstGeom>
          <a:noFill/>
        </p:spPr>
        <p:txBody>
          <a:bodyPr wrap="square">
            <a:spAutoFit/>
          </a:bodyPr>
          <a:lstStyle/>
          <a:p>
            <a:r>
              <a:rPr lang="en-US" dirty="0">
                <a:hlinkClick r:id="rId2"/>
              </a:rPr>
              <a:t>MEDICAID AND MORTALITY: NEW EVIDENCE FROM LINKED SURVEY AND ADMINISTRATIVE DATA</a:t>
            </a:r>
            <a:endParaRPr lang="en-US" dirty="0"/>
          </a:p>
        </p:txBody>
      </p:sp>
      <p:sp>
        <p:nvSpPr>
          <p:cNvPr id="9" name="TextBox 8">
            <a:extLst>
              <a:ext uri="{FF2B5EF4-FFF2-40B4-BE49-F238E27FC236}">
                <a16:creationId xmlns:a16="http://schemas.microsoft.com/office/drawing/2014/main" id="{50DFFBFC-31A1-B35B-7CC2-7C36B39AE3A7}"/>
              </a:ext>
            </a:extLst>
          </p:cNvPr>
          <p:cNvSpPr txBox="1"/>
          <p:nvPr/>
        </p:nvSpPr>
        <p:spPr>
          <a:xfrm>
            <a:off x="261731" y="2647849"/>
            <a:ext cx="3975732" cy="4247317"/>
          </a:xfrm>
          <a:prstGeom prst="rect">
            <a:avLst/>
          </a:prstGeom>
          <a:noFill/>
        </p:spPr>
        <p:txBody>
          <a:bodyPr wrap="square" rtlCol="0">
            <a:spAutoFit/>
          </a:bodyPr>
          <a:lstStyle/>
          <a:p>
            <a:r>
              <a:rPr lang="en-US" dirty="0"/>
              <a:t>Treated: states that had expanded Medicaid</a:t>
            </a:r>
          </a:p>
          <a:p>
            <a:r>
              <a:rPr lang="en-US" dirty="0"/>
              <a:t>Control: states that had not expanded Medicaid</a:t>
            </a:r>
          </a:p>
          <a:p>
            <a:endParaRPr lang="en-US" dirty="0"/>
          </a:p>
          <a:p>
            <a:r>
              <a:rPr lang="en-US" dirty="0"/>
              <a:t>Time is indexed to when Medicaid expansion occurred (will be a different year in different states)</a:t>
            </a:r>
          </a:p>
          <a:p>
            <a:endParaRPr lang="en-US" dirty="0"/>
          </a:p>
          <a:p>
            <a:r>
              <a:rPr lang="en-US" dirty="0"/>
              <a:t>Model also includes state, year and survey wave fixed effects</a:t>
            </a:r>
          </a:p>
          <a:p>
            <a:endParaRPr lang="en-US" dirty="0"/>
          </a:p>
          <a:p>
            <a:r>
              <a:rPr lang="en-US" dirty="0">
                <a:solidFill>
                  <a:srgbClr val="C00000"/>
                </a:solidFill>
              </a:rPr>
              <a:t>What do we conclude about the impact of Medicaid expansion on prevalence of being uninsured?</a:t>
            </a:r>
            <a:endParaRPr lang="en-US" dirty="0"/>
          </a:p>
        </p:txBody>
      </p:sp>
      <p:pic>
        <p:nvPicPr>
          <p:cNvPr id="5" name="Picture 4" descr="A graph of a function&#10;&#10;Description automatically generated with medium confidence">
            <a:extLst>
              <a:ext uri="{FF2B5EF4-FFF2-40B4-BE49-F238E27FC236}">
                <a16:creationId xmlns:a16="http://schemas.microsoft.com/office/drawing/2014/main" id="{11B1E534-2AED-EAB9-33F1-AF35AD0DFA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1353" y="18045"/>
            <a:ext cx="7772400" cy="5794865"/>
          </a:xfrm>
          <a:prstGeom prst="rect">
            <a:avLst/>
          </a:prstGeom>
        </p:spPr>
      </p:pic>
    </p:spTree>
    <p:extLst>
      <p:ext uri="{BB962C8B-B14F-4D97-AF65-F5344CB8AC3E}">
        <p14:creationId xmlns:p14="http://schemas.microsoft.com/office/powerpoint/2010/main" val="3717175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B0ED2-9A95-5185-0409-B1D0A0E04737}"/>
              </a:ext>
            </a:extLst>
          </p:cNvPr>
          <p:cNvSpPr>
            <a:spLocks noGrp="1"/>
          </p:cNvSpPr>
          <p:nvPr>
            <p:ph type="title"/>
          </p:nvPr>
        </p:nvSpPr>
        <p:spPr>
          <a:xfrm>
            <a:off x="568247" y="239595"/>
            <a:ext cx="10515600" cy="1325563"/>
          </a:xfrm>
        </p:spPr>
        <p:txBody>
          <a:bodyPr/>
          <a:lstStyle/>
          <a:p>
            <a:r>
              <a:rPr lang="en-US" dirty="0"/>
              <a:t>Example</a:t>
            </a:r>
          </a:p>
        </p:txBody>
      </p:sp>
      <p:sp>
        <p:nvSpPr>
          <p:cNvPr id="4" name="Slide Number Placeholder 3">
            <a:extLst>
              <a:ext uri="{FF2B5EF4-FFF2-40B4-BE49-F238E27FC236}">
                <a16:creationId xmlns:a16="http://schemas.microsoft.com/office/drawing/2014/main" id="{FA29B48A-F1A7-4E46-F8F6-C461ADE9F625}"/>
              </a:ext>
            </a:extLst>
          </p:cNvPr>
          <p:cNvSpPr>
            <a:spLocks noGrp="1"/>
          </p:cNvSpPr>
          <p:nvPr>
            <p:ph type="sldNum" sz="quarter" idx="12"/>
          </p:nvPr>
        </p:nvSpPr>
        <p:spPr/>
        <p:txBody>
          <a:bodyPr/>
          <a:lstStyle/>
          <a:p>
            <a:fld id="{4698AAF4-35A4-40F4-A7AE-C8E2C41B9252}" type="slidenum">
              <a:rPr lang="en-US" smtClean="0"/>
              <a:t>34</a:t>
            </a:fld>
            <a:endParaRPr lang="en-US"/>
          </a:p>
        </p:txBody>
      </p:sp>
      <p:sp>
        <p:nvSpPr>
          <p:cNvPr id="6" name="TextBox 5">
            <a:extLst>
              <a:ext uri="{FF2B5EF4-FFF2-40B4-BE49-F238E27FC236}">
                <a16:creationId xmlns:a16="http://schemas.microsoft.com/office/drawing/2014/main" id="{DFAEF797-74BC-224A-C83B-B39AC9496DE9}"/>
              </a:ext>
            </a:extLst>
          </p:cNvPr>
          <p:cNvSpPr txBox="1"/>
          <p:nvPr/>
        </p:nvSpPr>
        <p:spPr>
          <a:xfrm>
            <a:off x="261731" y="1565158"/>
            <a:ext cx="3589622" cy="923330"/>
          </a:xfrm>
          <a:prstGeom prst="rect">
            <a:avLst/>
          </a:prstGeom>
          <a:noFill/>
        </p:spPr>
        <p:txBody>
          <a:bodyPr wrap="square">
            <a:spAutoFit/>
          </a:bodyPr>
          <a:lstStyle/>
          <a:p>
            <a:r>
              <a:rPr lang="en-US" dirty="0">
                <a:hlinkClick r:id="rId2"/>
              </a:rPr>
              <a:t>MEDICAID AND MORTALITY: NEW EVIDENCE FROM LINKED SURVEY AND ADMINISTRATIVE DATA</a:t>
            </a:r>
            <a:endParaRPr lang="en-US" dirty="0"/>
          </a:p>
        </p:txBody>
      </p:sp>
      <p:pic>
        <p:nvPicPr>
          <p:cNvPr id="8" name="Picture 7" descr="Chart, box and whisker chart&#10;&#10;Description automatically generated">
            <a:extLst>
              <a:ext uri="{FF2B5EF4-FFF2-40B4-BE49-F238E27FC236}">
                <a16:creationId xmlns:a16="http://schemas.microsoft.com/office/drawing/2014/main" id="{BFFF0079-8F70-0038-BBFA-FEC5239B36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1353" y="365125"/>
            <a:ext cx="7772400" cy="5580529"/>
          </a:xfrm>
          <a:prstGeom prst="rect">
            <a:avLst/>
          </a:prstGeom>
        </p:spPr>
      </p:pic>
      <p:sp>
        <p:nvSpPr>
          <p:cNvPr id="9" name="TextBox 8">
            <a:extLst>
              <a:ext uri="{FF2B5EF4-FFF2-40B4-BE49-F238E27FC236}">
                <a16:creationId xmlns:a16="http://schemas.microsoft.com/office/drawing/2014/main" id="{50DFFBFC-31A1-B35B-7CC2-7C36B39AE3A7}"/>
              </a:ext>
            </a:extLst>
          </p:cNvPr>
          <p:cNvSpPr txBox="1"/>
          <p:nvPr/>
        </p:nvSpPr>
        <p:spPr>
          <a:xfrm>
            <a:off x="357809" y="2915478"/>
            <a:ext cx="3233530" cy="3693319"/>
          </a:xfrm>
          <a:prstGeom prst="rect">
            <a:avLst/>
          </a:prstGeom>
          <a:noFill/>
        </p:spPr>
        <p:txBody>
          <a:bodyPr wrap="square" rtlCol="0">
            <a:spAutoFit/>
          </a:bodyPr>
          <a:lstStyle/>
          <a:p>
            <a:r>
              <a:rPr lang="en-US" dirty="0"/>
              <a:t>Time is indexed to when Medicaid expansion occurred (will be a different year in different states)</a:t>
            </a:r>
          </a:p>
          <a:p>
            <a:endParaRPr lang="en-US" dirty="0"/>
          </a:p>
          <a:p>
            <a:r>
              <a:rPr lang="en-US" dirty="0"/>
              <a:t>Model also includes state, year and survey wave fixed effects</a:t>
            </a:r>
          </a:p>
          <a:p>
            <a:endParaRPr lang="en-US" dirty="0"/>
          </a:p>
          <a:p>
            <a:r>
              <a:rPr lang="en-US" dirty="0">
                <a:solidFill>
                  <a:srgbClr val="C00000"/>
                </a:solidFill>
              </a:rPr>
              <a:t>What do we learn from this figure?</a:t>
            </a:r>
          </a:p>
          <a:p>
            <a:endParaRPr lang="en-US" dirty="0">
              <a:solidFill>
                <a:srgbClr val="C00000"/>
              </a:solidFill>
            </a:endParaRPr>
          </a:p>
          <a:p>
            <a:r>
              <a:rPr lang="en-US" dirty="0">
                <a:solidFill>
                  <a:srgbClr val="C00000"/>
                </a:solidFill>
              </a:rPr>
              <a:t>What do you worry about in terms of threats to validity?</a:t>
            </a:r>
          </a:p>
        </p:txBody>
      </p:sp>
    </p:spTree>
    <p:extLst>
      <p:ext uri="{BB962C8B-B14F-4D97-AF65-F5344CB8AC3E}">
        <p14:creationId xmlns:p14="http://schemas.microsoft.com/office/powerpoint/2010/main" val="2533103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D346-4C75-4019-B225-53CD80627BE5}"/>
              </a:ext>
            </a:extLst>
          </p:cNvPr>
          <p:cNvSpPr>
            <a:spLocks noGrp="1"/>
          </p:cNvSpPr>
          <p:nvPr>
            <p:ph type="title"/>
          </p:nvPr>
        </p:nvSpPr>
        <p:spPr/>
        <p:txBody>
          <a:bodyPr>
            <a:normAutofit/>
          </a:bodyPr>
          <a:lstStyle/>
          <a:p>
            <a:r>
              <a:rPr lang="en-US" dirty="0"/>
              <a:t>Challenge: functional form dependence</a:t>
            </a:r>
          </a:p>
        </p:txBody>
      </p:sp>
      <p:sp>
        <p:nvSpPr>
          <p:cNvPr id="3" name="Slide Number Placeholder 2">
            <a:extLst>
              <a:ext uri="{FF2B5EF4-FFF2-40B4-BE49-F238E27FC236}">
                <a16:creationId xmlns:a16="http://schemas.microsoft.com/office/drawing/2014/main" id="{3B861D33-5894-44B9-903D-7A8CE7A6E8F6}"/>
              </a:ext>
            </a:extLst>
          </p:cNvPr>
          <p:cNvSpPr>
            <a:spLocks noGrp="1"/>
          </p:cNvSpPr>
          <p:nvPr>
            <p:ph type="sldNum" sz="quarter" idx="12"/>
          </p:nvPr>
        </p:nvSpPr>
        <p:spPr/>
        <p:txBody>
          <a:bodyPr/>
          <a:lstStyle/>
          <a:p>
            <a:fld id="{C2E33B48-9DB3-4522-8ABC-1F69633D0FAE}" type="slidenum">
              <a:rPr lang="en-US" smtClean="0"/>
              <a:t>35</a:t>
            </a:fld>
            <a:endParaRPr lang="en-US"/>
          </a:p>
        </p:txBody>
      </p:sp>
      <p:graphicFrame>
        <p:nvGraphicFramePr>
          <p:cNvPr id="5" name="Content Placeholder 3">
            <a:extLst>
              <a:ext uri="{FF2B5EF4-FFF2-40B4-BE49-F238E27FC236}">
                <a16:creationId xmlns:a16="http://schemas.microsoft.com/office/drawing/2014/main" id="{6DC2C839-1D1B-49D4-8DE0-484ADFCCC7BB}"/>
              </a:ext>
            </a:extLst>
          </p:cNvPr>
          <p:cNvGraphicFramePr>
            <a:graphicFrameLocks/>
          </p:cNvGraphicFramePr>
          <p:nvPr/>
        </p:nvGraphicFramePr>
        <p:xfrm>
          <a:off x="1456216" y="3788078"/>
          <a:ext cx="4028373" cy="2123440"/>
        </p:xfrm>
        <a:graphic>
          <a:graphicData uri="http://schemas.openxmlformats.org/drawingml/2006/table">
            <a:tbl>
              <a:tblPr firstRow="1" bandRow="1">
                <a:tableStyleId>{5940675A-B579-460E-94D1-54222C63F5DA}</a:tableStyleId>
              </a:tblPr>
              <a:tblGrid>
                <a:gridCol w="1342791">
                  <a:extLst>
                    <a:ext uri="{9D8B030D-6E8A-4147-A177-3AD203B41FA5}">
                      <a16:colId xmlns:a16="http://schemas.microsoft.com/office/drawing/2014/main" val="788954117"/>
                    </a:ext>
                  </a:extLst>
                </a:gridCol>
                <a:gridCol w="1342791">
                  <a:extLst>
                    <a:ext uri="{9D8B030D-6E8A-4147-A177-3AD203B41FA5}">
                      <a16:colId xmlns:a16="http://schemas.microsoft.com/office/drawing/2014/main" val="1160174753"/>
                    </a:ext>
                  </a:extLst>
                </a:gridCol>
                <a:gridCol w="1342791">
                  <a:extLst>
                    <a:ext uri="{9D8B030D-6E8A-4147-A177-3AD203B41FA5}">
                      <a16:colId xmlns:a16="http://schemas.microsoft.com/office/drawing/2014/main" val="2538357744"/>
                    </a:ext>
                  </a:extLst>
                </a:gridCol>
              </a:tblGrid>
              <a:tr h="370840">
                <a:tc>
                  <a:txBody>
                    <a:bodyPr/>
                    <a:lstStyle/>
                    <a:p>
                      <a:endParaRPr lang="en-US" dirty="0"/>
                    </a:p>
                  </a:txBody>
                  <a:tcPr/>
                </a:tc>
                <a:tc>
                  <a:txBody>
                    <a:bodyPr/>
                    <a:lstStyle/>
                    <a:p>
                      <a:r>
                        <a:rPr lang="en-US" b="1" dirty="0"/>
                        <a:t>Treatment</a:t>
                      </a:r>
                    </a:p>
                  </a:txBody>
                  <a:tcPr>
                    <a:solidFill>
                      <a:srgbClr val="FFC000"/>
                    </a:solidFill>
                  </a:tcPr>
                </a:tc>
                <a:tc>
                  <a:txBody>
                    <a:bodyPr/>
                    <a:lstStyle/>
                    <a:p>
                      <a:r>
                        <a:rPr lang="en-US" b="1" dirty="0"/>
                        <a:t>Control</a:t>
                      </a:r>
                    </a:p>
                  </a:txBody>
                  <a:tcPr>
                    <a:solidFill>
                      <a:srgbClr val="92D050"/>
                    </a:solidFill>
                  </a:tcPr>
                </a:tc>
                <a:extLst>
                  <a:ext uri="{0D108BD9-81ED-4DB2-BD59-A6C34878D82A}">
                    <a16:rowId xmlns:a16="http://schemas.microsoft.com/office/drawing/2014/main" val="1110327387"/>
                  </a:ext>
                </a:extLst>
              </a:tr>
              <a:tr h="370840">
                <a:tc>
                  <a:txBody>
                    <a:bodyPr/>
                    <a:lstStyle/>
                    <a:p>
                      <a:r>
                        <a:rPr lang="en-US" b="1" dirty="0"/>
                        <a:t>Before</a:t>
                      </a:r>
                    </a:p>
                  </a:txBody>
                  <a:tcPr/>
                </a:tc>
                <a:tc>
                  <a:txBody>
                    <a:bodyPr/>
                    <a:lstStyle/>
                    <a:p>
                      <a:r>
                        <a:rPr lang="en-US" dirty="0"/>
                        <a:t>15</a:t>
                      </a:r>
                    </a:p>
                  </a:txBody>
                  <a:tcPr>
                    <a:solidFill>
                      <a:srgbClr val="FFC000"/>
                    </a:solidFill>
                  </a:tcPr>
                </a:tc>
                <a:tc>
                  <a:txBody>
                    <a:bodyPr/>
                    <a:lstStyle/>
                    <a:p>
                      <a:r>
                        <a:rPr lang="en-US" dirty="0"/>
                        <a:t>5</a:t>
                      </a:r>
                    </a:p>
                  </a:txBody>
                  <a:tcPr>
                    <a:solidFill>
                      <a:srgbClr val="92D050"/>
                    </a:solidFill>
                  </a:tcPr>
                </a:tc>
                <a:extLst>
                  <a:ext uri="{0D108BD9-81ED-4DB2-BD59-A6C34878D82A}">
                    <a16:rowId xmlns:a16="http://schemas.microsoft.com/office/drawing/2014/main" val="1787357134"/>
                  </a:ext>
                </a:extLst>
              </a:tr>
              <a:tr h="370840">
                <a:tc>
                  <a:txBody>
                    <a:bodyPr/>
                    <a:lstStyle/>
                    <a:p>
                      <a:r>
                        <a:rPr lang="en-US" b="1" dirty="0"/>
                        <a:t>After</a:t>
                      </a:r>
                    </a:p>
                  </a:txBody>
                  <a:tcPr/>
                </a:tc>
                <a:tc>
                  <a:txBody>
                    <a:bodyPr/>
                    <a:lstStyle/>
                    <a:p>
                      <a:r>
                        <a:rPr lang="en-US" dirty="0"/>
                        <a:t>25</a:t>
                      </a:r>
                    </a:p>
                  </a:txBody>
                  <a:tcPr>
                    <a:solidFill>
                      <a:srgbClr val="FFC000"/>
                    </a:solidFill>
                  </a:tcPr>
                </a:tc>
                <a:tc>
                  <a:txBody>
                    <a:bodyPr/>
                    <a:lstStyle/>
                    <a:p>
                      <a:r>
                        <a:rPr lang="en-US" dirty="0"/>
                        <a:t>10</a:t>
                      </a:r>
                    </a:p>
                  </a:txBody>
                  <a:tcPr>
                    <a:solidFill>
                      <a:srgbClr val="92D050"/>
                    </a:solidFill>
                  </a:tcPr>
                </a:tc>
                <a:extLst>
                  <a:ext uri="{0D108BD9-81ED-4DB2-BD59-A6C34878D82A}">
                    <a16:rowId xmlns:a16="http://schemas.microsoft.com/office/drawing/2014/main" val="932169063"/>
                  </a:ext>
                </a:extLst>
              </a:tr>
              <a:tr h="370840">
                <a:tc>
                  <a:txBody>
                    <a:bodyPr/>
                    <a:lstStyle/>
                    <a:p>
                      <a:r>
                        <a:rPr lang="en-US" b="1" dirty="0"/>
                        <a:t>Change</a:t>
                      </a:r>
                    </a:p>
                  </a:txBody>
                  <a:tcPr/>
                </a:tc>
                <a:tc>
                  <a:txBody>
                    <a:bodyPr/>
                    <a:lstStyle/>
                    <a:p>
                      <a:r>
                        <a:rPr lang="en-US" dirty="0"/>
                        <a:t>25 – 15</a:t>
                      </a:r>
                      <a:br>
                        <a:rPr lang="en-US" dirty="0"/>
                      </a:br>
                      <a:r>
                        <a:rPr lang="en-US" dirty="0"/>
                        <a:t>= 10</a:t>
                      </a:r>
                    </a:p>
                  </a:txBody>
                  <a:tcPr>
                    <a:solidFill>
                      <a:srgbClr val="FFC000"/>
                    </a:solidFill>
                  </a:tcPr>
                </a:tc>
                <a:tc>
                  <a:txBody>
                    <a:bodyPr/>
                    <a:lstStyle/>
                    <a:p>
                      <a:r>
                        <a:rPr lang="en-US" dirty="0"/>
                        <a:t>10 – 5</a:t>
                      </a:r>
                      <a:br>
                        <a:rPr lang="en-US" dirty="0"/>
                      </a:br>
                      <a:r>
                        <a:rPr lang="en-US" dirty="0"/>
                        <a:t>= 5</a:t>
                      </a:r>
                    </a:p>
                  </a:txBody>
                  <a:tcPr>
                    <a:solidFill>
                      <a:srgbClr val="92D050"/>
                    </a:solidFill>
                  </a:tcPr>
                </a:tc>
                <a:extLst>
                  <a:ext uri="{0D108BD9-81ED-4DB2-BD59-A6C34878D82A}">
                    <a16:rowId xmlns:a16="http://schemas.microsoft.com/office/drawing/2014/main" val="1968576149"/>
                  </a:ext>
                </a:extLst>
              </a:tr>
              <a:tr h="370840">
                <a:tc>
                  <a:txBody>
                    <a:bodyPr/>
                    <a:lstStyle/>
                    <a:p>
                      <a:r>
                        <a:rPr lang="en-US" b="1" dirty="0"/>
                        <a:t>DD</a:t>
                      </a:r>
                    </a:p>
                  </a:txBody>
                  <a:tcPr/>
                </a:tc>
                <a:tc gridSpan="2">
                  <a:txBody>
                    <a:bodyPr/>
                    <a:lstStyle/>
                    <a:p>
                      <a:pPr algn="ctr"/>
                      <a:r>
                        <a:rPr lang="en-US" dirty="0"/>
                        <a:t>10 – 5 = 5</a:t>
                      </a:r>
                    </a:p>
                  </a:txBody>
                  <a:tcPr>
                    <a:noFill/>
                  </a:tcPr>
                </a:tc>
                <a:tc hMerge="1">
                  <a:txBody>
                    <a:bodyPr/>
                    <a:lstStyle/>
                    <a:p>
                      <a:endParaRPr lang="en-US" dirty="0"/>
                    </a:p>
                  </a:txBody>
                  <a:tcPr>
                    <a:solidFill>
                      <a:srgbClr val="92D050"/>
                    </a:solidFill>
                  </a:tcPr>
                </a:tc>
                <a:extLst>
                  <a:ext uri="{0D108BD9-81ED-4DB2-BD59-A6C34878D82A}">
                    <a16:rowId xmlns:a16="http://schemas.microsoft.com/office/drawing/2014/main" val="2335676235"/>
                  </a:ext>
                </a:extLst>
              </a:tr>
            </a:tbl>
          </a:graphicData>
        </a:graphic>
      </p:graphicFrame>
      <p:graphicFrame>
        <p:nvGraphicFramePr>
          <p:cNvPr id="38" name="Content Placeholder 3">
            <a:extLst>
              <a:ext uri="{FF2B5EF4-FFF2-40B4-BE49-F238E27FC236}">
                <a16:creationId xmlns:a16="http://schemas.microsoft.com/office/drawing/2014/main" id="{5980FF1D-70FF-4BC8-892A-105A48C7E21B}"/>
              </a:ext>
            </a:extLst>
          </p:cNvPr>
          <p:cNvGraphicFramePr>
            <a:graphicFrameLocks/>
          </p:cNvGraphicFramePr>
          <p:nvPr/>
        </p:nvGraphicFramePr>
        <p:xfrm>
          <a:off x="6096000" y="3788078"/>
          <a:ext cx="4028373" cy="2123440"/>
        </p:xfrm>
        <a:graphic>
          <a:graphicData uri="http://schemas.openxmlformats.org/drawingml/2006/table">
            <a:tbl>
              <a:tblPr firstRow="1" bandRow="1">
                <a:tableStyleId>{5940675A-B579-460E-94D1-54222C63F5DA}</a:tableStyleId>
              </a:tblPr>
              <a:tblGrid>
                <a:gridCol w="1342791">
                  <a:extLst>
                    <a:ext uri="{9D8B030D-6E8A-4147-A177-3AD203B41FA5}">
                      <a16:colId xmlns:a16="http://schemas.microsoft.com/office/drawing/2014/main" val="788954117"/>
                    </a:ext>
                  </a:extLst>
                </a:gridCol>
                <a:gridCol w="1342791">
                  <a:extLst>
                    <a:ext uri="{9D8B030D-6E8A-4147-A177-3AD203B41FA5}">
                      <a16:colId xmlns:a16="http://schemas.microsoft.com/office/drawing/2014/main" val="1160174753"/>
                    </a:ext>
                  </a:extLst>
                </a:gridCol>
                <a:gridCol w="1342791">
                  <a:extLst>
                    <a:ext uri="{9D8B030D-6E8A-4147-A177-3AD203B41FA5}">
                      <a16:colId xmlns:a16="http://schemas.microsoft.com/office/drawing/2014/main" val="2538357744"/>
                    </a:ext>
                  </a:extLst>
                </a:gridCol>
              </a:tblGrid>
              <a:tr h="370840">
                <a:tc>
                  <a:txBody>
                    <a:bodyPr/>
                    <a:lstStyle/>
                    <a:p>
                      <a:endParaRPr lang="en-US" dirty="0"/>
                    </a:p>
                  </a:txBody>
                  <a:tcPr/>
                </a:tc>
                <a:tc>
                  <a:txBody>
                    <a:bodyPr/>
                    <a:lstStyle/>
                    <a:p>
                      <a:r>
                        <a:rPr lang="en-US" b="1" dirty="0"/>
                        <a:t>Treatment</a:t>
                      </a:r>
                    </a:p>
                  </a:txBody>
                  <a:tcPr>
                    <a:solidFill>
                      <a:srgbClr val="FFC000"/>
                    </a:solidFill>
                  </a:tcPr>
                </a:tc>
                <a:tc>
                  <a:txBody>
                    <a:bodyPr/>
                    <a:lstStyle/>
                    <a:p>
                      <a:r>
                        <a:rPr lang="en-US" b="1" dirty="0"/>
                        <a:t>Control</a:t>
                      </a:r>
                    </a:p>
                  </a:txBody>
                  <a:tcPr>
                    <a:solidFill>
                      <a:srgbClr val="92D050"/>
                    </a:solidFill>
                  </a:tcPr>
                </a:tc>
                <a:extLst>
                  <a:ext uri="{0D108BD9-81ED-4DB2-BD59-A6C34878D82A}">
                    <a16:rowId xmlns:a16="http://schemas.microsoft.com/office/drawing/2014/main" val="1110327387"/>
                  </a:ext>
                </a:extLst>
              </a:tr>
              <a:tr h="370840">
                <a:tc>
                  <a:txBody>
                    <a:bodyPr/>
                    <a:lstStyle/>
                    <a:p>
                      <a:r>
                        <a:rPr lang="en-US" b="1" dirty="0"/>
                        <a:t>Before</a:t>
                      </a:r>
                    </a:p>
                  </a:txBody>
                  <a:tcPr/>
                </a:tc>
                <a:tc>
                  <a:txBody>
                    <a:bodyPr/>
                    <a:lstStyle/>
                    <a:p>
                      <a:r>
                        <a:rPr lang="en-US" dirty="0"/>
                        <a:t>log(15)</a:t>
                      </a:r>
                    </a:p>
                  </a:txBody>
                  <a:tcPr>
                    <a:solidFill>
                      <a:srgbClr val="FFC000"/>
                    </a:solidFill>
                  </a:tcPr>
                </a:tc>
                <a:tc>
                  <a:txBody>
                    <a:bodyPr/>
                    <a:lstStyle/>
                    <a:p>
                      <a:r>
                        <a:rPr lang="en-US" dirty="0"/>
                        <a:t>log(5)</a:t>
                      </a:r>
                    </a:p>
                  </a:txBody>
                  <a:tcPr>
                    <a:solidFill>
                      <a:srgbClr val="92D050"/>
                    </a:solidFill>
                  </a:tcPr>
                </a:tc>
                <a:extLst>
                  <a:ext uri="{0D108BD9-81ED-4DB2-BD59-A6C34878D82A}">
                    <a16:rowId xmlns:a16="http://schemas.microsoft.com/office/drawing/2014/main" val="1787357134"/>
                  </a:ext>
                </a:extLst>
              </a:tr>
              <a:tr h="370840">
                <a:tc>
                  <a:txBody>
                    <a:bodyPr/>
                    <a:lstStyle/>
                    <a:p>
                      <a:r>
                        <a:rPr lang="en-US" b="1" dirty="0"/>
                        <a:t>After</a:t>
                      </a:r>
                    </a:p>
                  </a:txBody>
                  <a:tcPr/>
                </a:tc>
                <a:tc>
                  <a:txBody>
                    <a:bodyPr/>
                    <a:lstStyle/>
                    <a:p>
                      <a:r>
                        <a:rPr lang="en-US" dirty="0"/>
                        <a:t>log(25)</a:t>
                      </a:r>
                    </a:p>
                  </a:txBody>
                  <a:tcPr>
                    <a:solidFill>
                      <a:srgbClr val="FFC000"/>
                    </a:solidFill>
                  </a:tcPr>
                </a:tc>
                <a:tc>
                  <a:txBody>
                    <a:bodyPr/>
                    <a:lstStyle/>
                    <a:p>
                      <a:r>
                        <a:rPr lang="en-US" dirty="0"/>
                        <a:t>log(10)</a:t>
                      </a:r>
                    </a:p>
                  </a:txBody>
                  <a:tcPr>
                    <a:solidFill>
                      <a:srgbClr val="92D050"/>
                    </a:solidFill>
                  </a:tcPr>
                </a:tc>
                <a:extLst>
                  <a:ext uri="{0D108BD9-81ED-4DB2-BD59-A6C34878D82A}">
                    <a16:rowId xmlns:a16="http://schemas.microsoft.com/office/drawing/2014/main" val="932169063"/>
                  </a:ext>
                </a:extLst>
              </a:tr>
              <a:tr h="370840">
                <a:tc>
                  <a:txBody>
                    <a:bodyPr/>
                    <a:lstStyle/>
                    <a:p>
                      <a:r>
                        <a:rPr lang="en-US" b="1" dirty="0"/>
                        <a:t>Change</a:t>
                      </a:r>
                    </a:p>
                  </a:txBody>
                  <a:tcPr/>
                </a:tc>
                <a:tc>
                  <a:txBody>
                    <a:bodyPr/>
                    <a:lstStyle/>
                    <a:p>
                      <a:r>
                        <a:rPr lang="en-US" dirty="0"/>
                        <a:t>log(25) -log(15)</a:t>
                      </a:r>
                    </a:p>
                  </a:txBody>
                  <a:tcPr>
                    <a:solidFill>
                      <a:srgbClr val="FFC000"/>
                    </a:solidFill>
                  </a:tcPr>
                </a:tc>
                <a:tc>
                  <a:txBody>
                    <a:bodyPr/>
                    <a:lstStyle/>
                    <a:p>
                      <a:r>
                        <a:rPr lang="en-US" dirty="0"/>
                        <a:t>log(10) – log(5)</a:t>
                      </a:r>
                    </a:p>
                  </a:txBody>
                  <a:tcPr>
                    <a:solidFill>
                      <a:srgbClr val="92D050"/>
                    </a:solidFill>
                  </a:tcPr>
                </a:tc>
                <a:extLst>
                  <a:ext uri="{0D108BD9-81ED-4DB2-BD59-A6C34878D82A}">
                    <a16:rowId xmlns:a16="http://schemas.microsoft.com/office/drawing/2014/main" val="1968576149"/>
                  </a:ext>
                </a:extLst>
              </a:tr>
              <a:tr h="370840">
                <a:tc>
                  <a:txBody>
                    <a:bodyPr/>
                    <a:lstStyle/>
                    <a:p>
                      <a:r>
                        <a:rPr lang="en-US" b="1" dirty="0"/>
                        <a:t>DD</a:t>
                      </a:r>
                    </a:p>
                  </a:txBody>
                  <a:tcPr/>
                </a:tc>
                <a:tc gridSpan="2">
                  <a:txBody>
                    <a:bodyPr/>
                    <a:lstStyle/>
                    <a:p>
                      <a:pPr algn="ctr"/>
                      <a:r>
                        <a:rPr lang="en-US" dirty="0"/>
                        <a:t>-0.182</a:t>
                      </a:r>
                    </a:p>
                  </a:txBody>
                  <a:tcPr>
                    <a:noFill/>
                  </a:tcPr>
                </a:tc>
                <a:tc hMerge="1">
                  <a:txBody>
                    <a:bodyPr/>
                    <a:lstStyle/>
                    <a:p>
                      <a:endParaRPr lang="en-US" dirty="0"/>
                    </a:p>
                  </a:txBody>
                  <a:tcPr>
                    <a:solidFill>
                      <a:srgbClr val="92D050"/>
                    </a:solidFill>
                  </a:tcPr>
                </a:tc>
                <a:extLst>
                  <a:ext uri="{0D108BD9-81ED-4DB2-BD59-A6C34878D82A}">
                    <a16:rowId xmlns:a16="http://schemas.microsoft.com/office/drawing/2014/main" val="2335676235"/>
                  </a:ext>
                </a:extLst>
              </a:tr>
            </a:tbl>
          </a:graphicData>
        </a:graphic>
      </p:graphicFrame>
      <p:sp>
        <p:nvSpPr>
          <p:cNvPr id="39" name="Rectangle 38">
            <a:extLst>
              <a:ext uri="{FF2B5EF4-FFF2-40B4-BE49-F238E27FC236}">
                <a16:creationId xmlns:a16="http://schemas.microsoft.com/office/drawing/2014/main" id="{0E2FFF7C-01C8-4224-B770-1B85B0D89B5D}"/>
              </a:ext>
            </a:extLst>
          </p:cNvPr>
          <p:cNvSpPr/>
          <p:nvPr/>
        </p:nvSpPr>
        <p:spPr>
          <a:xfrm>
            <a:off x="609600" y="6458766"/>
            <a:ext cx="8401050" cy="276999"/>
          </a:xfrm>
          <a:prstGeom prst="rect">
            <a:avLst/>
          </a:prstGeom>
        </p:spPr>
        <p:txBody>
          <a:bodyPr wrap="square">
            <a:spAutoFit/>
          </a:bodyPr>
          <a:lstStyle/>
          <a:p>
            <a:r>
              <a:rPr lang="en-US" altLang="en-US" sz="1200" dirty="0"/>
              <a:t>Adapted from </a:t>
            </a:r>
            <a:r>
              <a:rPr lang="en-US" altLang="en-US" sz="1200" dirty="0">
                <a:hlinkClick r:id="rId3"/>
              </a:rPr>
              <a:t>Duflo</a:t>
            </a:r>
            <a:r>
              <a:rPr lang="en-US" altLang="en-US" sz="1200" dirty="0"/>
              <a:t> </a:t>
            </a:r>
          </a:p>
        </p:txBody>
      </p:sp>
      <p:sp>
        <p:nvSpPr>
          <p:cNvPr id="41" name="TextBox 40">
            <a:extLst>
              <a:ext uri="{FF2B5EF4-FFF2-40B4-BE49-F238E27FC236}">
                <a16:creationId xmlns:a16="http://schemas.microsoft.com/office/drawing/2014/main" id="{AEF60A32-7FAC-40FA-8237-877A04E96B01}"/>
              </a:ext>
            </a:extLst>
          </p:cNvPr>
          <p:cNvSpPr txBox="1"/>
          <p:nvPr/>
        </p:nvSpPr>
        <p:spPr>
          <a:xfrm>
            <a:off x="514166" y="2265965"/>
            <a:ext cx="9940846" cy="461665"/>
          </a:xfrm>
          <a:prstGeom prst="rect">
            <a:avLst/>
          </a:prstGeom>
          <a:noFill/>
        </p:spPr>
        <p:txBody>
          <a:bodyPr wrap="square">
            <a:spAutoFit/>
          </a:bodyPr>
          <a:lstStyle/>
          <a:p>
            <a:r>
              <a:rPr lang="en-US" sz="2400" dirty="0">
                <a:effectLst/>
                <a:latin typeface="Calibri" panose="020F0502020204030204" pitchFamily="34" charset="0"/>
                <a:cs typeface="Calibri" panose="020F0502020204030204" pitchFamily="34" charset="0"/>
              </a:rPr>
              <a:t>Magnitude and sign of the </a:t>
            </a:r>
            <a:r>
              <a:rPr lang="en-US" sz="2400" dirty="0" err="1">
                <a:effectLst/>
                <a:latin typeface="Calibri" panose="020F0502020204030204" pitchFamily="34" charset="0"/>
                <a:cs typeface="Calibri" panose="020F0502020204030204" pitchFamily="34" charset="0"/>
              </a:rPr>
              <a:t>DiD</a:t>
            </a:r>
            <a:r>
              <a:rPr lang="en-US" sz="2400" dirty="0">
                <a:effectLst/>
                <a:latin typeface="Calibri" panose="020F0502020204030204" pitchFamily="34" charset="0"/>
                <a:cs typeface="Calibri" panose="020F0502020204030204" pitchFamily="34" charset="0"/>
              </a:rPr>
              <a:t> estimator can be sensitive to functional form</a:t>
            </a:r>
          </a:p>
        </p:txBody>
      </p:sp>
      <p:sp>
        <p:nvSpPr>
          <p:cNvPr id="44" name="TextBox 43">
            <a:extLst>
              <a:ext uri="{FF2B5EF4-FFF2-40B4-BE49-F238E27FC236}">
                <a16:creationId xmlns:a16="http://schemas.microsoft.com/office/drawing/2014/main" id="{2E78648F-0B5E-4658-802C-A9F88FF3E412}"/>
              </a:ext>
            </a:extLst>
          </p:cNvPr>
          <p:cNvSpPr txBox="1"/>
          <p:nvPr/>
        </p:nvSpPr>
        <p:spPr>
          <a:xfrm>
            <a:off x="1410009" y="3404456"/>
            <a:ext cx="4074580" cy="369332"/>
          </a:xfrm>
          <a:prstGeom prst="rect">
            <a:avLst/>
          </a:prstGeom>
          <a:noFill/>
        </p:spPr>
        <p:txBody>
          <a:bodyPr wrap="square">
            <a:spAutoFit/>
          </a:bodyPr>
          <a:lstStyle/>
          <a:p>
            <a:r>
              <a:rPr lang="en-US" b="1" dirty="0">
                <a:effectLst/>
                <a:latin typeface="Calibri" panose="020F0502020204030204" pitchFamily="34" charset="0"/>
                <a:cs typeface="Calibri" panose="020F0502020204030204" pitchFamily="34" charset="0"/>
              </a:rPr>
              <a:t>DD using level changes</a:t>
            </a:r>
            <a:endParaRPr lang="en-US" b="1" dirty="0">
              <a:latin typeface="Calibri" panose="020F050202020403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A1EA7D3D-33AA-4A82-8D02-E0664FBD438A}"/>
              </a:ext>
            </a:extLst>
          </p:cNvPr>
          <p:cNvSpPr txBox="1"/>
          <p:nvPr/>
        </p:nvSpPr>
        <p:spPr>
          <a:xfrm>
            <a:off x="6049793" y="3404456"/>
            <a:ext cx="4074580" cy="369332"/>
          </a:xfrm>
          <a:prstGeom prst="rect">
            <a:avLst/>
          </a:prstGeom>
          <a:noFill/>
        </p:spPr>
        <p:txBody>
          <a:bodyPr wrap="square">
            <a:spAutoFit/>
          </a:bodyPr>
          <a:lstStyle/>
          <a:p>
            <a:r>
              <a:rPr lang="en-US" b="1" dirty="0">
                <a:effectLst/>
                <a:latin typeface="Calibri" panose="020F0502020204030204" pitchFamily="34" charset="0"/>
                <a:cs typeface="Calibri" panose="020F0502020204030204" pitchFamily="34" charset="0"/>
              </a:rPr>
              <a:t>DD using log changes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9964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mean reversion</a:t>
            </a:r>
          </a:p>
        </p:txBody>
      </p:sp>
      <p:sp>
        <p:nvSpPr>
          <p:cNvPr id="3" name="Content Placeholder 2"/>
          <p:cNvSpPr>
            <a:spLocks noGrp="1"/>
          </p:cNvSpPr>
          <p:nvPr>
            <p:ph idx="1"/>
          </p:nvPr>
        </p:nvSpPr>
        <p:spPr/>
        <p:txBody>
          <a:bodyPr/>
          <a:lstStyle/>
          <a:p>
            <a:r>
              <a:rPr lang="en-US" dirty="0"/>
              <a:t>Often treatments/programs are targeted based on pre-existing differences in outcomes</a:t>
            </a:r>
          </a:p>
          <a:p>
            <a:pPr lvl="1"/>
            <a:r>
              <a:rPr lang="en-US" dirty="0"/>
              <a:t>In fact this may be </a:t>
            </a:r>
            <a:r>
              <a:rPr lang="en-US" i="1" dirty="0"/>
              <a:t>why</a:t>
            </a:r>
            <a:r>
              <a:rPr lang="en-US" dirty="0"/>
              <a:t> some regions are chosen to participate in the program</a:t>
            </a:r>
          </a:p>
          <a:p>
            <a:endParaRPr lang="en-US" dirty="0"/>
          </a:p>
          <a:p>
            <a:r>
              <a:rPr lang="en-US" dirty="0"/>
              <a:t>If outcomes have a natural tendency to mean reversion, comparing outcomes of treated to non-treated regions leads to biased estimates of the treatment effect </a:t>
            </a:r>
          </a:p>
        </p:txBody>
      </p:sp>
      <p:sp>
        <p:nvSpPr>
          <p:cNvPr id="4" name="Slide Number Placeholder 3"/>
          <p:cNvSpPr>
            <a:spLocks noGrp="1"/>
          </p:cNvSpPr>
          <p:nvPr>
            <p:ph type="sldNum" sz="quarter" idx="12"/>
          </p:nvPr>
        </p:nvSpPr>
        <p:spPr/>
        <p:txBody>
          <a:bodyPr/>
          <a:lstStyle/>
          <a:p>
            <a:fld id="{4698AAF4-35A4-40F4-A7AE-C8E2C41B9252}" type="slidenum">
              <a:rPr lang="en-US" smtClean="0"/>
              <a:t>36</a:t>
            </a:fld>
            <a:endParaRPr lang="en-US"/>
          </a:p>
        </p:txBody>
      </p:sp>
    </p:spTree>
    <p:extLst>
      <p:ext uri="{BB962C8B-B14F-4D97-AF65-F5344CB8AC3E}">
        <p14:creationId xmlns:p14="http://schemas.microsoft.com/office/powerpoint/2010/main" val="167357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assumptions: No Contamination</a:t>
            </a:r>
          </a:p>
        </p:txBody>
      </p:sp>
      <p:sp>
        <p:nvSpPr>
          <p:cNvPr id="3" name="Content Placeholder 2"/>
          <p:cNvSpPr>
            <a:spLocks noGrp="1"/>
          </p:cNvSpPr>
          <p:nvPr>
            <p:ph idx="1"/>
          </p:nvPr>
        </p:nvSpPr>
        <p:spPr/>
        <p:txBody>
          <a:bodyPr>
            <a:normAutofit fontScale="92500" lnSpcReduction="10000"/>
          </a:bodyPr>
          <a:lstStyle/>
          <a:p>
            <a:r>
              <a:rPr lang="en-US" dirty="0"/>
              <a:t>Stable unit treatment value assumption (SUTVA).</a:t>
            </a:r>
          </a:p>
          <a:p>
            <a:r>
              <a:rPr lang="en-US" dirty="0"/>
              <a:t>We require that "the observation on one unit should be unaffected by the particular assignment of treatments to the other units“</a:t>
            </a:r>
          </a:p>
          <a:p>
            <a:r>
              <a:rPr lang="en-US" dirty="0"/>
              <a:t>If there is spillover from treatment to control areas due to the intervention this will be violated</a:t>
            </a:r>
          </a:p>
          <a:p>
            <a:r>
              <a:rPr lang="en-US" dirty="0">
                <a:solidFill>
                  <a:srgbClr val="C00000"/>
                </a:solidFill>
              </a:rPr>
              <a:t>What kind of spillovers would you worry about for a study on the impact of Medicaid expansion?</a:t>
            </a:r>
          </a:p>
          <a:p>
            <a:r>
              <a:rPr lang="en-US" dirty="0"/>
              <a:t>Using US states in health studies </a:t>
            </a:r>
          </a:p>
          <a:p>
            <a:pPr lvl="1"/>
            <a:r>
              <a:rPr lang="en-US" dirty="0"/>
              <a:t>Contamination due to infectious disease spread</a:t>
            </a:r>
          </a:p>
          <a:p>
            <a:pPr lvl="1"/>
            <a:r>
              <a:rPr lang="en-US" dirty="0"/>
              <a:t>Movement of people to get access to policy benefits</a:t>
            </a:r>
          </a:p>
          <a:p>
            <a:pPr lvl="1"/>
            <a:r>
              <a:rPr lang="en-US" dirty="0"/>
              <a:t>Movement of health care providers in policy response </a:t>
            </a:r>
          </a:p>
        </p:txBody>
      </p:sp>
      <p:sp>
        <p:nvSpPr>
          <p:cNvPr id="4" name="Slide Number Placeholder 3"/>
          <p:cNvSpPr>
            <a:spLocks noGrp="1"/>
          </p:cNvSpPr>
          <p:nvPr>
            <p:ph type="sldNum" sz="quarter" idx="12"/>
          </p:nvPr>
        </p:nvSpPr>
        <p:spPr/>
        <p:txBody>
          <a:bodyPr/>
          <a:lstStyle/>
          <a:p>
            <a:fld id="{4698AAF4-35A4-40F4-A7AE-C8E2C41B9252}" type="slidenum">
              <a:rPr lang="en-US" smtClean="0"/>
              <a:t>37</a:t>
            </a:fld>
            <a:endParaRPr lang="en-US"/>
          </a:p>
        </p:txBody>
      </p:sp>
    </p:spTree>
    <p:extLst>
      <p:ext uri="{BB962C8B-B14F-4D97-AF65-F5344CB8AC3E}">
        <p14:creationId xmlns:p14="http://schemas.microsoft.com/office/powerpoint/2010/main" val="338993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Difference estimation tips</a:t>
            </a:r>
          </a:p>
        </p:txBody>
      </p:sp>
      <p:sp>
        <p:nvSpPr>
          <p:cNvPr id="3" name="Content Placeholder 2"/>
          <p:cNvSpPr>
            <a:spLocks noGrp="1"/>
          </p:cNvSpPr>
          <p:nvPr>
            <p:ph idx="1"/>
          </p:nvPr>
        </p:nvSpPr>
        <p:spPr/>
        <p:txBody>
          <a:bodyPr>
            <a:normAutofit fontScale="85000" lnSpcReduction="20000"/>
          </a:bodyPr>
          <a:lstStyle/>
          <a:p>
            <a:r>
              <a:rPr lang="en-US" dirty="0">
                <a:effectLst/>
                <a:latin typeface="Calibri" panose="020F0502020204030204" pitchFamily="34" charset="0"/>
                <a:cs typeface="Calibri" panose="020F0502020204030204" pitchFamily="34" charset="0"/>
              </a:rPr>
              <a:t>Show lots of figures</a:t>
            </a:r>
          </a:p>
          <a:p>
            <a:pPr lvl="1"/>
            <a:r>
              <a:rPr lang="en-US" dirty="0">
                <a:effectLst/>
                <a:latin typeface="Calibri" panose="020F0502020204030204" pitchFamily="34" charset="0"/>
                <a:cs typeface="Calibri" panose="020F0502020204030204" pitchFamily="34" charset="0"/>
              </a:rPr>
              <a:t>Most reviewers want to see evidence of parallel pre-trends</a:t>
            </a:r>
          </a:p>
          <a:p>
            <a:pPr lvl="1"/>
            <a:r>
              <a:rPr lang="en-US" dirty="0">
                <a:effectLst/>
                <a:latin typeface="Calibri" panose="020F0502020204030204" pitchFamily="34" charset="0"/>
                <a:cs typeface="Calibri" panose="020F0502020204030204" pitchFamily="34" charset="0"/>
              </a:rPr>
              <a:t>Event study can be a nice way to show this</a:t>
            </a:r>
          </a:p>
          <a:p>
            <a:r>
              <a:rPr lang="en-US" dirty="0">
                <a:effectLst/>
                <a:latin typeface="Calibri" panose="020F0502020204030204" pitchFamily="34" charset="0"/>
                <a:cs typeface="Calibri" panose="020F0502020204030204" pitchFamily="34" charset="0"/>
              </a:rPr>
              <a:t>Demonstrate no major differential compositional changes in population of treatment </a:t>
            </a:r>
            <a:r>
              <a:rPr lang="en-US" dirty="0">
                <a:latin typeface="Calibri" panose="020F0502020204030204" pitchFamily="34" charset="0"/>
                <a:cs typeface="Calibri" panose="020F0502020204030204" pitchFamily="34" charset="0"/>
              </a:rPr>
              <a:t>or control in post period</a:t>
            </a:r>
          </a:p>
          <a:p>
            <a:r>
              <a:rPr lang="en-US" dirty="0">
                <a:effectLst/>
                <a:latin typeface="Calibri" panose="020F0502020204030204" pitchFamily="34" charset="0"/>
                <a:cs typeface="Calibri" panose="020F0502020204030204" pitchFamily="34" charset="0"/>
              </a:rPr>
              <a:t>Do placebo/falsification tests </a:t>
            </a:r>
          </a:p>
          <a:p>
            <a:pPr lvl="1"/>
            <a:r>
              <a:rPr lang="en-US" dirty="0">
                <a:latin typeface="Calibri" panose="020F0502020204030204" pitchFamily="34" charset="0"/>
                <a:cs typeface="Calibri" panose="020F0502020204030204" pitchFamily="34" charset="0"/>
              </a:rPr>
              <a:t>F</a:t>
            </a:r>
            <a:r>
              <a:rPr lang="en-US" dirty="0">
                <a:effectLst/>
                <a:latin typeface="Calibri" panose="020F0502020204030204" pitchFamily="34" charset="0"/>
                <a:cs typeface="Calibri" panose="020F0502020204030204" pitchFamily="34" charset="0"/>
              </a:rPr>
              <a:t>ake time period for policy introduction</a:t>
            </a:r>
          </a:p>
          <a:p>
            <a:pPr lvl="1"/>
            <a:r>
              <a:rPr lang="en-US" dirty="0">
                <a:effectLst/>
                <a:latin typeface="Calibri" panose="020F0502020204030204" pitchFamily="34" charset="0"/>
                <a:cs typeface="Calibri" panose="020F0502020204030204" pitchFamily="34" charset="0"/>
              </a:rPr>
              <a:t>Outcome that shouldn’t be affected by treatment</a:t>
            </a:r>
          </a:p>
          <a:p>
            <a:r>
              <a:rPr lang="en-US" dirty="0">
                <a:effectLst/>
                <a:latin typeface="Calibri" panose="020F0502020204030204" pitchFamily="34" charset="0"/>
                <a:cs typeface="Calibri" panose="020F0502020204030204" pitchFamily="34" charset="0"/>
              </a:rPr>
              <a:t>Show impact estimates with and without controls </a:t>
            </a:r>
          </a:p>
          <a:p>
            <a:pPr lvl="1"/>
            <a:r>
              <a:rPr lang="en-US" dirty="0">
                <a:latin typeface="Calibri" panose="020F0502020204030204" pitchFamily="34" charset="0"/>
                <a:cs typeface="Calibri" panose="020F0502020204030204" pitchFamily="34" charset="0"/>
              </a:rPr>
              <a:t>C</a:t>
            </a:r>
            <a:r>
              <a:rPr lang="en-US" dirty="0">
                <a:effectLst/>
                <a:latin typeface="Calibri" panose="020F0502020204030204" pitchFamily="34" charset="0"/>
                <a:cs typeface="Calibri" panose="020F0502020204030204" pitchFamily="34" charset="0"/>
              </a:rPr>
              <a:t>ontrols only need to be group*time varying (all others will fall out of the regression because of group and time fixed effects) </a:t>
            </a:r>
          </a:p>
          <a:p>
            <a:r>
              <a:rPr lang="en-US" dirty="0">
                <a:effectLst/>
                <a:latin typeface="Calibri" panose="020F0502020204030204" pitchFamily="34" charset="0"/>
                <a:cs typeface="Calibri" panose="020F0502020204030204" pitchFamily="34" charset="0"/>
              </a:rPr>
              <a:t>Ideal to control for presence of other programs that might have influenced outcome and show that the impact estimate doesn’t change</a:t>
            </a:r>
          </a:p>
          <a:p>
            <a:pPr lvl="1"/>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4698AAF4-35A4-40F4-A7AE-C8E2C41B9252}" type="slidenum">
              <a:rPr lang="en-US" smtClean="0"/>
              <a:t>38</a:t>
            </a:fld>
            <a:endParaRPr lang="en-US"/>
          </a:p>
        </p:txBody>
      </p:sp>
    </p:spTree>
    <p:extLst>
      <p:ext uri="{BB962C8B-B14F-4D97-AF65-F5344CB8AC3E}">
        <p14:creationId xmlns:p14="http://schemas.microsoft.com/office/powerpoint/2010/main" val="164315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2D1B4-8A63-4B22-AC43-2DCAE78FBB6A}"/>
              </a:ext>
            </a:extLst>
          </p:cNvPr>
          <p:cNvSpPr>
            <a:spLocks noGrp="1"/>
          </p:cNvSpPr>
          <p:nvPr>
            <p:ph type="title"/>
          </p:nvPr>
        </p:nvSpPr>
        <p:spPr/>
        <p:txBody>
          <a:bodyPr/>
          <a:lstStyle/>
          <a:p>
            <a:r>
              <a:rPr lang="en-US" dirty="0"/>
              <a:t>Valid standard errors: Clustering</a:t>
            </a:r>
          </a:p>
        </p:txBody>
      </p:sp>
      <p:sp>
        <p:nvSpPr>
          <p:cNvPr id="3" name="Content Placeholder 2">
            <a:extLst>
              <a:ext uri="{FF2B5EF4-FFF2-40B4-BE49-F238E27FC236}">
                <a16:creationId xmlns:a16="http://schemas.microsoft.com/office/drawing/2014/main" id="{EE0780D2-4019-402D-9A9A-3A9DC2D210BA}"/>
              </a:ext>
            </a:extLst>
          </p:cNvPr>
          <p:cNvSpPr>
            <a:spLocks noGrp="1"/>
          </p:cNvSpPr>
          <p:nvPr>
            <p:ph idx="1"/>
          </p:nvPr>
        </p:nvSpPr>
        <p:spPr/>
        <p:txBody>
          <a:bodyPr>
            <a:normAutofit/>
          </a:bodyPr>
          <a:lstStyle/>
          <a:p>
            <a:r>
              <a:rPr lang="en-US" dirty="0"/>
              <a:t>Many difference in difference studies use individual level data to understand group level policy change</a:t>
            </a:r>
          </a:p>
          <a:p>
            <a:pPr lvl="1"/>
            <a:r>
              <a:rPr lang="en-US" dirty="0"/>
              <a:t>Challenge is that outcomes are correlated within groups</a:t>
            </a:r>
          </a:p>
          <a:p>
            <a:r>
              <a:rPr lang="en-US" dirty="0"/>
              <a:t>One approach is to aggregate data up to the group level and use group level averages to estimate effects like we did in ITS</a:t>
            </a:r>
          </a:p>
          <a:p>
            <a:pPr lvl="1"/>
            <a:r>
              <a:rPr lang="en-US" dirty="0"/>
              <a:t>Will substantially restrict our power</a:t>
            </a:r>
          </a:p>
          <a:p>
            <a:r>
              <a:rPr lang="en-US" dirty="0"/>
              <a:t>An alternative is to cluster standard errors at the </a:t>
            </a:r>
            <a:r>
              <a:rPr lang="en-US" i="1" dirty="0"/>
              <a:t>level of treatment</a:t>
            </a:r>
            <a:r>
              <a:rPr lang="en-US" dirty="0"/>
              <a:t>, to control for correlation of individuals within the same group</a:t>
            </a:r>
          </a:p>
          <a:p>
            <a:r>
              <a:rPr lang="en-US" dirty="0"/>
              <a:t>Works well with a large number of clusters</a:t>
            </a:r>
          </a:p>
        </p:txBody>
      </p:sp>
      <p:sp>
        <p:nvSpPr>
          <p:cNvPr id="4" name="Slide Number Placeholder 3">
            <a:extLst>
              <a:ext uri="{FF2B5EF4-FFF2-40B4-BE49-F238E27FC236}">
                <a16:creationId xmlns:a16="http://schemas.microsoft.com/office/drawing/2014/main" id="{CA60F0D4-CEF8-44F7-8233-D92721E19BA1}"/>
              </a:ext>
            </a:extLst>
          </p:cNvPr>
          <p:cNvSpPr>
            <a:spLocks noGrp="1"/>
          </p:cNvSpPr>
          <p:nvPr>
            <p:ph type="sldNum" sz="quarter" idx="12"/>
          </p:nvPr>
        </p:nvSpPr>
        <p:spPr/>
        <p:txBody>
          <a:bodyPr/>
          <a:lstStyle/>
          <a:p>
            <a:fld id="{4698AAF4-35A4-40F4-A7AE-C8E2C41B9252}" type="slidenum">
              <a:rPr lang="en-US" smtClean="0"/>
              <a:t>39</a:t>
            </a:fld>
            <a:endParaRPr lang="en-US"/>
          </a:p>
        </p:txBody>
      </p:sp>
    </p:spTree>
    <p:extLst>
      <p:ext uri="{BB962C8B-B14F-4D97-AF65-F5344CB8AC3E}">
        <p14:creationId xmlns:p14="http://schemas.microsoft.com/office/powerpoint/2010/main" val="262332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5C37-B1F0-4E50-8669-A68E2F29E88C}"/>
              </a:ext>
            </a:extLst>
          </p:cNvPr>
          <p:cNvSpPr>
            <a:spLocks noGrp="1"/>
          </p:cNvSpPr>
          <p:nvPr>
            <p:ph type="title"/>
          </p:nvPr>
        </p:nvSpPr>
        <p:spPr/>
        <p:txBody>
          <a:bodyPr/>
          <a:lstStyle/>
          <a:p>
            <a:r>
              <a:rPr lang="en-US" dirty="0"/>
              <a:t>Valid standard errors: Small number of groups</a:t>
            </a:r>
          </a:p>
        </p:txBody>
      </p:sp>
      <p:sp>
        <p:nvSpPr>
          <p:cNvPr id="3" name="Content Placeholder 2">
            <a:extLst>
              <a:ext uri="{FF2B5EF4-FFF2-40B4-BE49-F238E27FC236}">
                <a16:creationId xmlns:a16="http://schemas.microsoft.com/office/drawing/2014/main" id="{9D3D23EF-FCE5-4F2F-9808-C43B898C48CF}"/>
              </a:ext>
            </a:extLst>
          </p:cNvPr>
          <p:cNvSpPr>
            <a:spLocks noGrp="1"/>
          </p:cNvSpPr>
          <p:nvPr>
            <p:ph idx="1"/>
          </p:nvPr>
        </p:nvSpPr>
        <p:spPr>
          <a:xfrm>
            <a:off x="838200" y="1825624"/>
            <a:ext cx="10515600" cy="4733795"/>
          </a:xfrm>
        </p:spPr>
        <p:txBody>
          <a:bodyPr>
            <a:normAutofit lnSpcReduction="10000"/>
          </a:bodyPr>
          <a:lstStyle/>
          <a:p>
            <a:r>
              <a:rPr lang="en-US" dirty="0"/>
              <a:t>With many groups, clustering the standard errors at the group level works well to allow for </a:t>
            </a:r>
            <a:r>
              <a:rPr lang="en-US" dirty="0" err="1"/>
              <a:t>intracluster</a:t>
            </a:r>
            <a:r>
              <a:rPr lang="en-US" dirty="0"/>
              <a:t> correlation</a:t>
            </a:r>
          </a:p>
          <a:p>
            <a:r>
              <a:rPr lang="en-US" dirty="0"/>
              <a:t>With a small number of groups, this is not a good approach</a:t>
            </a:r>
          </a:p>
          <a:p>
            <a:pPr lvl="1"/>
            <a:r>
              <a:rPr lang="en-US" dirty="0"/>
              <a:t>Can actually lead to standard errors that are </a:t>
            </a:r>
            <a:r>
              <a:rPr lang="en-US" i="1" dirty="0"/>
              <a:t>too small</a:t>
            </a:r>
            <a:endParaRPr lang="en-US" dirty="0"/>
          </a:p>
          <a:p>
            <a:pPr lvl="1"/>
            <a:r>
              <a:rPr lang="en-US" dirty="0"/>
              <a:t>Could instead average the data across groups but this will severely limit power</a:t>
            </a:r>
          </a:p>
          <a:p>
            <a:r>
              <a:rPr lang="en-US" dirty="0">
                <a:sym typeface="Wingdings" panose="05000000000000000000" pitchFamily="2" charset="2"/>
              </a:rPr>
              <a:t>Can use bootstrap/placebo methods but more complex</a:t>
            </a:r>
          </a:p>
          <a:p>
            <a:pPr lvl="1"/>
            <a:r>
              <a:rPr lang="en-US" dirty="0">
                <a:sym typeface="Wingdings" panose="05000000000000000000" pitchFamily="2" charset="2"/>
              </a:rPr>
              <a:t>“Wild” Bootstrap – use </a:t>
            </a:r>
            <a:r>
              <a:rPr lang="en-US" dirty="0" err="1">
                <a:sym typeface="Wingdings" panose="05000000000000000000" pitchFamily="2" charset="2"/>
              </a:rPr>
              <a:t>boottest</a:t>
            </a:r>
            <a:r>
              <a:rPr lang="en-US" dirty="0">
                <a:sym typeface="Wingdings" panose="05000000000000000000" pitchFamily="2" charset="2"/>
              </a:rPr>
              <a:t> in STATA implements Cameron et al 2008</a:t>
            </a:r>
          </a:p>
          <a:p>
            <a:pPr lvl="1"/>
            <a:r>
              <a:rPr lang="en-US" dirty="0">
                <a:sym typeface="Wingdings" panose="05000000000000000000" pitchFamily="2" charset="2"/>
              </a:rPr>
              <a:t>Construct placebo intervention data based on random assignment of intervention to groups and construct test statistics based on the distribution of outcomes for placebo interventions</a:t>
            </a:r>
          </a:p>
          <a:p>
            <a:pPr lvl="1"/>
            <a:r>
              <a:rPr lang="en-US" dirty="0">
                <a:sym typeface="Wingdings" panose="05000000000000000000" pitchFamily="2" charset="2"/>
              </a:rPr>
              <a:t>Can work with as few as 6 groups</a:t>
            </a:r>
            <a:endParaRPr lang="en-US" dirty="0"/>
          </a:p>
        </p:txBody>
      </p:sp>
      <p:sp>
        <p:nvSpPr>
          <p:cNvPr id="4" name="Slide Number Placeholder 3">
            <a:extLst>
              <a:ext uri="{FF2B5EF4-FFF2-40B4-BE49-F238E27FC236}">
                <a16:creationId xmlns:a16="http://schemas.microsoft.com/office/drawing/2014/main" id="{AA937D0D-807C-4954-8182-247440019512}"/>
              </a:ext>
            </a:extLst>
          </p:cNvPr>
          <p:cNvSpPr>
            <a:spLocks noGrp="1"/>
          </p:cNvSpPr>
          <p:nvPr>
            <p:ph type="sldNum" sz="quarter" idx="12"/>
          </p:nvPr>
        </p:nvSpPr>
        <p:spPr/>
        <p:txBody>
          <a:bodyPr/>
          <a:lstStyle/>
          <a:p>
            <a:fld id="{4698AAF4-35A4-40F4-A7AE-C8E2C41B9252}" type="slidenum">
              <a:rPr lang="en-US" smtClean="0"/>
              <a:t>40</a:t>
            </a:fld>
            <a:endParaRPr lang="en-US"/>
          </a:p>
        </p:txBody>
      </p:sp>
    </p:spTree>
    <p:extLst>
      <p:ext uri="{BB962C8B-B14F-4D97-AF65-F5344CB8AC3E}">
        <p14:creationId xmlns:p14="http://schemas.microsoft.com/office/powerpoint/2010/main" val="84537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D02F-F803-47AE-A7FD-66631BC897B6}"/>
              </a:ext>
            </a:extLst>
          </p:cNvPr>
          <p:cNvSpPr>
            <a:spLocks noGrp="1"/>
          </p:cNvSpPr>
          <p:nvPr>
            <p:ph type="title"/>
          </p:nvPr>
        </p:nvSpPr>
        <p:spPr/>
        <p:txBody>
          <a:bodyPr/>
          <a:lstStyle/>
          <a:p>
            <a:r>
              <a:rPr lang="en-US" dirty="0"/>
              <a:t>Valid standard errors: Autocorrelation</a:t>
            </a:r>
          </a:p>
        </p:txBody>
      </p:sp>
      <p:sp>
        <p:nvSpPr>
          <p:cNvPr id="3" name="Content Placeholder 2">
            <a:extLst>
              <a:ext uri="{FF2B5EF4-FFF2-40B4-BE49-F238E27FC236}">
                <a16:creationId xmlns:a16="http://schemas.microsoft.com/office/drawing/2014/main" id="{7614D0C7-20B9-4D40-8800-650360FEA2FC}"/>
              </a:ext>
            </a:extLst>
          </p:cNvPr>
          <p:cNvSpPr>
            <a:spLocks noGrp="1"/>
          </p:cNvSpPr>
          <p:nvPr>
            <p:ph idx="1"/>
          </p:nvPr>
        </p:nvSpPr>
        <p:spPr/>
        <p:txBody>
          <a:bodyPr>
            <a:normAutofit/>
          </a:bodyPr>
          <a:lstStyle/>
          <a:p>
            <a:r>
              <a:rPr lang="en-US" dirty="0"/>
              <a:t>With autocorrelation, observations for the same group will be correlated over time</a:t>
            </a:r>
          </a:p>
          <a:p>
            <a:r>
              <a:rPr lang="en-US" dirty="0"/>
              <a:t>Observations of multiple time points pre- and post-intervention will not be independent and do not add much additional information</a:t>
            </a:r>
          </a:p>
          <a:p>
            <a:r>
              <a:rPr lang="en-US" dirty="0"/>
              <a:t>With a large number of groups, clustering the standard errors across time within the same group can correct for autocorrelation</a:t>
            </a:r>
          </a:p>
          <a:p>
            <a:r>
              <a:rPr lang="en-US" dirty="0"/>
              <a:t>We can also estimate the autocorrelation structure, but very biased estimates with group fixed effects and small number of periods</a:t>
            </a:r>
          </a:p>
        </p:txBody>
      </p:sp>
      <p:sp>
        <p:nvSpPr>
          <p:cNvPr id="4" name="Slide Number Placeholder 3">
            <a:extLst>
              <a:ext uri="{FF2B5EF4-FFF2-40B4-BE49-F238E27FC236}">
                <a16:creationId xmlns:a16="http://schemas.microsoft.com/office/drawing/2014/main" id="{2B4012C4-1DB0-4EDA-9905-20025844B097}"/>
              </a:ext>
            </a:extLst>
          </p:cNvPr>
          <p:cNvSpPr>
            <a:spLocks noGrp="1"/>
          </p:cNvSpPr>
          <p:nvPr>
            <p:ph type="sldNum" sz="quarter" idx="12"/>
          </p:nvPr>
        </p:nvSpPr>
        <p:spPr/>
        <p:txBody>
          <a:bodyPr/>
          <a:lstStyle/>
          <a:p>
            <a:fld id="{4698AAF4-35A4-40F4-A7AE-C8E2C41B9252}" type="slidenum">
              <a:rPr lang="en-US" smtClean="0"/>
              <a:t>41</a:t>
            </a:fld>
            <a:endParaRPr lang="en-US"/>
          </a:p>
        </p:txBody>
      </p:sp>
    </p:spTree>
    <p:extLst>
      <p:ext uri="{BB962C8B-B14F-4D97-AF65-F5344CB8AC3E}">
        <p14:creationId xmlns:p14="http://schemas.microsoft.com/office/powerpoint/2010/main" val="249225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299A-E504-4745-B731-5EE107A3E5EC}"/>
              </a:ext>
            </a:extLst>
          </p:cNvPr>
          <p:cNvSpPr>
            <a:spLocks noGrp="1"/>
          </p:cNvSpPr>
          <p:nvPr>
            <p:ph type="title"/>
          </p:nvPr>
        </p:nvSpPr>
        <p:spPr/>
        <p:txBody>
          <a:bodyPr/>
          <a:lstStyle/>
          <a:p>
            <a:r>
              <a:rPr lang="en-US" dirty="0"/>
              <a:t>Difference-in-Differences vs. Interrupted Time Series</a:t>
            </a:r>
          </a:p>
        </p:txBody>
      </p:sp>
      <p:sp>
        <p:nvSpPr>
          <p:cNvPr id="3" name="Content Placeholder 2">
            <a:extLst>
              <a:ext uri="{FF2B5EF4-FFF2-40B4-BE49-F238E27FC236}">
                <a16:creationId xmlns:a16="http://schemas.microsoft.com/office/drawing/2014/main" id="{4DD8B1E4-CA6C-47A9-97AC-26D32AD19B92}"/>
              </a:ext>
            </a:extLst>
          </p:cNvPr>
          <p:cNvSpPr>
            <a:spLocks noGrp="1"/>
          </p:cNvSpPr>
          <p:nvPr>
            <p:ph idx="1"/>
          </p:nvPr>
        </p:nvSpPr>
        <p:spPr>
          <a:xfrm>
            <a:off x="838200" y="1825624"/>
            <a:ext cx="10515600" cy="4895851"/>
          </a:xfrm>
        </p:spPr>
        <p:txBody>
          <a:bodyPr>
            <a:normAutofit fontScale="92500" lnSpcReduction="10000"/>
          </a:bodyPr>
          <a:lstStyle/>
          <a:p>
            <a:r>
              <a:rPr lang="en-US" i="1" dirty="0"/>
              <a:t>Conceptually similar</a:t>
            </a:r>
            <a:r>
              <a:rPr lang="en-US" dirty="0"/>
              <a:t>: both used to estimate the effect of group level interventions by creating a counterfactual; what would have happened without the intervention</a:t>
            </a:r>
          </a:p>
          <a:p>
            <a:endParaRPr lang="en-US" dirty="0"/>
          </a:p>
          <a:p>
            <a:r>
              <a:rPr lang="en-US" i="1" dirty="0"/>
              <a:t>Structural differences</a:t>
            </a:r>
          </a:p>
          <a:p>
            <a:pPr lvl="1"/>
            <a:r>
              <a:rPr lang="en-US" dirty="0"/>
              <a:t>ITS uses aggregated data with one treated area time series whereas Difference-in-Differences usually keeps the data at the individual level and adjusts for within-group correlation.</a:t>
            </a:r>
          </a:p>
          <a:p>
            <a:pPr lvl="1"/>
            <a:r>
              <a:rPr lang="en-US" dirty="0"/>
              <a:t>ITS has one treatment group (and one control group in CITS) while Difference-in-Differences works well with multiple treated and control groups</a:t>
            </a:r>
          </a:p>
          <a:p>
            <a:pPr lvl="1"/>
            <a:r>
              <a:rPr lang="en-US" dirty="0"/>
              <a:t>ITS fits a (usually linear) time trend and extrapolates counterfactual whereas Difference-in-Differences uses time fixed effects and uses control group to generate counterfactual</a:t>
            </a:r>
          </a:p>
          <a:p>
            <a:pPr lvl="1"/>
            <a:r>
              <a:rPr lang="en-US" dirty="0"/>
              <a:t>ITS will be favored when change is expected to be immediate and large. </a:t>
            </a:r>
            <a:r>
              <a:rPr lang="en-US" dirty="0" err="1"/>
              <a:t>DiD</a:t>
            </a:r>
            <a:r>
              <a:rPr lang="en-US" dirty="0"/>
              <a:t> methods are better for changes that may be more subtle or phase in over time</a:t>
            </a:r>
          </a:p>
          <a:p>
            <a:endParaRPr lang="en-US" dirty="0"/>
          </a:p>
        </p:txBody>
      </p:sp>
      <p:sp>
        <p:nvSpPr>
          <p:cNvPr id="4" name="Slide Number Placeholder 3">
            <a:extLst>
              <a:ext uri="{FF2B5EF4-FFF2-40B4-BE49-F238E27FC236}">
                <a16:creationId xmlns:a16="http://schemas.microsoft.com/office/drawing/2014/main" id="{1E5AFCD8-1A7B-4057-A531-E717BC3B43B8}"/>
              </a:ext>
            </a:extLst>
          </p:cNvPr>
          <p:cNvSpPr>
            <a:spLocks noGrp="1"/>
          </p:cNvSpPr>
          <p:nvPr>
            <p:ph type="sldNum" sz="quarter" idx="12"/>
          </p:nvPr>
        </p:nvSpPr>
        <p:spPr/>
        <p:txBody>
          <a:bodyPr/>
          <a:lstStyle/>
          <a:p>
            <a:fld id="{4698AAF4-35A4-40F4-A7AE-C8E2C41B9252}" type="slidenum">
              <a:rPr lang="en-US" smtClean="0"/>
              <a:t>42</a:t>
            </a:fld>
            <a:endParaRPr lang="en-US"/>
          </a:p>
        </p:txBody>
      </p:sp>
    </p:spTree>
    <p:extLst>
      <p:ext uri="{BB962C8B-B14F-4D97-AF65-F5344CB8AC3E}">
        <p14:creationId xmlns:p14="http://schemas.microsoft.com/office/powerpoint/2010/main" val="87009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2B67E-6C79-03A8-A6FF-E0D4956C8C1F}"/>
              </a:ext>
            </a:extLst>
          </p:cNvPr>
          <p:cNvSpPr>
            <a:spLocks noGrp="1"/>
          </p:cNvSpPr>
          <p:nvPr>
            <p:ph type="title"/>
          </p:nvPr>
        </p:nvSpPr>
        <p:spPr/>
        <p:txBody>
          <a:bodyPr/>
          <a:lstStyle/>
          <a:p>
            <a:r>
              <a:rPr lang="en-US" dirty="0"/>
              <a:t>Tomorrow we will get into</a:t>
            </a:r>
          </a:p>
        </p:txBody>
      </p:sp>
      <p:sp>
        <p:nvSpPr>
          <p:cNvPr id="3" name="Content Placeholder 2">
            <a:extLst>
              <a:ext uri="{FF2B5EF4-FFF2-40B4-BE49-F238E27FC236}">
                <a16:creationId xmlns:a16="http://schemas.microsoft.com/office/drawing/2014/main" id="{3A081CEB-BB7B-E482-5AC6-721983039F16}"/>
              </a:ext>
            </a:extLst>
          </p:cNvPr>
          <p:cNvSpPr>
            <a:spLocks noGrp="1"/>
          </p:cNvSpPr>
          <p:nvPr>
            <p:ph idx="1"/>
          </p:nvPr>
        </p:nvSpPr>
        <p:spPr/>
        <p:txBody>
          <a:bodyPr>
            <a:normAutofit lnSpcReduction="10000"/>
          </a:bodyPr>
          <a:lstStyle/>
          <a:p>
            <a:r>
              <a:rPr lang="en-US" dirty="0"/>
              <a:t>Recent developments in understanding challenges to differences in differences</a:t>
            </a:r>
          </a:p>
          <a:p>
            <a:pPr lvl="1"/>
            <a:r>
              <a:rPr lang="en-US" dirty="0"/>
              <a:t>Heterogeneity</a:t>
            </a:r>
          </a:p>
          <a:p>
            <a:pPr lvl="1"/>
            <a:r>
              <a:rPr lang="en-US" dirty="0"/>
              <a:t>Challenges with different groups being treated at different times</a:t>
            </a:r>
          </a:p>
          <a:p>
            <a:pPr lvl="1"/>
            <a:r>
              <a:rPr lang="en-US" dirty="0"/>
              <a:t>Current expectations </a:t>
            </a:r>
            <a:r>
              <a:rPr lang="en-US"/>
              <a:t>for publishing</a:t>
            </a:r>
            <a:endParaRPr lang="en-US" dirty="0"/>
          </a:p>
          <a:p>
            <a:r>
              <a:rPr lang="en-US" dirty="0"/>
              <a:t>Synthetic control methods</a:t>
            </a:r>
          </a:p>
          <a:p>
            <a:r>
              <a:rPr lang="en-US" dirty="0"/>
              <a:t>Other advanced difference in difference topics</a:t>
            </a:r>
          </a:p>
          <a:p>
            <a:endParaRPr lang="en-US" dirty="0"/>
          </a:p>
          <a:p>
            <a:r>
              <a:rPr lang="en-US" dirty="0"/>
              <a:t>And on Monday we will recap and review all of our econometrics</a:t>
            </a:r>
          </a:p>
          <a:p>
            <a:pPr lvl="1"/>
            <a:r>
              <a:rPr lang="en-US" dirty="0"/>
              <a:t>Bring your questions!</a:t>
            </a:r>
          </a:p>
          <a:p>
            <a:endParaRPr lang="en-US" dirty="0"/>
          </a:p>
          <a:p>
            <a:endParaRPr lang="en-US" dirty="0"/>
          </a:p>
        </p:txBody>
      </p:sp>
      <p:sp>
        <p:nvSpPr>
          <p:cNvPr id="4" name="Slide Number Placeholder 3">
            <a:extLst>
              <a:ext uri="{FF2B5EF4-FFF2-40B4-BE49-F238E27FC236}">
                <a16:creationId xmlns:a16="http://schemas.microsoft.com/office/drawing/2014/main" id="{31C1D711-5627-2AD2-4917-EB2DA333F4D4}"/>
              </a:ext>
            </a:extLst>
          </p:cNvPr>
          <p:cNvSpPr>
            <a:spLocks noGrp="1"/>
          </p:cNvSpPr>
          <p:nvPr>
            <p:ph type="sldNum" sz="quarter" idx="12"/>
          </p:nvPr>
        </p:nvSpPr>
        <p:spPr/>
        <p:txBody>
          <a:bodyPr/>
          <a:lstStyle/>
          <a:p>
            <a:fld id="{4698AAF4-35A4-40F4-A7AE-C8E2C41B9252}" type="slidenum">
              <a:rPr lang="en-US" smtClean="0"/>
              <a:t>43</a:t>
            </a:fld>
            <a:endParaRPr lang="en-US"/>
          </a:p>
        </p:txBody>
      </p:sp>
    </p:spTree>
    <p:extLst>
      <p:ext uri="{BB962C8B-B14F-4D97-AF65-F5344CB8AC3E}">
        <p14:creationId xmlns:p14="http://schemas.microsoft.com/office/powerpoint/2010/main" val="242588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Slides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698AAF4-35A4-40F4-A7AE-C8E2C41B9252}" type="slidenum">
              <a:rPr lang="en-US" smtClean="0"/>
              <a:t>44</a:t>
            </a:fld>
            <a:endParaRPr lang="en-US"/>
          </a:p>
        </p:txBody>
      </p:sp>
    </p:spTree>
    <p:extLst>
      <p:ext uri="{BB962C8B-B14F-4D97-AF65-F5344CB8AC3E}">
        <p14:creationId xmlns:p14="http://schemas.microsoft.com/office/powerpoint/2010/main" val="2782739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4556-ABB7-4A9E-84EC-7E17E06FEA17}"/>
              </a:ext>
            </a:extLst>
          </p:cNvPr>
          <p:cNvSpPr>
            <a:spLocks noGrp="1"/>
          </p:cNvSpPr>
          <p:nvPr>
            <p:ph type="title"/>
          </p:nvPr>
        </p:nvSpPr>
        <p:spPr/>
        <p:txBody>
          <a:bodyPr/>
          <a:lstStyle/>
          <a:p>
            <a:r>
              <a:rPr lang="en-US" dirty="0"/>
              <a:t>Formal difference in differences assumptions</a:t>
            </a:r>
          </a:p>
        </p:txBody>
      </p:sp>
      <p:sp>
        <p:nvSpPr>
          <p:cNvPr id="3" name="Content Placeholder 2">
            <a:extLst>
              <a:ext uri="{FF2B5EF4-FFF2-40B4-BE49-F238E27FC236}">
                <a16:creationId xmlns:a16="http://schemas.microsoft.com/office/drawing/2014/main" id="{07C48ABA-C1A3-431B-A208-C32143B62F0D}"/>
              </a:ext>
            </a:extLst>
          </p:cNvPr>
          <p:cNvSpPr>
            <a:spLocks noGrp="1"/>
          </p:cNvSpPr>
          <p:nvPr>
            <p:ph idx="1"/>
          </p:nvPr>
        </p:nvSpPr>
        <p:spPr/>
        <p:txBody>
          <a:bodyPr/>
          <a:lstStyle/>
          <a:p>
            <a:endParaRPr lang="en-US" dirty="0"/>
          </a:p>
          <a:p>
            <a:pPr marL="0" indent="0">
              <a:buNone/>
            </a:pPr>
            <a:r>
              <a:rPr lang="en-US" dirty="0"/>
              <a:t>Laura Hatfield has created a terrific website that provides a lot of formal detail surrounding difference in differences for health policy:</a:t>
            </a:r>
          </a:p>
          <a:p>
            <a:pPr marL="0" indent="0">
              <a:buNone/>
            </a:pPr>
            <a:r>
              <a:rPr lang="en-US" dirty="0">
                <a:hlinkClick r:id="rId2"/>
              </a:rPr>
              <a:t>https://diff.healthpolicydatascience.org/</a:t>
            </a:r>
            <a:endParaRPr lang="en-US" dirty="0"/>
          </a:p>
          <a:p>
            <a:pPr marL="0" indent="0">
              <a:buNone/>
            </a:pPr>
            <a:endParaRPr lang="en-US" dirty="0"/>
          </a:p>
          <a:p>
            <a:pPr marL="0" indent="0">
              <a:buNone/>
            </a:pPr>
            <a:r>
              <a:rPr lang="en-US" dirty="0"/>
              <a:t>This website includes simulations you can play around with different assumptions and what they mean</a:t>
            </a:r>
          </a:p>
          <a:p>
            <a:pPr marL="0" indent="0">
              <a:buNone/>
            </a:pPr>
            <a:r>
              <a:rPr lang="en-US" dirty="0"/>
              <a:t>Also contains lots of technical details about the different formal assumptions of </a:t>
            </a:r>
            <a:r>
              <a:rPr lang="en-US" dirty="0" err="1"/>
              <a:t>DiD</a:t>
            </a:r>
            <a:endParaRPr lang="en-US" dirty="0"/>
          </a:p>
        </p:txBody>
      </p:sp>
      <p:sp>
        <p:nvSpPr>
          <p:cNvPr id="4" name="Slide Number Placeholder 3">
            <a:extLst>
              <a:ext uri="{FF2B5EF4-FFF2-40B4-BE49-F238E27FC236}">
                <a16:creationId xmlns:a16="http://schemas.microsoft.com/office/drawing/2014/main" id="{89AEE31C-9453-438B-A767-011AB485721F}"/>
              </a:ext>
            </a:extLst>
          </p:cNvPr>
          <p:cNvSpPr>
            <a:spLocks noGrp="1"/>
          </p:cNvSpPr>
          <p:nvPr>
            <p:ph type="sldNum" sz="quarter" idx="12"/>
          </p:nvPr>
        </p:nvSpPr>
        <p:spPr/>
        <p:txBody>
          <a:bodyPr/>
          <a:lstStyle/>
          <a:p>
            <a:fld id="{4698AAF4-35A4-40F4-A7AE-C8E2C41B9252}" type="slidenum">
              <a:rPr lang="en-US" smtClean="0"/>
              <a:t>45</a:t>
            </a:fld>
            <a:endParaRPr lang="en-US"/>
          </a:p>
        </p:txBody>
      </p:sp>
    </p:spTree>
    <p:extLst>
      <p:ext uri="{BB962C8B-B14F-4D97-AF65-F5344CB8AC3E}">
        <p14:creationId xmlns:p14="http://schemas.microsoft.com/office/powerpoint/2010/main" val="27052739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9B27-B047-45F0-8317-DC0346F0CFD6}"/>
              </a:ext>
            </a:extLst>
          </p:cNvPr>
          <p:cNvSpPr>
            <a:spLocks noGrp="1"/>
          </p:cNvSpPr>
          <p:nvPr>
            <p:ph type="title"/>
          </p:nvPr>
        </p:nvSpPr>
        <p:spPr/>
        <p:txBody>
          <a:bodyPr/>
          <a:lstStyle/>
          <a:p>
            <a:r>
              <a:rPr lang="en-US" dirty="0"/>
              <a:t>Difference in Difference: Recommended readings</a:t>
            </a:r>
          </a:p>
        </p:txBody>
      </p:sp>
      <p:sp>
        <p:nvSpPr>
          <p:cNvPr id="3" name="Content Placeholder 2">
            <a:extLst>
              <a:ext uri="{FF2B5EF4-FFF2-40B4-BE49-F238E27FC236}">
                <a16:creationId xmlns:a16="http://schemas.microsoft.com/office/drawing/2014/main" id="{FB21F1A8-D725-4F9B-9CB5-15C3565105A3}"/>
              </a:ext>
            </a:extLst>
          </p:cNvPr>
          <p:cNvSpPr>
            <a:spLocks noGrp="1"/>
          </p:cNvSpPr>
          <p:nvPr>
            <p:ph idx="1"/>
          </p:nvPr>
        </p:nvSpPr>
        <p:spPr/>
        <p:txBody>
          <a:bodyPr>
            <a:normAutofit lnSpcReduction="10000"/>
          </a:bodyPr>
          <a:lstStyle/>
          <a:p>
            <a:r>
              <a:rPr lang="en-US" b="0" i="0" dirty="0">
                <a:solidFill>
                  <a:srgbClr val="212121"/>
                </a:solidFill>
                <a:effectLst/>
                <a:latin typeface="system-ui"/>
              </a:rPr>
              <a:t>Fry CE, Hatfield LA. Birds of a feather flock together: Comparing controlled pre-post designs. Health Serv Res. 2021 Oct;56(5):942-952.</a:t>
            </a:r>
          </a:p>
          <a:p>
            <a:endParaRPr lang="en-US" dirty="0">
              <a:solidFill>
                <a:srgbClr val="212121"/>
              </a:solidFill>
              <a:latin typeface="system-ui"/>
            </a:endParaRPr>
          </a:p>
          <a:p>
            <a:r>
              <a:rPr lang="en-US" dirty="0"/>
              <a:t>Causal inference: the Mixtape</a:t>
            </a:r>
            <a:r>
              <a:rPr lang="en-US"/>
              <a:t>, Chapter 9</a:t>
            </a:r>
            <a:endParaRPr lang="en-US" dirty="0"/>
          </a:p>
          <a:p>
            <a:endParaRPr lang="en-US" dirty="0"/>
          </a:p>
          <a:p>
            <a:r>
              <a:rPr lang="en-US" dirty="0"/>
              <a:t>Angrist and </a:t>
            </a:r>
            <a:r>
              <a:rPr lang="en-US" dirty="0" err="1"/>
              <a:t>Pischke</a:t>
            </a:r>
            <a:r>
              <a:rPr lang="en-US" dirty="0"/>
              <a:t> (2009). Mostly Harmless Econometrics, Section 3.2.</a:t>
            </a:r>
          </a:p>
          <a:p>
            <a:endParaRPr lang="en-US" dirty="0"/>
          </a:p>
          <a:p>
            <a:r>
              <a:rPr lang="en-US" dirty="0"/>
              <a:t>Bertrand, </a:t>
            </a:r>
            <a:r>
              <a:rPr lang="en-US" dirty="0" err="1"/>
              <a:t>Duflo</a:t>
            </a:r>
            <a:r>
              <a:rPr lang="en-US" dirty="0"/>
              <a:t>, and Mullainathan (2004). How much should we trust difference-in-differences estimates? [</a:t>
            </a:r>
            <a:r>
              <a:rPr lang="en-US" dirty="0">
                <a:hlinkClick r:id="rId2"/>
              </a:rPr>
              <a:t>Link</a:t>
            </a:r>
            <a:r>
              <a:rPr lang="en-US" dirty="0"/>
              <a:t>]</a:t>
            </a:r>
          </a:p>
        </p:txBody>
      </p:sp>
      <p:sp>
        <p:nvSpPr>
          <p:cNvPr id="4" name="Slide Number Placeholder 3">
            <a:extLst>
              <a:ext uri="{FF2B5EF4-FFF2-40B4-BE49-F238E27FC236}">
                <a16:creationId xmlns:a16="http://schemas.microsoft.com/office/drawing/2014/main" id="{07E5F7DC-758E-42E6-B936-B96D4D516193}"/>
              </a:ext>
            </a:extLst>
          </p:cNvPr>
          <p:cNvSpPr>
            <a:spLocks noGrp="1"/>
          </p:cNvSpPr>
          <p:nvPr>
            <p:ph type="sldNum" sz="quarter" idx="12"/>
          </p:nvPr>
        </p:nvSpPr>
        <p:spPr/>
        <p:txBody>
          <a:bodyPr/>
          <a:lstStyle/>
          <a:p>
            <a:fld id="{4698AAF4-35A4-40F4-A7AE-C8E2C41B9252}" type="slidenum">
              <a:rPr lang="en-US" smtClean="0"/>
              <a:t>46</a:t>
            </a:fld>
            <a:endParaRPr lang="en-US"/>
          </a:p>
        </p:txBody>
      </p:sp>
    </p:spTree>
    <p:extLst>
      <p:ext uri="{BB962C8B-B14F-4D97-AF65-F5344CB8AC3E}">
        <p14:creationId xmlns:p14="http://schemas.microsoft.com/office/powerpoint/2010/main" val="3317783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3330</TotalTime>
  <Words>3968</Words>
  <Application>Microsoft Macintosh PowerPoint</Application>
  <PresentationFormat>Widescreen</PresentationFormat>
  <Paragraphs>788</Paragraphs>
  <Slides>46</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Calibri Light</vt:lpstr>
      <vt:lpstr>Cambria</vt:lpstr>
      <vt:lpstr>Cambria Math</vt:lpstr>
      <vt:lpstr>system-ui</vt:lpstr>
      <vt:lpstr>Wingdings</vt:lpstr>
      <vt:lpstr>Office Theme</vt:lpstr>
      <vt:lpstr>PHS 2000  Econometric Methods 2026  Lecture 5 ITS/DID</vt:lpstr>
      <vt:lpstr>Plan of presentation</vt:lpstr>
      <vt:lpstr>Controlled interrupted time series (CITS)</vt:lpstr>
      <vt:lpstr>Controlled Interrupted Time Series</vt:lpstr>
      <vt:lpstr>Challenges with Controlled ITS</vt:lpstr>
      <vt:lpstr>CITS Example –Contraception</vt:lpstr>
      <vt:lpstr>Summary: Interrupted time series</vt:lpstr>
      <vt:lpstr>Summary: Interrupted time series</vt:lpstr>
      <vt:lpstr>Difference-in-Differences logic – simplest case</vt:lpstr>
      <vt:lpstr>Difference-in-differences estimator:</vt:lpstr>
      <vt:lpstr>Difference in difference</vt:lpstr>
      <vt:lpstr>Difference-in-Differences estimator: Notation</vt:lpstr>
      <vt:lpstr>Difference-in-Differences logic</vt:lpstr>
      <vt:lpstr>Simplest difference in difference regression</vt:lpstr>
      <vt:lpstr>Difference in difference – another example</vt:lpstr>
      <vt:lpstr>Difference in differences is a classic strategy for generating public health evidence</vt:lpstr>
      <vt:lpstr>John Snow DiD analysis</vt:lpstr>
      <vt:lpstr>PowerPoint Presentation</vt:lpstr>
      <vt:lpstr>Simplest difference in difference case</vt:lpstr>
      <vt:lpstr>Another example – rollout of health insurance</vt:lpstr>
      <vt:lpstr>Example – rollout of health insurance</vt:lpstr>
      <vt:lpstr>Multiple groups and time periods</vt:lpstr>
      <vt:lpstr>Detour: Panel data</vt:lpstr>
      <vt:lpstr>Detour – Panel data</vt:lpstr>
      <vt:lpstr>Detour: Panel data and Fixed Effects</vt:lpstr>
      <vt:lpstr>Detour – Fixed Effects – Data structure</vt:lpstr>
      <vt:lpstr>Multiple groups and time periods</vt:lpstr>
      <vt:lpstr>Adding covariates</vt:lpstr>
      <vt:lpstr>Key assumptions: Counterfactual</vt:lpstr>
      <vt:lpstr>Examples</vt:lpstr>
      <vt:lpstr>PowerPoint Presentation</vt:lpstr>
      <vt:lpstr>Event study specification</vt:lpstr>
      <vt:lpstr>Example</vt:lpstr>
      <vt:lpstr>Example</vt:lpstr>
      <vt:lpstr>Challenge: functional form dependence</vt:lpstr>
      <vt:lpstr>Challenge: mean reversion</vt:lpstr>
      <vt:lpstr>Key assumptions: No Contamination</vt:lpstr>
      <vt:lpstr>Difference in Difference estimation tips</vt:lpstr>
      <vt:lpstr>Valid standard errors: Clustering</vt:lpstr>
      <vt:lpstr>Valid standard errors: Small number of groups</vt:lpstr>
      <vt:lpstr>Valid standard errors: Autocorrelation</vt:lpstr>
      <vt:lpstr>Difference-in-Differences vs. Interrupted Time Series</vt:lpstr>
      <vt:lpstr>Tomorrow we will get into</vt:lpstr>
      <vt:lpstr>Additional Slides</vt:lpstr>
      <vt:lpstr>Formal difference in differences assumptions</vt:lpstr>
      <vt:lpstr>Difference in Difference: Recommended 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dc:creator>
  <cp:lastModifiedBy>McConnell, Margaret Anne</cp:lastModifiedBy>
  <cp:revision>406</cp:revision>
  <dcterms:created xsi:type="dcterms:W3CDTF">2019-03-20T01:54:21Z</dcterms:created>
  <dcterms:modified xsi:type="dcterms:W3CDTF">2026-04-06T14:23:23Z</dcterms:modified>
</cp:coreProperties>
</file>