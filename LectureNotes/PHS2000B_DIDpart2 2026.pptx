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478" r:id="rId3"/>
    <p:sldId id="546" r:id="rId4"/>
    <p:sldId id="2690" r:id="rId5"/>
    <p:sldId id="2683" r:id="rId6"/>
    <p:sldId id="2684" r:id="rId7"/>
    <p:sldId id="2685" r:id="rId8"/>
    <p:sldId id="2686" r:id="rId9"/>
    <p:sldId id="2687" r:id="rId10"/>
    <p:sldId id="2688" r:id="rId11"/>
    <p:sldId id="2689" r:id="rId12"/>
    <p:sldId id="595" r:id="rId13"/>
    <p:sldId id="542" r:id="rId14"/>
    <p:sldId id="2680" r:id="rId15"/>
    <p:sldId id="2681" r:id="rId16"/>
    <p:sldId id="592" r:id="rId17"/>
    <p:sldId id="594" r:id="rId18"/>
    <p:sldId id="2691" r:id="rId19"/>
    <p:sldId id="2692" r:id="rId20"/>
    <p:sldId id="2682" r:id="rId21"/>
    <p:sldId id="2034" r:id="rId22"/>
    <p:sldId id="2693" r:id="rId23"/>
    <p:sldId id="563" r:id="rId24"/>
    <p:sldId id="579" r:id="rId25"/>
    <p:sldId id="565" r:id="rId26"/>
    <p:sldId id="2018" r:id="rId27"/>
    <p:sldId id="571" r:id="rId28"/>
    <p:sldId id="572" r:id="rId29"/>
    <p:sldId id="573" r:id="rId30"/>
    <p:sldId id="2015" r:id="rId31"/>
    <p:sldId id="2021" r:id="rId32"/>
    <p:sldId id="2023" r:id="rId33"/>
    <p:sldId id="2024" r:id="rId34"/>
    <p:sldId id="2025" r:id="rId35"/>
    <p:sldId id="577" r:id="rId36"/>
    <p:sldId id="575" r:id="rId37"/>
    <p:sldId id="576" r:id="rId38"/>
    <p:sldId id="2026" r:id="rId39"/>
    <p:sldId id="556" r:id="rId40"/>
    <p:sldId id="586" r:id="rId41"/>
    <p:sldId id="551" r:id="rId42"/>
    <p:sldId id="53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61" autoAdjust="0"/>
    <p:restoredTop sz="94660"/>
  </p:normalViewPr>
  <p:slideViewPr>
    <p:cSldViewPr snapToGrid="0">
      <p:cViewPr varScale="1">
        <p:scale>
          <a:sx n="99" d="100"/>
          <a:sy n="99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F1B01-D058-49E0-9A3D-303879822D61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B0480-EA9E-4AEB-AFD3-F76844A6F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86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968C-2F49-4FA7-AEDD-59EB6B4F65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1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92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01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2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51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9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5536-7C40-4D79-8D59-3C9CBA8A020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5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D397-B5BB-4023-976E-38841C0C4C36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6506-50EE-42DB-AEE2-8995A27B0E7B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0F182-7112-4762-ADB3-B9B07CE16456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9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7B54-E113-4AE5-BA9B-8C08E4208841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881AB-ABCB-4329-91DD-A9BDEFCCE3A2}" type="datetime1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EBC82-A260-48AB-AB56-65B58FBE8336}" type="datetime1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0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4B89A-50D7-4B43-B168-5F3F61B1E14D}" type="datetime1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2FAA5-9B88-4678-9A12-FB521DD0B3C4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2BC-C3EF-4EF4-B278-9B996941CEFA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5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95992-326D-4B53-BEDD-DBBA090A574A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4B0B-AF7F-45CA-9C29-5123FC41CEDE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A030-2654-4989-A5C3-93EC9AAF5993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8AAF4-35A4-40F4-A7AE-C8E2C41B9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iff.healthpolicydatascience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eb.mit.edu/14.771/www/emp_handout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yssabilinski.com/assets/pdf/2025_feng_did_health_policy_review.pdf" TargetMode="External"/><Relationship Id="rId2" Type="http://schemas.openxmlformats.org/officeDocument/2006/relationships/hyperlink" Target="https://psantanna.com/files/RSBP_DiD_Review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eaweb.org/articles?id=10.1257/aer.20211218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hain/Paper/JASA2010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iff.healthpolicydatascience.org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-jstor-org.ezp-prod1.hul.harvard.edu/stable/25098683?seq=1#metadata_info_tab_contents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PHS 2000 </a:t>
            </a:r>
            <a:br>
              <a:rPr lang="en-US" dirty="0"/>
            </a:br>
            <a:r>
              <a:rPr lang="en-US" dirty="0"/>
              <a:t>Econometric Methods 2025 </a:t>
            </a:r>
            <a:br>
              <a:rPr lang="en-US" dirty="0"/>
            </a:br>
            <a:r>
              <a:rPr lang="en-US" dirty="0"/>
              <a:t>Lecture 6</a:t>
            </a:r>
            <a:br>
              <a:rPr lang="en-US"/>
            </a:br>
            <a:r>
              <a:rPr lang="en-US"/>
              <a:t>DID – Advanced topics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15543"/>
            <a:ext cx="9144000" cy="1349828"/>
          </a:xfrm>
        </p:spPr>
        <p:txBody>
          <a:bodyPr>
            <a:normAutofit/>
          </a:bodyPr>
          <a:lstStyle/>
          <a:p>
            <a:r>
              <a:rPr lang="en-US" dirty="0"/>
              <a:t>Maggie McConnell</a:t>
            </a:r>
          </a:p>
          <a:p>
            <a:r>
              <a:rPr lang="en-US" dirty="0"/>
              <a:t>Department of Global Health and Population</a:t>
            </a:r>
          </a:p>
          <a:p>
            <a:r>
              <a:rPr lang="en-US" dirty="0"/>
              <a:t>Harvard T. H. Chan School of Public Health</a:t>
            </a:r>
          </a:p>
        </p:txBody>
      </p:sp>
    </p:spTree>
    <p:extLst>
      <p:ext uri="{BB962C8B-B14F-4D97-AF65-F5344CB8AC3E}">
        <p14:creationId xmlns:p14="http://schemas.microsoft.com/office/powerpoint/2010/main" val="192452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74BD-D56D-477A-8912-82EEC4ED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FEA00-08D8-4FF1-80C7-0297A5F0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Difference in Differences assumptions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Clustering and standard errors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Contrasting difference in differences approach with interrupted time series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 topics in difference in differences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Synthetic control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My office hours: after class (starting at 115pm), Building 1 Room 1217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A4F05-9E5D-415A-8F80-BF59CD75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3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2004-9649-45AB-A212-64DAA7F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assumptions: Counterfactual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C128-131F-433F-9EFC-AC17CD0A0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3991" cy="4351338"/>
          </a:xfrm>
        </p:spPr>
        <p:txBody>
          <a:bodyPr>
            <a:normAutofit/>
          </a:bodyPr>
          <a:lstStyle/>
          <a:p>
            <a:r>
              <a:rPr lang="en-US" dirty="0"/>
              <a:t>Key assumption in Difference-in-Differences </a:t>
            </a:r>
          </a:p>
          <a:p>
            <a:pPr lvl="1"/>
            <a:r>
              <a:rPr lang="en-US" dirty="0"/>
              <a:t>Treatment group would have followed the same trajectory as the control group in the post-intervention period if the intervention had not occurred</a:t>
            </a:r>
          </a:p>
          <a:p>
            <a:endParaRPr lang="en-US" dirty="0"/>
          </a:p>
          <a:p>
            <a:r>
              <a:rPr lang="en-US" dirty="0"/>
              <a:t>This counterfactual is </a:t>
            </a:r>
            <a:r>
              <a:rPr lang="en-US" b="1" dirty="0"/>
              <a:t>not</a:t>
            </a:r>
            <a:r>
              <a:rPr lang="en-US" dirty="0"/>
              <a:t> testable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92EC7-B794-4399-8687-C49F5A96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4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549C-0E5A-9A12-850F-D78D0363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281F-5E5C-B749-682A-20CBDB8A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difference in differences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344F-4802-E375-AD52-A0975572C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Laura Hatfield has created a terrific website that provides a lot of formal detail surrounding difference in differences for health policy: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https://diff.healthpolicydatascience.org/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website includes simulations you can play around with different assumptions and what they mean</a:t>
            </a:r>
          </a:p>
          <a:p>
            <a:pPr marL="0" indent="0">
              <a:buNone/>
            </a:pPr>
            <a:r>
              <a:rPr lang="en-US" dirty="0"/>
              <a:t>Also contains lots of technical details about the different formal assumptions of </a:t>
            </a:r>
            <a:r>
              <a:rPr lang="en-US" dirty="0" err="1"/>
              <a:t>DiD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104B5-7C70-8A5E-6742-6F533F70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6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D346-4C75-4019-B225-53CD8062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Challenge: functional form 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61D33-5894-44B9-903D-7A8CE7A6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33B48-9DB3-4522-8ABC-1F69633D0FAE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DC2C839-1D1B-49D4-8DE0-484ADFCCC7BB}"/>
              </a:ext>
            </a:extLst>
          </p:cNvPr>
          <p:cNvGraphicFramePr>
            <a:graphicFrameLocks/>
          </p:cNvGraphicFramePr>
          <p:nvPr/>
        </p:nvGraphicFramePr>
        <p:xfrm>
          <a:off x="1456216" y="3788078"/>
          <a:ext cx="4028373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791">
                  <a:extLst>
                    <a:ext uri="{9D8B030D-6E8A-4147-A177-3AD203B41FA5}">
                      <a16:colId xmlns:a16="http://schemas.microsoft.com/office/drawing/2014/main" val="788954117"/>
                    </a:ext>
                  </a:extLst>
                </a:gridCol>
                <a:gridCol w="1342791">
                  <a:extLst>
                    <a:ext uri="{9D8B030D-6E8A-4147-A177-3AD203B41FA5}">
                      <a16:colId xmlns:a16="http://schemas.microsoft.com/office/drawing/2014/main" val="1160174753"/>
                    </a:ext>
                  </a:extLst>
                </a:gridCol>
                <a:gridCol w="1342791">
                  <a:extLst>
                    <a:ext uri="{9D8B030D-6E8A-4147-A177-3AD203B41FA5}">
                      <a16:colId xmlns:a16="http://schemas.microsoft.com/office/drawing/2014/main" val="253835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Treatment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Control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32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35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69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– 15</a:t>
                      </a:r>
                      <a:br>
                        <a:rPr lang="en-US" dirty="0"/>
                      </a:br>
                      <a:r>
                        <a:rPr lang="en-US" dirty="0"/>
                        <a:t>= 10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– 5</a:t>
                      </a:r>
                      <a:br>
                        <a:rPr lang="en-US" dirty="0"/>
                      </a:br>
                      <a:r>
                        <a:rPr lang="en-US" dirty="0"/>
                        <a:t>= 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7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DD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– 5 = 5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76235"/>
                  </a:ext>
                </a:extLst>
              </a:tr>
            </a:tbl>
          </a:graphicData>
        </a:graphic>
      </p:graphicFrame>
      <p:graphicFrame>
        <p:nvGraphicFramePr>
          <p:cNvPr id="38" name="Content Placeholder 3">
            <a:extLst>
              <a:ext uri="{FF2B5EF4-FFF2-40B4-BE49-F238E27FC236}">
                <a16:creationId xmlns:a16="http://schemas.microsoft.com/office/drawing/2014/main" id="{5980FF1D-70FF-4BC8-892A-105A48C7E21B}"/>
              </a:ext>
            </a:extLst>
          </p:cNvPr>
          <p:cNvGraphicFramePr>
            <a:graphicFrameLocks/>
          </p:cNvGraphicFramePr>
          <p:nvPr/>
        </p:nvGraphicFramePr>
        <p:xfrm>
          <a:off x="6096000" y="3788078"/>
          <a:ext cx="4028373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791">
                  <a:extLst>
                    <a:ext uri="{9D8B030D-6E8A-4147-A177-3AD203B41FA5}">
                      <a16:colId xmlns:a16="http://schemas.microsoft.com/office/drawing/2014/main" val="788954117"/>
                    </a:ext>
                  </a:extLst>
                </a:gridCol>
                <a:gridCol w="1342791">
                  <a:extLst>
                    <a:ext uri="{9D8B030D-6E8A-4147-A177-3AD203B41FA5}">
                      <a16:colId xmlns:a16="http://schemas.microsoft.com/office/drawing/2014/main" val="1160174753"/>
                    </a:ext>
                  </a:extLst>
                </a:gridCol>
                <a:gridCol w="1342791">
                  <a:extLst>
                    <a:ext uri="{9D8B030D-6E8A-4147-A177-3AD203B41FA5}">
                      <a16:colId xmlns:a16="http://schemas.microsoft.com/office/drawing/2014/main" val="253835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Treatment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Control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32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log(15)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log(5)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35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log(25)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log(10)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69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log(25) -log(15)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log(10) – log(5)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7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DD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-0.182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76235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0E2FFF7C-01C8-4224-B770-1B85B0D89B5D}"/>
              </a:ext>
            </a:extLst>
          </p:cNvPr>
          <p:cNvSpPr/>
          <p:nvPr/>
        </p:nvSpPr>
        <p:spPr>
          <a:xfrm>
            <a:off x="609600" y="6458766"/>
            <a:ext cx="84010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dirty="0"/>
              <a:t>Adapted from </a:t>
            </a:r>
            <a:r>
              <a:rPr lang="en-US" altLang="en-US" sz="1200" dirty="0">
                <a:hlinkClick r:id="rId3"/>
              </a:rPr>
              <a:t>Duflo</a:t>
            </a:r>
            <a:r>
              <a:rPr lang="en-US" altLang="en-US" sz="1200" dirty="0"/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F60A32-7FAC-40FA-8237-877A04E96B01}"/>
              </a:ext>
            </a:extLst>
          </p:cNvPr>
          <p:cNvSpPr txBox="1"/>
          <p:nvPr/>
        </p:nvSpPr>
        <p:spPr>
          <a:xfrm>
            <a:off x="514166" y="2265965"/>
            <a:ext cx="9940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Magnitude and sign of the </a:t>
            </a:r>
            <a:r>
              <a:rPr lang="en-US" sz="2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estimator can be sensitive to functional form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78648F-0B5E-4658-802C-A9F88FF3E412}"/>
              </a:ext>
            </a:extLst>
          </p:cNvPr>
          <p:cNvSpPr txBox="1"/>
          <p:nvPr/>
        </p:nvSpPr>
        <p:spPr>
          <a:xfrm>
            <a:off x="1410009" y="3404456"/>
            <a:ext cx="4074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DD using level changes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EA7D3D-33AA-4A82-8D02-E0664FBD438A}"/>
              </a:ext>
            </a:extLst>
          </p:cNvPr>
          <p:cNvSpPr txBox="1"/>
          <p:nvPr/>
        </p:nvSpPr>
        <p:spPr>
          <a:xfrm>
            <a:off x="6049793" y="3404456"/>
            <a:ext cx="4074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DD using log changes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58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mean reversion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treatments/programs are targeted based on pre-existing differences in outcomes</a:t>
            </a:r>
          </a:p>
          <a:p>
            <a:pPr lvl="1"/>
            <a:r>
              <a:rPr lang="en-US" dirty="0"/>
              <a:t>In fact this may be </a:t>
            </a:r>
            <a:r>
              <a:rPr lang="en-US" i="1" dirty="0"/>
              <a:t>why</a:t>
            </a:r>
            <a:r>
              <a:rPr lang="en-US" dirty="0"/>
              <a:t> some regions are chosen to participate in the program</a:t>
            </a:r>
          </a:p>
          <a:p>
            <a:endParaRPr lang="en-US" dirty="0"/>
          </a:p>
          <a:p>
            <a:r>
              <a:rPr lang="en-US" dirty="0"/>
              <a:t>If outcomes have a natural tendency to mean reversion, comparing outcomes of treated to non-treated regions leads to biased estimates of the treatment effect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0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assumptions: No Contamination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Stable unit treatment value assumption (SUTVA).</a:t>
            </a:r>
          </a:p>
          <a:p>
            <a:r>
              <a:rPr lang="en-US" dirty="0"/>
              <a:t>We require that "the observation on one unit should be unaffected by the particular assignment of treatments to the other units“</a:t>
            </a:r>
          </a:p>
          <a:p>
            <a:r>
              <a:rPr lang="en-US" dirty="0"/>
              <a:t>If there is spillover from treatment to control areas due to the intervention this will be violated</a:t>
            </a:r>
          </a:p>
          <a:p>
            <a:r>
              <a:rPr lang="en-US" dirty="0">
                <a:solidFill>
                  <a:srgbClr val="C00000"/>
                </a:solidFill>
              </a:rPr>
              <a:t>What kind of spillovers would you worry about for a study on the impact of Medicaid expansion?</a:t>
            </a:r>
          </a:p>
          <a:p>
            <a:r>
              <a:rPr lang="en-US" dirty="0"/>
              <a:t>Using US states in health studies </a:t>
            </a:r>
          </a:p>
          <a:p>
            <a:pPr lvl="1"/>
            <a:r>
              <a:rPr lang="en-US" dirty="0"/>
              <a:t>Contamination due to infectious disease spread</a:t>
            </a:r>
          </a:p>
          <a:p>
            <a:pPr lvl="1"/>
            <a:r>
              <a:rPr lang="en-US" dirty="0"/>
              <a:t>Movement of people to get access to policy benefits</a:t>
            </a:r>
          </a:p>
          <a:p>
            <a:pPr lvl="1"/>
            <a:r>
              <a:rPr lang="en-US" dirty="0"/>
              <a:t>Movement of health care providers in policy response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9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Difference estimation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Show lots of figures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Most reviewers want to see evidence of parallel pre-trends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Event study can be a nice way to show this</a:t>
            </a:r>
          </a:p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Demonstrate no major differential compositional changes in population of treatment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control in post period</a:t>
            </a:r>
          </a:p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 placebo/falsification tests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ake time period for policy introduction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 that shouldn’t be affected by treatment</a:t>
            </a:r>
          </a:p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Show impact estimates with and without controls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ontrols only need to be group*time varying (all others will fall out of the regression because of group and time fixed effects) </a:t>
            </a:r>
          </a:p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Ideal to control for presence of other programs that might have influenced outcome and show that the impact estimate doesn’t change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3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5C37-B1F0-4E50-8669-A68E2F29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standard errors: Small number of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23EF-FCE5-4F2F-9808-C43B898C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37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many groups, clustering the standard errors at the group level works well to allow for </a:t>
            </a:r>
            <a:r>
              <a:rPr lang="en-US" dirty="0" err="1"/>
              <a:t>intracluster</a:t>
            </a:r>
            <a:r>
              <a:rPr lang="en-US" dirty="0"/>
              <a:t> correlation</a:t>
            </a:r>
          </a:p>
          <a:p>
            <a:r>
              <a:rPr lang="en-US" dirty="0"/>
              <a:t>With a small number of groups, this is not a good approach</a:t>
            </a:r>
          </a:p>
          <a:p>
            <a:pPr lvl="1"/>
            <a:r>
              <a:rPr lang="en-US" dirty="0"/>
              <a:t>Can actually lead to standard errors that are </a:t>
            </a:r>
            <a:r>
              <a:rPr lang="en-US" i="1" dirty="0"/>
              <a:t>too small</a:t>
            </a:r>
            <a:endParaRPr lang="en-US" dirty="0"/>
          </a:p>
          <a:p>
            <a:pPr lvl="1"/>
            <a:r>
              <a:rPr lang="en-US" dirty="0"/>
              <a:t>Could instead average the data across groups but this will severely limit power</a:t>
            </a:r>
          </a:p>
          <a:p>
            <a:r>
              <a:rPr lang="en-US" dirty="0">
                <a:sym typeface="Wingdings" panose="05000000000000000000" pitchFamily="2" charset="2"/>
              </a:rPr>
              <a:t>Can use bootstrap/placebo methods but more complex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“Wild” Bootstrap – use </a:t>
            </a:r>
            <a:r>
              <a:rPr lang="en-US" dirty="0" err="1">
                <a:sym typeface="Wingdings" panose="05000000000000000000" pitchFamily="2" charset="2"/>
              </a:rPr>
              <a:t>boottest</a:t>
            </a:r>
            <a:r>
              <a:rPr lang="en-US" dirty="0">
                <a:sym typeface="Wingdings" panose="05000000000000000000" pitchFamily="2" charset="2"/>
              </a:rPr>
              <a:t> in STATA implements Cameron et al 2008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Construct placebo intervention data based on random assignment of intervention to groups and construct test statistics based on the distribution of outcomes for placebo interventions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Can work with as few as 6 groups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7D0D-807C-4954-8182-24744001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D02F-F803-47AE-A7FD-66631BC8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standard errors: Autocorrelation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D0C7-20B9-4D40-8800-650360FEA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autocorrelation, observations for the same group will be correlated over time</a:t>
            </a:r>
          </a:p>
          <a:p>
            <a:r>
              <a:rPr lang="en-US" dirty="0"/>
              <a:t>Observations of multiple time points pre- and post-intervention will not be independent and do not add much additional information</a:t>
            </a:r>
          </a:p>
          <a:p>
            <a:r>
              <a:rPr lang="en-US" dirty="0"/>
              <a:t>With a large number of groups, clustering the standard errors across time within the same group can correct for autocorrelation</a:t>
            </a:r>
          </a:p>
          <a:p>
            <a:r>
              <a:rPr lang="en-US" dirty="0"/>
              <a:t>We can also estimate the autocorrelation structure, but very biased estimates with group fixed effects and small number of periods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012C4-1DB0-4EDA-9905-20025844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8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299A-E504-4745-B731-5EE107A3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Difference-in-Differences vs. Interrupted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B1E4-CA6C-47A9-97AC-26D32AD19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Conceptually similar</a:t>
            </a:r>
            <a:r>
              <a:rPr lang="en-US" dirty="0"/>
              <a:t>: both used to estimate the effect of group level interventions by creating a counterfactual; what would have happened without the intervention</a:t>
            </a:r>
          </a:p>
          <a:p>
            <a:endParaRPr lang="en-US" dirty="0"/>
          </a:p>
          <a:p>
            <a:r>
              <a:rPr lang="en-US" i="1" dirty="0"/>
              <a:t>Structural differences</a:t>
            </a:r>
          </a:p>
          <a:p>
            <a:pPr lvl="1"/>
            <a:r>
              <a:rPr lang="en-US" dirty="0"/>
              <a:t>ITS uses aggregated data with one treated area time series whereas Difference-in-Differences usually keeps the data at the individual level and adjusts for within-group correlation.</a:t>
            </a:r>
          </a:p>
          <a:p>
            <a:pPr lvl="1"/>
            <a:r>
              <a:rPr lang="en-US" dirty="0"/>
              <a:t>ITS has one treatment group (and one control group in CITS) while Difference-in-Differences works well with multiple treated and control groups</a:t>
            </a:r>
          </a:p>
          <a:p>
            <a:pPr lvl="1"/>
            <a:r>
              <a:rPr lang="en-US" dirty="0"/>
              <a:t>ITS fits a (usually linear) time trend and extrapolates counterfactual whereas Difference-in-Differences uses time fixed effects and uses control group to generate counterfactual</a:t>
            </a:r>
          </a:p>
          <a:p>
            <a:pPr lvl="1"/>
            <a:r>
              <a:rPr lang="en-US" dirty="0"/>
              <a:t>ITS will be favored when change is expected to be immediate and large. </a:t>
            </a:r>
            <a:r>
              <a:rPr lang="en-US" dirty="0" err="1"/>
              <a:t>DiD</a:t>
            </a:r>
            <a:r>
              <a:rPr lang="en-US" dirty="0"/>
              <a:t> methods are better for changes that may be more subtle or phase in over 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AFCD8-1A7B-4057-A531-E717BC3B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9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6895-144C-2BDE-DC05-C373EF06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2088" cy="1325563"/>
          </a:xfrm>
        </p:spPr>
        <p:txBody>
          <a:bodyPr/>
          <a:lstStyle/>
          <a:p>
            <a:r>
              <a:rPr lang="en-US" dirty="0" err="1"/>
              <a:t>DiD</a:t>
            </a:r>
            <a:r>
              <a:rPr lang="en-US" dirty="0"/>
              <a:t> is a fast evolving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9F6BC-0C79-4A1F-02FE-ADD87899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999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Today we will discuss some new developments in difference in differences</a:t>
            </a:r>
          </a:p>
          <a:p>
            <a:r>
              <a:rPr lang="en-US" dirty="0"/>
              <a:t>The conversation will not be comprehensive</a:t>
            </a:r>
          </a:p>
          <a:p>
            <a:r>
              <a:rPr lang="en-US" dirty="0"/>
              <a:t>The landscape is continuously evolving so can be challenging to stay up to date</a:t>
            </a:r>
          </a:p>
          <a:p>
            <a:r>
              <a:rPr lang="en-US" dirty="0"/>
              <a:t>Check recent review papers for discussion of ”state of the art”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15F76-A35D-2055-2177-B2C13E0B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24021807-83FC-790C-092D-012FBE386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713" y="0"/>
            <a:ext cx="626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17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EBD5-4B64-4C15-991C-45266FAB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two way fixed effects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0F7F05-D0B9-41C5-945B-266EA8B7C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need at least two groups – treatment and control – and two time periods – pre and post – to get a difference-in-differences estimator</a:t>
                </a:r>
              </a:p>
              <a:p>
                <a:r>
                  <a:rPr lang="en-US" dirty="0"/>
                  <a:t>DID is a flexible methodology we can extend in many ways. Commonly we might use the following set-up: </a:t>
                </a:r>
              </a:p>
              <a:p>
                <a:pPr lvl="1"/>
                <a:r>
                  <a:rPr lang="en-US" dirty="0"/>
                  <a:t>We have multiple groups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={1…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) with some getting the treatment and some not getting it (group fixed effects)</a:t>
                </a:r>
              </a:p>
              <a:p>
                <a:pPr lvl="1"/>
                <a:r>
                  <a:rPr lang="en-US" dirty="0"/>
                  <a:t>We have multiple time periods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={1…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) both pre- and post-intervention (time fixed effects)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𝑝𝑜𝑠𝑡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model is sometimes called “two way fixed effects”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0F7F05-D0B9-41C5-945B-266EA8B7C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 b="-3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17777-F89F-4D8A-8F64-0E8E08BC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4462-E6AC-4346-AD0D-ABB1BCA7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staggered rollouts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B7E3-F76E-410A-A5F9-00F1ECCD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Medicaid expansion under the Affordable Care Act</a:t>
            </a:r>
          </a:p>
          <a:p>
            <a:endParaRPr lang="en-US" dirty="0"/>
          </a:p>
          <a:p>
            <a:r>
              <a:rPr lang="en-US" dirty="0"/>
              <a:t>Closures of Social Security offices that help process Supplemental Security Income</a:t>
            </a:r>
          </a:p>
          <a:p>
            <a:endParaRPr lang="en-US" dirty="0"/>
          </a:p>
          <a:p>
            <a:r>
              <a:rPr lang="en-US" dirty="0"/>
              <a:t>Changes to the Earned Income Tax Credit at the state level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Treatment starts at different time in different 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3CBF5-110A-42D5-A9BE-C64735D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62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4462-E6AC-4346-AD0D-ABB1BCA7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Staggered rollout </a:t>
            </a:r>
            <a:r>
              <a:rPr lang="en-US" dirty="0" err="1"/>
              <a:t>DiD</a:t>
            </a:r>
            <a:r>
              <a:rPr lang="en-US" dirty="0"/>
              <a:t>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B7E3-F76E-410A-A5F9-00F1ECCD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model where different states adopted a treatment at different times and you are using two-way fixed effects (group and time fixed effects) to estimate treatment effects</a:t>
            </a:r>
          </a:p>
          <a:p>
            <a:endParaRPr lang="en-US" dirty="0"/>
          </a:p>
          <a:p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turns out you can decompose </a:t>
            </a:r>
            <a:r>
              <a:rPr lang="en-US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estimator into a weighted average of all possible two-by-two difference-in-differences estimators that can be constructed from your data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3CBF5-110A-42D5-A9BE-C64735D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01B-0685-BDCB-CD3A-3CFD45E0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A2891-08C1-D3F5-F914-427B54D5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43200" cy="4895850"/>
          </a:xfrm>
        </p:spPr>
        <p:txBody>
          <a:bodyPr>
            <a:normAutofit/>
          </a:bodyPr>
          <a:lstStyle/>
          <a:p>
            <a:r>
              <a:rPr lang="en-US" sz="2400" dirty="0"/>
              <a:t>Imagine you are looking at the impact of transitioning to free primary schools</a:t>
            </a:r>
          </a:p>
          <a:p>
            <a:r>
              <a:rPr lang="en-US" sz="2400" dirty="0"/>
              <a:t>Some states are early adopters and some adopt later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8E125-B51F-9D22-DCE1-E58C2184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C69C1FD7-8DD4-C583-1CFB-00AF99473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161" y="571765"/>
            <a:ext cx="7772400" cy="3451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23C3C-B1F5-F13E-A3AA-DB5FCD306A28}"/>
              </a:ext>
            </a:extLst>
          </p:cNvPr>
          <p:cNvSpPr txBox="1"/>
          <p:nvPr/>
        </p:nvSpPr>
        <p:spPr>
          <a:xfrm>
            <a:off x="4094922" y="4055165"/>
            <a:ext cx="69123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en-US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estimator is a weighted average of:</a:t>
            </a:r>
          </a:p>
          <a:p>
            <a:pPr marL="285750" indent="-285750">
              <a:buFontTx/>
              <a:buChar char="-"/>
            </a:pPr>
            <a:r>
              <a:rPr lang="en-US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comparisons between early adopters and later adopters over the periods when the later adopters are not yet been treated</a:t>
            </a:r>
          </a:p>
          <a:p>
            <a:pPr marL="285750" indent="-285750">
              <a:buFontTx/>
              <a:buChar char="-"/>
            </a:pPr>
            <a:r>
              <a:rPr lang="en-US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comparisons between early adopters and later adopters over the periods when the early adopters are treated – they become comparison group for the later adopter</a:t>
            </a:r>
          </a:p>
          <a:p>
            <a:pPr marL="285750" indent="-285750">
              <a:buFontTx/>
              <a:buChar char="-"/>
            </a:pPr>
            <a:r>
              <a:rPr lang="en-US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comparisons between different timing groups (e.g., early adopters or later adopters) and the never-treated (not pictured)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0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4462-E6AC-4346-AD0D-ABB1BCA7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B7E3-F76E-410A-A5F9-00F1ECCD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Difference in difference designs only recover average treatment effects when treatment effects are </a:t>
            </a:r>
            <a:r>
              <a:rPr lang="en-US" u="sng" dirty="0"/>
              <a:t>homogeneous</a:t>
            </a:r>
          </a:p>
          <a:p>
            <a:endParaRPr lang="en-US" dirty="0"/>
          </a:p>
          <a:p>
            <a:r>
              <a:rPr lang="en-US" dirty="0"/>
              <a:t>When treatment effects change over time </a:t>
            </a:r>
            <a:r>
              <a:rPr lang="en-US" dirty="0" err="1"/>
              <a:t>DiD</a:t>
            </a:r>
            <a:r>
              <a:rPr lang="en-US" dirty="0"/>
              <a:t> will provide biased estimates of treatment effect</a:t>
            </a:r>
          </a:p>
          <a:p>
            <a:pPr lvl="1"/>
            <a:r>
              <a:rPr lang="en-US" dirty="0"/>
              <a:t>This is because the </a:t>
            </a:r>
            <a:r>
              <a:rPr lang="en-US" dirty="0" err="1"/>
              <a:t>DiD</a:t>
            </a:r>
            <a:r>
              <a:rPr lang="en-US" dirty="0"/>
              <a:t> estimator uses already treated units as controls for future treated units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When would it be a problem to use already treated as controls for later treated?</a:t>
            </a:r>
          </a:p>
          <a:p>
            <a:pPr lvl="1"/>
            <a:r>
              <a:rPr lang="en-US" dirty="0"/>
              <a:t>If outcomes in already treated units continue to react to treatment, they make bad controls</a:t>
            </a:r>
          </a:p>
          <a:p>
            <a:pPr lvl="1"/>
            <a:endParaRPr lang="en-US" dirty="0"/>
          </a:p>
          <a:p>
            <a:r>
              <a:rPr lang="en-US" dirty="0"/>
              <a:t>Luckily – there are econometric strategies to address this! </a:t>
            </a:r>
          </a:p>
          <a:p>
            <a:pPr lvl="1"/>
            <a:r>
              <a:rPr lang="en-US" dirty="0"/>
              <a:t>Many of them attempt to avoid comparisons to “forbidden controls”</a:t>
            </a:r>
          </a:p>
          <a:p>
            <a:pPr lvl="1"/>
            <a:r>
              <a:rPr lang="en-US" dirty="0"/>
              <a:t>Various approaches summarized in </a:t>
            </a:r>
            <a:r>
              <a:rPr lang="en-US" b="0" i="1" dirty="0">
                <a:solidFill>
                  <a:srgbClr val="212529"/>
                </a:solidFill>
                <a:effectLst/>
                <a:latin typeface="proxima-nova"/>
                <a:hlinkClick r:id="rId2"/>
              </a:rPr>
              <a:t>What’s Trending in Difference-in-Differences? A Synthesis of the Recent Econometrics Literature</a:t>
            </a:r>
            <a:endParaRPr lang="en-US" b="0" i="1" dirty="0">
              <a:solidFill>
                <a:srgbClr val="212529"/>
              </a:solidFill>
              <a:effectLst/>
              <a:latin typeface="proxima-nova"/>
            </a:endParaRPr>
          </a:p>
          <a:p>
            <a:pPr lvl="1"/>
            <a:r>
              <a:rPr lang="en-US" dirty="0"/>
              <a:t>A discussion of considerations for publication in public health journals available here: </a:t>
            </a:r>
            <a:r>
              <a:rPr lang="en-US" i="1" dirty="0">
                <a:hlinkClick r:id="rId3"/>
              </a:rPr>
              <a:t>Difference-in-Differences for Health Policy and Practice: A Review of Modern Methods</a:t>
            </a:r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3CBF5-110A-42D5-A9BE-C64735D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8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9B73-0CE3-30CD-D950-A428F823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1E18-445B-1B35-1FAB-2F191709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default: “Saturated”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94D9-9439-BE48-144D-D74951F33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“Saturated” models involve a full set of fixed effects</a:t>
            </a:r>
          </a:p>
          <a:p>
            <a:pPr lvl="1"/>
            <a:r>
              <a:rPr lang="en-US" dirty="0"/>
              <a:t>Group, time and group by time</a:t>
            </a:r>
          </a:p>
          <a:p>
            <a:pPr lvl="1"/>
            <a:r>
              <a:rPr lang="en-US" dirty="0"/>
              <a:t>Estimate separate “treatment effects” for each post-intervention time period</a:t>
            </a:r>
          </a:p>
          <a:p>
            <a:pPr lvl="1"/>
            <a:r>
              <a:rPr lang="en-US" dirty="0"/>
              <a:t>This mitigates some of the problems when treatment effects are time-varying</a:t>
            </a:r>
          </a:p>
          <a:p>
            <a:pPr lvl="1"/>
            <a:endParaRPr lang="en-US" dirty="0"/>
          </a:p>
          <a:p>
            <a:r>
              <a:rPr lang="en-US" dirty="0"/>
              <a:t>Some have argued that fully saturated models become the “default” difference in difference method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C8FD2-A013-B6FC-74B1-6522B777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9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B2DC-C213-8291-8B03-96BC1515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A728-F7D5-2934-9311-239BEEA81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problems introduced by “staggered adoption”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D63F-B0AE-A37B-9021-5028CDD2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Many different estimators have been developed to deal with problems introduced by staggered adoption</a:t>
            </a:r>
          </a:p>
          <a:p>
            <a:pPr lvl="1"/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Callaway–Sant’Anna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compare treated only to valid controls, then aggregate </a:t>
            </a:r>
          </a:p>
          <a:p>
            <a:pPr lvl="1"/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Sun–Abraham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fixes event-study bias from staggered timing </a:t>
            </a:r>
          </a:p>
          <a:p>
            <a:pPr lvl="1"/>
            <a:r>
              <a:rPr lang="en-US" alt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Borusyak</a:t>
            </a:r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et al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predicts untreated outcomes, compares to reality </a:t>
            </a:r>
          </a:p>
          <a:p>
            <a:pPr lvl="1"/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en-US" alt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Chaisemartin</a:t>
            </a:r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D’Haultfoeuille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 reweight comparisons to avoid bias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B8AAD-693B-F6F1-01C0-44494342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6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E565E-E9E4-156D-3DCB-5CDD89B9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20</a:t>
            </a:fld>
            <a:endParaRPr lang="en-US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F3E2D730-3AC4-B565-D260-063FF416C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442" y="0"/>
            <a:ext cx="6332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E21F960-CAF8-B9D4-1FEF-A3C4603E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2" y="1279524"/>
            <a:ext cx="3879575" cy="492249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Many methods – how to handle?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Economics strategy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Estimate using different estimators – demonstrate robustness to model specification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Braghieri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et al 2022,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Social Media and Mental Health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Question: what is the impact of the availability of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on poor mental health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Strategy: Uses the rollout of Facebook across US colleges as the “treatment”</a:t>
            </a:r>
          </a:p>
        </p:txBody>
      </p:sp>
    </p:spTree>
    <p:extLst>
      <p:ext uri="{BB962C8B-B14F-4D97-AF65-F5344CB8AC3E}">
        <p14:creationId xmlns:p14="http://schemas.microsoft.com/office/powerpoint/2010/main" val="2162253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4462-E6AC-4346-AD0D-ABB1BCA7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Solution: Stacked Difference in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B7E3-F76E-410A-A5F9-00F1ECCD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“subsets” of the data for every policy “event”</a:t>
            </a:r>
          </a:p>
          <a:p>
            <a:endParaRPr lang="en-US" dirty="0"/>
          </a:p>
          <a:p>
            <a:r>
              <a:rPr lang="en-US" dirty="0"/>
              <a:t>Each subset contains the treated unit and all untreated comparison units over fixed intervals (i.e. 20 months before the policy change and 20 months after)</a:t>
            </a:r>
          </a:p>
          <a:p>
            <a:endParaRPr lang="en-US" dirty="0"/>
          </a:p>
          <a:p>
            <a:r>
              <a:rPr lang="en-US" dirty="0"/>
              <a:t>Removes the “forbidden controls” problem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3CBF5-110A-42D5-A9BE-C64735D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5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CAEE-C9DB-0523-5646-47FEC055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3744-1E5A-E025-C8F0-E16F092F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on to synthetic control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D3F23-68A4-465A-F688-0544AC15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F92A5E-3D10-9519-570C-07B4FCF3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55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-- Intuition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3"/>
            <a:ext cx="10515600" cy="460009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Intuition – we are trying to find a control group that is similar to treated group in pre-treatment period</a:t>
            </a:r>
          </a:p>
          <a:p>
            <a:pPr lvl="1"/>
            <a:r>
              <a:rPr lang="en-US" dirty="0"/>
              <a:t>Similar covariates that affect the outcome </a:t>
            </a:r>
          </a:p>
          <a:p>
            <a:pPr lvl="1"/>
            <a:r>
              <a:rPr lang="en-US" dirty="0"/>
              <a:t>Similar values of the outcome</a:t>
            </a:r>
          </a:p>
          <a:p>
            <a:pPr lvl="1"/>
            <a:r>
              <a:rPr lang="en-US" dirty="0"/>
              <a:t>Helps with the plausibility of the counterfactual </a:t>
            </a:r>
          </a:p>
          <a:p>
            <a:pPr lvl="2"/>
            <a:r>
              <a:rPr lang="en-US" dirty="0"/>
              <a:t>The treatment group would have followed the path of the control group if it had not been treated in the post-intervention period</a:t>
            </a:r>
          </a:p>
          <a:p>
            <a:pPr lvl="2"/>
            <a:endParaRPr lang="en-US" dirty="0"/>
          </a:p>
          <a:p>
            <a:r>
              <a:rPr lang="en-US" dirty="0"/>
              <a:t>We may try to find this as a naturally occurring phenomena</a:t>
            </a:r>
          </a:p>
          <a:p>
            <a:pPr lvl="1"/>
            <a:r>
              <a:rPr lang="en-US" dirty="0"/>
              <a:t>Sometimes this isn’t possible – especially with just one treatment group and few control options</a:t>
            </a:r>
          </a:p>
          <a:p>
            <a:pPr lvl="1"/>
            <a:endParaRPr lang="en-US" dirty="0"/>
          </a:p>
          <a:p>
            <a:r>
              <a:rPr lang="en-US" dirty="0"/>
              <a:t>If researchers can ”chose” their preferred control group – many options for cherry picking a control group that gives a desired outcome </a:t>
            </a:r>
          </a:p>
          <a:p>
            <a:pPr lvl="1"/>
            <a:endParaRPr lang="en-US" dirty="0"/>
          </a:p>
          <a:p>
            <a:r>
              <a:rPr lang="en-US" dirty="0"/>
              <a:t>The idea of synthetic control is to “create” this control group using a data driven and transparent process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0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3"/>
            <a:ext cx="10515600" cy="4600090"/>
          </a:xfrm>
        </p:spPr>
        <p:txBody>
          <a:bodyPr>
            <a:normAutofit/>
          </a:bodyPr>
          <a:lstStyle/>
          <a:p>
            <a:r>
              <a:rPr lang="en-US" dirty="0"/>
              <a:t>To create a </a:t>
            </a:r>
            <a:r>
              <a:rPr lang="en-US" i="1" dirty="0"/>
              <a:t>synthetic control</a:t>
            </a:r>
            <a:r>
              <a:rPr lang="en-US" dirty="0"/>
              <a:t> we use weighted average of possible control groups as counterfactual</a:t>
            </a:r>
          </a:p>
          <a:p>
            <a:pPr lvl="1"/>
            <a:r>
              <a:rPr lang="en-US" dirty="0"/>
              <a:t>Weights tells us which control units (“donors”) contribute the most to the counterfactual</a:t>
            </a:r>
          </a:p>
          <a:p>
            <a:pPr lvl="1"/>
            <a:r>
              <a:rPr lang="en-US" dirty="0"/>
              <a:t>We get to see weights – decide if they are intuitive</a:t>
            </a:r>
          </a:p>
          <a:p>
            <a:r>
              <a:rPr lang="en-US" dirty="0"/>
              <a:t>Choose weights to match outcome and covariates in the treated group during the pre-interventional period   </a:t>
            </a:r>
          </a:p>
          <a:p>
            <a:pPr lvl="1"/>
            <a:r>
              <a:rPr lang="en-US" dirty="0"/>
              <a:t>We can perfectly replicate pre-trends in the treated group</a:t>
            </a:r>
          </a:p>
          <a:p>
            <a:r>
              <a:rPr lang="en-US" dirty="0"/>
              <a:t>Counterfactual – treated group would have continued in the same way as the synthetic control in the absence of treatment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8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4196"/>
            <a:ext cx="10515600" cy="4562767"/>
          </a:xfrm>
        </p:spPr>
        <p:txBody>
          <a:bodyPr>
            <a:norm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Weights chosen so that the weighted average of the untreated control units (or donors) most perfectly matches the pre-treatment trends in the treated unit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Weights (usually) constrained to be non-negative and sum to 1.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Negative weights can give better fit – but difficult to interpret and imply extrapolation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treated group predicted outcome predicted to move up when negative weight group moves down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2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Diff-in-diff – Synthetic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B04380C-4505-4DE2-A795-88B662243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) vector of pre-intervention characteristics for the treated unit 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be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) matrix of same characteristics for the potential control units</a:t>
                </a:r>
              </a:p>
              <a:p>
                <a:pPr lvl="1"/>
                <a:r>
                  <a:rPr lang="en-US" dirty="0"/>
                  <a:t>Variables in X matrices could include the outcomes we want to analyze!</a:t>
                </a:r>
              </a:p>
              <a:p>
                <a:r>
                  <a:rPr lang="en-US" dirty="0"/>
                  <a:t>Then we choose the vector of weights to minimize differences in the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between the treated unit and the synthetic control</a:t>
                </a:r>
              </a:p>
              <a:p>
                <a:r>
                  <a:rPr lang="en-US" dirty="0"/>
                  <a:t>Choose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to minimize some general measure of “distance” between treatment and synthetic control covariates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Usually by minimizing mean squared prediction error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endParaRPr lang="en-US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Then estimate the causal effect of the treatment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as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B04380C-4505-4DE2-A795-88B662243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2907" b="-35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37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 may be over fit – it performs very well in the pretreatment period due to chance </a:t>
            </a:r>
          </a:p>
          <a:p>
            <a:pPr lvl="1"/>
            <a:r>
              <a:rPr lang="en-US" dirty="0"/>
              <a:t>Particularly true if there are a lot of potential control groups and pretreatment time period is short </a:t>
            </a:r>
          </a:p>
          <a:p>
            <a:pPr lvl="1"/>
            <a:r>
              <a:rPr lang="en-US" dirty="0"/>
              <a:t>May bias results </a:t>
            </a:r>
          </a:p>
          <a:p>
            <a:r>
              <a:rPr lang="en-US" dirty="0"/>
              <a:t>Some strategies to address </a:t>
            </a:r>
          </a:p>
          <a:p>
            <a:pPr lvl="1"/>
            <a:r>
              <a:rPr lang="en-US" dirty="0"/>
              <a:t>Only fit model in training period subsample of the full pre-intervention period</a:t>
            </a:r>
          </a:p>
          <a:p>
            <a:pPr lvl="1"/>
            <a:r>
              <a:rPr lang="en-US" dirty="0"/>
              <a:t>Validate the fitted model by using it to predict outcomes in the data held back from fitting.</a:t>
            </a:r>
          </a:p>
          <a:p>
            <a:pPr lvl="1"/>
            <a:r>
              <a:rPr lang="en-US" dirty="0"/>
              <a:t>Use weights that preform well in both fit in training period and out of sample validation </a:t>
            </a:r>
          </a:p>
          <a:p>
            <a:pPr lvl="1"/>
            <a:r>
              <a:rPr lang="en-US" dirty="0"/>
              <a:t>Similar approach to machine learning approaches (i.e. causal forests)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4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likely is it we see the gap between treated group and synthetic control due to chance ?</a:t>
            </a:r>
          </a:p>
          <a:p>
            <a:r>
              <a:rPr lang="en-US" dirty="0"/>
              <a:t>Placebo approach – time dimension and space dimension </a:t>
            </a:r>
          </a:p>
          <a:p>
            <a:pPr lvl="1"/>
            <a:r>
              <a:rPr lang="en-US" dirty="0"/>
              <a:t>Try setting different random placebo “intervention” groups and times in control units</a:t>
            </a:r>
          </a:p>
          <a:p>
            <a:pPr lvl="1"/>
            <a:r>
              <a:rPr lang="en-US" dirty="0"/>
              <a:t>Estimate the “effect” of these fake intervention by creating synthetic controls form them from the other control groups. </a:t>
            </a:r>
          </a:p>
          <a:p>
            <a:pPr lvl="1"/>
            <a:r>
              <a:rPr lang="en-US" dirty="0"/>
              <a:t>Under assumption of no effect of the placebo “interventions” we get a distribution of observed “effects” under the null of no effect</a:t>
            </a:r>
          </a:p>
          <a:p>
            <a:r>
              <a:rPr lang="en-US" dirty="0"/>
              <a:t>Reject the null of no effect if estimated effect size for the treatment is outside the 95% confidence interval generated by the placebo effect distribution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for Synthetic control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Availability of donor groups to construct controls. Similar to treatment group – driven by similar shocks</a:t>
            </a:r>
          </a:p>
          <a:p>
            <a:pPr lvl="1"/>
            <a:r>
              <a:rPr lang="en-US" dirty="0"/>
              <a:t>But did </a:t>
            </a:r>
            <a:r>
              <a:rPr lang="en-US" b="1" dirty="0"/>
              <a:t>not</a:t>
            </a:r>
            <a:r>
              <a:rPr lang="en-US" dirty="0"/>
              <a:t> get the treatment</a:t>
            </a:r>
          </a:p>
          <a:p>
            <a:pPr lvl="1"/>
            <a:r>
              <a:rPr lang="en-US" dirty="0"/>
              <a:t>Did not get large idiosyncratic shocks in the post-intervention period that did not affect the treatment group </a:t>
            </a:r>
          </a:p>
          <a:p>
            <a:r>
              <a:rPr lang="en-US" dirty="0"/>
              <a:t>Synthetic control matches actual outcome data closely in the pre-intervention period – testable</a:t>
            </a:r>
          </a:p>
          <a:p>
            <a:r>
              <a:rPr lang="en-US" dirty="0"/>
              <a:t>Size of the effect is large relative to noise </a:t>
            </a:r>
          </a:p>
          <a:p>
            <a:r>
              <a:rPr lang="en-US" dirty="0"/>
              <a:t>No anticipation of treatment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How would it affect selection of synthetic controls if the treatment group outcomes started to change before the policy change went into effect?</a:t>
            </a:r>
          </a:p>
          <a:p>
            <a:r>
              <a:rPr lang="en-US" dirty="0"/>
              <a:t>No spillovers of treatment effect between groups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7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1821-0CF6-4C46-836F-44C51111A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 question: What was the effect of California’s Proposition 99 on cigarette sales?</a:t>
            </a:r>
          </a:p>
          <a:p>
            <a:pPr lvl="1"/>
            <a:r>
              <a:rPr lang="en-US" dirty="0"/>
              <a:t>Increased cigarette tax by 25 cents/pack</a:t>
            </a:r>
          </a:p>
          <a:p>
            <a:pPr lvl="1"/>
            <a:r>
              <a:rPr lang="en-US" dirty="0"/>
              <a:t>Tax revenues earmarked for anti-smoking education</a:t>
            </a:r>
          </a:p>
          <a:p>
            <a:pPr lvl="1"/>
            <a:r>
              <a:rPr lang="en-US" dirty="0"/>
              <a:t>Funded anti-smoking media campaigns</a:t>
            </a:r>
          </a:p>
          <a:p>
            <a:pPr lvl="1"/>
            <a:r>
              <a:rPr lang="en-US" dirty="0"/>
              <a:t>Clean indoor-air ordinances</a:t>
            </a:r>
          </a:p>
          <a:p>
            <a:pPr lvl="1"/>
            <a:r>
              <a:rPr lang="en-US" dirty="0"/>
              <a:t>Passed in 1988</a:t>
            </a:r>
          </a:p>
          <a:p>
            <a:r>
              <a:rPr lang="en-US" dirty="0"/>
              <a:t>Policy passed in only one state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Are there any states that make good “controls” for California?</a:t>
            </a:r>
          </a:p>
          <a:p>
            <a:pPr lvl="1"/>
            <a:endParaRPr lang="en-US" dirty="0"/>
          </a:p>
          <a:p>
            <a:r>
              <a:rPr lang="en-US" dirty="0"/>
              <a:t>Synthetic Control Methods for Comparative Case Studies: </a:t>
            </a:r>
            <a:r>
              <a:rPr lang="en-US" dirty="0">
                <a:hlinkClick r:id="rId3"/>
              </a:rPr>
              <a:t>Estimating the Effect of California’s Tobacco Control Program</a:t>
            </a:r>
            <a:r>
              <a:rPr lang="en-US" dirty="0"/>
              <a:t> (Abadie et al 2010)</a:t>
            </a:r>
          </a:p>
        </p:txBody>
      </p:sp>
    </p:spTree>
    <p:extLst>
      <p:ext uri="{BB962C8B-B14F-4D97-AF65-F5344CB8AC3E}">
        <p14:creationId xmlns:p14="http://schemas.microsoft.com/office/powerpoint/2010/main" val="26575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AAC8-2474-4795-B3B5-6F2A73CA8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943100"/>
            <a:ext cx="4940300" cy="4686300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Step 1</a:t>
            </a:r>
            <a:r>
              <a:rPr lang="en-US" dirty="0"/>
              <a:t>: Throw out 11 other states that passed similar tobacco control legislation (contaminates control)</a:t>
            </a:r>
          </a:p>
          <a:p>
            <a:r>
              <a:rPr lang="en-US" i="1" dirty="0"/>
              <a:t>Step 2</a:t>
            </a:r>
            <a:r>
              <a:rPr lang="en-US" dirty="0"/>
              <a:t>: Decide which covariates predict post-period outcomes and should be used for determining synth control weights (minimize MSPE)</a:t>
            </a:r>
          </a:p>
          <a:p>
            <a:r>
              <a:rPr lang="en-US" dirty="0"/>
              <a:t>Step 3: Look at the weights assigned by the MSPE minimization</a:t>
            </a:r>
          </a:p>
          <a:p>
            <a:pPr lvl="1"/>
            <a:r>
              <a:rPr lang="en-US" dirty="0"/>
              <a:t>Are they “reasonable”? What might you consider reasonable?</a:t>
            </a:r>
          </a:p>
          <a:p>
            <a:pPr lvl="1"/>
            <a:r>
              <a:rPr lang="en-US" dirty="0"/>
              <a:t>If not, might reconsider whether you’re using the right variables to construct weights</a:t>
            </a:r>
          </a:p>
          <a:p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ED84EB9-CE49-42B1-B0E9-4EEB68D06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1943100"/>
            <a:ext cx="5676900" cy="364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1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3100" cy="1325563"/>
          </a:xfrm>
        </p:spPr>
        <p:txBody>
          <a:bodyPr/>
          <a:lstStyle/>
          <a:p>
            <a:r>
              <a:rPr lang="en-US" dirty="0"/>
              <a:t>Synthetic Control Example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55E42DB-732A-4D95-97B0-D030E60CF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365125"/>
            <a:ext cx="4826000" cy="5791200"/>
          </a:xfrm>
        </p:spPr>
      </p:pic>
    </p:spTree>
    <p:extLst>
      <p:ext uri="{BB962C8B-B14F-4D97-AF65-F5344CB8AC3E}">
        <p14:creationId xmlns:p14="http://schemas.microsoft.com/office/powerpoint/2010/main" val="3501081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2519"/>
            <a:ext cx="10515600" cy="1325563"/>
          </a:xfrm>
        </p:spPr>
        <p:txBody>
          <a:bodyPr/>
          <a:lstStyle/>
          <a:p>
            <a:r>
              <a:rPr lang="en-US" dirty="0"/>
              <a:t>Synthetic control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2A11-68D9-4343-B0B7-32ED823AE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253331"/>
            <a:ext cx="10515600" cy="4351338"/>
          </a:xfrm>
        </p:spPr>
        <p:txBody>
          <a:bodyPr/>
          <a:lstStyle/>
          <a:p>
            <a:r>
              <a:rPr lang="en-US" dirty="0"/>
              <a:t>Synthetic control uses high-tech methods to get “right” counterfactual but </a:t>
            </a:r>
            <a:r>
              <a:rPr lang="en-US" b="1" dirty="0"/>
              <a:t>you can still make nice visuals</a:t>
            </a:r>
            <a:endParaRPr lang="en-US" dirty="0"/>
          </a:p>
          <a:p>
            <a:endParaRPr lang="en-US" b="1" dirty="0"/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5A152134-7B61-446B-9821-9BAE410C4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552701"/>
            <a:ext cx="9144000" cy="409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93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9CA4-3974-49E3-AB71-4523A07E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example – event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2A11-68D9-4343-B0B7-32ED823AE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F8CE5BB-B105-4961-AA9C-B4833A07B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044" y="1231900"/>
            <a:ext cx="6843712" cy="515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4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 and Synthetic Control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 can also use synthetic control methods within ITS – situations where we might have just one treatment group</a:t>
            </a:r>
          </a:p>
          <a:p>
            <a:endParaRPr lang="en-US" dirty="0"/>
          </a:p>
          <a:p>
            <a:r>
              <a:rPr lang="en-US" dirty="0"/>
              <a:t>Example: Impact of tobacco taxes in South Africa</a:t>
            </a:r>
          </a:p>
          <a:p>
            <a:r>
              <a:rPr lang="en-US" dirty="0"/>
              <a:t>South Africa increased tobacco taxes considerably after 1994.</a:t>
            </a:r>
          </a:p>
          <a:p>
            <a:r>
              <a:rPr lang="en-US" dirty="0"/>
              <a:t>Advertising and smoking bans were implemented in 2001.</a:t>
            </a:r>
          </a:p>
          <a:p>
            <a:r>
              <a:rPr lang="en-US" dirty="0"/>
              <a:t>What was the effect on tobacco consumption?</a:t>
            </a:r>
          </a:p>
          <a:p>
            <a:endParaRPr lang="en-US" dirty="0"/>
          </a:p>
          <a:p>
            <a:r>
              <a:rPr lang="en-US" dirty="0"/>
              <a:t>Counterfactual – synthetic control from similar countries  </a:t>
            </a:r>
          </a:p>
          <a:p>
            <a:r>
              <a:rPr lang="en-US" dirty="0" err="1"/>
              <a:t>Chelwa</a:t>
            </a:r>
            <a:r>
              <a:rPr lang="en-US" dirty="0"/>
              <a:t>, Grieve, </a:t>
            </a:r>
            <a:r>
              <a:rPr lang="en-US" dirty="0" err="1"/>
              <a:t>Corné</a:t>
            </a:r>
            <a:r>
              <a:rPr lang="en-US" dirty="0"/>
              <a:t> van </a:t>
            </a:r>
            <a:r>
              <a:rPr lang="en-US" dirty="0" err="1"/>
              <a:t>Walbeek</a:t>
            </a:r>
            <a:r>
              <a:rPr lang="en-US" dirty="0"/>
              <a:t>, and Evan </a:t>
            </a:r>
            <a:r>
              <a:rPr lang="en-US" dirty="0" err="1"/>
              <a:t>Blecher</a:t>
            </a:r>
            <a:r>
              <a:rPr lang="en-US" dirty="0"/>
              <a:t>. "Evaluating South Africa's tobacco control policy using a synthetic control method." </a:t>
            </a:r>
            <a:r>
              <a:rPr lang="en-US" i="1" dirty="0"/>
              <a:t>Tobacco Control</a:t>
            </a:r>
            <a:r>
              <a:rPr lang="en-US" dirty="0"/>
              <a:t> 26.5 (2017): 509-517.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57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Weights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5833188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Donor pool: other low and middle-income countries</a:t>
            </a:r>
          </a:p>
          <a:p>
            <a:pPr lvl="1"/>
            <a:r>
              <a:rPr lang="en-US" dirty="0"/>
              <a:t>Pattern of increasing affordability of cigarettes over the period (price/income per capita)</a:t>
            </a:r>
          </a:p>
          <a:p>
            <a:r>
              <a:rPr lang="en-US" dirty="0"/>
              <a:t>Donor pool excludes Thailand (and South Africa) and any countries with missing data</a:t>
            </a:r>
          </a:p>
          <a:p>
            <a:r>
              <a:rPr lang="en-US" dirty="0"/>
              <a:t>Variables: Per capita cigarette consumption (the outcome variable), real price of cigarettes, per capita real GDP, per capita alcohol consumption and the proportion of adults in the total population.</a:t>
            </a:r>
          </a:p>
          <a:p>
            <a:r>
              <a:rPr lang="en-US" dirty="0"/>
              <a:t>24 control countries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603" y="662473"/>
            <a:ext cx="4469785" cy="549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72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63" y="629542"/>
            <a:ext cx="10085664" cy="583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79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Synthetic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settings with few treated units and few control units, synthetic control can be a powerful way to improve on diff-in-diff</a:t>
            </a:r>
          </a:p>
          <a:p>
            <a:pPr lvl="1"/>
            <a:r>
              <a:rPr lang="en-US" dirty="0"/>
              <a:t>Weights can be estimated </a:t>
            </a:r>
            <a:r>
              <a:rPr lang="en-US" i="1" dirty="0"/>
              <a:t>before </a:t>
            </a:r>
            <a:r>
              <a:rPr lang="en-US" dirty="0"/>
              <a:t>an intervention even begins; allows for pre-specification of counterfactual </a:t>
            </a:r>
          </a:p>
          <a:p>
            <a:r>
              <a:rPr lang="en-US" dirty="0"/>
              <a:t>If used to complement diff-in-diff or ITS: Be transparent! Show regular diff-in-diff / ITS and synth control estimates</a:t>
            </a:r>
          </a:p>
          <a:p>
            <a:pPr lvl="1"/>
            <a:r>
              <a:rPr lang="en-US" dirty="0"/>
              <a:t>Weights can be sensitive to specification choices – good to show different options</a:t>
            </a:r>
          </a:p>
          <a:p>
            <a:r>
              <a:rPr lang="en-US" dirty="0"/>
              <a:t>Requires a lot of high-quality pre-treatment data to get a good fit </a:t>
            </a:r>
          </a:p>
          <a:p>
            <a:r>
              <a:rPr lang="en-US" dirty="0"/>
              <a:t>Inference requires a variety of methods: placebo methods, randomization inference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39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4556-ABB7-4A9E-84EC-7E17E06F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difference in differences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8ABA-C1A3-431B-A208-C32143B62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Laura Hatfield has created a terrific website that provides a lot of formal detail surrounding difference in differences for health policy: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https://diff.healthpolicydatascience.org/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website includes simulations you can play around with different assumptions and what they mean</a:t>
            </a:r>
          </a:p>
          <a:p>
            <a:pPr marL="0" indent="0">
              <a:buNone/>
            </a:pPr>
            <a:r>
              <a:rPr lang="en-US" dirty="0"/>
              <a:t>Also contains lots of technical details about the different formal assumptions of </a:t>
            </a:r>
            <a:r>
              <a:rPr lang="en-US" dirty="0" err="1"/>
              <a:t>DiD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EE31C-9453-438B-A767-011AB485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73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9B27-B047-45F0-8317-DC0346F0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Difference: 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F1A8-D725-4F9B-9CB5-15C35651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system-ui"/>
              </a:rPr>
              <a:t>Fry CE, Hatfield LA. Birds of a feather flock together: Comparing controlled pre-post designs. Health Serv Res. 2021 Oct;56(5):942-952.</a:t>
            </a:r>
          </a:p>
          <a:p>
            <a:endParaRPr lang="en-US" dirty="0">
              <a:solidFill>
                <a:srgbClr val="212121"/>
              </a:solidFill>
              <a:latin typeface="system-ui"/>
            </a:endParaRPr>
          </a:p>
          <a:p>
            <a:r>
              <a:rPr lang="en-US" dirty="0"/>
              <a:t>Causal inference: the Mixtape</a:t>
            </a:r>
            <a:r>
              <a:rPr lang="en-US"/>
              <a:t>, Chapter 9</a:t>
            </a:r>
            <a:endParaRPr lang="en-US" dirty="0"/>
          </a:p>
          <a:p>
            <a:endParaRPr lang="en-US" dirty="0"/>
          </a:p>
          <a:p>
            <a:r>
              <a:rPr lang="en-US" dirty="0"/>
              <a:t>Angrist and </a:t>
            </a:r>
            <a:r>
              <a:rPr lang="en-US" dirty="0" err="1"/>
              <a:t>Pischke</a:t>
            </a:r>
            <a:r>
              <a:rPr lang="en-US" dirty="0"/>
              <a:t> (2009). Mostly Harmless Econometrics, Section 3.2.</a:t>
            </a:r>
          </a:p>
          <a:p>
            <a:endParaRPr lang="en-US" dirty="0"/>
          </a:p>
          <a:p>
            <a:r>
              <a:rPr lang="en-US" dirty="0"/>
              <a:t>Bertrand, </a:t>
            </a:r>
            <a:r>
              <a:rPr lang="en-US" dirty="0" err="1"/>
              <a:t>Duflo</a:t>
            </a:r>
            <a:r>
              <a:rPr lang="en-US" dirty="0"/>
              <a:t>, and Mullainathan (2004). How much should we trust difference-in-differences estimates? [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5F7DC-758E-42E6-B936-B96D4D51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83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4556-ABB7-4A9E-84EC-7E17E06F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control: 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8ABA-C1A3-431B-A208-C32143B62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Abadie, Alberto. "Using synthetic controls: Feasibility, data requirements, and methodological aspects." Journal of Economic Literature 59.2 (2021): 391-425.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EE31C-9453-438B-A767-011AB485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8AAF4-35A4-40F4-A7AE-C8E2C41B925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9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5660</TotalTime>
  <Words>3068</Words>
  <Application>Microsoft Macintosh PowerPoint</Application>
  <PresentationFormat>Widescreen</PresentationFormat>
  <Paragraphs>337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proxima-nova</vt:lpstr>
      <vt:lpstr>system-ui</vt:lpstr>
      <vt:lpstr>Wingdings</vt:lpstr>
      <vt:lpstr>Office Theme</vt:lpstr>
      <vt:lpstr>PHS 2000  Econometric Methods 2025  Lecture 6 DID – Advanced topics</vt:lpstr>
      <vt:lpstr>Plan of presentation</vt:lpstr>
      <vt:lpstr>Key assumptions: Counterfactual</vt:lpstr>
      <vt:lpstr>Formal difference in differences assumptions</vt:lpstr>
      <vt:lpstr>Challenge: functional form dependence</vt:lpstr>
      <vt:lpstr>Challenge: mean reversion</vt:lpstr>
      <vt:lpstr>Key assumptions: No Contamination</vt:lpstr>
      <vt:lpstr>Difference in Difference estimation tips</vt:lpstr>
      <vt:lpstr>Valid standard errors: Small number of groups</vt:lpstr>
      <vt:lpstr>Valid standard errors: Autocorrelation</vt:lpstr>
      <vt:lpstr>Difference-in-Differences vs. Interrupted Time Series</vt:lpstr>
      <vt:lpstr>DiD is a fast evolving method</vt:lpstr>
      <vt:lpstr>Recap – two way fixed effects model</vt:lpstr>
      <vt:lpstr>Examples of staggered rollouts</vt:lpstr>
      <vt:lpstr>Staggered rollout DiD design</vt:lpstr>
      <vt:lpstr>Example</vt:lpstr>
      <vt:lpstr>Implications</vt:lpstr>
      <vt:lpstr>Useful default: “Saturated” models</vt:lpstr>
      <vt:lpstr>Solution to problems introduced by “staggered adoption”</vt:lpstr>
      <vt:lpstr>Many methods – how to handle?  Economics strategy: Estimate using different estimators – demonstrate robustness to model specification  Braghieri et al 2022, Social Media and Mental Health  Question: what is the impact of the availability of facebook on poor mental health  Strategy: Uses the rollout of Facebook across US colleges as the “treatment”</vt:lpstr>
      <vt:lpstr>Another Solution: Stacked Difference in Differences</vt:lpstr>
      <vt:lpstr>Moving on to synthetic control </vt:lpstr>
      <vt:lpstr>Synthetic control -- Intuition </vt:lpstr>
      <vt:lpstr>Synthetic control – How it works</vt:lpstr>
      <vt:lpstr>Synthetic control </vt:lpstr>
      <vt:lpstr>Diff-in-diff – Synthetic control</vt:lpstr>
      <vt:lpstr>Overfitting and Validation</vt:lpstr>
      <vt:lpstr>Hypothesis testing</vt:lpstr>
      <vt:lpstr>Assumptions for Synthetic control methods </vt:lpstr>
      <vt:lpstr>Example</vt:lpstr>
      <vt:lpstr>Synthetic Control Example</vt:lpstr>
      <vt:lpstr>Synthetic Control Example</vt:lpstr>
      <vt:lpstr>Synthetic control example</vt:lpstr>
      <vt:lpstr>Synthetic control example – event study</vt:lpstr>
      <vt:lpstr>ITS and Synthetic Control example</vt:lpstr>
      <vt:lpstr>Synthetic Weights</vt:lpstr>
      <vt:lpstr>PowerPoint Presentation</vt:lpstr>
      <vt:lpstr>Summary – Synthetic Control</vt:lpstr>
      <vt:lpstr>Additional Slides</vt:lpstr>
      <vt:lpstr>Formal difference in differences assumptions</vt:lpstr>
      <vt:lpstr>Difference in Difference: Recommended readings</vt:lpstr>
      <vt:lpstr>Synthetic control: Recommended 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McConnell, Margaret Anne</cp:lastModifiedBy>
  <cp:revision>410</cp:revision>
  <dcterms:created xsi:type="dcterms:W3CDTF">2019-03-20T01:54:21Z</dcterms:created>
  <dcterms:modified xsi:type="dcterms:W3CDTF">2026-04-07T14:19:23Z</dcterms:modified>
</cp:coreProperties>
</file>