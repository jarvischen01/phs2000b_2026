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9"/>
  </p:notesMasterIdLst>
  <p:sldIdLst>
    <p:sldId id="256" r:id="rId2"/>
    <p:sldId id="478" r:id="rId3"/>
    <p:sldId id="491" r:id="rId4"/>
    <p:sldId id="510" r:id="rId5"/>
    <p:sldId id="494" r:id="rId6"/>
    <p:sldId id="472" r:id="rId7"/>
    <p:sldId id="263" r:id="rId8"/>
    <p:sldId id="462" r:id="rId9"/>
    <p:sldId id="488" r:id="rId10"/>
    <p:sldId id="497" r:id="rId11"/>
    <p:sldId id="507" r:id="rId12"/>
    <p:sldId id="511" r:id="rId13"/>
    <p:sldId id="496" r:id="rId14"/>
    <p:sldId id="498" r:id="rId15"/>
    <p:sldId id="499" r:id="rId16"/>
    <p:sldId id="501" r:id="rId17"/>
    <p:sldId id="500" r:id="rId18"/>
    <p:sldId id="502" r:id="rId19"/>
    <p:sldId id="508" r:id="rId20"/>
    <p:sldId id="503" r:id="rId21"/>
    <p:sldId id="504" r:id="rId22"/>
    <p:sldId id="512" r:id="rId23"/>
    <p:sldId id="505" r:id="rId24"/>
    <p:sldId id="509" r:id="rId25"/>
    <p:sldId id="463" r:id="rId26"/>
    <p:sldId id="465" r:id="rId27"/>
    <p:sldId id="259" r:id="rId28"/>
    <p:sldId id="266" r:id="rId29"/>
    <p:sldId id="466" r:id="rId30"/>
    <p:sldId id="459" r:id="rId31"/>
    <p:sldId id="474" r:id="rId32"/>
    <p:sldId id="484" r:id="rId33"/>
    <p:sldId id="486" r:id="rId34"/>
    <p:sldId id="476" r:id="rId35"/>
    <p:sldId id="477" r:id="rId36"/>
    <p:sldId id="475" r:id="rId37"/>
    <p:sldId id="467" r:id="rId38"/>
    <p:sldId id="479" r:id="rId39"/>
    <p:sldId id="468" r:id="rId40"/>
    <p:sldId id="469" r:id="rId41"/>
    <p:sldId id="273" r:id="rId42"/>
    <p:sldId id="274" r:id="rId43"/>
    <p:sldId id="275" r:id="rId44"/>
    <p:sldId id="276" r:id="rId45"/>
    <p:sldId id="470" r:id="rId46"/>
    <p:sldId id="471" r:id="rId47"/>
    <p:sldId id="279"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22" autoAdjust="0"/>
    <p:restoredTop sz="94660"/>
  </p:normalViewPr>
  <p:slideViewPr>
    <p:cSldViewPr snapToGrid="0">
      <p:cViewPr varScale="1">
        <p:scale>
          <a:sx n="87" d="100"/>
          <a:sy n="87" d="100"/>
        </p:scale>
        <p:origin x="200" y="960"/>
      </p:cViewPr>
      <p:guideLst/>
    </p:cSldViewPr>
  </p:slideViewPr>
  <p:notesTextViewPr>
    <p:cViewPr>
      <p:scale>
        <a:sx n="1" d="1"/>
        <a:sy n="1" d="1"/>
      </p:scale>
      <p:origin x="0" y="0"/>
    </p:cViewPr>
  </p:notesTextViewPr>
  <p:sorterViewPr>
    <p:cViewPr>
      <p:scale>
        <a:sx n="100" d="100"/>
        <a:sy n="100" d="100"/>
      </p:scale>
      <p:origin x="0" y="-69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1F1B01-D058-49E0-9A3D-303879822D61}" type="datetimeFigureOut">
              <a:rPr lang="en-US" smtClean="0"/>
              <a:t>3/21/26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B0480-EA9E-4AEB-AFD3-F76844A6F321}" type="slidenum">
              <a:rPr lang="en-US" smtClean="0"/>
              <a:t>‹#›</a:t>
            </a:fld>
            <a:endParaRPr lang="en-US"/>
          </a:p>
        </p:txBody>
      </p:sp>
    </p:spTree>
    <p:extLst>
      <p:ext uri="{BB962C8B-B14F-4D97-AF65-F5344CB8AC3E}">
        <p14:creationId xmlns:p14="http://schemas.microsoft.com/office/powerpoint/2010/main" val="2743886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736528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2936121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0A81FE1-E44D-4669-8079-87C545626565}" type="datetime1">
              <a:rPr lang="en-US" smtClean="0"/>
              <a:t>3/21/26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814801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F5AF07-5BE5-4A57-9A7A-B6E2A4D8076D}" type="datetime1">
              <a:rPr lang="en-US" smtClean="0"/>
              <a:t>3/21/26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996312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BECC2D-3281-4535-AB4D-9F4E538CA0F3}" type="datetime1">
              <a:rPr lang="en-US" smtClean="0"/>
              <a:t>3/21/26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3542590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08D6FE8-E748-4F5D-8709-62949E74DA92}" type="datetime1">
              <a:rPr lang="en-US" smtClean="0"/>
              <a:t>3/21/26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3304195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4558F52-E58A-434D-9A3A-1A80F92A8C4C}" type="datetime1">
              <a:rPr lang="en-US" smtClean="0"/>
              <a:t>3/21/26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40800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0307774-CF7C-49F5-9922-73A5AD3547FB}" type="datetime1">
              <a:rPr lang="en-US" smtClean="0"/>
              <a:t>3/21/26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3855509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FECFC7-D373-4776-BEEB-39E29538B181}" type="datetime1">
              <a:rPr lang="en-US" smtClean="0"/>
              <a:t>3/21/26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1068843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666D59-41EB-4E06-A595-11B8700D5883}" type="datetime1">
              <a:rPr lang="en-US" smtClean="0"/>
              <a:t>3/21/26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4247831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E4D895-7B0F-45F6-804E-337A96CDA258}" type="datetime1">
              <a:rPr lang="en-US" smtClean="0"/>
              <a:t>3/21/26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2117350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FE6DCE-F325-45C4-A6E2-0843B84E9C21}" type="datetime1">
              <a:rPr lang="en-US" smtClean="0"/>
              <a:t>3/21/26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1144581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388DAC-2897-4530-92C6-B638F324B2F5}" type="datetime1">
              <a:rPr lang="en-US" smtClean="0"/>
              <a:t>3/21/26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98AAF4-35A4-40F4-A7AE-C8E2C41B9252}" type="slidenum">
              <a:rPr lang="en-US" smtClean="0"/>
              <a:t>‹#›</a:t>
            </a:fld>
            <a:endParaRPr lang="en-US"/>
          </a:p>
        </p:txBody>
      </p:sp>
    </p:spTree>
    <p:extLst>
      <p:ext uri="{BB962C8B-B14F-4D97-AF65-F5344CB8AC3E}">
        <p14:creationId xmlns:p14="http://schemas.microsoft.com/office/powerpoint/2010/main" val="2272813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668000" cy="715962"/>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B82F264-E41A-427A-8130-4ADE6338BA66}" type="slidenum">
              <a:rPr lang="en-US" altLang="en-US"/>
              <a:pPr>
                <a:defRPr/>
              </a:pPr>
              <a:t>‹#›</a:t>
            </a:fld>
            <a:endParaRPr lang="en-US" altLang="en-US"/>
          </a:p>
        </p:txBody>
      </p:sp>
    </p:spTree>
    <p:extLst>
      <p:ext uri="{BB962C8B-B14F-4D97-AF65-F5344CB8AC3E}">
        <p14:creationId xmlns:p14="http://schemas.microsoft.com/office/powerpoint/2010/main" val="3079770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994B5D-4ECE-4F30-83EE-D02C5863CCF1}" type="datetime1">
              <a:rPr lang="en-US" smtClean="0"/>
              <a:t>3/21/26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98AAF4-35A4-40F4-A7AE-C8E2C41B9252}" type="slidenum">
              <a:rPr lang="en-US" smtClean="0"/>
              <a:t>‹#›</a:t>
            </a:fld>
            <a:endParaRPr lang="en-US"/>
          </a:p>
        </p:txBody>
      </p:sp>
    </p:spTree>
    <p:extLst>
      <p:ext uri="{BB962C8B-B14F-4D97-AF65-F5344CB8AC3E}">
        <p14:creationId xmlns:p14="http://schemas.microsoft.com/office/powerpoint/2010/main" val="370653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2.bin"/></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oleObject" Target="../embeddings/oleObject4.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13.wmf"/><Relationship Id="rId7" Type="http://schemas.openxmlformats.org/officeDocument/2006/relationships/image" Target="../media/image15.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11" Type="http://schemas.openxmlformats.org/officeDocument/2006/relationships/image" Target="../media/image17.wmf"/><Relationship Id="rId5" Type="http://schemas.openxmlformats.org/officeDocument/2006/relationships/image" Target="../media/image14.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16.wmf"/></Relationships>
</file>

<file path=ppt/slides/_rels/slide43.xml.rels><?xml version="1.0" encoding="UTF-8" standalone="yes"?>
<Relationships xmlns="http://schemas.openxmlformats.org/package/2006/relationships"><Relationship Id="rId3" Type="http://schemas.openxmlformats.org/officeDocument/2006/relationships/image" Target="../media/image18.wmf"/><Relationship Id="rId7" Type="http://schemas.openxmlformats.org/officeDocument/2006/relationships/image" Target="../media/image20.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19.wmf"/><Relationship Id="rId4" Type="http://schemas.openxmlformats.org/officeDocument/2006/relationships/oleObject" Target="../embeddings/oleObject11.bin"/></Relationships>
</file>

<file path=ppt/slides/_rels/slide44.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21.wmf"/><Relationship Id="rId7" Type="http://schemas.openxmlformats.org/officeDocument/2006/relationships/oleObject" Target="../embeddings/oleObject16.bin"/><Relationship Id="rId12" Type="http://schemas.openxmlformats.org/officeDocument/2006/relationships/image" Target="../media/image25.w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oleObject" Target="../embeddings/oleObject18.bin"/><Relationship Id="rId5" Type="http://schemas.openxmlformats.org/officeDocument/2006/relationships/image" Target="../media/image22.wmf"/><Relationship Id="rId10" Type="http://schemas.openxmlformats.org/officeDocument/2006/relationships/image" Target="../media/image24.wmf"/><Relationship Id="rId4" Type="http://schemas.openxmlformats.org/officeDocument/2006/relationships/oleObject" Target="../embeddings/oleObject14.bin"/><Relationship Id="rId9" Type="http://schemas.openxmlformats.org/officeDocument/2006/relationships/oleObject" Target="../embeddings/oleObject17.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26.wmf"/><Relationship Id="rId7" Type="http://schemas.openxmlformats.org/officeDocument/2006/relationships/image" Target="../media/image27.wmf"/><Relationship Id="rId2"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29.wmf"/><Relationship Id="rId5" Type="http://schemas.openxmlformats.org/officeDocument/2006/relationships/image" Target="../media/image24.png"/><Relationship Id="rId10" Type="http://schemas.openxmlformats.org/officeDocument/2006/relationships/oleObject" Target="../embeddings/oleObject22.bin"/><Relationship Id="rId9" Type="http://schemas.openxmlformats.org/officeDocument/2006/relationships/image" Target="../media/image28.wmf"/></Relationships>
</file>

<file path=ppt/slides/_rels/slide4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3.bin"/><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oleObject" Target="../embeddings/oleObject24.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Econometric Methods: Introduction</a:t>
            </a:r>
          </a:p>
        </p:txBody>
      </p:sp>
      <p:sp>
        <p:nvSpPr>
          <p:cNvPr id="3" name="Subtitle 2"/>
          <p:cNvSpPr>
            <a:spLocks noGrp="1"/>
          </p:cNvSpPr>
          <p:nvPr>
            <p:ph type="subTitle" idx="1"/>
          </p:nvPr>
        </p:nvSpPr>
        <p:spPr/>
        <p:txBody>
          <a:bodyPr/>
          <a:lstStyle/>
          <a:p>
            <a:r>
              <a:rPr lang="en-US" dirty="0"/>
              <a:t>Maggie McConnell</a:t>
            </a:r>
          </a:p>
          <a:p>
            <a:r>
              <a:rPr lang="en-US" dirty="0"/>
              <a:t>Department of Global Health and Population</a:t>
            </a:r>
          </a:p>
          <a:p>
            <a:r>
              <a:rPr lang="en-US" dirty="0"/>
              <a:t>Harvard T. H. Chan School of Public Health</a:t>
            </a:r>
          </a:p>
        </p:txBody>
      </p:sp>
    </p:spTree>
    <p:extLst>
      <p:ext uri="{BB962C8B-B14F-4D97-AF65-F5344CB8AC3E}">
        <p14:creationId xmlns:p14="http://schemas.microsoft.com/office/powerpoint/2010/main" val="1924520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174BD-D56D-477A-8912-82EEC4ED6B5B}"/>
              </a:ext>
            </a:extLst>
          </p:cNvPr>
          <p:cNvSpPr>
            <a:spLocks noGrp="1"/>
          </p:cNvSpPr>
          <p:nvPr>
            <p:ph type="title"/>
          </p:nvPr>
        </p:nvSpPr>
        <p:spPr/>
        <p:txBody>
          <a:bodyPr/>
          <a:lstStyle/>
          <a:p>
            <a:r>
              <a:rPr lang="en-US" dirty="0"/>
              <a:t>Plan of presentation</a:t>
            </a:r>
          </a:p>
        </p:txBody>
      </p:sp>
      <p:sp>
        <p:nvSpPr>
          <p:cNvPr id="3" name="Content Placeholder 2">
            <a:extLst>
              <a:ext uri="{FF2B5EF4-FFF2-40B4-BE49-F238E27FC236}">
                <a16:creationId xmlns:a16="http://schemas.microsoft.com/office/drawing/2014/main" id="{1FFFEA00-08D8-4FF1-80C7-0297A5F0BFFE}"/>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t>Intro to econometrics</a:t>
            </a:r>
          </a:p>
          <a:p>
            <a:pPr marL="514350" indent="-514350">
              <a:buFont typeface="+mj-lt"/>
              <a:buAutoNum type="arabicPeriod"/>
            </a:pPr>
            <a:r>
              <a:rPr lang="en-US" dirty="0"/>
              <a:t>Internal and External Validity</a:t>
            </a:r>
          </a:p>
          <a:p>
            <a:pPr marL="514350" indent="-514350">
              <a:buFont typeface="+mj-lt"/>
              <a:buAutoNum type="arabicPeriod"/>
            </a:pPr>
            <a:r>
              <a:rPr lang="en-US" dirty="0"/>
              <a:t>Examples – econometrics approach</a:t>
            </a:r>
          </a:p>
          <a:p>
            <a:pPr marL="514350" indent="-514350">
              <a:buFont typeface="+mj-lt"/>
              <a:buAutoNum type="arabicPeriod"/>
            </a:pPr>
            <a:r>
              <a:rPr lang="en-US" dirty="0"/>
              <a:t>Norms in Econometrics versus Biostatistics and Epidemiology</a:t>
            </a:r>
          </a:p>
          <a:p>
            <a:pPr marL="514350" indent="-514350">
              <a:buFont typeface="+mj-lt"/>
              <a:buAutoNum type="arabicPeriod"/>
            </a:pPr>
            <a:r>
              <a:rPr lang="en-US" dirty="0"/>
              <a:t>Learning to use a method + Continuous Development of Methods</a:t>
            </a:r>
          </a:p>
          <a:p>
            <a:pPr marL="514350" indent="-514350">
              <a:buFont typeface="+mj-lt"/>
              <a:buAutoNum type="arabicPeriod"/>
            </a:pPr>
            <a:r>
              <a:rPr lang="en-US" dirty="0"/>
              <a:t>Additional Slides</a:t>
            </a:r>
          </a:p>
          <a:p>
            <a:pPr lvl="1"/>
            <a:r>
              <a:rPr lang="en-US" dirty="0"/>
              <a:t>Epi-Econ Dictionary</a:t>
            </a:r>
          </a:p>
          <a:p>
            <a:pPr lvl="1"/>
            <a:r>
              <a:rPr lang="en-US" dirty="0"/>
              <a:t>Estimation methods: minimizing sum of squares, maximum likelihood, method of moments</a:t>
            </a:r>
          </a:p>
          <a:p>
            <a:pPr lvl="1"/>
            <a:endParaRPr lang="en-US" dirty="0"/>
          </a:p>
          <a:p>
            <a:pPr marL="457200" lvl="1" indent="0">
              <a:buNone/>
            </a:pPr>
            <a:r>
              <a:rPr lang="en-US" dirty="0">
                <a:solidFill>
                  <a:srgbClr val="FF0000"/>
                </a:solidFill>
              </a:rPr>
              <a:t>Break for Questions</a:t>
            </a:r>
            <a:r>
              <a:rPr lang="en-US" dirty="0"/>
              <a:t> </a:t>
            </a:r>
          </a:p>
          <a:p>
            <a:pPr lvl="1"/>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3CAA4F05-9E5D-415A-8F80-BF59CD751D8C}"/>
              </a:ext>
            </a:extLst>
          </p:cNvPr>
          <p:cNvSpPr>
            <a:spLocks noGrp="1"/>
          </p:cNvSpPr>
          <p:nvPr>
            <p:ph type="sldNum" sz="quarter" idx="12"/>
          </p:nvPr>
        </p:nvSpPr>
        <p:spPr/>
        <p:txBody>
          <a:bodyPr/>
          <a:lstStyle/>
          <a:p>
            <a:fld id="{4698AAF4-35A4-40F4-A7AE-C8E2C41B9252}" type="slidenum">
              <a:rPr lang="en-US" smtClean="0"/>
              <a:t>2</a:t>
            </a:fld>
            <a:endParaRPr lang="en-US"/>
          </a:p>
        </p:txBody>
      </p:sp>
    </p:spTree>
    <p:extLst>
      <p:ext uri="{BB962C8B-B14F-4D97-AF65-F5344CB8AC3E}">
        <p14:creationId xmlns:p14="http://schemas.microsoft.com/office/powerpoint/2010/main" val="2723431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119CD-4BBC-594D-DD81-816454A444A2}"/>
              </a:ext>
            </a:extLst>
          </p:cNvPr>
          <p:cNvSpPr>
            <a:spLocks noGrp="1"/>
          </p:cNvSpPr>
          <p:nvPr>
            <p:ph type="title"/>
          </p:nvPr>
        </p:nvSpPr>
        <p:spPr/>
        <p:txBody>
          <a:bodyPr/>
          <a:lstStyle/>
          <a:p>
            <a:r>
              <a:rPr lang="en-US" dirty="0"/>
              <a:t>What is the point of econometrics?</a:t>
            </a:r>
          </a:p>
        </p:txBody>
      </p:sp>
      <p:sp>
        <p:nvSpPr>
          <p:cNvPr id="3" name="Content Placeholder 2">
            <a:extLst>
              <a:ext uri="{FF2B5EF4-FFF2-40B4-BE49-F238E27FC236}">
                <a16:creationId xmlns:a16="http://schemas.microsoft.com/office/drawing/2014/main" id="{27A45812-4166-4D4B-3F35-A2400284C4F9}"/>
              </a:ext>
            </a:extLst>
          </p:cNvPr>
          <p:cNvSpPr>
            <a:spLocks noGrp="1"/>
          </p:cNvSpPr>
          <p:nvPr>
            <p:ph idx="1"/>
          </p:nvPr>
        </p:nvSpPr>
        <p:spPr>
          <a:xfrm>
            <a:off x="838200" y="1825624"/>
            <a:ext cx="10515600" cy="4792889"/>
          </a:xfrm>
        </p:spPr>
        <p:txBody>
          <a:bodyPr>
            <a:normAutofit lnSpcReduction="10000"/>
          </a:bodyPr>
          <a:lstStyle/>
          <a:p>
            <a:r>
              <a:rPr lang="en-US" dirty="0"/>
              <a:t>Econometrics: statistical methods used by economists</a:t>
            </a:r>
          </a:p>
          <a:p>
            <a:r>
              <a:rPr lang="en-US" dirty="0"/>
              <a:t>The primary objective of econometrics is to identify </a:t>
            </a:r>
            <a:r>
              <a:rPr lang="en-US" i="1" dirty="0"/>
              <a:t>causal effects</a:t>
            </a:r>
            <a:endParaRPr lang="en-US" dirty="0"/>
          </a:p>
          <a:p>
            <a:r>
              <a:rPr lang="en-US" dirty="0"/>
              <a:t>What differentiates econometrics from other causal inference approaches is </a:t>
            </a:r>
            <a:r>
              <a:rPr lang="en-US" u="sng" dirty="0"/>
              <a:t>extremely</a:t>
            </a:r>
            <a:r>
              <a:rPr lang="en-US" dirty="0"/>
              <a:t> limited tolerance for confounding</a:t>
            </a:r>
          </a:p>
          <a:p>
            <a:endParaRPr lang="en-US" dirty="0"/>
          </a:p>
          <a:p>
            <a:r>
              <a:rPr lang="en-US" dirty="0"/>
              <a:t>This is in part due to the kinds of questions economists want to ask</a:t>
            </a:r>
          </a:p>
          <a:p>
            <a:pPr lvl="1"/>
            <a:r>
              <a:rPr lang="en-US" dirty="0"/>
              <a:t>What is the (causal) impact of program X on outcome Y?</a:t>
            </a:r>
          </a:p>
          <a:p>
            <a:pPr lvl="1"/>
            <a:r>
              <a:rPr lang="en-US" dirty="0"/>
              <a:t>What is the (causal) impact of policy X on outcome Y?</a:t>
            </a:r>
          </a:p>
          <a:p>
            <a:pPr lvl="1"/>
            <a:endParaRPr lang="en-US" dirty="0"/>
          </a:p>
          <a:p>
            <a:pPr lvl="1"/>
            <a:r>
              <a:rPr lang="en-US" dirty="0"/>
              <a:t>Motivating big picture questions: What should we do to try to improve outcomes? What should we spend limited resources on? </a:t>
            </a:r>
          </a:p>
        </p:txBody>
      </p:sp>
      <p:sp>
        <p:nvSpPr>
          <p:cNvPr id="4" name="Slide Number Placeholder 3">
            <a:extLst>
              <a:ext uri="{FF2B5EF4-FFF2-40B4-BE49-F238E27FC236}">
                <a16:creationId xmlns:a16="http://schemas.microsoft.com/office/drawing/2014/main" id="{DD674817-CD7F-DF4B-0769-3782F1017CDE}"/>
              </a:ext>
            </a:extLst>
          </p:cNvPr>
          <p:cNvSpPr>
            <a:spLocks noGrp="1"/>
          </p:cNvSpPr>
          <p:nvPr>
            <p:ph type="sldNum" sz="quarter" idx="12"/>
          </p:nvPr>
        </p:nvSpPr>
        <p:spPr/>
        <p:txBody>
          <a:bodyPr/>
          <a:lstStyle/>
          <a:p>
            <a:fld id="{4698AAF4-35A4-40F4-A7AE-C8E2C41B9252}" type="slidenum">
              <a:rPr lang="en-US" smtClean="0"/>
              <a:t>3</a:t>
            </a:fld>
            <a:endParaRPr lang="en-US"/>
          </a:p>
        </p:txBody>
      </p:sp>
    </p:spTree>
    <p:extLst>
      <p:ext uri="{BB962C8B-B14F-4D97-AF65-F5344CB8AC3E}">
        <p14:creationId xmlns:p14="http://schemas.microsoft.com/office/powerpoint/2010/main" val="85171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119CD-4BBC-594D-DD81-816454A444A2}"/>
              </a:ext>
            </a:extLst>
          </p:cNvPr>
          <p:cNvSpPr>
            <a:spLocks noGrp="1"/>
          </p:cNvSpPr>
          <p:nvPr>
            <p:ph type="title"/>
          </p:nvPr>
        </p:nvSpPr>
        <p:spPr/>
        <p:txBody>
          <a:bodyPr/>
          <a:lstStyle/>
          <a:p>
            <a:r>
              <a:rPr lang="en-US" dirty="0"/>
              <a:t>What is confounding to econometricians</a:t>
            </a:r>
          </a:p>
        </p:txBody>
      </p:sp>
      <p:sp>
        <p:nvSpPr>
          <p:cNvPr id="3" name="Content Placeholder 2">
            <a:extLst>
              <a:ext uri="{FF2B5EF4-FFF2-40B4-BE49-F238E27FC236}">
                <a16:creationId xmlns:a16="http://schemas.microsoft.com/office/drawing/2014/main" id="{27A45812-4166-4D4B-3F35-A2400284C4F9}"/>
              </a:ext>
            </a:extLst>
          </p:cNvPr>
          <p:cNvSpPr>
            <a:spLocks noGrp="1"/>
          </p:cNvSpPr>
          <p:nvPr>
            <p:ph idx="1"/>
          </p:nvPr>
        </p:nvSpPr>
        <p:spPr>
          <a:xfrm>
            <a:off x="838200" y="1825624"/>
            <a:ext cx="10515600" cy="5032376"/>
          </a:xfrm>
        </p:spPr>
        <p:txBody>
          <a:bodyPr>
            <a:normAutofit/>
          </a:bodyPr>
          <a:lstStyle/>
          <a:p>
            <a:r>
              <a:rPr lang="en-US" dirty="0"/>
              <a:t>Important types of confounding for economists</a:t>
            </a:r>
          </a:p>
          <a:p>
            <a:pPr lvl="1"/>
            <a:r>
              <a:rPr lang="en-US" i="1" dirty="0"/>
              <a:t>Selection: </a:t>
            </a:r>
            <a:r>
              <a:rPr lang="en-US" dirty="0"/>
              <a:t>Who </a:t>
            </a:r>
            <a:r>
              <a:rPr lang="en-US" i="1" dirty="0"/>
              <a:t>choses</a:t>
            </a:r>
            <a:r>
              <a:rPr lang="en-US" dirty="0"/>
              <a:t> to participate in a program? </a:t>
            </a:r>
          </a:p>
          <a:p>
            <a:pPr lvl="2"/>
            <a:r>
              <a:rPr lang="en-US" dirty="0"/>
              <a:t>We can control for observable characteristics</a:t>
            </a:r>
          </a:p>
          <a:p>
            <a:pPr lvl="2"/>
            <a:r>
              <a:rPr lang="en-US" dirty="0"/>
              <a:t>But most important variables may be unobservable (</a:t>
            </a:r>
            <a:r>
              <a:rPr lang="en-US" dirty="0">
                <a:solidFill>
                  <a:srgbClr val="FF0000"/>
                </a:solidFill>
              </a:rPr>
              <a:t>such as?</a:t>
            </a:r>
            <a:r>
              <a:rPr lang="en-US" dirty="0"/>
              <a:t>)</a:t>
            </a:r>
          </a:p>
          <a:p>
            <a:pPr lvl="2"/>
            <a:r>
              <a:rPr lang="en-US" dirty="0"/>
              <a:t>Leads to potential bias if we compare participants to non-participants</a:t>
            </a:r>
          </a:p>
          <a:p>
            <a:pPr lvl="3"/>
            <a:r>
              <a:rPr lang="en-US" dirty="0"/>
              <a:t>estimates may be driven by unobservable characteristics of those who </a:t>
            </a:r>
            <a:r>
              <a:rPr lang="en-US" b="1" dirty="0"/>
              <a:t>chose</a:t>
            </a:r>
            <a:r>
              <a:rPr lang="en-US" dirty="0"/>
              <a:t> to participate, not the program</a:t>
            </a:r>
          </a:p>
          <a:p>
            <a:pPr lvl="1"/>
            <a:endParaRPr lang="en-US" i="1" dirty="0"/>
          </a:p>
          <a:p>
            <a:pPr lvl="1"/>
            <a:r>
              <a:rPr lang="en-US" i="1" dirty="0"/>
              <a:t>Reverse causality: </a:t>
            </a:r>
            <a:r>
              <a:rPr lang="en-US" dirty="0"/>
              <a:t>Does housing instability cause adverse health outcomes or do adverse health outcomes lead to housing instability?</a:t>
            </a:r>
          </a:p>
          <a:p>
            <a:pPr lvl="2"/>
            <a:r>
              <a:rPr lang="en-US" dirty="0"/>
              <a:t>Longitudinal data can help but causality often goes in both directions</a:t>
            </a:r>
          </a:p>
          <a:p>
            <a:pPr lvl="2"/>
            <a:r>
              <a:rPr lang="en-US" dirty="0"/>
              <a:t>People may foresee policy changes and change behavior before they occur</a:t>
            </a:r>
          </a:p>
          <a:p>
            <a:pPr lvl="2"/>
            <a:r>
              <a:rPr lang="en-US" dirty="0"/>
              <a:t>Why do we care?</a:t>
            </a:r>
          </a:p>
          <a:p>
            <a:pPr lvl="3"/>
            <a:r>
              <a:rPr lang="en-US" dirty="0"/>
              <a:t>Medicaid has fixed budget to spend – would investing in housing improve health? </a:t>
            </a:r>
          </a:p>
          <a:p>
            <a:endParaRPr lang="en-US" dirty="0"/>
          </a:p>
        </p:txBody>
      </p:sp>
      <p:sp>
        <p:nvSpPr>
          <p:cNvPr id="4" name="Slide Number Placeholder 3">
            <a:extLst>
              <a:ext uri="{FF2B5EF4-FFF2-40B4-BE49-F238E27FC236}">
                <a16:creationId xmlns:a16="http://schemas.microsoft.com/office/drawing/2014/main" id="{DD674817-CD7F-DF4B-0769-3782F1017CDE}"/>
              </a:ext>
            </a:extLst>
          </p:cNvPr>
          <p:cNvSpPr>
            <a:spLocks noGrp="1"/>
          </p:cNvSpPr>
          <p:nvPr>
            <p:ph type="sldNum" sz="quarter" idx="12"/>
          </p:nvPr>
        </p:nvSpPr>
        <p:spPr/>
        <p:txBody>
          <a:bodyPr/>
          <a:lstStyle/>
          <a:p>
            <a:fld id="{4698AAF4-35A4-40F4-A7AE-C8E2C41B9252}" type="slidenum">
              <a:rPr lang="en-US" smtClean="0"/>
              <a:t>4</a:t>
            </a:fld>
            <a:endParaRPr lang="en-US"/>
          </a:p>
        </p:txBody>
      </p:sp>
    </p:spTree>
    <p:extLst>
      <p:ext uri="{BB962C8B-B14F-4D97-AF65-F5344CB8AC3E}">
        <p14:creationId xmlns:p14="http://schemas.microsoft.com/office/powerpoint/2010/main" val="1731749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119CD-4BBC-594D-DD81-816454A444A2}"/>
              </a:ext>
            </a:extLst>
          </p:cNvPr>
          <p:cNvSpPr>
            <a:spLocks noGrp="1"/>
          </p:cNvSpPr>
          <p:nvPr>
            <p:ph type="title"/>
          </p:nvPr>
        </p:nvSpPr>
        <p:spPr/>
        <p:txBody>
          <a:bodyPr/>
          <a:lstStyle/>
          <a:p>
            <a:r>
              <a:rPr lang="en-US" dirty="0"/>
              <a:t>What is the point of econometrics?</a:t>
            </a:r>
          </a:p>
        </p:txBody>
      </p:sp>
      <p:sp>
        <p:nvSpPr>
          <p:cNvPr id="3" name="Content Placeholder 2">
            <a:extLst>
              <a:ext uri="{FF2B5EF4-FFF2-40B4-BE49-F238E27FC236}">
                <a16:creationId xmlns:a16="http://schemas.microsoft.com/office/drawing/2014/main" id="{27A45812-4166-4D4B-3F35-A2400284C4F9}"/>
              </a:ext>
            </a:extLst>
          </p:cNvPr>
          <p:cNvSpPr>
            <a:spLocks noGrp="1"/>
          </p:cNvSpPr>
          <p:nvPr>
            <p:ph idx="1"/>
          </p:nvPr>
        </p:nvSpPr>
        <p:spPr/>
        <p:txBody>
          <a:bodyPr>
            <a:normAutofit/>
          </a:bodyPr>
          <a:lstStyle/>
          <a:p>
            <a:r>
              <a:rPr lang="en-US" dirty="0"/>
              <a:t>For questions of interest to economists, selection/”endogeneity” are fundamental</a:t>
            </a:r>
          </a:p>
          <a:p>
            <a:pPr lvl="1"/>
            <a:r>
              <a:rPr lang="en-US" dirty="0"/>
              <a:t>Underlying theoretical questions revolve around human behavior</a:t>
            </a:r>
          </a:p>
          <a:p>
            <a:pPr lvl="1"/>
            <a:r>
              <a:rPr lang="en-US" dirty="0"/>
              <a:t>Economics focused on making policy recommendations </a:t>
            </a:r>
          </a:p>
          <a:p>
            <a:pPr lvl="2"/>
            <a:r>
              <a:rPr lang="en-US" dirty="0"/>
              <a:t>Requires understanding direction of causality</a:t>
            </a:r>
          </a:p>
          <a:p>
            <a:pPr lvl="2"/>
            <a:r>
              <a:rPr lang="en-US" dirty="0"/>
              <a:t>Economics is less good at describing a problem</a:t>
            </a:r>
          </a:p>
          <a:p>
            <a:endParaRPr lang="en-US" dirty="0"/>
          </a:p>
          <a:p>
            <a:r>
              <a:rPr lang="en-US" dirty="0"/>
              <a:t>Instead of trying to model or control for confounding + selection – econometrics develops techniques to avoid</a:t>
            </a: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DD674817-CD7F-DF4B-0769-3782F1017CDE}"/>
              </a:ext>
            </a:extLst>
          </p:cNvPr>
          <p:cNvSpPr>
            <a:spLocks noGrp="1"/>
          </p:cNvSpPr>
          <p:nvPr>
            <p:ph type="sldNum" sz="quarter" idx="12"/>
          </p:nvPr>
        </p:nvSpPr>
        <p:spPr/>
        <p:txBody>
          <a:bodyPr/>
          <a:lstStyle/>
          <a:p>
            <a:fld id="{4698AAF4-35A4-40F4-A7AE-C8E2C41B9252}" type="slidenum">
              <a:rPr lang="en-US" smtClean="0"/>
              <a:t>5</a:t>
            </a:fld>
            <a:endParaRPr lang="en-US"/>
          </a:p>
        </p:txBody>
      </p:sp>
    </p:spTree>
    <p:extLst>
      <p:ext uri="{BB962C8B-B14F-4D97-AF65-F5344CB8AC3E}">
        <p14:creationId xmlns:p14="http://schemas.microsoft.com/office/powerpoint/2010/main" val="1767745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FA482-A653-4876-B942-EE0BFB576B84}"/>
              </a:ext>
            </a:extLst>
          </p:cNvPr>
          <p:cNvSpPr>
            <a:spLocks noGrp="1"/>
          </p:cNvSpPr>
          <p:nvPr>
            <p:ph type="title"/>
          </p:nvPr>
        </p:nvSpPr>
        <p:spPr/>
        <p:txBody>
          <a:bodyPr/>
          <a:lstStyle/>
          <a:p>
            <a:r>
              <a:rPr lang="en-US" dirty="0"/>
              <a:t>Econometrics: focus on internal validity</a:t>
            </a:r>
          </a:p>
        </p:txBody>
      </p:sp>
      <p:sp>
        <p:nvSpPr>
          <p:cNvPr id="3" name="Content Placeholder 2">
            <a:extLst>
              <a:ext uri="{FF2B5EF4-FFF2-40B4-BE49-F238E27FC236}">
                <a16:creationId xmlns:a16="http://schemas.microsoft.com/office/drawing/2014/main" id="{57F1AD40-86D3-4DDD-86F9-F3AB03AF17D4}"/>
              </a:ext>
            </a:extLst>
          </p:cNvPr>
          <p:cNvSpPr>
            <a:spLocks noGrp="1"/>
          </p:cNvSpPr>
          <p:nvPr>
            <p:ph idx="1"/>
          </p:nvPr>
        </p:nvSpPr>
        <p:spPr>
          <a:xfrm>
            <a:off x="838200" y="1825624"/>
            <a:ext cx="10515600" cy="4808855"/>
          </a:xfrm>
        </p:spPr>
        <p:txBody>
          <a:bodyPr>
            <a:normAutofit/>
          </a:bodyPr>
          <a:lstStyle/>
          <a:p>
            <a:r>
              <a:rPr lang="en-US" dirty="0"/>
              <a:t>Ultimately economists </a:t>
            </a:r>
            <a:r>
              <a:rPr lang="en-US" u="sng" dirty="0"/>
              <a:t>require</a:t>
            </a:r>
            <a:r>
              <a:rPr lang="en-US" dirty="0"/>
              <a:t> methods that ensure internal validity</a:t>
            </a:r>
          </a:p>
          <a:p>
            <a:pPr lvl="1"/>
            <a:r>
              <a:rPr lang="en-US" dirty="0"/>
              <a:t>Sometimes external validity is less of a focus</a:t>
            </a:r>
          </a:p>
          <a:p>
            <a:r>
              <a:rPr lang="en-US" dirty="0"/>
              <a:t>Internal validity</a:t>
            </a:r>
          </a:p>
          <a:p>
            <a:pPr lvl="1"/>
            <a:r>
              <a:rPr lang="en-US" dirty="0"/>
              <a:t>The estimates are close to the true parameter values in the sample for which we have data</a:t>
            </a:r>
          </a:p>
          <a:p>
            <a:pPr lvl="1"/>
            <a:r>
              <a:rPr lang="en-US" dirty="0"/>
              <a:t>If methods are not internally valid, economists not interested in results</a:t>
            </a:r>
          </a:p>
          <a:p>
            <a:r>
              <a:rPr lang="en-US" dirty="0"/>
              <a:t>External validity</a:t>
            </a:r>
          </a:p>
          <a:p>
            <a:pPr lvl="1"/>
            <a:r>
              <a:rPr lang="en-US" dirty="0"/>
              <a:t>The estimates are close to the parameter values in a population when they are used to predict outcomes</a:t>
            </a:r>
          </a:p>
          <a:p>
            <a:pPr lvl="1"/>
            <a:r>
              <a:rPr lang="en-US" dirty="0"/>
              <a:t>Generalizability and transportability</a:t>
            </a:r>
          </a:p>
          <a:p>
            <a:pPr lvl="2"/>
            <a:r>
              <a:rPr lang="en-US" dirty="0"/>
              <a:t>This really matters for thinking about scaling programs, understanding whether policy makers should use results from one setting/population to make more general policy</a:t>
            </a:r>
          </a:p>
          <a:p>
            <a:pPr lvl="1"/>
            <a:endParaRPr lang="en-US" dirty="0"/>
          </a:p>
        </p:txBody>
      </p:sp>
      <p:sp>
        <p:nvSpPr>
          <p:cNvPr id="4" name="Slide Number Placeholder 3">
            <a:extLst>
              <a:ext uri="{FF2B5EF4-FFF2-40B4-BE49-F238E27FC236}">
                <a16:creationId xmlns:a16="http://schemas.microsoft.com/office/drawing/2014/main" id="{C8E21849-BCE4-4338-A59B-65D86A677BB3}"/>
              </a:ext>
            </a:extLst>
          </p:cNvPr>
          <p:cNvSpPr>
            <a:spLocks noGrp="1"/>
          </p:cNvSpPr>
          <p:nvPr>
            <p:ph type="sldNum" sz="quarter" idx="12"/>
          </p:nvPr>
        </p:nvSpPr>
        <p:spPr/>
        <p:txBody>
          <a:bodyPr/>
          <a:lstStyle/>
          <a:p>
            <a:fld id="{4698AAF4-35A4-40F4-A7AE-C8E2C41B9252}" type="slidenum">
              <a:rPr lang="en-US" smtClean="0"/>
              <a:t>6</a:t>
            </a:fld>
            <a:endParaRPr lang="en-US"/>
          </a:p>
        </p:txBody>
      </p:sp>
    </p:spTree>
    <p:extLst>
      <p:ext uri="{BB962C8B-B14F-4D97-AF65-F5344CB8AC3E}">
        <p14:creationId xmlns:p14="http://schemas.microsoft.com/office/powerpoint/2010/main" val="2475956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Markers of internally valid models</a:t>
            </a:r>
          </a:p>
        </p:txBody>
      </p:sp>
      <p:sp>
        <p:nvSpPr>
          <p:cNvPr id="3" name="Content Placeholder 2"/>
          <p:cNvSpPr>
            <a:spLocks noGrp="1"/>
          </p:cNvSpPr>
          <p:nvPr>
            <p:ph idx="1"/>
          </p:nvPr>
        </p:nvSpPr>
        <p:spPr>
          <a:xfrm>
            <a:off x="838200" y="1457608"/>
            <a:ext cx="10515600" cy="4719355"/>
          </a:xfrm>
        </p:spPr>
        <p:txBody>
          <a:bodyPr>
            <a:normAutofit fontScale="92500" lnSpcReduction="10000"/>
          </a:bodyPr>
          <a:lstStyle/>
          <a:p>
            <a:r>
              <a:rPr lang="en-US" dirty="0"/>
              <a:t>Unbiased estimator</a:t>
            </a:r>
          </a:p>
          <a:p>
            <a:pPr lvl="1"/>
            <a:r>
              <a:rPr lang="en-US" dirty="0"/>
              <a:t>Expected value of estimated parameter equals true value in the population</a:t>
            </a:r>
          </a:p>
          <a:p>
            <a:r>
              <a:rPr lang="en-US" dirty="0"/>
              <a:t>Consistent</a:t>
            </a:r>
          </a:p>
          <a:p>
            <a:pPr lvl="1"/>
            <a:r>
              <a:rPr lang="en-US" dirty="0"/>
              <a:t>An estimator that converges in probability to the population parameter as the sample size grows without bound</a:t>
            </a:r>
          </a:p>
          <a:p>
            <a:r>
              <a:rPr lang="en-US" dirty="0"/>
              <a:t>Efficient</a:t>
            </a:r>
          </a:p>
          <a:p>
            <a:pPr lvl="1"/>
            <a:r>
              <a:rPr lang="en-US" altLang="en-US" dirty="0"/>
              <a:t>An estimator with the lowest variance relative to the population parameter among all possible estimators</a:t>
            </a:r>
          </a:p>
          <a:p>
            <a:r>
              <a:rPr lang="en-US" dirty="0"/>
              <a:t>Correct confidence intervals </a:t>
            </a:r>
          </a:p>
          <a:p>
            <a:pPr lvl="1"/>
            <a:r>
              <a:rPr lang="en-US" dirty="0"/>
              <a:t>Needed for valid hypothesis testing</a:t>
            </a:r>
          </a:p>
          <a:p>
            <a:pPr lvl="1"/>
            <a:r>
              <a:rPr lang="en-US" dirty="0"/>
              <a:t>Often requires to thoughtfulness about what unit / cluster is treated by a program/intervention</a:t>
            </a:r>
          </a:p>
          <a:p>
            <a:r>
              <a:rPr lang="en-US" dirty="0">
                <a:solidFill>
                  <a:srgbClr val="FF0000"/>
                </a:solidFill>
              </a:rPr>
              <a:t>See notes for formal definitions</a:t>
            </a:r>
          </a:p>
          <a:p>
            <a:endParaRPr lang="en-US" dirty="0"/>
          </a:p>
        </p:txBody>
      </p:sp>
      <p:sp>
        <p:nvSpPr>
          <p:cNvPr id="4" name="Slide Number Placeholder 3">
            <a:extLst>
              <a:ext uri="{FF2B5EF4-FFF2-40B4-BE49-F238E27FC236}">
                <a16:creationId xmlns:a16="http://schemas.microsoft.com/office/drawing/2014/main" id="{CC5B5BC1-2768-430E-873E-5C60C69B797B}"/>
              </a:ext>
            </a:extLst>
          </p:cNvPr>
          <p:cNvSpPr>
            <a:spLocks noGrp="1"/>
          </p:cNvSpPr>
          <p:nvPr>
            <p:ph type="sldNum" sz="quarter" idx="12"/>
          </p:nvPr>
        </p:nvSpPr>
        <p:spPr/>
        <p:txBody>
          <a:bodyPr/>
          <a:lstStyle/>
          <a:p>
            <a:fld id="{4698AAF4-35A4-40F4-A7AE-C8E2C41B9252}" type="slidenum">
              <a:rPr lang="en-US" smtClean="0"/>
              <a:t>7</a:t>
            </a:fld>
            <a:endParaRPr lang="en-US"/>
          </a:p>
        </p:txBody>
      </p:sp>
    </p:spTree>
    <p:extLst>
      <p:ext uri="{BB962C8B-B14F-4D97-AF65-F5344CB8AC3E}">
        <p14:creationId xmlns:p14="http://schemas.microsoft.com/office/powerpoint/2010/main" val="1274734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54C82-28D2-4BB0-AEF0-28BCA9F418CE}"/>
              </a:ext>
            </a:extLst>
          </p:cNvPr>
          <p:cNvSpPr>
            <a:spLocks noGrp="1"/>
          </p:cNvSpPr>
          <p:nvPr>
            <p:ph type="title"/>
          </p:nvPr>
        </p:nvSpPr>
        <p:spPr/>
        <p:txBody>
          <a:bodyPr/>
          <a:lstStyle/>
          <a:p>
            <a:r>
              <a:rPr lang="en-US" dirty="0"/>
              <a:t>Internal validity</a:t>
            </a:r>
          </a:p>
        </p:txBody>
      </p:sp>
      <p:sp>
        <p:nvSpPr>
          <p:cNvPr id="3" name="Content Placeholder 2">
            <a:extLst>
              <a:ext uri="{FF2B5EF4-FFF2-40B4-BE49-F238E27FC236}">
                <a16:creationId xmlns:a16="http://schemas.microsoft.com/office/drawing/2014/main" id="{A40AAC63-0C10-434A-87D8-0184C184D2E3}"/>
              </a:ext>
            </a:extLst>
          </p:cNvPr>
          <p:cNvSpPr>
            <a:spLocks noGrp="1"/>
          </p:cNvSpPr>
          <p:nvPr>
            <p:ph idx="1"/>
          </p:nvPr>
        </p:nvSpPr>
        <p:spPr>
          <a:xfrm>
            <a:off x="838200" y="1825625"/>
            <a:ext cx="10515600" cy="4667250"/>
          </a:xfrm>
        </p:spPr>
        <p:txBody>
          <a:bodyPr>
            <a:normAutofit fontScale="85000" lnSpcReduction="20000"/>
          </a:bodyPr>
          <a:lstStyle/>
          <a:p>
            <a:r>
              <a:rPr lang="en-US" dirty="0"/>
              <a:t>Internal validity usually requires some assumptions</a:t>
            </a:r>
          </a:p>
          <a:p>
            <a:endParaRPr lang="en-US" dirty="0"/>
          </a:p>
          <a:p>
            <a:r>
              <a:rPr lang="en-US" dirty="0"/>
              <a:t>However, only some of the assumptions are testable </a:t>
            </a:r>
          </a:p>
          <a:p>
            <a:pPr lvl="1"/>
            <a:r>
              <a:rPr lang="en-US" dirty="0"/>
              <a:t>When you can’t test – rely on the feeling that assumptions are “plausible”</a:t>
            </a:r>
          </a:p>
          <a:p>
            <a:pPr lvl="1"/>
            <a:r>
              <a:rPr lang="en-US" dirty="0"/>
              <a:t>Plausibility “norms” differ by discipline</a:t>
            </a:r>
          </a:p>
          <a:p>
            <a:endParaRPr lang="en-US" dirty="0"/>
          </a:p>
          <a:p>
            <a:r>
              <a:rPr lang="en-US" dirty="0"/>
              <a:t>Where a choice of methods is available, economists always prefer the method with fewer untestable assumptions </a:t>
            </a:r>
          </a:p>
          <a:p>
            <a:pPr lvl="1"/>
            <a:endParaRPr lang="en-US" dirty="0"/>
          </a:p>
          <a:p>
            <a:r>
              <a:rPr lang="en-US" dirty="0"/>
              <a:t>However, extra assumptions may allow more efficient estimation </a:t>
            </a:r>
            <a:r>
              <a:rPr lang="en-US" u="sng" dirty="0"/>
              <a:t>if</a:t>
            </a:r>
            <a:r>
              <a:rPr lang="en-US" dirty="0"/>
              <a:t> they are true</a:t>
            </a:r>
          </a:p>
          <a:p>
            <a:pPr marL="0" indent="0">
              <a:buNone/>
            </a:pPr>
            <a:r>
              <a:rPr lang="en-US" dirty="0"/>
              <a:t>  </a:t>
            </a:r>
          </a:p>
          <a:p>
            <a:r>
              <a:rPr lang="en-US" dirty="0"/>
              <a:t>New methods sometimes have “hidden” assumptions that are stated in highly technical language --may take time and examples to uncover plausibility</a:t>
            </a:r>
          </a:p>
          <a:p>
            <a:pPr marL="0" indent="0">
              <a:buNone/>
            </a:pPr>
            <a:endParaRPr lang="en-US" dirty="0"/>
          </a:p>
        </p:txBody>
      </p:sp>
      <p:sp>
        <p:nvSpPr>
          <p:cNvPr id="4" name="Slide Number Placeholder 3">
            <a:extLst>
              <a:ext uri="{FF2B5EF4-FFF2-40B4-BE49-F238E27FC236}">
                <a16:creationId xmlns:a16="http://schemas.microsoft.com/office/drawing/2014/main" id="{1AF2EBCA-2531-4C58-AEB6-DB365058A116}"/>
              </a:ext>
            </a:extLst>
          </p:cNvPr>
          <p:cNvSpPr>
            <a:spLocks noGrp="1"/>
          </p:cNvSpPr>
          <p:nvPr>
            <p:ph type="sldNum" sz="quarter" idx="12"/>
          </p:nvPr>
        </p:nvSpPr>
        <p:spPr/>
        <p:txBody>
          <a:bodyPr/>
          <a:lstStyle/>
          <a:p>
            <a:fld id="{4698AAF4-35A4-40F4-A7AE-C8E2C41B9252}" type="slidenum">
              <a:rPr lang="en-US" smtClean="0"/>
              <a:t>8</a:t>
            </a:fld>
            <a:endParaRPr lang="en-US"/>
          </a:p>
        </p:txBody>
      </p:sp>
    </p:spTree>
    <p:extLst>
      <p:ext uri="{BB962C8B-B14F-4D97-AF65-F5344CB8AC3E}">
        <p14:creationId xmlns:p14="http://schemas.microsoft.com/office/powerpoint/2010/main" val="117506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validity</a:t>
            </a:r>
          </a:p>
        </p:txBody>
      </p:sp>
      <p:sp>
        <p:nvSpPr>
          <p:cNvPr id="3" name="Content Placeholder 2"/>
          <p:cNvSpPr>
            <a:spLocks noGrp="1"/>
          </p:cNvSpPr>
          <p:nvPr>
            <p:ph idx="1"/>
          </p:nvPr>
        </p:nvSpPr>
        <p:spPr>
          <a:xfrm>
            <a:off x="838200" y="1520890"/>
            <a:ext cx="10515600" cy="4971985"/>
          </a:xfrm>
        </p:spPr>
        <p:txBody>
          <a:bodyPr>
            <a:normAutofit fontScale="92500" lnSpcReduction="20000"/>
          </a:bodyPr>
          <a:lstStyle/>
          <a:p>
            <a:r>
              <a:rPr lang="en-US" dirty="0"/>
              <a:t>Econometric analyses provide estimates of causal effects for specific sample at a particular time under certain conditions </a:t>
            </a:r>
          </a:p>
          <a:p>
            <a:r>
              <a:rPr lang="en-US" dirty="0"/>
              <a:t>Would results generalize to: similar interventions/policies? differences in implementation?</a:t>
            </a:r>
          </a:p>
          <a:p>
            <a:pPr lvl="1"/>
            <a:r>
              <a:rPr lang="en-US" dirty="0"/>
              <a:t>Common pattern: positive results in small trials then limited impact when scaled up </a:t>
            </a:r>
          </a:p>
          <a:p>
            <a:pPr lvl="1"/>
            <a:r>
              <a:rPr lang="en-US" dirty="0">
                <a:solidFill>
                  <a:srgbClr val="FF0000"/>
                </a:solidFill>
              </a:rPr>
              <a:t>Why?</a:t>
            </a:r>
          </a:p>
          <a:p>
            <a:r>
              <a:rPr lang="en-US" dirty="0"/>
              <a:t>How can we design a study to make results more generalizable? </a:t>
            </a:r>
          </a:p>
          <a:p>
            <a:pPr lvl="1"/>
            <a:r>
              <a:rPr lang="en-US" dirty="0"/>
              <a:t>Random sample of population ensures parameters representative of the population</a:t>
            </a:r>
          </a:p>
          <a:p>
            <a:pPr lvl="1"/>
            <a:r>
              <a:rPr lang="en-US" dirty="0"/>
              <a:t>Special inclusion criteria for (especially common in RCTs) may limit external validity</a:t>
            </a:r>
          </a:p>
          <a:p>
            <a:pPr lvl="2"/>
            <a:r>
              <a:rPr lang="en-US" dirty="0"/>
              <a:t>i.e. drug trials on people with no co-morbidities, exclusion of some age groups / populations</a:t>
            </a:r>
          </a:p>
          <a:p>
            <a:r>
              <a:rPr lang="en-US" dirty="0"/>
              <a:t>Some econometric techniques work best in particular settings which may not always be consistent with externally valid samples</a:t>
            </a:r>
          </a:p>
          <a:p>
            <a:pPr lvl="1"/>
            <a:r>
              <a:rPr lang="en-US" dirty="0"/>
              <a:t>More discussion later</a:t>
            </a:r>
          </a:p>
          <a:p>
            <a:r>
              <a:rPr lang="en-US" dirty="0">
                <a:solidFill>
                  <a:srgbClr val="FF0000"/>
                </a:solidFill>
              </a:rPr>
              <a:t>Break for questions</a:t>
            </a:r>
          </a:p>
          <a:p>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9</a:t>
            </a:fld>
            <a:endParaRPr lang="en-US"/>
          </a:p>
        </p:txBody>
      </p:sp>
    </p:spTree>
    <p:extLst>
      <p:ext uri="{BB962C8B-B14F-4D97-AF65-F5344CB8AC3E}">
        <p14:creationId xmlns:p14="http://schemas.microsoft.com/office/powerpoint/2010/main" val="1069226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119CD-4BBC-594D-DD81-816454A444A2}"/>
              </a:ext>
            </a:extLst>
          </p:cNvPr>
          <p:cNvSpPr>
            <a:spLocks noGrp="1"/>
          </p:cNvSpPr>
          <p:nvPr>
            <p:ph type="title"/>
          </p:nvPr>
        </p:nvSpPr>
        <p:spPr/>
        <p:txBody>
          <a:bodyPr/>
          <a:lstStyle/>
          <a:p>
            <a:r>
              <a:rPr lang="en-US" dirty="0"/>
              <a:t>Econometric strategies</a:t>
            </a:r>
          </a:p>
        </p:txBody>
      </p:sp>
      <p:sp>
        <p:nvSpPr>
          <p:cNvPr id="3" name="Content Placeholder 2">
            <a:extLst>
              <a:ext uri="{FF2B5EF4-FFF2-40B4-BE49-F238E27FC236}">
                <a16:creationId xmlns:a16="http://schemas.microsoft.com/office/drawing/2014/main" id="{27A45812-4166-4D4B-3F35-A2400284C4F9}"/>
              </a:ext>
            </a:extLst>
          </p:cNvPr>
          <p:cNvSpPr>
            <a:spLocks noGrp="1"/>
          </p:cNvSpPr>
          <p:nvPr>
            <p:ph idx="1"/>
          </p:nvPr>
        </p:nvSpPr>
        <p:spPr>
          <a:xfrm>
            <a:off x="838200" y="1825624"/>
            <a:ext cx="10515600" cy="4418013"/>
          </a:xfrm>
        </p:spPr>
        <p:txBody>
          <a:bodyPr>
            <a:normAutofit fontScale="92500" lnSpcReduction="10000"/>
          </a:bodyPr>
          <a:lstStyle/>
          <a:p>
            <a:r>
              <a:rPr lang="en-US" dirty="0"/>
              <a:t>The objective of econometrics is to uncover causal impacts using methods with minimal assumptions</a:t>
            </a:r>
          </a:p>
          <a:p>
            <a:r>
              <a:rPr lang="en-US" dirty="0"/>
              <a:t>One way to overcome problems of confounding – randomized controlled trial (RCTs)</a:t>
            </a:r>
          </a:p>
          <a:p>
            <a:pPr lvl="1"/>
            <a:r>
              <a:rPr lang="en-US" dirty="0"/>
              <a:t>With some assumptions comparing outcomes for treated and non-treated individuals allows us to uncover causal impacts</a:t>
            </a:r>
          </a:p>
          <a:p>
            <a:r>
              <a:rPr lang="en-US" dirty="0"/>
              <a:t>Many econometric strategies we will cover in this segment try to “mimic” RCTs by creating a “counterfactual”</a:t>
            </a:r>
          </a:p>
          <a:p>
            <a:pPr lvl="1"/>
            <a:r>
              <a:rPr lang="en-US" i="1" dirty="0"/>
              <a:t>Counterfactual: </a:t>
            </a:r>
            <a:r>
              <a:rPr lang="en-US" dirty="0"/>
              <a:t>what would outcomes have been in the absence of an intervention or policy change</a:t>
            </a:r>
          </a:p>
          <a:p>
            <a:pPr lvl="2"/>
            <a:r>
              <a:rPr lang="en-US" dirty="0"/>
              <a:t>Problem – we can’t observe the counterfactual</a:t>
            </a:r>
          </a:p>
          <a:p>
            <a:pPr lvl="2"/>
            <a:r>
              <a:rPr lang="en-US" dirty="0"/>
              <a:t>Methods we will cover in all represent different ways of constructing a counterfactual</a:t>
            </a:r>
          </a:p>
          <a:p>
            <a:pPr lvl="1"/>
            <a:endParaRPr lang="en-US" dirty="0"/>
          </a:p>
          <a:p>
            <a:pPr lvl="1"/>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DD674817-CD7F-DF4B-0769-3782F1017CDE}"/>
              </a:ext>
            </a:extLst>
          </p:cNvPr>
          <p:cNvSpPr>
            <a:spLocks noGrp="1"/>
          </p:cNvSpPr>
          <p:nvPr>
            <p:ph type="sldNum" sz="quarter" idx="12"/>
          </p:nvPr>
        </p:nvSpPr>
        <p:spPr/>
        <p:txBody>
          <a:bodyPr/>
          <a:lstStyle/>
          <a:p>
            <a:fld id="{4698AAF4-35A4-40F4-A7AE-C8E2C41B9252}" type="slidenum">
              <a:rPr lang="en-US" smtClean="0"/>
              <a:t>10</a:t>
            </a:fld>
            <a:endParaRPr lang="en-US"/>
          </a:p>
        </p:txBody>
      </p:sp>
    </p:spTree>
    <p:extLst>
      <p:ext uri="{BB962C8B-B14F-4D97-AF65-F5344CB8AC3E}">
        <p14:creationId xmlns:p14="http://schemas.microsoft.com/office/powerpoint/2010/main" val="1868761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5735"/>
          </a:xfrm>
        </p:spPr>
        <p:txBody>
          <a:bodyPr/>
          <a:lstStyle/>
          <a:p>
            <a:r>
              <a:rPr lang="en-US" dirty="0"/>
              <a:t>Randomized trials: internal validity</a:t>
            </a:r>
          </a:p>
        </p:txBody>
      </p:sp>
      <p:sp>
        <p:nvSpPr>
          <p:cNvPr id="3" name="Content Placeholder 2"/>
          <p:cNvSpPr>
            <a:spLocks noGrp="1"/>
          </p:cNvSpPr>
          <p:nvPr>
            <p:ph idx="1"/>
          </p:nvPr>
        </p:nvSpPr>
        <p:spPr>
          <a:xfrm>
            <a:off x="838200" y="1330860"/>
            <a:ext cx="10515600" cy="5219230"/>
          </a:xfrm>
        </p:spPr>
        <p:txBody>
          <a:bodyPr>
            <a:normAutofit/>
          </a:bodyPr>
          <a:lstStyle/>
          <a:p>
            <a:r>
              <a:rPr lang="en-US" dirty="0"/>
              <a:t>Randomized trials often referred to as gold standard – but they </a:t>
            </a:r>
            <a:r>
              <a:rPr lang="en-US" i="1" dirty="0"/>
              <a:t>also </a:t>
            </a:r>
            <a:r>
              <a:rPr lang="en-US" dirty="0"/>
              <a:t>require assumptions for internal validity!</a:t>
            </a:r>
          </a:p>
          <a:p>
            <a:endParaRPr lang="en-US" dirty="0"/>
          </a:p>
          <a:p>
            <a:r>
              <a:rPr lang="en-US" dirty="0"/>
              <a:t>Randomization asymptotically removes correlation between treatment and potential confounders </a:t>
            </a:r>
          </a:p>
          <a:p>
            <a:endParaRPr lang="en-US" dirty="0"/>
          </a:p>
          <a:p>
            <a:r>
              <a:rPr lang="en-US" dirty="0"/>
              <a:t>Requires stable unit treatment value assumption</a:t>
            </a:r>
          </a:p>
          <a:p>
            <a:pPr lvl="1"/>
            <a:r>
              <a:rPr lang="en-US" dirty="0">
                <a:solidFill>
                  <a:srgbClr val="202122"/>
                </a:solidFill>
                <a:latin typeface="Calibri" panose="020F0502020204030204" pitchFamily="34" charset="0"/>
                <a:cs typeface="Calibri" panose="020F0502020204030204" pitchFamily="34" charset="0"/>
              </a:rPr>
              <a:t>Potential outcomes for any unit don’t vary with the assignment of other units</a:t>
            </a:r>
          </a:p>
          <a:p>
            <a:pPr lvl="1"/>
            <a:r>
              <a:rPr lang="en-US" b="0" i="0" dirty="0">
                <a:solidFill>
                  <a:srgbClr val="202122"/>
                </a:solidFill>
                <a:effectLst/>
                <a:latin typeface="Calibri" panose="020F0502020204030204" pitchFamily="34" charset="0"/>
                <a:cs typeface="Calibri" panose="020F0502020204030204" pitchFamily="34" charset="0"/>
              </a:rPr>
              <a:t>No </a:t>
            </a:r>
            <a:r>
              <a:rPr lang="en-US" dirty="0">
                <a:latin typeface="Calibri" panose="020F0502020204030204" pitchFamily="34" charset="0"/>
                <a:cs typeface="Calibri" panose="020F0502020204030204" pitchFamily="34" charset="0"/>
              </a:rPr>
              <a:t>spillovers – treatment of one unit does not affect other units, </a:t>
            </a:r>
            <a:r>
              <a:rPr lang="en-US" dirty="0">
                <a:solidFill>
                  <a:srgbClr val="FF0000"/>
                </a:solidFill>
                <a:latin typeface="Calibri" panose="020F0502020204030204" pitchFamily="34" charset="0"/>
                <a:cs typeface="Calibri" panose="020F0502020204030204" pitchFamily="34" charset="0"/>
              </a:rPr>
              <a:t>example of a spillover?</a:t>
            </a:r>
          </a:p>
          <a:p>
            <a:pPr lvl="2"/>
            <a:r>
              <a:rPr lang="en-US" dirty="0"/>
              <a:t>One solution to spillovers is to change design – e.g., group randomization</a:t>
            </a:r>
          </a:p>
        </p:txBody>
      </p:sp>
      <p:sp>
        <p:nvSpPr>
          <p:cNvPr id="4" name="Slide Number Placeholder 3"/>
          <p:cNvSpPr>
            <a:spLocks noGrp="1"/>
          </p:cNvSpPr>
          <p:nvPr>
            <p:ph type="sldNum" sz="quarter" idx="12"/>
          </p:nvPr>
        </p:nvSpPr>
        <p:spPr/>
        <p:txBody>
          <a:bodyPr/>
          <a:lstStyle/>
          <a:p>
            <a:fld id="{4698AAF4-35A4-40F4-A7AE-C8E2C41B9252}" type="slidenum">
              <a:rPr lang="en-US" smtClean="0"/>
              <a:t>11</a:t>
            </a:fld>
            <a:endParaRPr lang="en-US"/>
          </a:p>
        </p:txBody>
      </p:sp>
    </p:spTree>
    <p:extLst>
      <p:ext uri="{BB962C8B-B14F-4D97-AF65-F5344CB8AC3E}">
        <p14:creationId xmlns:p14="http://schemas.microsoft.com/office/powerpoint/2010/main" val="1373612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5735"/>
          </a:xfrm>
        </p:spPr>
        <p:txBody>
          <a:bodyPr/>
          <a:lstStyle/>
          <a:p>
            <a:r>
              <a:rPr lang="en-US" dirty="0"/>
              <a:t>Randomized trials: internal validity</a:t>
            </a:r>
          </a:p>
        </p:txBody>
      </p:sp>
      <p:sp>
        <p:nvSpPr>
          <p:cNvPr id="3" name="Content Placeholder 2"/>
          <p:cNvSpPr>
            <a:spLocks noGrp="1"/>
          </p:cNvSpPr>
          <p:nvPr>
            <p:ph idx="1"/>
          </p:nvPr>
        </p:nvSpPr>
        <p:spPr>
          <a:xfrm>
            <a:off x="838200" y="1330860"/>
            <a:ext cx="10515600" cy="5219230"/>
          </a:xfrm>
        </p:spPr>
        <p:txBody>
          <a:bodyPr>
            <a:normAutofit/>
          </a:bodyPr>
          <a:lstStyle/>
          <a:p>
            <a:r>
              <a:rPr lang="en-US" dirty="0"/>
              <a:t>Other threats to internal validity of trials</a:t>
            </a:r>
          </a:p>
          <a:p>
            <a:pPr lvl="1"/>
            <a:r>
              <a:rPr lang="en-US" dirty="0"/>
              <a:t>Was the randomization successful? </a:t>
            </a:r>
          </a:p>
          <a:p>
            <a:pPr lvl="2"/>
            <a:r>
              <a:rPr lang="en-US" dirty="0"/>
              <a:t>Can check by assessing balance tables</a:t>
            </a:r>
          </a:p>
          <a:p>
            <a:pPr lvl="1"/>
            <a:r>
              <a:rPr lang="en-US" dirty="0"/>
              <a:t>Bias in reporting </a:t>
            </a:r>
          </a:p>
          <a:p>
            <a:pPr lvl="2"/>
            <a:r>
              <a:rPr lang="en-US" dirty="0"/>
              <a:t>Was the trial double blind?</a:t>
            </a:r>
          </a:p>
          <a:p>
            <a:pPr lvl="2"/>
            <a:r>
              <a:rPr lang="en-US" dirty="0"/>
              <a:t>Are outcomes objective or self-reported?</a:t>
            </a:r>
          </a:p>
          <a:p>
            <a:pPr lvl="1"/>
            <a:r>
              <a:rPr lang="en-US" dirty="0"/>
              <a:t>Bias due to selective follow up – what was attrition rate? – was it differential between arms?</a:t>
            </a:r>
          </a:p>
          <a:p>
            <a:pPr lvl="2"/>
            <a:r>
              <a:rPr lang="en-US" dirty="0"/>
              <a:t>Very hard to fix analytically, much better to avoid</a:t>
            </a:r>
          </a:p>
          <a:p>
            <a:pPr lvl="2"/>
            <a:endParaRPr lang="en-US" dirty="0"/>
          </a:p>
          <a:p>
            <a:pPr lvl="2"/>
            <a:endParaRPr lang="en-US" dirty="0"/>
          </a:p>
          <a:p>
            <a:r>
              <a:rPr lang="en-US" dirty="0">
                <a:solidFill>
                  <a:srgbClr val="FF0000"/>
                </a:solidFill>
              </a:rPr>
              <a:t>Break for questions</a:t>
            </a:r>
          </a:p>
          <a:p>
            <a:pPr marL="914400" lvl="2" indent="0">
              <a:buNone/>
            </a:pPr>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12</a:t>
            </a:fld>
            <a:endParaRPr lang="en-US"/>
          </a:p>
        </p:txBody>
      </p:sp>
    </p:spTree>
    <p:extLst>
      <p:ext uri="{BB962C8B-B14F-4D97-AF65-F5344CB8AC3E}">
        <p14:creationId xmlns:p14="http://schemas.microsoft.com/office/powerpoint/2010/main" val="1411786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5D953-1C76-17BB-5A74-87AF42150233}"/>
              </a:ext>
            </a:extLst>
          </p:cNvPr>
          <p:cNvSpPr>
            <a:spLocks noGrp="1"/>
          </p:cNvSpPr>
          <p:nvPr>
            <p:ph type="title"/>
          </p:nvPr>
        </p:nvSpPr>
        <p:spPr/>
        <p:txBody>
          <a:bodyPr/>
          <a:lstStyle/>
          <a:p>
            <a:r>
              <a:rPr lang="en-US" dirty="0"/>
              <a:t>Application – evaluating the impact of interventions during pregnancy </a:t>
            </a:r>
          </a:p>
        </p:txBody>
      </p:sp>
      <p:sp>
        <p:nvSpPr>
          <p:cNvPr id="3" name="Content Placeholder 2">
            <a:extLst>
              <a:ext uri="{FF2B5EF4-FFF2-40B4-BE49-F238E27FC236}">
                <a16:creationId xmlns:a16="http://schemas.microsoft.com/office/drawing/2014/main" id="{5E459042-42B4-1D62-E6C3-61D7080046C4}"/>
              </a:ext>
            </a:extLst>
          </p:cNvPr>
          <p:cNvSpPr>
            <a:spLocks noGrp="1"/>
          </p:cNvSpPr>
          <p:nvPr>
            <p:ph idx="1"/>
          </p:nvPr>
        </p:nvSpPr>
        <p:spPr/>
        <p:txBody>
          <a:bodyPr/>
          <a:lstStyle/>
          <a:p>
            <a:r>
              <a:rPr lang="en-US" dirty="0"/>
              <a:t>Research question: What is the impact of home-based support during pregnancy for low-income families?</a:t>
            </a:r>
          </a:p>
          <a:p>
            <a:pPr lvl="1"/>
            <a:r>
              <a:rPr lang="en-US" dirty="0"/>
              <a:t>Suppose that we care about is understanding whether home-based support helps pregnant people access more </a:t>
            </a:r>
            <a:r>
              <a:rPr lang="en-US" i="1" dirty="0"/>
              <a:t>prenatal care</a:t>
            </a:r>
            <a:endParaRPr lang="en-US" dirty="0"/>
          </a:p>
          <a:p>
            <a:endParaRPr lang="en-US" dirty="0"/>
          </a:p>
          <a:p>
            <a:r>
              <a:rPr lang="en-US" dirty="0"/>
              <a:t>We will:</a:t>
            </a:r>
          </a:p>
          <a:p>
            <a:pPr lvl="1"/>
            <a:r>
              <a:rPr lang="en-US" dirty="0"/>
              <a:t>Discuss a propensity matching approach </a:t>
            </a:r>
          </a:p>
          <a:p>
            <a:pPr lvl="1"/>
            <a:r>
              <a:rPr lang="en-US" dirty="0"/>
              <a:t>Look at results from an RCT on a related program in a similar population</a:t>
            </a:r>
          </a:p>
          <a:p>
            <a:pPr lvl="1"/>
            <a:r>
              <a:rPr lang="en-US" dirty="0"/>
              <a:t>Talk through how other causal inference approaches might be utilized</a:t>
            </a:r>
          </a:p>
        </p:txBody>
      </p:sp>
      <p:sp>
        <p:nvSpPr>
          <p:cNvPr id="4" name="Slide Number Placeholder 3">
            <a:extLst>
              <a:ext uri="{FF2B5EF4-FFF2-40B4-BE49-F238E27FC236}">
                <a16:creationId xmlns:a16="http://schemas.microsoft.com/office/drawing/2014/main" id="{45127B0C-904A-CF9A-6525-786B58A2CD30}"/>
              </a:ext>
            </a:extLst>
          </p:cNvPr>
          <p:cNvSpPr>
            <a:spLocks noGrp="1"/>
          </p:cNvSpPr>
          <p:nvPr>
            <p:ph type="sldNum" sz="quarter" idx="12"/>
          </p:nvPr>
        </p:nvSpPr>
        <p:spPr/>
        <p:txBody>
          <a:bodyPr/>
          <a:lstStyle/>
          <a:p>
            <a:fld id="{4698AAF4-35A4-40F4-A7AE-C8E2C41B9252}" type="slidenum">
              <a:rPr lang="en-US" smtClean="0"/>
              <a:t>13</a:t>
            </a:fld>
            <a:endParaRPr lang="en-US"/>
          </a:p>
        </p:txBody>
      </p:sp>
    </p:spTree>
    <p:extLst>
      <p:ext uri="{BB962C8B-B14F-4D97-AF65-F5344CB8AC3E}">
        <p14:creationId xmlns:p14="http://schemas.microsoft.com/office/powerpoint/2010/main" val="2095028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5D953-1C76-17BB-5A74-87AF42150233}"/>
              </a:ext>
            </a:extLst>
          </p:cNvPr>
          <p:cNvSpPr>
            <a:spLocks noGrp="1"/>
          </p:cNvSpPr>
          <p:nvPr>
            <p:ph type="title"/>
          </p:nvPr>
        </p:nvSpPr>
        <p:spPr/>
        <p:txBody>
          <a:bodyPr/>
          <a:lstStyle/>
          <a:p>
            <a:r>
              <a:rPr lang="en-US" dirty="0"/>
              <a:t>Propensity score matching example</a:t>
            </a:r>
          </a:p>
        </p:txBody>
      </p:sp>
      <p:sp>
        <p:nvSpPr>
          <p:cNvPr id="3" name="Content Placeholder 2">
            <a:extLst>
              <a:ext uri="{FF2B5EF4-FFF2-40B4-BE49-F238E27FC236}">
                <a16:creationId xmlns:a16="http://schemas.microsoft.com/office/drawing/2014/main" id="{5E459042-42B4-1D62-E6C3-61D7080046C4}"/>
              </a:ext>
            </a:extLst>
          </p:cNvPr>
          <p:cNvSpPr>
            <a:spLocks noGrp="1"/>
          </p:cNvSpPr>
          <p:nvPr>
            <p:ph idx="1"/>
          </p:nvPr>
        </p:nvSpPr>
        <p:spPr>
          <a:xfrm>
            <a:off x="3983421" y="1690688"/>
            <a:ext cx="7370379" cy="4486275"/>
          </a:xfrm>
        </p:spPr>
        <p:txBody>
          <a:bodyPr>
            <a:normAutofit/>
          </a:bodyPr>
          <a:lstStyle/>
          <a:p>
            <a:r>
              <a:rPr lang="en-US" dirty="0"/>
              <a:t>Program: Midlands Healthy Start (MHS)</a:t>
            </a:r>
          </a:p>
          <a:p>
            <a:pPr lvl="1"/>
            <a:r>
              <a:rPr lang="en-US" sz="2000" dirty="0"/>
              <a:t>Objective: increasing access to prenatal care; and removing barriers to health care access</a:t>
            </a:r>
          </a:p>
          <a:p>
            <a:pPr lvl="1"/>
            <a:r>
              <a:rPr lang="en-US" sz="2000" dirty="0"/>
              <a:t>Services: case management, outreach and recruitment, health education, a local health system action plan</a:t>
            </a:r>
          </a:p>
          <a:p>
            <a:r>
              <a:rPr lang="en-US" dirty="0"/>
              <a:t>Evaluation strategy</a:t>
            </a:r>
          </a:p>
          <a:p>
            <a:pPr lvl="1"/>
            <a:r>
              <a:rPr lang="en-US" sz="2000" dirty="0"/>
              <a:t>Vital records data for all singleton births in counties where the program was operating</a:t>
            </a:r>
          </a:p>
          <a:p>
            <a:pPr lvl="1"/>
            <a:r>
              <a:rPr lang="en-US" sz="2000" dirty="0"/>
              <a:t>First step: compare births to families participating in MHS to those not participating</a:t>
            </a:r>
          </a:p>
          <a:p>
            <a:pPr lvl="1"/>
            <a:r>
              <a:rPr lang="en-US" sz="2000" dirty="0"/>
              <a:t>Next step: propensity score adjustment</a:t>
            </a:r>
          </a:p>
          <a:p>
            <a:pPr lvl="1"/>
            <a:endParaRPr lang="en-US" dirty="0"/>
          </a:p>
        </p:txBody>
      </p:sp>
      <p:sp>
        <p:nvSpPr>
          <p:cNvPr id="4" name="Slide Number Placeholder 3">
            <a:extLst>
              <a:ext uri="{FF2B5EF4-FFF2-40B4-BE49-F238E27FC236}">
                <a16:creationId xmlns:a16="http://schemas.microsoft.com/office/drawing/2014/main" id="{45127B0C-904A-CF9A-6525-786B58A2CD30}"/>
              </a:ext>
            </a:extLst>
          </p:cNvPr>
          <p:cNvSpPr>
            <a:spLocks noGrp="1"/>
          </p:cNvSpPr>
          <p:nvPr>
            <p:ph type="sldNum" sz="quarter" idx="12"/>
          </p:nvPr>
        </p:nvSpPr>
        <p:spPr/>
        <p:txBody>
          <a:bodyPr/>
          <a:lstStyle/>
          <a:p>
            <a:fld id="{4698AAF4-35A4-40F4-A7AE-C8E2C41B9252}" type="slidenum">
              <a:rPr lang="en-US" smtClean="0"/>
              <a:t>14</a:t>
            </a:fld>
            <a:endParaRPr lang="en-US"/>
          </a:p>
        </p:txBody>
      </p:sp>
      <p:pic>
        <p:nvPicPr>
          <p:cNvPr id="6" name="Picture 5" descr="Graphical user interface, text, application, email&#10;&#10;Description automatically generated">
            <a:extLst>
              <a:ext uri="{FF2B5EF4-FFF2-40B4-BE49-F238E27FC236}">
                <a16:creationId xmlns:a16="http://schemas.microsoft.com/office/drawing/2014/main" id="{6080A11B-D489-11D9-4E83-04CC448647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57" y="2429039"/>
            <a:ext cx="3909327" cy="2384698"/>
          </a:xfrm>
          <a:prstGeom prst="rect">
            <a:avLst/>
          </a:prstGeom>
        </p:spPr>
      </p:pic>
    </p:spTree>
    <p:extLst>
      <p:ext uri="{BB962C8B-B14F-4D97-AF65-F5344CB8AC3E}">
        <p14:creationId xmlns:p14="http://schemas.microsoft.com/office/powerpoint/2010/main" val="351110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7AA1C-86CC-E880-D9F1-9C93EE7D0690}"/>
              </a:ext>
            </a:extLst>
          </p:cNvPr>
          <p:cNvSpPr>
            <a:spLocks noGrp="1"/>
          </p:cNvSpPr>
          <p:nvPr>
            <p:ph type="title"/>
          </p:nvPr>
        </p:nvSpPr>
        <p:spPr/>
        <p:txBody>
          <a:bodyPr/>
          <a:lstStyle/>
          <a:p>
            <a:r>
              <a:rPr lang="en-US" dirty="0"/>
              <a:t>Results </a:t>
            </a:r>
            <a:r>
              <a:rPr lang="en-US" b="1" dirty="0"/>
              <a:t>without</a:t>
            </a:r>
            <a:r>
              <a:rPr lang="en-US" dirty="0"/>
              <a:t> matching</a:t>
            </a:r>
          </a:p>
        </p:txBody>
      </p:sp>
      <p:sp>
        <p:nvSpPr>
          <p:cNvPr id="3" name="Content Placeholder 2">
            <a:extLst>
              <a:ext uri="{FF2B5EF4-FFF2-40B4-BE49-F238E27FC236}">
                <a16:creationId xmlns:a16="http://schemas.microsoft.com/office/drawing/2014/main" id="{AA12BFF0-323B-DC41-622A-9902377BB0C7}"/>
              </a:ext>
            </a:extLst>
          </p:cNvPr>
          <p:cNvSpPr>
            <a:spLocks noGrp="1"/>
          </p:cNvSpPr>
          <p:nvPr>
            <p:ph idx="1"/>
          </p:nvPr>
        </p:nvSpPr>
        <p:spPr/>
        <p:txBody>
          <a:bodyPr/>
          <a:lstStyle/>
          <a:p>
            <a:r>
              <a:rPr lang="en-US" dirty="0"/>
              <a:t>Let’s compare the rate of “inadequate” prenatal care across participants and non-participants first</a:t>
            </a:r>
          </a:p>
          <a:p>
            <a:endParaRPr lang="en-US" dirty="0"/>
          </a:p>
          <a:p>
            <a:endParaRPr lang="en-US" dirty="0"/>
          </a:p>
          <a:p>
            <a:r>
              <a:rPr lang="en-US" dirty="0"/>
              <a:t>Why would program participants have higher rates of “inadequate” prenatal care?</a:t>
            </a:r>
          </a:p>
        </p:txBody>
      </p:sp>
      <p:sp>
        <p:nvSpPr>
          <p:cNvPr id="4" name="Slide Number Placeholder 3">
            <a:extLst>
              <a:ext uri="{FF2B5EF4-FFF2-40B4-BE49-F238E27FC236}">
                <a16:creationId xmlns:a16="http://schemas.microsoft.com/office/drawing/2014/main" id="{2101E2E3-AC06-E611-FAF8-D66B576DF854}"/>
              </a:ext>
            </a:extLst>
          </p:cNvPr>
          <p:cNvSpPr>
            <a:spLocks noGrp="1"/>
          </p:cNvSpPr>
          <p:nvPr>
            <p:ph type="sldNum" sz="quarter" idx="12"/>
          </p:nvPr>
        </p:nvSpPr>
        <p:spPr/>
        <p:txBody>
          <a:bodyPr/>
          <a:lstStyle/>
          <a:p>
            <a:fld id="{4698AAF4-35A4-40F4-A7AE-C8E2C41B9252}" type="slidenum">
              <a:rPr lang="en-US" smtClean="0"/>
              <a:t>15</a:t>
            </a:fld>
            <a:endParaRPr lang="en-US"/>
          </a:p>
        </p:txBody>
      </p:sp>
      <p:graphicFrame>
        <p:nvGraphicFramePr>
          <p:cNvPr id="5" name="Table 4">
            <a:extLst>
              <a:ext uri="{FF2B5EF4-FFF2-40B4-BE49-F238E27FC236}">
                <a16:creationId xmlns:a16="http://schemas.microsoft.com/office/drawing/2014/main" id="{D6E9CC1D-F717-AE7E-9270-B28012D797DC}"/>
              </a:ext>
            </a:extLst>
          </p:cNvPr>
          <p:cNvGraphicFramePr>
            <a:graphicFrameLocks noGrp="1"/>
          </p:cNvGraphicFramePr>
          <p:nvPr>
            <p:extLst>
              <p:ext uri="{D42A27DB-BD31-4B8C-83A1-F6EECF244321}">
                <p14:modId xmlns:p14="http://schemas.microsoft.com/office/powerpoint/2010/main" val="381621385"/>
              </p:ext>
            </p:extLst>
          </p:nvPr>
        </p:nvGraphicFramePr>
        <p:xfrm>
          <a:off x="1227082" y="2781300"/>
          <a:ext cx="8882118" cy="746125"/>
        </p:xfrm>
        <a:graphic>
          <a:graphicData uri="http://schemas.openxmlformats.org/drawingml/2006/table">
            <a:tbl>
              <a:tblPr>
                <a:tableStyleId>{5C22544A-7EE6-4342-B048-85BDC9FD1C3A}</a:tableStyleId>
              </a:tblPr>
              <a:tblGrid>
                <a:gridCol w="2960706">
                  <a:extLst>
                    <a:ext uri="{9D8B030D-6E8A-4147-A177-3AD203B41FA5}">
                      <a16:colId xmlns:a16="http://schemas.microsoft.com/office/drawing/2014/main" val="1580196928"/>
                    </a:ext>
                  </a:extLst>
                </a:gridCol>
                <a:gridCol w="2960706">
                  <a:extLst>
                    <a:ext uri="{9D8B030D-6E8A-4147-A177-3AD203B41FA5}">
                      <a16:colId xmlns:a16="http://schemas.microsoft.com/office/drawing/2014/main" val="269876608"/>
                    </a:ext>
                  </a:extLst>
                </a:gridCol>
                <a:gridCol w="2960706">
                  <a:extLst>
                    <a:ext uri="{9D8B030D-6E8A-4147-A177-3AD203B41FA5}">
                      <a16:colId xmlns:a16="http://schemas.microsoft.com/office/drawing/2014/main" val="548894126"/>
                    </a:ext>
                  </a:extLst>
                </a:gridCol>
              </a:tblGrid>
              <a:tr h="215900">
                <a:tc>
                  <a:txBody>
                    <a:bodyPr/>
                    <a:lstStyle/>
                    <a:p>
                      <a:pPr algn="l"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2000" u="none" strike="noStrike" dirty="0">
                          <a:effectLst/>
                        </a:rPr>
                        <a:t>Non-MHS rate (non-treated)</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2000" u="none" strike="noStrike" dirty="0">
                          <a:effectLst/>
                        </a:rPr>
                        <a:t>MHS rate (treated)</a:t>
                      </a:r>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4854344"/>
                  </a:ext>
                </a:extLst>
              </a:tr>
              <a:tr h="431800">
                <a:tc>
                  <a:txBody>
                    <a:bodyPr/>
                    <a:lstStyle/>
                    <a:p>
                      <a:pPr algn="l" fontAlgn="b"/>
                      <a:r>
                        <a:rPr lang="en-US" sz="2000" u="none" strike="noStrike">
                          <a:effectLst/>
                        </a:rPr>
                        <a:t>"Inadequate" prenatal care</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n-US" sz="2000" u="none" strike="noStrike" dirty="0">
                          <a:effectLst/>
                        </a:rPr>
                        <a:t>17.0%</a:t>
                      </a:r>
                      <a:endParaRPr lang="en-US"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000" u="none" strike="noStrike" dirty="0">
                          <a:effectLst/>
                        </a:rPr>
                        <a:t>23.2%</a:t>
                      </a:r>
                      <a:endParaRPr lang="en-US"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11458199"/>
                  </a:ext>
                </a:extLst>
              </a:tr>
            </a:tbl>
          </a:graphicData>
        </a:graphic>
      </p:graphicFrame>
    </p:spTree>
    <p:extLst>
      <p:ext uri="{BB962C8B-B14F-4D97-AF65-F5344CB8AC3E}">
        <p14:creationId xmlns:p14="http://schemas.microsoft.com/office/powerpoint/2010/main" val="4013718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834C96-953C-B283-824A-B06D79648CF1}"/>
              </a:ext>
            </a:extLst>
          </p:cNvPr>
          <p:cNvSpPr>
            <a:spLocks noGrp="1"/>
          </p:cNvSpPr>
          <p:nvPr>
            <p:ph type="sldNum" sz="quarter" idx="12"/>
          </p:nvPr>
        </p:nvSpPr>
        <p:spPr/>
        <p:txBody>
          <a:bodyPr/>
          <a:lstStyle/>
          <a:p>
            <a:fld id="{4698AAF4-35A4-40F4-A7AE-C8E2C41B9252}" type="slidenum">
              <a:rPr lang="en-US" smtClean="0"/>
              <a:t>16</a:t>
            </a:fld>
            <a:endParaRPr lang="en-US"/>
          </a:p>
        </p:txBody>
      </p:sp>
      <p:pic>
        <p:nvPicPr>
          <p:cNvPr id="6" name="Picture 5" descr="Table&#10;&#10;Description automatically generated">
            <a:extLst>
              <a:ext uri="{FF2B5EF4-FFF2-40B4-BE49-F238E27FC236}">
                <a16:creationId xmlns:a16="http://schemas.microsoft.com/office/drawing/2014/main" id="{41B5CD49-3ED9-80B6-0507-FE4BDA3C7F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4525" y="0"/>
            <a:ext cx="4822950" cy="6858000"/>
          </a:xfrm>
          <a:prstGeom prst="rect">
            <a:avLst/>
          </a:prstGeom>
        </p:spPr>
      </p:pic>
      <p:sp>
        <p:nvSpPr>
          <p:cNvPr id="2" name="TextBox 1">
            <a:extLst>
              <a:ext uri="{FF2B5EF4-FFF2-40B4-BE49-F238E27FC236}">
                <a16:creationId xmlns:a16="http://schemas.microsoft.com/office/drawing/2014/main" id="{F4C6D670-4DB3-392B-EDE3-45F58A78F5C3}"/>
              </a:ext>
            </a:extLst>
          </p:cNvPr>
          <p:cNvSpPr txBox="1"/>
          <p:nvPr/>
        </p:nvSpPr>
        <p:spPr>
          <a:xfrm>
            <a:off x="511629" y="1970314"/>
            <a:ext cx="2569028" cy="2031325"/>
          </a:xfrm>
          <a:prstGeom prst="rect">
            <a:avLst/>
          </a:prstGeom>
          <a:noFill/>
        </p:spPr>
        <p:txBody>
          <a:bodyPr wrap="square" rtlCol="0">
            <a:spAutoFit/>
          </a:bodyPr>
          <a:lstStyle/>
          <a:p>
            <a:pPr marL="285750" indent="-285750">
              <a:buFont typeface="Arial" panose="020B0604020202020204" pitchFamily="34" charset="0"/>
              <a:buChar char="•"/>
            </a:pPr>
            <a:r>
              <a:rPr lang="en-US" dirty="0"/>
              <a:t>MHS are program participants</a:t>
            </a:r>
          </a:p>
          <a:p>
            <a:pPr marL="285750" indent="-285750">
              <a:buFont typeface="Arial" panose="020B0604020202020204" pitchFamily="34" charset="0"/>
              <a:buChar char="•"/>
            </a:pPr>
            <a:r>
              <a:rPr lang="en-US" dirty="0"/>
              <a:t>Non-MHS are non-program participants</a:t>
            </a:r>
          </a:p>
          <a:p>
            <a:pPr marL="285750" indent="-285750">
              <a:buFont typeface="Arial" panose="020B0604020202020204" pitchFamily="34" charset="0"/>
              <a:buChar char="•"/>
            </a:pPr>
            <a:r>
              <a:rPr lang="en-US" dirty="0"/>
              <a:t>How are they different?</a:t>
            </a:r>
          </a:p>
          <a:p>
            <a:pPr marL="285750" indent="-285750">
              <a:buFont typeface="Arial" panose="020B0604020202020204" pitchFamily="34" charset="0"/>
              <a:buChar char="•"/>
            </a:pPr>
            <a:r>
              <a:rPr lang="en-US" dirty="0"/>
              <a:t>Why?</a:t>
            </a:r>
          </a:p>
        </p:txBody>
      </p:sp>
    </p:spTree>
    <p:extLst>
      <p:ext uri="{BB962C8B-B14F-4D97-AF65-F5344CB8AC3E}">
        <p14:creationId xmlns:p14="http://schemas.microsoft.com/office/powerpoint/2010/main" val="1469586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7AA1C-86CC-E880-D9F1-9C93EE7D0690}"/>
              </a:ext>
            </a:extLst>
          </p:cNvPr>
          <p:cNvSpPr>
            <a:spLocks noGrp="1"/>
          </p:cNvSpPr>
          <p:nvPr>
            <p:ph type="title"/>
          </p:nvPr>
        </p:nvSpPr>
        <p:spPr/>
        <p:txBody>
          <a:bodyPr/>
          <a:lstStyle/>
          <a:p>
            <a:r>
              <a:rPr lang="en-US" dirty="0"/>
              <a:t>Results </a:t>
            </a:r>
            <a:r>
              <a:rPr lang="en-US" b="1" dirty="0"/>
              <a:t>with</a:t>
            </a:r>
            <a:r>
              <a:rPr lang="en-US" dirty="0"/>
              <a:t> matching</a:t>
            </a:r>
          </a:p>
        </p:txBody>
      </p:sp>
      <p:sp>
        <p:nvSpPr>
          <p:cNvPr id="3" name="Content Placeholder 2">
            <a:extLst>
              <a:ext uri="{FF2B5EF4-FFF2-40B4-BE49-F238E27FC236}">
                <a16:creationId xmlns:a16="http://schemas.microsoft.com/office/drawing/2014/main" id="{AA12BFF0-323B-DC41-622A-9902377BB0C7}"/>
              </a:ext>
            </a:extLst>
          </p:cNvPr>
          <p:cNvSpPr>
            <a:spLocks noGrp="1"/>
          </p:cNvSpPr>
          <p:nvPr>
            <p:ph idx="1"/>
          </p:nvPr>
        </p:nvSpPr>
        <p:spPr>
          <a:xfrm>
            <a:off x="838200" y="1825625"/>
            <a:ext cx="10515600" cy="4895850"/>
          </a:xfrm>
        </p:spPr>
        <p:txBody>
          <a:bodyPr>
            <a:normAutofit lnSpcReduction="10000"/>
          </a:bodyPr>
          <a:lstStyle/>
          <a:p>
            <a:r>
              <a:rPr lang="en-US" dirty="0"/>
              <a:t>They use propensity score matching to compare only those with similar observable characteristics</a:t>
            </a:r>
          </a:p>
          <a:p>
            <a:endParaRPr lang="en-US" dirty="0"/>
          </a:p>
          <a:p>
            <a:endParaRPr lang="en-US" dirty="0"/>
          </a:p>
          <a:p>
            <a:r>
              <a:rPr lang="en-US" dirty="0"/>
              <a:t>Conclusion: “the Healthy Start program contributed to significant improvements in prenatal care”</a:t>
            </a:r>
          </a:p>
          <a:p>
            <a:r>
              <a:rPr lang="en-US" dirty="0"/>
              <a:t>What do you think are the challenges to causal inference here?</a:t>
            </a:r>
          </a:p>
          <a:p>
            <a:pPr lvl="1"/>
            <a:r>
              <a:rPr lang="en-US" dirty="0"/>
              <a:t>What if individuals who </a:t>
            </a:r>
            <a:r>
              <a:rPr lang="en-US" i="1" dirty="0"/>
              <a:t>chose </a:t>
            </a:r>
            <a:r>
              <a:rPr lang="en-US" dirty="0"/>
              <a:t>to participate in the program are different on characteristics we haven’t measured?</a:t>
            </a:r>
          </a:p>
          <a:p>
            <a:r>
              <a:rPr lang="en-US" dirty="0"/>
              <a:t>How big of a problem do we think unobservable characteristics are in this setting?</a:t>
            </a:r>
          </a:p>
        </p:txBody>
      </p:sp>
      <p:sp>
        <p:nvSpPr>
          <p:cNvPr id="4" name="Slide Number Placeholder 3">
            <a:extLst>
              <a:ext uri="{FF2B5EF4-FFF2-40B4-BE49-F238E27FC236}">
                <a16:creationId xmlns:a16="http://schemas.microsoft.com/office/drawing/2014/main" id="{2101E2E3-AC06-E611-FAF8-D66B576DF854}"/>
              </a:ext>
            </a:extLst>
          </p:cNvPr>
          <p:cNvSpPr>
            <a:spLocks noGrp="1"/>
          </p:cNvSpPr>
          <p:nvPr>
            <p:ph type="sldNum" sz="quarter" idx="12"/>
          </p:nvPr>
        </p:nvSpPr>
        <p:spPr/>
        <p:txBody>
          <a:bodyPr/>
          <a:lstStyle/>
          <a:p>
            <a:fld id="{4698AAF4-35A4-40F4-A7AE-C8E2C41B9252}" type="slidenum">
              <a:rPr lang="en-US" smtClean="0"/>
              <a:t>17</a:t>
            </a:fld>
            <a:endParaRPr lang="en-US"/>
          </a:p>
        </p:txBody>
      </p:sp>
      <p:graphicFrame>
        <p:nvGraphicFramePr>
          <p:cNvPr id="6" name="Table 5">
            <a:extLst>
              <a:ext uri="{FF2B5EF4-FFF2-40B4-BE49-F238E27FC236}">
                <a16:creationId xmlns:a16="http://schemas.microsoft.com/office/drawing/2014/main" id="{9F3749EB-988D-10DE-0B58-57599BC64F2D}"/>
              </a:ext>
            </a:extLst>
          </p:cNvPr>
          <p:cNvGraphicFramePr>
            <a:graphicFrameLocks noGrp="1"/>
          </p:cNvGraphicFramePr>
          <p:nvPr>
            <p:extLst>
              <p:ext uri="{D42A27DB-BD31-4B8C-83A1-F6EECF244321}">
                <p14:modId xmlns:p14="http://schemas.microsoft.com/office/powerpoint/2010/main" val="2216906409"/>
              </p:ext>
            </p:extLst>
          </p:nvPr>
        </p:nvGraphicFramePr>
        <p:xfrm>
          <a:off x="1195551" y="2781804"/>
          <a:ext cx="8442434" cy="746125"/>
        </p:xfrm>
        <a:graphic>
          <a:graphicData uri="http://schemas.openxmlformats.org/drawingml/2006/table">
            <a:tbl>
              <a:tblPr>
                <a:tableStyleId>{5C22544A-7EE6-4342-B048-85BDC9FD1C3A}</a:tableStyleId>
              </a:tblPr>
              <a:tblGrid>
                <a:gridCol w="3902909">
                  <a:extLst>
                    <a:ext uri="{9D8B030D-6E8A-4147-A177-3AD203B41FA5}">
                      <a16:colId xmlns:a16="http://schemas.microsoft.com/office/drawing/2014/main" val="2287129200"/>
                    </a:ext>
                  </a:extLst>
                </a:gridCol>
                <a:gridCol w="4539525">
                  <a:extLst>
                    <a:ext uri="{9D8B030D-6E8A-4147-A177-3AD203B41FA5}">
                      <a16:colId xmlns:a16="http://schemas.microsoft.com/office/drawing/2014/main" val="2478737144"/>
                    </a:ext>
                  </a:extLst>
                </a:gridCol>
              </a:tblGrid>
              <a:tr h="215900">
                <a:tc>
                  <a:txBody>
                    <a:bodyPr/>
                    <a:lstStyle/>
                    <a:p>
                      <a:pPr algn="l"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2000" u="none" strike="noStrike">
                          <a:effectLst/>
                        </a:rPr>
                        <a:t>Propensity Score Adjusted Odds Ratio</a:t>
                      </a:r>
                      <a:endParaRPr lang="en-US"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9357944"/>
                  </a:ext>
                </a:extLst>
              </a:tr>
              <a:tr h="431800">
                <a:tc>
                  <a:txBody>
                    <a:bodyPr/>
                    <a:lstStyle/>
                    <a:p>
                      <a:pPr algn="l" fontAlgn="b"/>
                      <a:r>
                        <a:rPr lang="en-US" sz="2000" u="none" strike="noStrike" dirty="0">
                          <a:effectLst/>
                        </a:rPr>
                        <a:t>"Inadequate" prenatal care</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n-US" sz="2000" u="none" strike="noStrike" dirty="0">
                          <a:effectLst/>
                        </a:rPr>
                        <a:t>0.86 (0.80, 0.92)</a:t>
                      </a:r>
                      <a:endParaRPr lang="en-US"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24515335"/>
                  </a:ext>
                </a:extLst>
              </a:tr>
            </a:tbl>
          </a:graphicData>
        </a:graphic>
      </p:graphicFrame>
    </p:spTree>
    <p:extLst>
      <p:ext uri="{BB962C8B-B14F-4D97-AF65-F5344CB8AC3E}">
        <p14:creationId xmlns:p14="http://schemas.microsoft.com/office/powerpoint/2010/main" val="343099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5D953-1C76-17BB-5A74-87AF42150233}"/>
              </a:ext>
            </a:extLst>
          </p:cNvPr>
          <p:cNvSpPr>
            <a:spLocks noGrp="1"/>
          </p:cNvSpPr>
          <p:nvPr>
            <p:ph type="title"/>
          </p:nvPr>
        </p:nvSpPr>
        <p:spPr/>
        <p:txBody>
          <a:bodyPr/>
          <a:lstStyle/>
          <a:p>
            <a:r>
              <a:rPr lang="en-US" dirty="0"/>
              <a:t>Randomized controlled trial</a:t>
            </a:r>
          </a:p>
        </p:txBody>
      </p:sp>
      <p:sp>
        <p:nvSpPr>
          <p:cNvPr id="3" name="Content Placeholder 2">
            <a:extLst>
              <a:ext uri="{FF2B5EF4-FFF2-40B4-BE49-F238E27FC236}">
                <a16:creationId xmlns:a16="http://schemas.microsoft.com/office/drawing/2014/main" id="{5E459042-42B4-1D62-E6C3-61D7080046C4}"/>
              </a:ext>
            </a:extLst>
          </p:cNvPr>
          <p:cNvSpPr>
            <a:spLocks noGrp="1"/>
          </p:cNvSpPr>
          <p:nvPr>
            <p:ph idx="1"/>
          </p:nvPr>
        </p:nvSpPr>
        <p:spPr>
          <a:xfrm>
            <a:off x="3983421" y="1690688"/>
            <a:ext cx="7370379" cy="4486275"/>
          </a:xfrm>
        </p:spPr>
        <p:txBody>
          <a:bodyPr>
            <a:normAutofit/>
          </a:bodyPr>
          <a:lstStyle/>
          <a:p>
            <a:r>
              <a:rPr lang="en-US" dirty="0"/>
              <a:t>Program: Nurse Family Partnership</a:t>
            </a:r>
          </a:p>
          <a:p>
            <a:pPr lvl="1"/>
            <a:r>
              <a:rPr lang="en-US" sz="2000" dirty="0"/>
              <a:t>Objective: improving health outcomes during pregnancy including supporting access to health care services</a:t>
            </a:r>
          </a:p>
          <a:p>
            <a:pPr lvl="1"/>
            <a:r>
              <a:rPr lang="en-US" sz="2000" dirty="0"/>
              <a:t>Services: home visits where nurses provide case management, outreach and recruitment, health education</a:t>
            </a:r>
          </a:p>
          <a:p>
            <a:r>
              <a:rPr lang="en-US" dirty="0"/>
              <a:t>Evaluation strategy</a:t>
            </a:r>
          </a:p>
          <a:p>
            <a:pPr lvl="1"/>
            <a:r>
              <a:rPr lang="en-US" sz="2000" dirty="0"/>
              <a:t>Randomized controlled trial assigned eligible families to treatment or control</a:t>
            </a:r>
          </a:p>
          <a:p>
            <a:pPr lvl="1"/>
            <a:r>
              <a:rPr lang="en-US" sz="2000" dirty="0"/>
              <a:t>Vital records data from counties where the program was operating</a:t>
            </a:r>
          </a:p>
          <a:p>
            <a:pPr lvl="1"/>
            <a:r>
              <a:rPr lang="en-US" sz="2000" dirty="0"/>
              <a:t>Compare control group outcomes to treatment group outcomes</a:t>
            </a:r>
          </a:p>
          <a:p>
            <a:pPr lvl="1"/>
            <a:endParaRPr lang="en-US" dirty="0"/>
          </a:p>
        </p:txBody>
      </p:sp>
      <p:sp>
        <p:nvSpPr>
          <p:cNvPr id="4" name="Slide Number Placeholder 3">
            <a:extLst>
              <a:ext uri="{FF2B5EF4-FFF2-40B4-BE49-F238E27FC236}">
                <a16:creationId xmlns:a16="http://schemas.microsoft.com/office/drawing/2014/main" id="{45127B0C-904A-CF9A-6525-786B58A2CD30}"/>
              </a:ext>
            </a:extLst>
          </p:cNvPr>
          <p:cNvSpPr>
            <a:spLocks noGrp="1"/>
          </p:cNvSpPr>
          <p:nvPr>
            <p:ph type="sldNum" sz="quarter" idx="12"/>
          </p:nvPr>
        </p:nvSpPr>
        <p:spPr/>
        <p:txBody>
          <a:bodyPr/>
          <a:lstStyle/>
          <a:p>
            <a:fld id="{4698AAF4-35A4-40F4-A7AE-C8E2C41B9252}" type="slidenum">
              <a:rPr lang="en-US" smtClean="0"/>
              <a:t>18</a:t>
            </a:fld>
            <a:endParaRPr lang="en-US"/>
          </a:p>
        </p:txBody>
      </p:sp>
      <p:pic>
        <p:nvPicPr>
          <p:cNvPr id="7" name="Picture 6" descr="Graphical user interface, text&#10;&#10;Description automatically generated">
            <a:extLst>
              <a:ext uri="{FF2B5EF4-FFF2-40B4-BE49-F238E27FC236}">
                <a16:creationId xmlns:a16="http://schemas.microsoft.com/office/drawing/2014/main" id="{A7A4ECDD-E0CA-DFCC-FBBC-1D982C5961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691" y="2227729"/>
            <a:ext cx="3947510" cy="2402542"/>
          </a:xfrm>
          <a:prstGeom prst="rect">
            <a:avLst/>
          </a:prstGeom>
        </p:spPr>
      </p:pic>
    </p:spTree>
    <p:extLst>
      <p:ext uri="{BB962C8B-B14F-4D97-AF65-F5344CB8AC3E}">
        <p14:creationId xmlns:p14="http://schemas.microsoft.com/office/powerpoint/2010/main" val="173909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FC465F5-7D2B-70C2-DF5C-2F41A66DDD44}"/>
              </a:ext>
            </a:extLst>
          </p:cNvPr>
          <p:cNvSpPr>
            <a:spLocks noGrp="1"/>
          </p:cNvSpPr>
          <p:nvPr>
            <p:ph type="sldNum" sz="quarter" idx="12"/>
          </p:nvPr>
        </p:nvSpPr>
        <p:spPr/>
        <p:txBody>
          <a:bodyPr/>
          <a:lstStyle/>
          <a:p>
            <a:fld id="{4698AAF4-35A4-40F4-A7AE-C8E2C41B9252}" type="slidenum">
              <a:rPr lang="en-US" smtClean="0"/>
              <a:t>19</a:t>
            </a:fld>
            <a:endParaRPr lang="en-US"/>
          </a:p>
        </p:txBody>
      </p:sp>
      <p:pic>
        <p:nvPicPr>
          <p:cNvPr id="6" name="Picture 5" descr="Table&#10;&#10;Description automatically generated">
            <a:extLst>
              <a:ext uri="{FF2B5EF4-FFF2-40B4-BE49-F238E27FC236}">
                <a16:creationId xmlns:a16="http://schemas.microsoft.com/office/drawing/2014/main" id="{603C5EBA-0545-FF9A-FCA6-DED7D970A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8150" y="1270000"/>
            <a:ext cx="7772400" cy="3824335"/>
          </a:xfrm>
          <a:prstGeom prst="rect">
            <a:avLst/>
          </a:prstGeom>
        </p:spPr>
      </p:pic>
      <p:sp>
        <p:nvSpPr>
          <p:cNvPr id="2" name="TextBox 1">
            <a:extLst>
              <a:ext uri="{FF2B5EF4-FFF2-40B4-BE49-F238E27FC236}">
                <a16:creationId xmlns:a16="http://schemas.microsoft.com/office/drawing/2014/main" id="{CA6B49F6-AC48-A746-B66E-36C7ED725330}"/>
              </a:ext>
            </a:extLst>
          </p:cNvPr>
          <p:cNvSpPr txBox="1"/>
          <p:nvPr/>
        </p:nvSpPr>
        <p:spPr>
          <a:xfrm>
            <a:off x="1100138" y="5572125"/>
            <a:ext cx="9086850" cy="646331"/>
          </a:xfrm>
          <a:prstGeom prst="rect">
            <a:avLst/>
          </a:prstGeom>
          <a:noFill/>
        </p:spPr>
        <p:txBody>
          <a:bodyPr wrap="square" rtlCol="0">
            <a:spAutoFit/>
          </a:bodyPr>
          <a:lstStyle/>
          <a:p>
            <a:r>
              <a:rPr lang="en-US" dirty="0"/>
              <a:t>Randomization helps ensure we are balanced on observables (which we can check) AND observables (which we cannot)</a:t>
            </a:r>
          </a:p>
        </p:txBody>
      </p:sp>
    </p:spTree>
    <p:extLst>
      <p:ext uri="{BB962C8B-B14F-4D97-AF65-F5344CB8AC3E}">
        <p14:creationId xmlns:p14="http://schemas.microsoft.com/office/powerpoint/2010/main" val="1346026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7AA1C-86CC-E880-D9F1-9C93EE7D0690}"/>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A12BFF0-323B-DC41-622A-9902377BB0C7}"/>
              </a:ext>
            </a:extLst>
          </p:cNvPr>
          <p:cNvSpPr>
            <a:spLocks noGrp="1"/>
          </p:cNvSpPr>
          <p:nvPr>
            <p:ph idx="1"/>
          </p:nvPr>
        </p:nvSpPr>
        <p:spPr>
          <a:xfrm>
            <a:off x="838200" y="1825625"/>
            <a:ext cx="10515600" cy="4667250"/>
          </a:xfrm>
        </p:spPr>
        <p:txBody>
          <a:bodyPr>
            <a:normAutofit lnSpcReduction="10000"/>
          </a:bodyPr>
          <a:lstStyle/>
          <a:p>
            <a:r>
              <a:rPr lang="en-US" dirty="0"/>
              <a:t>Let’s compare the treatment group and control group rates of “inadequate” prenatal care</a:t>
            </a:r>
          </a:p>
          <a:p>
            <a:endParaRPr lang="en-US" dirty="0"/>
          </a:p>
          <a:p>
            <a:endParaRPr lang="en-US" dirty="0"/>
          </a:p>
          <a:p>
            <a:r>
              <a:rPr lang="en-US" dirty="0"/>
              <a:t>No statistically significant difference</a:t>
            </a:r>
          </a:p>
          <a:p>
            <a:r>
              <a:rPr lang="en-US" dirty="0"/>
              <a:t>Previous study concluded that a similar program reduced likelihood of receiving ”inadequate” prenatal care</a:t>
            </a:r>
          </a:p>
          <a:p>
            <a:r>
              <a:rPr lang="en-US" dirty="0"/>
              <a:t>What are some reasons the result is different?</a:t>
            </a:r>
          </a:p>
          <a:p>
            <a:pPr lvl="1"/>
            <a:r>
              <a:rPr lang="en-US" dirty="0"/>
              <a:t>External validity: important programmatic differences</a:t>
            </a:r>
          </a:p>
          <a:p>
            <a:pPr lvl="1"/>
            <a:r>
              <a:rPr lang="en-US" dirty="0"/>
              <a:t>Internal validity: “unobserved/unmeasured characteristics” correlated with both program participation and receiving antenatal care? </a:t>
            </a:r>
            <a:r>
              <a:rPr lang="en-US" dirty="0">
                <a:solidFill>
                  <a:srgbClr val="FF0000"/>
                </a:solidFill>
              </a:rPr>
              <a:t>Examples?</a:t>
            </a:r>
          </a:p>
          <a:p>
            <a:endParaRPr lang="en-US" dirty="0"/>
          </a:p>
        </p:txBody>
      </p:sp>
      <p:sp>
        <p:nvSpPr>
          <p:cNvPr id="4" name="Slide Number Placeholder 3">
            <a:extLst>
              <a:ext uri="{FF2B5EF4-FFF2-40B4-BE49-F238E27FC236}">
                <a16:creationId xmlns:a16="http://schemas.microsoft.com/office/drawing/2014/main" id="{2101E2E3-AC06-E611-FAF8-D66B576DF854}"/>
              </a:ext>
            </a:extLst>
          </p:cNvPr>
          <p:cNvSpPr>
            <a:spLocks noGrp="1"/>
          </p:cNvSpPr>
          <p:nvPr>
            <p:ph type="sldNum" sz="quarter" idx="12"/>
          </p:nvPr>
        </p:nvSpPr>
        <p:spPr/>
        <p:txBody>
          <a:bodyPr/>
          <a:lstStyle/>
          <a:p>
            <a:fld id="{4698AAF4-35A4-40F4-A7AE-C8E2C41B9252}" type="slidenum">
              <a:rPr lang="en-US" smtClean="0"/>
              <a:t>20</a:t>
            </a:fld>
            <a:endParaRPr lang="en-US"/>
          </a:p>
        </p:txBody>
      </p:sp>
      <p:graphicFrame>
        <p:nvGraphicFramePr>
          <p:cNvPr id="7" name="Table 6">
            <a:extLst>
              <a:ext uri="{FF2B5EF4-FFF2-40B4-BE49-F238E27FC236}">
                <a16:creationId xmlns:a16="http://schemas.microsoft.com/office/drawing/2014/main" id="{3FB8800B-5A18-2664-30C0-7E29D36DC86C}"/>
              </a:ext>
            </a:extLst>
          </p:cNvPr>
          <p:cNvGraphicFramePr>
            <a:graphicFrameLocks noGrp="1"/>
          </p:cNvGraphicFramePr>
          <p:nvPr>
            <p:extLst>
              <p:ext uri="{D42A27DB-BD31-4B8C-83A1-F6EECF244321}">
                <p14:modId xmlns:p14="http://schemas.microsoft.com/office/powerpoint/2010/main" val="349817767"/>
              </p:ext>
            </p:extLst>
          </p:nvPr>
        </p:nvGraphicFramePr>
        <p:xfrm>
          <a:off x="1185861" y="2700020"/>
          <a:ext cx="8577900" cy="746125"/>
        </p:xfrm>
        <a:graphic>
          <a:graphicData uri="http://schemas.openxmlformats.org/drawingml/2006/table">
            <a:tbl>
              <a:tblPr>
                <a:tableStyleId>{5C22544A-7EE6-4342-B048-85BDC9FD1C3A}</a:tableStyleId>
              </a:tblPr>
              <a:tblGrid>
                <a:gridCol w="3523293">
                  <a:extLst>
                    <a:ext uri="{9D8B030D-6E8A-4147-A177-3AD203B41FA5}">
                      <a16:colId xmlns:a16="http://schemas.microsoft.com/office/drawing/2014/main" val="274962641"/>
                    </a:ext>
                  </a:extLst>
                </a:gridCol>
                <a:gridCol w="2195307">
                  <a:extLst>
                    <a:ext uri="{9D8B030D-6E8A-4147-A177-3AD203B41FA5}">
                      <a16:colId xmlns:a16="http://schemas.microsoft.com/office/drawing/2014/main" val="938446057"/>
                    </a:ext>
                  </a:extLst>
                </a:gridCol>
                <a:gridCol w="2859300">
                  <a:extLst>
                    <a:ext uri="{9D8B030D-6E8A-4147-A177-3AD203B41FA5}">
                      <a16:colId xmlns:a16="http://schemas.microsoft.com/office/drawing/2014/main" val="3239112463"/>
                    </a:ext>
                  </a:extLst>
                </a:gridCol>
              </a:tblGrid>
              <a:tr h="215900">
                <a:tc>
                  <a:txBody>
                    <a:bodyPr/>
                    <a:lstStyle/>
                    <a:p>
                      <a:pPr algn="l"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n-US" sz="2000" u="none" strike="noStrike" dirty="0">
                          <a:effectLst/>
                        </a:rPr>
                        <a:t>Control group</a:t>
                      </a:r>
                      <a:endParaRPr lang="en-US"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000" u="none" strike="noStrike">
                          <a:effectLst/>
                        </a:rPr>
                        <a:t>Treatment group</a:t>
                      </a:r>
                      <a:endParaRPr lang="en-US"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25436022"/>
                  </a:ext>
                </a:extLst>
              </a:tr>
              <a:tr h="431800">
                <a:tc>
                  <a:txBody>
                    <a:bodyPr/>
                    <a:lstStyle/>
                    <a:p>
                      <a:pPr algn="l" fontAlgn="b"/>
                      <a:r>
                        <a:rPr lang="en-US" sz="2000" u="none" strike="noStrike">
                          <a:effectLst/>
                        </a:rPr>
                        <a:t>"Inadequate" prenatal care</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n-US" sz="2000" u="none" strike="noStrike" dirty="0">
                          <a:effectLst/>
                        </a:rPr>
                        <a:t>18.70%</a:t>
                      </a:r>
                      <a:endParaRPr lang="en-US"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n-US" sz="2000" u="none" strike="noStrike" dirty="0">
                          <a:effectLst/>
                        </a:rPr>
                        <a:t>19.60%</a:t>
                      </a:r>
                      <a:endParaRPr lang="en-US" sz="2000" b="0" i="0" u="none" strike="noStrike" dirty="0">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2562861462"/>
                  </a:ext>
                </a:extLst>
              </a:tr>
            </a:tbl>
          </a:graphicData>
        </a:graphic>
      </p:graphicFrame>
    </p:spTree>
    <p:extLst>
      <p:ext uri="{BB962C8B-B14F-4D97-AF65-F5344CB8AC3E}">
        <p14:creationId xmlns:p14="http://schemas.microsoft.com/office/powerpoint/2010/main" val="1095751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7AA1C-86CC-E880-D9F1-9C93EE7D0690}"/>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A12BFF0-323B-DC41-622A-9902377BB0C7}"/>
              </a:ext>
            </a:extLst>
          </p:cNvPr>
          <p:cNvSpPr>
            <a:spLocks noGrp="1"/>
          </p:cNvSpPr>
          <p:nvPr>
            <p:ph idx="1"/>
          </p:nvPr>
        </p:nvSpPr>
        <p:spPr>
          <a:xfrm>
            <a:off x="838200" y="1825625"/>
            <a:ext cx="10515600" cy="4895850"/>
          </a:xfrm>
        </p:spPr>
        <p:txBody>
          <a:bodyPr>
            <a:normAutofit fontScale="92500" lnSpcReduction="10000"/>
          </a:bodyPr>
          <a:lstStyle/>
          <a:p>
            <a:r>
              <a:rPr lang="en-US" dirty="0"/>
              <a:t>We can use the trial to learn something about </a:t>
            </a:r>
            <a:r>
              <a:rPr lang="en-US" i="1" dirty="0"/>
              <a:t>how</a:t>
            </a:r>
            <a:r>
              <a:rPr lang="en-US" dirty="0"/>
              <a:t> different outcomes are for program participants compared to non-participants</a:t>
            </a:r>
          </a:p>
          <a:p>
            <a:r>
              <a:rPr lang="en-US" dirty="0"/>
              <a:t>Eligibility criteria: first-time birth, Medicaid eligible, &gt;=15 years old and living in counties where program is operating</a:t>
            </a:r>
          </a:p>
          <a:p>
            <a:r>
              <a:rPr lang="en-US" dirty="0"/>
              <a:t>We can observe the outcome among </a:t>
            </a:r>
            <a:r>
              <a:rPr lang="en-US" dirty="0" err="1"/>
              <a:t>eligibles</a:t>
            </a:r>
            <a:r>
              <a:rPr lang="en-US" dirty="0"/>
              <a:t> who did not participate</a:t>
            </a:r>
          </a:p>
          <a:p>
            <a:endParaRPr lang="en-US" dirty="0"/>
          </a:p>
          <a:p>
            <a:endParaRPr lang="en-US" dirty="0"/>
          </a:p>
          <a:p>
            <a:endParaRPr lang="en-US" dirty="0"/>
          </a:p>
          <a:p>
            <a:r>
              <a:rPr lang="en-US" dirty="0"/>
              <a:t>Non-participants may have a) chosen not to participate or b) not been effectively reached by the program</a:t>
            </a:r>
          </a:p>
          <a:p>
            <a:r>
              <a:rPr lang="en-US" dirty="0"/>
              <a:t>Why might there be less prenatal care for non-participants?</a:t>
            </a:r>
          </a:p>
        </p:txBody>
      </p:sp>
      <p:sp>
        <p:nvSpPr>
          <p:cNvPr id="4" name="Slide Number Placeholder 3">
            <a:extLst>
              <a:ext uri="{FF2B5EF4-FFF2-40B4-BE49-F238E27FC236}">
                <a16:creationId xmlns:a16="http://schemas.microsoft.com/office/drawing/2014/main" id="{2101E2E3-AC06-E611-FAF8-D66B576DF854}"/>
              </a:ext>
            </a:extLst>
          </p:cNvPr>
          <p:cNvSpPr>
            <a:spLocks noGrp="1"/>
          </p:cNvSpPr>
          <p:nvPr>
            <p:ph type="sldNum" sz="quarter" idx="12"/>
          </p:nvPr>
        </p:nvSpPr>
        <p:spPr/>
        <p:txBody>
          <a:bodyPr/>
          <a:lstStyle/>
          <a:p>
            <a:fld id="{4698AAF4-35A4-40F4-A7AE-C8E2C41B9252}" type="slidenum">
              <a:rPr lang="en-US" smtClean="0"/>
              <a:t>21</a:t>
            </a:fld>
            <a:endParaRPr lang="en-US"/>
          </a:p>
        </p:txBody>
      </p:sp>
      <p:graphicFrame>
        <p:nvGraphicFramePr>
          <p:cNvPr id="8" name="Table 7">
            <a:extLst>
              <a:ext uri="{FF2B5EF4-FFF2-40B4-BE49-F238E27FC236}">
                <a16:creationId xmlns:a16="http://schemas.microsoft.com/office/drawing/2014/main" id="{78CC7522-BBF5-8168-8326-1052D8BB6C34}"/>
              </a:ext>
            </a:extLst>
          </p:cNvPr>
          <p:cNvGraphicFramePr>
            <a:graphicFrameLocks noGrp="1"/>
          </p:cNvGraphicFramePr>
          <p:nvPr>
            <p:extLst>
              <p:ext uri="{D42A27DB-BD31-4B8C-83A1-F6EECF244321}">
                <p14:modId xmlns:p14="http://schemas.microsoft.com/office/powerpoint/2010/main" val="1399011013"/>
              </p:ext>
            </p:extLst>
          </p:nvPr>
        </p:nvGraphicFramePr>
        <p:xfrm>
          <a:off x="1165540" y="3911600"/>
          <a:ext cx="8577899" cy="933450"/>
        </p:xfrm>
        <a:graphic>
          <a:graphicData uri="http://schemas.openxmlformats.org/drawingml/2006/table">
            <a:tbl>
              <a:tblPr>
                <a:tableStyleId>{5C22544A-7EE6-4342-B048-85BDC9FD1C3A}</a:tableStyleId>
              </a:tblPr>
              <a:tblGrid>
                <a:gridCol w="1647732">
                  <a:extLst>
                    <a:ext uri="{9D8B030D-6E8A-4147-A177-3AD203B41FA5}">
                      <a16:colId xmlns:a16="http://schemas.microsoft.com/office/drawing/2014/main" val="2440670397"/>
                    </a:ext>
                  </a:extLst>
                </a:gridCol>
                <a:gridCol w="1647732">
                  <a:extLst>
                    <a:ext uri="{9D8B030D-6E8A-4147-A177-3AD203B41FA5}">
                      <a16:colId xmlns:a16="http://schemas.microsoft.com/office/drawing/2014/main" val="1467172719"/>
                    </a:ext>
                  </a:extLst>
                </a:gridCol>
                <a:gridCol w="2295396">
                  <a:extLst>
                    <a:ext uri="{9D8B030D-6E8A-4147-A177-3AD203B41FA5}">
                      <a16:colId xmlns:a16="http://schemas.microsoft.com/office/drawing/2014/main" val="708788754"/>
                    </a:ext>
                  </a:extLst>
                </a:gridCol>
                <a:gridCol w="2987039">
                  <a:extLst>
                    <a:ext uri="{9D8B030D-6E8A-4147-A177-3AD203B41FA5}">
                      <a16:colId xmlns:a16="http://schemas.microsoft.com/office/drawing/2014/main" val="1543816393"/>
                    </a:ext>
                  </a:extLst>
                </a:gridCol>
              </a:tblGrid>
              <a:tr h="215900">
                <a:tc>
                  <a:txBody>
                    <a:bodyPr/>
                    <a:lstStyle/>
                    <a:p>
                      <a:pPr algn="l"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n-US" sz="2000" u="none" strike="noStrike" dirty="0">
                          <a:effectLst/>
                        </a:rPr>
                        <a:t>Control group</a:t>
                      </a:r>
                      <a:endParaRPr lang="en-US"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000" u="none" strike="noStrike" dirty="0">
                          <a:effectLst/>
                        </a:rPr>
                        <a:t>Treatment group</a:t>
                      </a:r>
                      <a:endParaRPr lang="en-US"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000" u="none" strike="noStrike">
                          <a:effectLst/>
                        </a:rPr>
                        <a:t>Non-participant but eligible</a:t>
                      </a:r>
                      <a:endParaRPr lang="en-US"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83464718"/>
                  </a:ext>
                </a:extLst>
              </a:tr>
              <a:tr h="431800">
                <a:tc>
                  <a:txBody>
                    <a:bodyPr/>
                    <a:lstStyle/>
                    <a:p>
                      <a:pPr algn="l" fontAlgn="b"/>
                      <a:r>
                        <a:rPr lang="en-US" sz="2000" u="none" strike="noStrike" dirty="0">
                          <a:effectLst/>
                        </a:rPr>
                        <a:t>"Inadequate" prenatal care</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n-US" sz="2000" u="none" strike="noStrike" dirty="0">
                          <a:effectLst/>
                        </a:rPr>
                        <a:t>18.70%</a:t>
                      </a:r>
                      <a:endParaRPr lang="en-US"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n-US" sz="2000" u="none" strike="noStrike" dirty="0">
                          <a:effectLst/>
                        </a:rPr>
                        <a:t>19.60%</a:t>
                      </a:r>
                      <a:endParaRPr lang="en-US" sz="2000" b="0" i="0" u="none" strike="noStrike" dirty="0">
                        <a:solidFill>
                          <a:srgbClr val="000000"/>
                        </a:solidFill>
                        <a:effectLst/>
                        <a:latin typeface="Arial" panose="020B0604020202020204" pitchFamily="34" charset="0"/>
                      </a:endParaRPr>
                    </a:p>
                  </a:txBody>
                  <a:tcPr marL="9525" marR="9525" marT="9525" marB="0" anchor="ctr"/>
                </a:tc>
                <a:tc>
                  <a:txBody>
                    <a:bodyPr/>
                    <a:lstStyle/>
                    <a:p>
                      <a:pPr algn="ctr" fontAlgn="ctr"/>
                      <a:r>
                        <a:rPr lang="en-US" sz="2000" u="none" strike="noStrike" dirty="0">
                          <a:effectLst/>
                        </a:rPr>
                        <a:t>27.20%</a:t>
                      </a:r>
                      <a:endParaRPr lang="en-US"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20504915"/>
                  </a:ext>
                </a:extLst>
              </a:tr>
            </a:tbl>
          </a:graphicData>
        </a:graphic>
      </p:graphicFrame>
    </p:spTree>
    <p:extLst>
      <p:ext uri="{BB962C8B-B14F-4D97-AF65-F5344CB8AC3E}">
        <p14:creationId xmlns:p14="http://schemas.microsoft.com/office/powerpoint/2010/main" val="71395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81827-E0B4-6D98-4382-7DDECAF93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0749A-5AEC-D036-2EBE-C956D4A7289E}"/>
              </a:ext>
            </a:extLst>
          </p:cNvPr>
          <p:cNvSpPr>
            <a:spLocks noGrp="1"/>
          </p:cNvSpPr>
          <p:nvPr>
            <p:ph type="title"/>
          </p:nvPr>
        </p:nvSpPr>
        <p:spPr/>
        <p:txBody>
          <a:bodyPr/>
          <a:lstStyle/>
          <a:p>
            <a:r>
              <a:rPr lang="en-US" dirty="0"/>
              <a:t>This is not a one off-example!</a:t>
            </a:r>
          </a:p>
        </p:txBody>
      </p:sp>
      <p:sp>
        <p:nvSpPr>
          <p:cNvPr id="3" name="Content Placeholder 2">
            <a:extLst>
              <a:ext uri="{FF2B5EF4-FFF2-40B4-BE49-F238E27FC236}">
                <a16:creationId xmlns:a16="http://schemas.microsoft.com/office/drawing/2014/main" id="{07C748F5-A52D-3913-6689-B9D29927BDB6}"/>
              </a:ext>
            </a:extLst>
          </p:cNvPr>
          <p:cNvSpPr>
            <a:spLocks noGrp="1"/>
          </p:cNvSpPr>
          <p:nvPr>
            <p:ph idx="1"/>
          </p:nvPr>
        </p:nvSpPr>
        <p:spPr>
          <a:xfrm>
            <a:off x="838200" y="1825625"/>
            <a:ext cx="10515600" cy="4895850"/>
          </a:xfrm>
        </p:spPr>
        <p:txBody>
          <a:bodyPr>
            <a:normAutofit/>
          </a:bodyPr>
          <a:lstStyle/>
          <a:p>
            <a:r>
              <a:rPr lang="en-US" dirty="0"/>
              <a:t>Analyses comparing outcome of program participants to non-participants are frequently published in high impact journals!</a:t>
            </a:r>
          </a:p>
        </p:txBody>
      </p:sp>
      <p:sp>
        <p:nvSpPr>
          <p:cNvPr id="4" name="Slide Number Placeholder 3">
            <a:extLst>
              <a:ext uri="{FF2B5EF4-FFF2-40B4-BE49-F238E27FC236}">
                <a16:creationId xmlns:a16="http://schemas.microsoft.com/office/drawing/2014/main" id="{EAF3F952-38C8-013D-C26F-83AE690DF9FB}"/>
              </a:ext>
            </a:extLst>
          </p:cNvPr>
          <p:cNvSpPr>
            <a:spLocks noGrp="1"/>
          </p:cNvSpPr>
          <p:nvPr>
            <p:ph type="sldNum" sz="quarter" idx="12"/>
          </p:nvPr>
        </p:nvSpPr>
        <p:spPr/>
        <p:txBody>
          <a:bodyPr/>
          <a:lstStyle/>
          <a:p>
            <a:fld id="{4698AAF4-35A4-40F4-A7AE-C8E2C41B9252}" type="slidenum">
              <a:rPr lang="en-US" smtClean="0"/>
              <a:t>22</a:t>
            </a:fld>
            <a:endParaRPr lang="en-US"/>
          </a:p>
        </p:txBody>
      </p:sp>
      <p:pic>
        <p:nvPicPr>
          <p:cNvPr id="6" name="Picture 5">
            <a:extLst>
              <a:ext uri="{FF2B5EF4-FFF2-40B4-BE49-F238E27FC236}">
                <a16:creationId xmlns:a16="http://schemas.microsoft.com/office/drawing/2014/main" id="{1384B5A3-EE57-A434-1006-25A8F09B27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1" y="164287"/>
            <a:ext cx="7772400" cy="3831041"/>
          </a:xfrm>
          <a:prstGeom prst="rect">
            <a:avLst/>
          </a:prstGeom>
        </p:spPr>
      </p:pic>
      <p:pic>
        <p:nvPicPr>
          <p:cNvPr id="9" name="Picture 8">
            <a:extLst>
              <a:ext uri="{FF2B5EF4-FFF2-40B4-BE49-F238E27FC236}">
                <a16:creationId xmlns:a16="http://schemas.microsoft.com/office/drawing/2014/main" id="{0FFD742E-48BC-B11E-83A7-EDFCD0A8F7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8046" y="230281"/>
            <a:ext cx="7772400" cy="3513843"/>
          </a:xfrm>
          <a:prstGeom prst="rect">
            <a:avLst/>
          </a:prstGeom>
        </p:spPr>
      </p:pic>
      <p:pic>
        <p:nvPicPr>
          <p:cNvPr id="11" name="Picture 10">
            <a:extLst>
              <a:ext uri="{FF2B5EF4-FFF2-40B4-BE49-F238E27FC236}">
                <a16:creationId xmlns:a16="http://schemas.microsoft.com/office/drawing/2014/main" id="{B012960A-E0C2-95AC-0211-0C19EE3B24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8365" y="2128568"/>
            <a:ext cx="6615881" cy="4289963"/>
          </a:xfrm>
          <a:prstGeom prst="rect">
            <a:avLst/>
          </a:prstGeom>
        </p:spPr>
      </p:pic>
      <p:pic>
        <p:nvPicPr>
          <p:cNvPr id="13" name="Picture 12">
            <a:extLst>
              <a:ext uri="{FF2B5EF4-FFF2-40B4-BE49-F238E27FC236}">
                <a16:creationId xmlns:a16="http://schemas.microsoft.com/office/drawing/2014/main" id="{5A090169-3511-09DD-61C5-246E6CEFD5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11098" y="2536724"/>
            <a:ext cx="6615880" cy="3513842"/>
          </a:xfrm>
          <a:prstGeom prst="rect">
            <a:avLst/>
          </a:prstGeom>
        </p:spPr>
      </p:pic>
    </p:spTree>
    <p:extLst>
      <p:ext uri="{BB962C8B-B14F-4D97-AF65-F5344CB8AC3E}">
        <p14:creationId xmlns:p14="http://schemas.microsoft.com/office/powerpoint/2010/main" val="2044478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7AA1C-86CC-E880-D9F1-9C93EE7D0690}"/>
              </a:ext>
            </a:extLst>
          </p:cNvPr>
          <p:cNvSpPr>
            <a:spLocks noGrp="1"/>
          </p:cNvSpPr>
          <p:nvPr>
            <p:ph type="title"/>
          </p:nvPr>
        </p:nvSpPr>
        <p:spPr/>
        <p:txBody>
          <a:bodyPr/>
          <a:lstStyle/>
          <a:p>
            <a:r>
              <a:rPr lang="en-US" dirty="0"/>
              <a:t>Other causal inference strategies</a:t>
            </a:r>
          </a:p>
        </p:txBody>
      </p:sp>
      <p:sp>
        <p:nvSpPr>
          <p:cNvPr id="3" name="Content Placeholder 2">
            <a:extLst>
              <a:ext uri="{FF2B5EF4-FFF2-40B4-BE49-F238E27FC236}">
                <a16:creationId xmlns:a16="http://schemas.microsoft.com/office/drawing/2014/main" id="{AA12BFF0-323B-DC41-622A-9902377BB0C7}"/>
              </a:ext>
            </a:extLst>
          </p:cNvPr>
          <p:cNvSpPr>
            <a:spLocks noGrp="1"/>
          </p:cNvSpPr>
          <p:nvPr>
            <p:ph idx="1"/>
          </p:nvPr>
        </p:nvSpPr>
        <p:spPr>
          <a:xfrm>
            <a:off x="838200" y="1825625"/>
            <a:ext cx="10515600" cy="4895850"/>
          </a:xfrm>
        </p:spPr>
        <p:txBody>
          <a:bodyPr>
            <a:normAutofit/>
          </a:bodyPr>
          <a:lstStyle/>
          <a:p>
            <a:r>
              <a:rPr lang="en-US" sz="2400" dirty="0"/>
              <a:t>What if we couldn’t randomize?</a:t>
            </a:r>
          </a:p>
          <a:p>
            <a:r>
              <a:rPr lang="en-US" sz="2400" dirty="0"/>
              <a:t>We will cover several *other* econometric strategies you can use</a:t>
            </a:r>
          </a:p>
          <a:p>
            <a:r>
              <a:rPr lang="en-US" sz="2400" dirty="0"/>
              <a:t>Suppose we knew that there was a lot of variation in how much OB-GYNs serving Medicaid patients referred to NFP</a:t>
            </a:r>
          </a:p>
          <a:p>
            <a:pPr lvl="1"/>
            <a:r>
              <a:rPr lang="en-US" dirty="0"/>
              <a:t>Instrumental variables approach</a:t>
            </a:r>
          </a:p>
          <a:p>
            <a:r>
              <a:rPr lang="en-US" sz="2400" dirty="0"/>
              <a:t>Suppose </a:t>
            </a:r>
            <a:r>
              <a:rPr lang="en-US" sz="2400" dirty="0">
                <a:effectLst/>
                <a:latin typeface="Calibri" panose="020F0502020204030204" pitchFamily="34" charset="0"/>
                <a:ea typeface="Calibri" panose="020F0502020204030204" pitchFamily="34" charset="0"/>
                <a:cs typeface="Times New Roman" panose="02020603050405020304" pitchFamily="18" charset="0"/>
              </a:rPr>
              <a:t>there was policy that allowed families who had a </a:t>
            </a:r>
            <a:r>
              <a:rPr lang="en-US" sz="2400" i="1" dirty="0">
                <a:effectLst/>
                <a:latin typeface="Calibri" panose="020F0502020204030204" pitchFamily="34" charset="0"/>
                <a:ea typeface="Calibri" panose="020F0502020204030204" pitchFamily="34" charset="0"/>
                <a:cs typeface="Times New Roman" panose="02020603050405020304" pitchFamily="18" charset="0"/>
              </a:rPr>
              <a:t>prior</a:t>
            </a:r>
            <a:r>
              <a:rPr lang="en-US" sz="2400" dirty="0">
                <a:effectLst/>
                <a:latin typeface="Calibri" panose="020F0502020204030204" pitchFamily="34" charset="0"/>
                <a:ea typeface="Calibri" panose="020F0502020204030204" pitchFamily="34" charset="0"/>
                <a:cs typeface="Times New Roman" panose="02020603050405020304" pitchFamily="18" charset="0"/>
              </a:rPr>
              <a:t> birth with an infant delivered at &lt;30 weeks gestation to receive home based services during their current pregnancy?</a:t>
            </a:r>
          </a:p>
          <a:p>
            <a:pPr lvl="1"/>
            <a:r>
              <a:rPr lang="en-US" dirty="0">
                <a:latin typeface="Calibri" panose="020F0502020204030204" pitchFamily="34" charset="0"/>
                <a:ea typeface="Calibri" panose="020F0502020204030204" pitchFamily="34" charset="0"/>
                <a:cs typeface="Times New Roman" panose="02020603050405020304" pitchFamily="18" charset="0"/>
              </a:rPr>
              <a:t>Regression discontinuity approach</a:t>
            </a:r>
          </a:p>
          <a:p>
            <a:r>
              <a:rPr lang="en-US" sz="2400" dirty="0">
                <a:effectLst/>
                <a:latin typeface="Calibri" panose="020F0502020204030204" pitchFamily="34" charset="0"/>
                <a:ea typeface="Calibri" panose="020F0502020204030204" pitchFamily="34" charset="0"/>
                <a:cs typeface="Times New Roman" panose="02020603050405020304" pitchFamily="18" charset="0"/>
              </a:rPr>
              <a:t>Suppose we had a state where nurse home visiting was rolled out in some counties but not in others</a:t>
            </a:r>
          </a:p>
          <a:p>
            <a:pPr lvl="1"/>
            <a:r>
              <a:rPr lang="en-US" dirty="0">
                <a:latin typeface="Calibri" panose="020F0502020204030204" pitchFamily="34" charset="0"/>
                <a:ea typeface="Calibri" panose="020F0502020204030204" pitchFamily="34" charset="0"/>
                <a:cs typeface="Times New Roman" panose="02020603050405020304" pitchFamily="18" charset="0"/>
              </a:rPr>
              <a:t>Difference in differences approach</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pPr lvl="1"/>
            <a:endParaRPr lang="en-US" dirty="0"/>
          </a:p>
        </p:txBody>
      </p:sp>
      <p:sp>
        <p:nvSpPr>
          <p:cNvPr id="4" name="Slide Number Placeholder 3">
            <a:extLst>
              <a:ext uri="{FF2B5EF4-FFF2-40B4-BE49-F238E27FC236}">
                <a16:creationId xmlns:a16="http://schemas.microsoft.com/office/drawing/2014/main" id="{2101E2E3-AC06-E611-FAF8-D66B576DF854}"/>
              </a:ext>
            </a:extLst>
          </p:cNvPr>
          <p:cNvSpPr>
            <a:spLocks noGrp="1"/>
          </p:cNvSpPr>
          <p:nvPr>
            <p:ph type="sldNum" sz="quarter" idx="12"/>
          </p:nvPr>
        </p:nvSpPr>
        <p:spPr/>
        <p:txBody>
          <a:bodyPr/>
          <a:lstStyle/>
          <a:p>
            <a:fld id="{4698AAF4-35A4-40F4-A7AE-C8E2C41B9252}" type="slidenum">
              <a:rPr lang="en-US" smtClean="0"/>
              <a:t>23</a:t>
            </a:fld>
            <a:endParaRPr lang="en-US"/>
          </a:p>
        </p:txBody>
      </p:sp>
    </p:spTree>
    <p:extLst>
      <p:ext uri="{BB962C8B-B14F-4D97-AF65-F5344CB8AC3E}">
        <p14:creationId xmlns:p14="http://schemas.microsoft.com/office/powerpoint/2010/main" val="559347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DB888-322A-AFEC-8A70-1005BDB00F63}"/>
              </a:ext>
            </a:extLst>
          </p:cNvPr>
          <p:cNvSpPr>
            <a:spLocks noGrp="1"/>
          </p:cNvSpPr>
          <p:nvPr>
            <p:ph type="title"/>
          </p:nvPr>
        </p:nvSpPr>
        <p:spPr/>
        <p:txBody>
          <a:bodyPr/>
          <a:lstStyle/>
          <a:p>
            <a:r>
              <a:rPr lang="en-US" dirty="0"/>
              <a:t>Approach to Econometrics in PHS2000B</a:t>
            </a:r>
          </a:p>
        </p:txBody>
      </p:sp>
      <p:sp>
        <p:nvSpPr>
          <p:cNvPr id="3" name="Content Placeholder 2">
            <a:extLst>
              <a:ext uri="{FF2B5EF4-FFF2-40B4-BE49-F238E27FC236}">
                <a16:creationId xmlns:a16="http://schemas.microsoft.com/office/drawing/2014/main" id="{B94CD1A5-EC8C-7CF1-47BF-F622874564B9}"/>
              </a:ext>
            </a:extLst>
          </p:cNvPr>
          <p:cNvSpPr>
            <a:spLocks noGrp="1"/>
          </p:cNvSpPr>
          <p:nvPr>
            <p:ph idx="1"/>
          </p:nvPr>
        </p:nvSpPr>
        <p:spPr>
          <a:xfrm>
            <a:off x="838199" y="1825624"/>
            <a:ext cx="11091863" cy="4530725"/>
          </a:xfrm>
        </p:spPr>
        <p:txBody>
          <a:bodyPr>
            <a:normAutofit fontScale="92500" lnSpcReduction="10000"/>
          </a:bodyPr>
          <a:lstStyle/>
          <a:p>
            <a:r>
              <a:rPr lang="en-US" dirty="0"/>
              <a:t>Learning objectives</a:t>
            </a:r>
          </a:p>
          <a:p>
            <a:pPr lvl="1"/>
            <a:r>
              <a:rPr lang="en-US" dirty="0"/>
              <a:t>To understand the objectives of econometrics and how it differs from other causal inference approaches </a:t>
            </a:r>
          </a:p>
          <a:p>
            <a:pPr lvl="1"/>
            <a:r>
              <a:rPr lang="en-US" dirty="0"/>
              <a:t>To gain exposure to some of the econometric methods being used most often in public health research</a:t>
            </a:r>
          </a:p>
          <a:p>
            <a:pPr lvl="2"/>
            <a:r>
              <a:rPr lang="en-US" dirty="0"/>
              <a:t>Focus on intuition</a:t>
            </a:r>
          </a:p>
          <a:p>
            <a:pPr lvl="2"/>
            <a:r>
              <a:rPr lang="en-US" dirty="0"/>
              <a:t>Understand how to interpret results</a:t>
            </a:r>
          </a:p>
          <a:p>
            <a:pPr lvl="2"/>
            <a:r>
              <a:rPr lang="en-US" dirty="0"/>
              <a:t>Get some exposure to estimation</a:t>
            </a:r>
          </a:p>
          <a:p>
            <a:r>
              <a:rPr lang="en-US" dirty="0"/>
              <a:t>You will not learn 1/10 of what you would learn in a full econometrics course</a:t>
            </a:r>
          </a:p>
          <a:p>
            <a:r>
              <a:rPr lang="en-US" dirty="0"/>
              <a:t>Understanding of econometric techniques constantly evolving</a:t>
            </a:r>
          </a:p>
          <a:p>
            <a:r>
              <a:rPr lang="en-US" dirty="0"/>
              <a:t>Using these tools in your research requires a lot of learning by doing and mentorship from people familiar with using the methods</a:t>
            </a:r>
          </a:p>
          <a:p>
            <a:pPr lvl="1"/>
            <a:r>
              <a:rPr lang="en-US" dirty="0"/>
              <a:t>How do you set up your data, which method is the best fit, etc.</a:t>
            </a:r>
          </a:p>
          <a:p>
            <a:endParaRPr lang="en-US" dirty="0"/>
          </a:p>
        </p:txBody>
      </p:sp>
      <p:sp>
        <p:nvSpPr>
          <p:cNvPr id="4" name="Slide Number Placeholder 3">
            <a:extLst>
              <a:ext uri="{FF2B5EF4-FFF2-40B4-BE49-F238E27FC236}">
                <a16:creationId xmlns:a16="http://schemas.microsoft.com/office/drawing/2014/main" id="{D00CE723-29C9-6AF1-E460-6731006B5A3E}"/>
              </a:ext>
            </a:extLst>
          </p:cNvPr>
          <p:cNvSpPr>
            <a:spLocks noGrp="1"/>
          </p:cNvSpPr>
          <p:nvPr>
            <p:ph type="sldNum" sz="quarter" idx="12"/>
          </p:nvPr>
        </p:nvSpPr>
        <p:spPr/>
        <p:txBody>
          <a:bodyPr/>
          <a:lstStyle/>
          <a:p>
            <a:fld id="{4698AAF4-35A4-40F4-A7AE-C8E2C41B9252}" type="slidenum">
              <a:rPr lang="en-US" smtClean="0"/>
              <a:t>24</a:t>
            </a:fld>
            <a:endParaRPr lang="en-US"/>
          </a:p>
        </p:txBody>
      </p:sp>
    </p:spTree>
    <p:extLst>
      <p:ext uri="{BB962C8B-B14F-4D97-AF65-F5344CB8AC3E}">
        <p14:creationId xmlns:p14="http://schemas.microsoft.com/office/powerpoint/2010/main" val="3551404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FD0FE-359E-4CBF-8C0E-95A0F5514803}"/>
              </a:ext>
            </a:extLst>
          </p:cNvPr>
          <p:cNvSpPr>
            <a:spLocks noGrp="1"/>
          </p:cNvSpPr>
          <p:nvPr>
            <p:ph type="title"/>
          </p:nvPr>
        </p:nvSpPr>
        <p:spPr/>
        <p:txBody>
          <a:bodyPr/>
          <a:lstStyle/>
          <a:p>
            <a:r>
              <a:rPr lang="en-US" dirty="0"/>
              <a:t>Learning to use a method</a:t>
            </a:r>
          </a:p>
        </p:txBody>
      </p:sp>
      <p:sp>
        <p:nvSpPr>
          <p:cNvPr id="3" name="Content Placeholder 2">
            <a:extLst>
              <a:ext uri="{FF2B5EF4-FFF2-40B4-BE49-F238E27FC236}">
                <a16:creationId xmlns:a16="http://schemas.microsoft.com/office/drawing/2014/main" id="{7C2FE7D1-9CD8-426E-8FB7-5B428FE1EFA6}"/>
              </a:ext>
            </a:extLst>
          </p:cNvPr>
          <p:cNvSpPr>
            <a:spLocks noGrp="1"/>
          </p:cNvSpPr>
          <p:nvPr>
            <p:ph idx="1"/>
          </p:nvPr>
        </p:nvSpPr>
        <p:spPr/>
        <p:txBody>
          <a:bodyPr>
            <a:normAutofit/>
          </a:bodyPr>
          <a:lstStyle/>
          <a:p>
            <a:r>
              <a:rPr lang="en-US" dirty="0"/>
              <a:t>Assumptions: It is important to know and state the assumptions of the method that are required to establish internal validity of estimates</a:t>
            </a:r>
          </a:p>
          <a:p>
            <a:pPr lvl="1"/>
            <a:r>
              <a:rPr lang="en-US" dirty="0"/>
              <a:t>Testable assumptions should be tested, method only used if tests are passed</a:t>
            </a:r>
          </a:p>
          <a:p>
            <a:pPr lvl="1"/>
            <a:r>
              <a:rPr lang="en-US" dirty="0"/>
              <a:t>Untestable assumptions stated and discussed</a:t>
            </a:r>
          </a:p>
          <a:p>
            <a:r>
              <a:rPr lang="en-US" dirty="0"/>
              <a:t>Additional assumptions are required for valid confidence intervals, and these should also be stated and tested </a:t>
            </a:r>
          </a:p>
          <a:p>
            <a:r>
              <a:rPr lang="en-US" dirty="0"/>
              <a:t>Analysis should reflect recent developments – awareness of advances in tests of assumption validity, estimation techniques, options for estimation, post estimation presentation of results </a:t>
            </a:r>
          </a:p>
          <a:p>
            <a:pPr marL="0" indent="0">
              <a:buNone/>
            </a:pPr>
            <a:endParaRPr lang="en-US" dirty="0"/>
          </a:p>
        </p:txBody>
      </p:sp>
      <p:sp>
        <p:nvSpPr>
          <p:cNvPr id="4" name="Slide Number Placeholder 3">
            <a:extLst>
              <a:ext uri="{FF2B5EF4-FFF2-40B4-BE49-F238E27FC236}">
                <a16:creationId xmlns:a16="http://schemas.microsoft.com/office/drawing/2014/main" id="{5AD17A77-6C1C-4183-9678-E749F6412765}"/>
              </a:ext>
            </a:extLst>
          </p:cNvPr>
          <p:cNvSpPr>
            <a:spLocks noGrp="1"/>
          </p:cNvSpPr>
          <p:nvPr>
            <p:ph type="sldNum" sz="quarter" idx="12"/>
          </p:nvPr>
        </p:nvSpPr>
        <p:spPr/>
        <p:txBody>
          <a:bodyPr/>
          <a:lstStyle/>
          <a:p>
            <a:fld id="{4698AAF4-35A4-40F4-A7AE-C8E2C41B9252}" type="slidenum">
              <a:rPr lang="en-US" smtClean="0"/>
              <a:t>25</a:t>
            </a:fld>
            <a:endParaRPr lang="en-US"/>
          </a:p>
        </p:txBody>
      </p:sp>
    </p:spTree>
    <p:extLst>
      <p:ext uri="{BB962C8B-B14F-4D97-AF65-F5344CB8AC3E}">
        <p14:creationId xmlns:p14="http://schemas.microsoft.com/office/powerpoint/2010/main" val="444210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46861-E589-411E-A79F-DDFB226AB16C}"/>
              </a:ext>
            </a:extLst>
          </p:cNvPr>
          <p:cNvSpPr>
            <a:spLocks noGrp="1"/>
          </p:cNvSpPr>
          <p:nvPr>
            <p:ph type="title"/>
          </p:nvPr>
        </p:nvSpPr>
        <p:spPr/>
        <p:txBody>
          <a:bodyPr/>
          <a:lstStyle/>
          <a:p>
            <a:r>
              <a:rPr lang="en-US" dirty="0"/>
              <a:t>Debates between different disciplines</a:t>
            </a:r>
          </a:p>
        </p:txBody>
      </p:sp>
      <p:sp>
        <p:nvSpPr>
          <p:cNvPr id="3" name="Content Placeholder 2">
            <a:extLst>
              <a:ext uri="{FF2B5EF4-FFF2-40B4-BE49-F238E27FC236}">
                <a16:creationId xmlns:a16="http://schemas.microsoft.com/office/drawing/2014/main" id="{4EFF9081-9D6C-480E-996A-B1EDCBBD7932}"/>
              </a:ext>
            </a:extLst>
          </p:cNvPr>
          <p:cNvSpPr>
            <a:spLocks noGrp="1"/>
          </p:cNvSpPr>
          <p:nvPr>
            <p:ph idx="1"/>
          </p:nvPr>
        </p:nvSpPr>
        <p:spPr/>
        <p:txBody>
          <a:bodyPr>
            <a:normAutofit/>
          </a:bodyPr>
          <a:lstStyle/>
          <a:p>
            <a:r>
              <a:rPr lang="en-US" dirty="0"/>
              <a:t>Acceptability of untestable assumptions is based on norms</a:t>
            </a:r>
          </a:p>
          <a:p>
            <a:r>
              <a:rPr lang="en-US" dirty="0"/>
              <a:t>Changes over time, and history matters – impact of key papers in field</a:t>
            </a:r>
          </a:p>
          <a:p>
            <a:r>
              <a:rPr lang="en-US" dirty="0"/>
              <a:t>Real differences in assumptions between econometrics and epidemiology, plus differences in naming ideas</a:t>
            </a:r>
          </a:p>
          <a:p>
            <a:r>
              <a:rPr lang="en-US" dirty="0"/>
              <a:t>May be difficult to export a method to a different discipline if the assumptions are novel in that field: but increasingly econometrics techniques used in public health</a:t>
            </a:r>
          </a:p>
          <a:p>
            <a:pPr lvl="1"/>
            <a:r>
              <a:rPr lang="en-US" dirty="0"/>
              <a:t>Technical detail requirements for publication differ significantly</a:t>
            </a:r>
          </a:p>
          <a:p>
            <a:pPr marL="0" indent="0">
              <a:buNone/>
            </a:pPr>
            <a:r>
              <a:rPr lang="en-US" dirty="0">
                <a:solidFill>
                  <a:srgbClr val="FF0000"/>
                </a:solidFill>
              </a:rPr>
              <a:t>Break for Questions </a:t>
            </a:r>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2720613C-7E13-40B7-B182-96763D408952}"/>
              </a:ext>
            </a:extLst>
          </p:cNvPr>
          <p:cNvSpPr>
            <a:spLocks noGrp="1"/>
          </p:cNvSpPr>
          <p:nvPr>
            <p:ph type="sldNum" sz="quarter" idx="12"/>
          </p:nvPr>
        </p:nvSpPr>
        <p:spPr/>
        <p:txBody>
          <a:bodyPr/>
          <a:lstStyle/>
          <a:p>
            <a:fld id="{4698AAF4-35A4-40F4-A7AE-C8E2C41B9252}" type="slidenum">
              <a:rPr lang="en-US" smtClean="0"/>
              <a:t>26</a:t>
            </a:fld>
            <a:endParaRPr lang="en-US"/>
          </a:p>
        </p:txBody>
      </p:sp>
    </p:spTree>
    <p:extLst>
      <p:ext uri="{BB962C8B-B14F-4D97-AF65-F5344CB8AC3E}">
        <p14:creationId xmlns:p14="http://schemas.microsoft.com/office/powerpoint/2010/main" val="2764188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Some social norms in Econometrics compared with Biostatistics and Epidemiology</a:t>
            </a:r>
          </a:p>
        </p:txBody>
      </p:sp>
      <p:sp>
        <p:nvSpPr>
          <p:cNvPr id="3" name="Content Placeholder 2"/>
          <p:cNvSpPr>
            <a:spLocks noGrp="1"/>
          </p:cNvSpPr>
          <p:nvPr>
            <p:ph idx="1"/>
          </p:nvPr>
        </p:nvSpPr>
        <p:spPr>
          <a:xfrm>
            <a:off x="838200" y="2204357"/>
            <a:ext cx="10515600" cy="3972606"/>
          </a:xfrm>
        </p:spPr>
        <p:txBody>
          <a:bodyPr>
            <a:normAutofit fontScale="85000" lnSpcReduction="10000"/>
          </a:bodyPr>
          <a:lstStyle/>
          <a:p>
            <a:r>
              <a:rPr lang="en-US" dirty="0"/>
              <a:t>Use of linear probability model rather than logistic regression for binary outcomes </a:t>
            </a:r>
          </a:p>
          <a:p>
            <a:r>
              <a:rPr lang="en-US" dirty="0"/>
              <a:t>Pervasive use of fixed effects but not random effects</a:t>
            </a:r>
          </a:p>
          <a:p>
            <a:r>
              <a:rPr lang="en-US" dirty="0"/>
              <a:t>Less emphasis on data quality and reporting of construction of analysis samples</a:t>
            </a:r>
          </a:p>
          <a:p>
            <a:r>
              <a:rPr lang="en-US" dirty="0"/>
              <a:t>Estimation of many models with different covariates or functional form as robustness checks</a:t>
            </a:r>
          </a:p>
          <a:p>
            <a:r>
              <a:rPr lang="en-US" dirty="0"/>
              <a:t>Continuous explanatory variables rather than discrete groups (e.g., age)</a:t>
            </a:r>
          </a:p>
          <a:p>
            <a:r>
              <a:rPr lang="en-US" dirty="0"/>
              <a:t>Estimation of marginal effects not relative risks or odds ratios</a:t>
            </a:r>
          </a:p>
          <a:p>
            <a:endParaRPr lang="en-US" dirty="0"/>
          </a:p>
          <a:p>
            <a:pPr marL="0" indent="0">
              <a:buNone/>
            </a:pPr>
            <a:r>
              <a:rPr lang="en-US" dirty="0">
                <a:solidFill>
                  <a:srgbClr val="FF0000"/>
                </a:solidFill>
              </a:rPr>
              <a:t>Break for Questions</a:t>
            </a:r>
            <a:r>
              <a:rPr lang="en-US" dirty="0"/>
              <a:t> </a:t>
            </a:r>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CBC58077-6D70-48FE-B5E7-5E8479B9157B}"/>
              </a:ext>
            </a:extLst>
          </p:cNvPr>
          <p:cNvSpPr>
            <a:spLocks noGrp="1"/>
          </p:cNvSpPr>
          <p:nvPr>
            <p:ph type="sldNum" sz="quarter" idx="12"/>
          </p:nvPr>
        </p:nvSpPr>
        <p:spPr/>
        <p:txBody>
          <a:bodyPr/>
          <a:lstStyle/>
          <a:p>
            <a:fld id="{4698AAF4-35A4-40F4-A7AE-C8E2C41B9252}" type="slidenum">
              <a:rPr lang="en-US" smtClean="0"/>
              <a:t>27</a:t>
            </a:fld>
            <a:endParaRPr lang="en-US"/>
          </a:p>
        </p:txBody>
      </p:sp>
    </p:spTree>
    <p:extLst>
      <p:ext uri="{BB962C8B-B14F-4D97-AF65-F5344CB8AC3E}">
        <p14:creationId xmlns:p14="http://schemas.microsoft.com/office/powerpoint/2010/main" val="267478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Continuous development of methods</a:t>
            </a:r>
          </a:p>
        </p:txBody>
      </p:sp>
      <p:sp>
        <p:nvSpPr>
          <p:cNvPr id="3" name="Content Placeholder 2"/>
          <p:cNvSpPr>
            <a:spLocks noGrp="1"/>
          </p:cNvSpPr>
          <p:nvPr>
            <p:ph idx="1"/>
          </p:nvPr>
        </p:nvSpPr>
        <p:spPr>
          <a:xfrm>
            <a:off x="838200" y="1334278"/>
            <a:ext cx="10515600" cy="5387197"/>
          </a:xfrm>
        </p:spPr>
        <p:txBody>
          <a:bodyPr>
            <a:normAutofit fontScale="92500" lnSpcReduction="20000"/>
          </a:bodyPr>
          <a:lstStyle/>
          <a:p>
            <a:r>
              <a:rPr lang="en-US" dirty="0"/>
              <a:t>The literature on each method advances rapidly over time</a:t>
            </a:r>
          </a:p>
          <a:p>
            <a:r>
              <a:rPr lang="en-US" dirty="0"/>
              <a:t>New sources of bias always being discovered!</a:t>
            </a:r>
          </a:p>
          <a:p>
            <a:r>
              <a:rPr lang="en-US" dirty="0"/>
              <a:t>Valid confidence intervals</a:t>
            </a:r>
          </a:p>
          <a:p>
            <a:pPr lvl="1"/>
            <a:r>
              <a:rPr lang="en-US" dirty="0"/>
              <a:t>Constructing valid confidence intervals requires additional assumption to those needed for having valid (consistent) estimates </a:t>
            </a:r>
          </a:p>
          <a:p>
            <a:pPr lvl="1"/>
            <a:r>
              <a:rPr lang="en-US" dirty="0"/>
              <a:t>Robust standard errors, clustering, small sample corrections (i.e. bootstrapping) relax additional assumptions needed for valid standard errors</a:t>
            </a:r>
          </a:p>
          <a:p>
            <a:r>
              <a:rPr lang="en-US" dirty="0"/>
              <a:t>Different estimation techniques</a:t>
            </a:r>
          </a:p>
          <a:p>
            <a:pPr lvl="1"/>
            <a:r>
              <a:rPr lang="en-US" dirty="0"/>
              <a:t>Minimize errors, maximum likelihood, method of moments (see extra slides for more)</a:t>
            </a:r>
          </a:p>
          <a:p>
            <a:pPr lvl="1"/>
            <a:r>
              <a:rPr lang="en-US" dirty="0"/>
              <a:t>Can have slightly different assumptions</a:t>
            </a:r>
          </a:p>
          <a:p>
            <a:pPr lvl="1"/>
            <a:r>
              <a:rPr lang="en-US" dirty="0"/>
              <a:t>Monte Carlo studies of method performance </a:t>
            </a:r>
          </a:p>
          <a:p>
            <a:r>
              <a:rPr lang="en-US" dirty="0"/>
              <a:t>Better algorithms for estimating coefficients</a:t>
            </a:r>
          </a:p>
          <a:p>
            <a:pPr lvl="1"/>
            <a:r>
              <a:rPr lang="en-US"/>
              <a:t>Faster </a:t>
            </a:r>
            <a:r>
              <a:rPr lang="en-US" dirty="0"/>
              <a:t>computers allow brute force approach without assumptions to speed computation</a:t>
            </a:r>
          </a:p>
          <a:p>
            <a:pPr marL="457200" lvl="1" indent="0">
              <a:buNone/>
            </a:pPr>
            <a:endParaRPr lang="en-US" dirty="0">
              <a:solidFill>
                <a:srgbClr val="FF0000"/>
              </a:solidFill>
            </a:endParaRPr>
          </a:p>
          <a:p>
            <a:pPr marL="457200" lvl="1" indent="0">
              <a:buNone/>
            </a:pPr>
            <a:r>
              <a:rPr lang="en-US" dirty="0">
                <a:solidFill>
                  <a:srgbClr val="FF0000"/>
                </a:solidFill>
              </a:rPr>
              <a:t>Break for Questions</a:t>
            </a:r>
            <a:r>
              <a:rPr lang="en-US" dirty="0"/>
              <a:t> </a:t>
            </a:r>
          </a:p>
        </p:txBody>
      </p:sp>
      <p:sp>
        <p:nvSpPr>
          <p:cNvPr id="4" name="Slide Number Placeholder 3">
            <a:extLst>
              <a:ext uri="{FF2B5EF4-FFF2-40B4-BE49-F238E27FC236}">
                <a16:creationId xmlns:a16="http://schemas.microsoft.com/office/drawing/2014/main" id="{AFACE643-F194-4BB7-AD5C-313FD9016B21}"/>
              </a:ext>
            </a:extLst>
          </p:cNvPr>
          <p:cNvSpPr>
            <a:spLocks noGrp="1"/>
          </p:cNvSpPr>
          <p:nvPr>
            <p:ph type="sldNum" sz="quarter" idx="12"/>
          </p:nvPr>
        </p:nvSpPr>
        <p:spPr/>
        <p:txBody>
          <a:bodyPr/>
          <a:lstStyle/>
          <a:p>
            <a:fld id="{4698AAF4-35A4-40F4-A7AE-C8E2C41B9252}" type="slidenum">
              <a:rPr lang="en-US" smtClean="0"/>
              <a:t>28</a:t>
            </a:fld>
            <a:endParaRPr lang="en-US"/>
          </a:p>
        </p:txBody>
      </p:sp>
    </p:spTree>
    <p:extLst>
      <p:ext uri="{BB962C8B-B14F-4D97-AF65-F5344CB8AC3E}">
        <p14:creationId xmlns:p14="http://schemas.microsoft.com/office/powerpoint/2010/main" val="1348798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AA284F-AE5E-4B77-94EC-1945E1079D1F}"/>
              </a:ext>
            </a:extLst>
          </p:cNvPr>
          <p:cNvSpPr>
            <a:spLocks noGrp="1"/>
          </p:cNvSpPr>
          <p:nvPr>
            <p:ph type="title"/>
          </p:nvPr>
        </p:nvSpPr>
        <p:spPr/>
        <p:txBody>
          <a:bodyPr/>
          <a:lstStyle/>
          <a:p>
            <a:r>
              <a:rPr lang="en-US" dirty="0"/>
              <a:t>Additional slides</a:t>
            </a:r>
          </a:p>
        </p:txBody>
      </p:sp>
      <p:sp>
        <p:nvSpPr>
          <p:cNvPr id="5" name="Text Placeholder 4">
            <a:extLst>
              <a:ext uri="{FF2B5EF4-FFF2-40B4-BE49-F238E27FC236}">
                <a16:creationId xmlns:a16="http://schemas.microsoft.com/office/drawing/2014/main" id="{22B8EB75-2496-4D0B-A8BF-530DEFFEC969}"/>
              </a:ext>
            </a:extLst>
          </p:cNvPr>
          <p:cNvSpPr>
            <a:spLocks noGrp="1"/>
          </p:cNvSpPr>
          <p:nvPr>
            <p:ph type="body" idx="1"/>
          </p:nvPr>
        </p:nvSpPr>
        <p:spPr/>
        <p:txBody>
          <a:bodyPr/>
          <a:lstStyle/>
          <a:p>
            <a:endParaRPr lang="en-US"/>
          </a:p>
        </p:txBody>
      </p:sp>
      <p:sp>
        <p:nvSpPr>
          <p:cNvPr id="6" name="Slide Number Placeholder 5">
            <a:extLst>
              <a:ext uri="{FF2B5EF4-FFF2-40B4-BE49-F238E27FC236}">
                <a16:creationId xmlns:a16="http://schemas.microsoft.com/office/drawing/2014/main" id="{560DCC45-5439-4AFA-BC46-A6AE1B97DD83}"/>
              </a:ext>
            </a:extLst>
          </p:cNvPr>
          <p:cNvSpPr>
            <a:spLocks noGrp="1"/>
          </p:cNvSpPr>
          <p:nvPr>
            <p:ph type="sldNum" sz="quarter" idx="12"/>
          </p:nvPr>
        </p:nvSpPr>
        <p:spPr/>
        <p:txBody>
          <a:bodyPr/>
          <a:lstStyle/>
          <a:p>
            <a:fld id="{4698AAF4-35A4-40F4-A7AE-C8E2C41B9252}" type="slidenum">
              <a:rPr lang="en-US" smtClean="0"/>
              <a:t>29</a:t>
            </a:fld>
            <a:endParaRPr lang="en-US"/>
          </a:p>
        </p:txBody>
      </p:sp>
    </p:spTree>
    <p:extLst>
      <p:ext uri="{BB962C8B-B14F-4D97-AF65-F5344CB8AC3E}">
        <p14:creationId xmlns:p14="http://schemas.microsoft.com/office/powerpoint/2010/main" val="41779138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5F5DA-0E73-41DC-9B49-7A676D91EA38}"/>
              </a:ext>
            </a:extLst>
          </p:cNvPr>
          <p:cNvSpPr>
            <a:spLocks noGrp="1"/>
          </p:cNvSpPr>
          <p:nvPr>
            <p:ph type="title"/>
          </p:nvPr>
        </p:nvSpPr>
        <p:spPr/>
        <p:txBody>
          <a:bodyPr/>
          <a:lstStyle/>
          <a:p>
            <a:r>
              <a:rPr lang="en-US" dirty="0"/>
              <a:t>Estimator properties expressed mathematically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3C96FA-9D37-424F-81E2-B58C389483C7}"/>
                  </a:ext>
                </a:extLst>
              </p:cNvPr>
              <p:cNvSpPr>
                <a:spLocks noGrp="1"/>
              </p:cNvSpPr>
              <p:nvPr>
                <p:ph idx="1"/>
              </p:nvPr>
            </p:nvSpPr>
            <p:spPr/>
            <p:txBody>
              <a:bodyPr>
                <a:normAutofit fontScale="77500" lnSpcReduction="20000"/>
              </a:bodyPr>
              <a:lstStyle/>
              <a:p>
                <a:pPr marL="0" indent="0">
                  <a:buNone/>
                </a:pPr>
                <a:r>
                  <a:rPr lang="en-US" dirty="0"/>
                  <a:t>Define </a:t>
                </a:r>
                <a14:m>
                  <m:oMath xmlns:m="http://schemas.openxmlformats.org/officeDocument/2006/math">
                    <m:r>
                      <a:rPr lang="en-US" b="0" i="1" smtClean="0">
                        <a:latin typeface="Cambria Math" panose="02040503050406030204" pitchFamily="18" charset="0"/>
                      </a:rPr>
                      <m:t>𝜃</m:t>
                    </m:r>
                  </m:oMath>
                </a14:m>
                <a:r>
                  <a:rPr lang="en-US" dirty="0"/>
                  <a:t> as the population parameter,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oMath>
                </a14:m>
                <a:r>
                  <a:rPr lang="en-US" dirty="0"/>
                  <a:t> to be its estimate, and </a:t>
                </a:r>
                <a14:m>
                  <m:oMath xmlns:m="http://schemas.openxmlformats.org/officeDocument/2006/math">
                    <m:r>
                      <a:rPr lang="en-US" b="0" i="1" smtClean="0">
                        <a:latin typeface="Cambria Math" panose="02040503050406030204" pitchFamily="18" charset="0"/>
                      </a:rPr>
                      <m:t>𝑛</m:t>
                    </m:r>
                  </m:oMath>
                </a14:m>
                <a:r>
                  <a:rPr lang="en-US" dirty="0"/>
                  <a:t> to be the sample size</a:t>
                </a:r>
              </a:p>
              <a:p>
                <a:pPr marL="0" indent="0">
                  <a:buNone/>
                </a:pPr>
                <a:endParaRPr lang="en-US" dirty="0"/>
              </a:p>
              <a:p>
                <a:pPr marL="0" indent="0">
                  <a:buNone/>
                </a:pPr>
                <a:r>
                  <a:rPr lang="en-US" b="1" dirty="0"/>
                  <a:t>Unbiasedness:  </a:t>
                </a:r>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e>
                    </m:d>
                    <m:r>
                      <a:rPr lang="en-US" b="0" i="1" smtClean="0">
                        <a:latin typeface="Cambria Math" panose="02040503050406030204" pitchFamily="18" charset="0"/>
                      </a:rPr>
                      <m:t>=</m:t>
                    </m:r>
                    <m:r>
                      <a:rPr lang="en-US" b="0" i="1" smtClean="0">
                        <a:latin typeface="Cambria Math" panose="02040503050406030204" pitchFamily="18" charset="0"/>
                      </a:rPr>
                      <m:t>𝜃</m:t>
                    </m:r>
                  </m:oMath>
                </a14:m>
                <a:r>
                  <a:rPr lang="en-US" dirty="0"/>
                  <a:t>.</a:t>
                </a:r>
              </a:p>
              <a:p>
                <a:pPr marL="0" indent="0">
                  <a:buNone/>
                </a:pPr>
                <a:endParaRPr lang="en-US" dirty="0"/>
              </a:p>
              <a:p>
                <a:pPr marL="0" indent="0">
                  <a:buNone/>
                </a:pPr>
                <a:r>
                  <a:rPr lang="en-US" b="1" dirty="0"/>
                  <a:t>Consistency: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𝜃</m:t>
                            </m:r>
                          </m:e>
                        </m:d>
                        <m:r>
                          <a:rPr lang="en-US" b="0" i="1" smtClean="0">
                            <a:latin typeface="Cambria Math" panose="02040503050406030204" pitchFamily="18" charset="0"/>
                          </a:rPr>
                          <m:t>&gt;</m:t>
                        </m:r>
                        <m:r>
                          <a:rPr lang="en-US" b="0" i="1" smtClean="0">
                            <a:latin typeface="Cambria Math" panose="02040503050406030204" pitchFamily="18" charset="0"/>
                          </a:rPr>
                          <m:t>𝛿</m:t>
                        </m:r>
                      </m:e>
                    </m:d>
                    <m:r>
                      <a:rPr lang="en-US" b="0" i="1" smtClean="0">
                        <a:latin typeface="Cambria Math" panose="02040503050406030204" pitchFamily="18" charset="0"/>
                      </a:rPr>
                      <m:t>→0</m:t>
                    </m:r>
                  </m:oMath>
                </a14:m>
                <a:r>
                  <a:rPr lang="en-US" dirty="0"/>
                  <a:t>   as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→0</m:t>
                    </m:r>
                  </m:oMath>
                </a14:m>
                <a:r>
                  <a:rPr lang="en-US" dirty="0"/>
                  <a:t>  for every </a:t>
                </a:r>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&gt;0</m:t>
                    </m:r>
                  </m:oMath>
                </a14:m>
                <a:r>
                  <a:rPr lang="en-US" dirty="0"/>
                  <a:t>. </a:t>
                </a:r>
              </a:p>
              <a:p>
                <a:pPr marL="0" indent="0">
                  <a:buNone/>
                </a:pPr>
                <a:r>
                  <a:rPr lang="en-US" dirty="0"/>
                  <a:t>Alternatively,</a:t>
                </a:r>
              </a:p>
              <a:p>
                <a:pPr marL="0" indent="0">
                  <a:buNone/>
                </a:pP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lim</m:t>
                        </m:r>
                      </m:fName>
                      <m:e>
                        <m:r>
                          <a:rPr lang="en-US" b="0" i="1" smtClean="0">
                            <a:latin typeface="Cambria Math" panose="02040503050406030204" pitchFamily="18" charset="0"/>
                          </a:rPr>
                          <m:t>𝑝𝑟𝑜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𝑛</m:t>
                            </m:r>
                            <m:r>
                              <a:rPr lang="en-US" b="0" i="1" smtClean="0">
                                <a:latin typeface="Cambria Math" panose="02040503050406030204" pitchFamily="18" charset="0"/>
                              </a:rPr>
                              <m:t>→∞</m:t>
                            </m:r>
                          </m:sub>
                        </m:sSub>
                        <m:d>
                          <m:dPr>
                            <m:begChr m:val="["/>
                            <m:endChr m:val="]"/>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𝜃</m:t>
                                        </m:r>
                                      </m:e>
                                    </m:acc>
                                  </m:e>
                                  <m:sub>
                                    <m:r>
                                      <a:rPr lang="en-US"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rPr>
                                  <m:t>𝜃</m:t>
                                </m:r>
                              </m:e>
                            </m:d>
                            <m:r>
                              <a:rPr lang="en-US" b="0" i="1" smtClean="0">
                                <a:latin typeface="Cambria Math" panose="02040503050406030204" pitchFamily="18" charset="0"/>
                              </a:rPr>
                              <m:t>&lt;</m:t>
                            </m:r>
                            <m:r>
                              <a:rPr lang="en-US" b="0" i="1" smtClean="0">
                                <a:latin typeface="Cambria Math" panose="02040503050406030204" pitchFamily="18" charset="0"/>
                              </a:rPr>
                              <m:t>𝛿</m:t>
                            </m:r>
                          </m:e>
                        </m:d>
                      </m:e>
                    </m:func>
                    <m:r>
                      <a:rPr lang="en-US" b="0" i="1" smtClean="0">
                        <a:latin typeface="Cambria Math" panose="02040503050406030204" pitchFamily="18" charset="0"/>
                      </a:rPr>
                      <m:t>=1</m:t>
                    </m:r>
                  </m:oMath>
                </a14:m>
                <a:r>
                  <a:rPr lang="en-US" dirty="0"/>
                  <a:t>.</a:t>
                </a:r>
              </a:p>
              <a:p>
                <a:pPr marL="0" indent="0">
                  <a:buNone/>
                </a:pPr>
                <a:endParaRPr lang="en-US" dirty="0"/>
              </a:p>
              <a:p>
                <a:pPr marL="0" indent="0">
                  <a:buNone/>
                </a:pPr>
                <a:r>
                  <a:rPr lang="en-US" b="1" dirty="0"/>
                  <a:t>Efficiency: </a:t>
                </a:r>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r>
                                  <a:rPr lang="en-US" b="0" i="1" smtClean="0">
                                    <a:latin typeface="Cambria Math" panose="02040503050406030204" pitchFamily="18" charset="0"/>
                                  </a:rPr>
                                  <m:t>−</m:t>
                                </m:r>
                                <m:r>
                                  <a:rPr lang="en-US" b="0" i="1" smtClean="0">
                                    <a:latin typeface="Cambria Math" panose="02040503050406030204" pitchFamily="18" charset="0"/>
                                  </a:rPr>
                                  <m:t>𝜃</m:t>
                                </m:r>
                              </m:e>
                            </m:d>
                          </m:e>
                          <m:sup>
                            <m:r>
                              <a:rPr lang="en-US" b="0" i="1" smtClean="0">
                                <a:latin typeface="Cambria Math" panose="02040503050406030204" pitchFamily="18" charset="0"/>
                              </a:rPr>
                              <m:t>2</m:t>
                            </m:r>
                          </m:sup>
                        </m:sSup>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𝜆</m:t>
                                </m:r>
                              </m:e>
                            </m:acc>
                          </m:lim>
                        </m:limLow>
                      </m:fName>
                      <m:e>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𝜆</m:t>
                                        </m:r>
                                      </m:e>
                                    </m:acc>
                                    <m:r>
                                      <a:rPr lang="en-US" b="0" i="1" smtClean="0">
                                        <a:latin typeface="Cambria Math" panose="02040503050406030204" pitchFamily="18" charset="0"/>
                                      </a:rPr>
                                      <m:t>−</m:t>
                                    </m:r>
                                    <m:r>
                                      <a:rPr lang="en-US" b="0" i="1" smtClean="0">
                                        <a:latin typeface="Cambria Math" panose="02040503050406030204" pitchFamily="18" charset="0"/>
                                      </a:rPr>
                                      <m:t>𝜃</m:t>
                                    </m:r>
                                  </m:e>
                                </m:d>
                              </m:e>
                              <m:sup>
                                <m:r>
                                  <a:rPr lang="en-US" b="0" i="1" smtClean="0">
                                    <a:latin typeface="Cambria Math" panose="02040503050406030204" pitchFamily="18" charset="0"/>
                                  </a:rPr>
                                  <m:t>2</m:t>
                                </m:r>
                              </m:sup>
                            </m:sSup>
                          </m:e>
                        </m:d>
                      </m:e>
                    </m:func>
                  </m:oMath>
                </a14:m>
                <a:r>
                  <a:rPr lang="en-US" dirty="0"/>
                  <a:t>.</a:t>
                </a:r>
              </a:p>
              <a:p>
                <a:pPr marL="0" indent="0">
                  <a:buNone/>
                </a:pPr>
                <a:endParaRPr lang="en-US" dirty="0"/>
              </a:p>
              <a:p>
                <a:pPr marL="0" indent="0">
                  <a:buNone/>
                </a:pPr>
                <a:r>
                  <a:rPr lang="en-US" dirty="0"/>
                  <a:t>These definitions were presented in </a:t>
                </a:r>
                <a:r>
                  <a:rPr lang="en-US"/>
                  <a:t>PHS 2000A </a:t>
                </a:r>
                <a:r>
                  <a:rPr lang="en-US" dirty="0"/>
                  <a:t>as well.</a:t>
                </a:r>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193C96FA-9D37-424F-81E2-B58C389483C7}"/>
                  </a:ext>
                </a:extLst>
              </p:cNvPr>
              <p:cNvSpPr>
                <a:spLocks noGrp="1" noRot="1" noChangeAspect="1" noMove="1" noResize="1" noEditPoints="1" noAdjustHandles="1" noChangeArrowheads="1" noChangeShapeType="1" noTextEdit="1"/>
              </p:cNvSpPr>
              <p:nvPr>
                <p:ph idx="1"/>
              </p:nvPr>
            </p:nvSpPr>
            <p:spPr>
              <a:blipFill>
                <a:blip r:embed="rId2"/>
                <a:stretch>
                  <a:fillRect l="-724" t="-290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DFF59B7-76BD-4CF8-B8CF-6C3DD30C6FA3}"/>
              </a:ext>
            </a:extLst>
          </p:cNvPr>
          <p:cNvSpPr>
            <a:spLocks noGrp="1"/>
          </p:cNvSpPr>
          <p:nvPr>
            <p:ph type="sldNum" sz="quarter" idx="12"/>
          </p:nvPr>
        </p:nvSpPr>
        <p:spPr/>
        <p:txBody>
          <a:bodyPr/>
          <a:lstStyle/>
          <a:p>
            <a:fld id="{4698AAF4-35A4-40F4-A7AE-C8E2C41B9252}" type="slidenum">
              <a:rPr lang="en-US" smtClean="0"/>
              <a:t>30</a:t>
            </a:fld>
            <a:endParaRPr lang="en-US"/>
          </a:p>
        </p:txBody>
      </p:sp>
    </p:spTree>
    <p:extLst>
      <p:ext uri="{BB962C8B-B14F-4D97-AF65-F5344CB8AC3E}">
        <p14:creationId xmlns:p14="http://schemas.microsoft.com/office/powerpoint/2010/main" val="15969777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F7DE6-22AC-4D45-8B40-CA617CB64E3C}"/>
              </a:ext>
            </a:extLst>
          </p:cNvPr>
          <p:cNvSpPr>
            <a:spLocks noGrp="1"/>
          </p:cNvSpPr>
          <p:nvPr>
            <p:ph type="title"/>
          </p:nvPr>
        </p:nvSpPr>
        <p:spPr/>
        <p:txBody>
          <a:bodyPr/>
          <a:lstStyle/>
          <a:p>
            <a:r>
              <a:rPr lang="en-US" dirty="0"/>
              <a:t>I. Epi-Econ Dictionary</a:t>
            </a:r>
          </a:p>
        </p:txBody>
      </p:sp>
      <p:sp>
        <p:nvSpPr>
          <p:cNvPr id="3" name="Text Placeholder 2">
            <a:extLst>
              <a:ext uri="{FF2B5EF4-FFF2-40B4-BE49-F238E27FC236}">
                <a16:creationId xmlns:a16="http://schemas.microsoft.com/office/drawing/2014/main" id="{03B14C99-6BEA-44B5-A58C-851E12567D8C}"/>
              </a:ext>
            </a:extLst>
          </p:cNvPr>
          <p:cNvSpPr>
            <a:spLocks noGrp="1"/>
          </p:cNvSpPr>
          <p:nvPr>
            <p:ph type="body" idx="1"/>
          </p:nvPr>
        </p:nvSpPr>
        <p:spPr/>
        <p:txBody>
          <a:bodyPr/>
          <a:lstStyle/>
          <a:p>
            <a:r>
              <a:rPr lang="en-US" dirty="0"/>
              <a:t>Developed by Emma Clarke, Doctoral Candidate, Global Health and Population Department, Harvard T. H. Chan School of Public Health</a:t>
            </a:r>
          </a:p>
        </p:txBody>
      </p:sp>
      <p:sp>
        <p:nvSpPr>
          <p:cNvPr id="4" name="Slide Number Placeholder 3">
            <a:extLst>
              <a:ext uri="{FF2B5EF4-FFF2-40B4-BE49-F238E27FC236}">
                <a16:creationId xmlns:a16="http://schemas.microsoft.com/office/drawing/2014/main" id="{1EDDD92F-6E40-44C6-979B-E6F0F4841D23}"/>
              </a:ext>
            </a:extLst>
          </p:cNvPr>
          <p:cNvSpPr>
            <a:spLocks noGrp="1"/>
          </p:cNvSpPr>
          <p:nvPr>
            <p:ph type="sldNum" sz="quarter" idx="12"/>
          </p:nvPr>
        </p:nvSpPr>
        <p:spPr/>
        <p:txBody>
          <a:bodyPr/>
          <a:lstStyle/>
          <a:p>
            <a:fld id="{4698AAF4-35A4-40F4-A7AE-C8E2C41B9252}" type="slidenum">
              <a:rPr lang="en-US" smtClean="0"/>
              <a:t>31</a:t>
            </a:fld>
            <a:endParaRPr lang="en-US"/>
          </a:p>
        </p:txBody>
      </p:sp>
    </p:spTree>
    <p:extLst>
      <p:ext uri="{BB962C8B-B14F-4D97-AF65-F5344CB8AC3E}">
        <p14:creationId xmlns:p14="http://schemas.microsoft.com/office/powerpoint/2010/main" val="27243362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a:bodyPr>
          <a:lstStyle/>
          <a:p>
            <a:r>
              <a:rPr lang="en-US" altLang="en-US" sz="3600" dirty="0"/>
              <a:t>Omitted Variable Bias and Randomized Trials</a:t>
            </a:r>
          </a:p>
        </p:txBody>
      </p:sp>
      <mc:AlternateContent xmlns:mc="http://schemas.openxmlformats.org/markup-compatibility/2006" xmlns:a14="http://schemas.microsoft.com/office/drawing/2010/main">
        <mc:Choice Requires="a14">
          <p:sp>
            <p:nvSpPr>
              <p:cNvPr id="19459" name="Rectangle 3"/>
              <p:cNvSpPr>
                <a:spLocks noGrp="1" noChangeArrowheads="1"/>
              </p:cNvSpPr>
              <p:nvPr>
                <p:ph type="body" idx="1"/>
              </p:nvPr>
            </p:nvSpPr>
            <p:spPr>
              <a:xfrm>
                <a:off x="838200" y="1600199"/>
                <a:ext cx="10834396" cy="4334069"/>
              </a:xfrm>
            </p:spPr>
            <p:txBody>
              <a:bodyPr>
                <a:normAutofit fontScale="85000" lnSpcReduction="20000"/>
              </a:bodyPr>
              <a:lstStyle/>
              <a:p>
                <a:pPr>
                  <a:buFontTx/>
                  <a:buNone/>
                </a:pPr>
                <a:r>
                  <a:rPr lang="en-US" altLang="en-US" dirty="0"/>
                  <a:t>Assume the </a:t>
                </a:r>
                <a:r>
                  <a:rPr lang="en-US" altLang="en-US" b="1" dirty="0"/>
                  <a:t>true </a:t>
                </a:r>
                <a:r>
                  <a:rPr lang="en-US" altLang="en-US" b="1" i="1" dirty="0"/>
                  <a:t>population</a:t>
                </a:r>
                <a:r>
                  <a:rPr lang="en-US" altLang="en-US" b="1" dirty="0"/>
                  <a:t> model </a:t>
                </a:r>
                <a:r>
                  <a:rPr lang="en-US" altLang="en-US" dirty="0"/>
                  <a:t>is given by:</a:t>
                </a:r>
              </a:p>
              <a:p>
                <a:pPr>
                  <a:buFontTx/>
                  <a:buNone/>
                </a:pPr>
                <a:endParaRPr lang="en-US" altLang="en-US" b="0" i="1" dirty="0">
                  <a:latin typeface="Cambria Math" panose="02040503050406030204" pitchFamily="18" charset="0"/>
                </a:endParaRPr>
              </a:p>
              <a:p>
                <a:pPr>
                  <a:buFontTx/>
                  <a:buNone/>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rPr>
                        <m:t>𝑌</m:t>
                      </m:r>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𝑋</m:t>
                          </m:r>
                        </m:e>
                        <m:sub>
                          <m:r>
                            <a:rPr lang="en-US" altLang="en-US" b="0" i="1" smtClean="0">
                              <a:latin typeface="Cambria Math" panose="02040503050406030204" pitchFamily="18" charset="0"/>
                            </a:rPr>
                            <m:t>1</m:t>
                          </m:r>
                        </m:sub>
                      </m:sSub>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ea typeface="Cambria Math" panose="02040503050406030204" pitchFamily="18" charset="0"/>
                            </a:rPr>
                            <m:t>𝛽</m:t>
                          </m:r>
                        </m:e>
                        <m:sub>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rPr>
                            <m:t>𝑋</m:t>
                          </m:r>
                        </m:e>
                        <m:sub>
                          <m:r>
                            <a:rPr lang="en-US" altLang="en-US" b="0" i="1" smtClean="0">
                              <a:latin typeface="Cambria Math" panose="02040503050406030204" pitchFamily="18" charset="0"/>
                            </a:rPr>
                            <m:t>2</m:t>
                          </m:r>
                        </m:sub>
                      </m:sSub>
                      <m:sSub>
                        <m:sSubPr>
                          <m:ctrlPr>
                            <a:rPr lang="en-US" altLang="en-US" i="1">
                              <a:latin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𝛽</m:t>
                          </m:r>
                        </m:e>
                        <m:sub>
                          <m:r>
                            <a:rPr lang="en-US" altLang="en-US" b="0" i="1" smtClean="0">
                              <a:latin typeface="Cambria Math" panose="02040503050406030204" pitchFamily="18" charset="0"/>
                              <a:ea typeface="Cambria Math" panose="02040503050406030204" pitchFamily="18" charset="0"/>
                            </a:rPr>
                            <m:t>2</m:t>
                          </m:r>
                        </m:sub>
                      </m:sSub>
                      <m:r>
                        <a:rPr lang="en-US" altLang="en-US" b="0" i="1" smtClean="0">
                          <a:latin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𝜀</m:t>
                      </m:r>
                    </m:oMath>
                  </m:oMathPara>
                </a14:m>
                <a:endParaRPr lang="en-US" altLang="en-US" dirty="0"/>
              </a:p>
              <a:p>
                <a:pPr>
                  <a:buFontTx/>
                  <a:buNone/>
                </a:pPr>
                <a:endParaRPr lang="en-US" altLang="en-US" dirty="0"/>
              </a:p>
              <a:p>
                <a:pPr>
                  <a:buFontTx/>
                  <a:buNone/>
                </a:pPr>
                <a:r>
                  <a:rPr lang="en-US" altLang="en-US" dirty="0"/>
                  <a:t>Where we have demeaned the variables to remove the constant and we assume the error is </a:t>
                </a:r>
                <a:r>
                  <a:rPr lang="en-US" altLang="en-US" dirty="0" err="1"/>
                  <a:t>i.i.d</a:t>
                </a:r>
                <a:r>
                  <a:rPr lang="en-US" altLang="en-US" dirty="0"/>
                  <a:t>. random mean zero. However we estimate </a:t>
                </a:r>
              </a:p>
              <a:p>
                <a:pPr>
                  <a:buNone/>
                </a:pPr>
                <a:endParaRPr lang="en-US" altLang="en-US" i="1" dirty="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en-US" altLang="en-US" i="1">
                          <a:latin typeface="Cambria Math" panose="02040503050406030204" pitchFamily="18" charset="0"/>
                        </a:rPr>
                        <m:t>𝑌</m:t>
                      </m:r>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rPr>
                            <m:t>𝑋</m:t>
                          </m:r>
                        </m:e>
                        <m:sub>
                          <m:r>
                            <a:rPr lang="en-US" altLang="en-US" i="1">
                              <a:latin typeface="Cambria Math" panose="02040503050406030204" pitchFamily="18" charset="0"/>
                            </a:rPr>
                            <m:t>1</m:t>
                          </m:r>
                        </m:sub>
                      </m:sSub>
                      <m:sSub>
                        <m:sSubPr>
                          <m:ctrlPr>
                            <a:rPr lang="en-US" altLang="en-US" i="1">
                              <a:latin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𝛽</m:t>
                          </m:r>
                        </m:e>
                        <m:sub>
                          <m:r>
                            <a:rPr lang="en-US" altLang="en-US" i="1">
                              <a:latin typeface="Cambria Math" panose="02040503050406030204" pitchFamily="18" charset="0"/>
                            </a:rPr>
                            <m:t>1</m:t>
                          </m:r>
                        </m:sub>
                      </m:sSub>
                      <m:r>
                        <a:rPr lang="en-US" altLang="en-US" i="1">
                          <a:latin typeface="Cambria Math" panose="02040503050406030204" pitchFamily="18" charset="0"/>
                        </a:rPr>
                        <m:t>+</m:t>
                      </m:r>
                      <m:r>
                        <a:rPr lang="en-US" altLang="en-US" b="0" i="1" smtClean="0">
                          <a:latin typeface="Cambria Math" panose="02040503050406030204" pitchFamily="18" charset="0"/>
                        </a:rPr>
                        <m:t>𝑢</m:t>
                      </m:r>
                    </m:oMath>
                  </m:oMathPara>
                </a14:m>
                <a:endParaRPr lang="en-US" altLang="en-US" dirty="0"/>
              </a:p>
              <a:p>
                <a:pPr>
                  <a:buFontTx/>
                  <a:buNone/>
                </a:pPr>
                <a:endParaRPr lang="en-US" altLang="en-US" dirty="0"/>
              </a:p>
              <a:p>
                <a:pPr>
                  <a:buFontTx/>
                  <a:buNone/>
                </a:pPr>
                <a:r>
                  <a:rPr lang="en-US" altLang="en-US" dirty="0"/>
                  <a:t>Which has omitted variable bias. We have </a:t>
                </a:r>
              </a:p>
              <a:p>
                <a:pPr>
                  <a:buFontTx/>
                  <a:buNone/>
                </a:pPr>
                <a:endParaRPr lang="en-US" altLang="en-US" b="0" i="1" dirty="0">
                  <a:latin typeface="Cambria Math" panose="02040503050406030204" pitchFamily="18" charset="0"/>
                </a:endParaRPr>
              </a:p>
              <a:p>
                <a:pPr>
                  <a:buFontTx/>
                  <a:buNone/>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rPr>
                        <m:t>𝑢</m:t>
                      </m:r>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rPr>
                            <m:t>𝑋</m:t>
                          </m:r>
                        </m:e>
                        <m:sub>
                          <m:r>
                            <a:rPr lang="en-US" altLang="en-US" i="1">
                              <a:latin typeface="Cambria Math" panose="02040503050406030204" pitchFamily="18" charset="0"/>
                            </a:rPr>
                            <m:t>2</m:t>
                          </m:r>
                        </m:sub>
                      </m:sSub>
                      <m:sSub>
                        <m:sSubPr>
                          <m:ctrlPr>
                            <a:rPr lang="en-US" altLang="en-US" i="1">
                              <a:latin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𝛽</m:t>
                          </m:r>
                        </m:e>
                        <m:sub>
                          <m:r>
                            <a:rPr lang="en-US" altLang="en-US" i="1">
                              <a:latin typeface="Cambria Math" panose="02040503050406030204" pitchFamily="18" charset="0"/>
                              <a:ea typeface="Cambria Math" panose="02040503050406030204" pitchFamily="18" charset="0"/>
                            </a:rPr>
                            <m:t>2</m:t>
                          </m:r>
                        </m:sub>
                      </m:sSub>
                      <m:r>
                        <a:rPr lang="en-US" altLang="en-US" b="0"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𝜀</m:t>
                      </m:r>
                    </m:oMath>
                  </m:oMathPara>
                </a14:m>
                <a:endParaRPr lang="en-US" altLang="en-US" dirty="0"/>
              </a:p>
            </p:txBody>
          </p:sp>
        </mc:Choice>
        <mc:Fallback xmlns="">
          <p:sp>
            <p:nvSpPr>
              <p:cNvPr id="19459" name="Rectangle 3"/>
              <p:cNvSpPr>
                <a:spLocks noGrp="1" noRot="1" noChangeAspect="1" noMove="1" noResize="1" noEditPoints="1" noAdjustHandles="1" noChangeArrowheads="1" noChangeShapeType="1" noTextEdit="1"/>
              </p:cNvSpPr>
              <p:nvPr>
                <p:ph type="body" idx="1"/>
              </p:nvPr>
            </p:nvSpPr>
            <p:spPr>
              <a:xfrm>
                <a:off x="838200" y="1600199"/>
                <a:ext cx="10834396" cy="4334069"/>
              </a:xfrm>
              <a:blipFill>
                <a:blip r:embed="rId3"/>
                <a:stretch>
                  <a:fillRect l="-900" t="-3094" b="-563"/>
                </a:stretch>
              </a:blipFill>
            </p:spPr>
            <p:txBody>
              <a:bodyPr/>
              <a:lstStyle/>
              <a:p>
                <a:r>
                  <a:rPr lang="en-US">
                    <a:noFill/>
                  </a:rPr>
                  <a:t> </a:t>
                </a:r>
              </a:p>
            </p:txBody>
          </p:sp>
        </mc:Fallback>
      </mc:AlternateContent>
      <p:sp>
        <p:nvSpPr>
          <p:cNvPr id="19461" name="Rectangle 5"/>
          <p:cNvSpPr>
            <a:spLocks noChangeArrowheads="1"/>
          </p:cNvSpPr>
          <p:nvPr/>
        </p:nvSpPr>
        <p:spPr bwMode="auto">
          <a:xfrm>
            <a:off x="1981200" y="3733800"/>
            <a:ext cx="8686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2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buFontTx/>
              <a:buNone/>
            </a:pPr>
            <a:endParaRPr lang="en-US" altLang="en-US" dirty="0"/>
          </a:p>
        </p:txBody>
      </p:sp>
    </p:spTree>
    <p:extLst>
      <p:ext uri="{BB962C8B-B14F-4D97-AF65-F5344CB8AC3E}">
        <p14:creationId xmlns:p14="http://schemas.microsoft.com/office/powerpoint/2010/main" val="770938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a:bodyPr>
          <a:lstStyle/>
          <a:p>
            <a:r>
              <a:rPr lang="en-US" altLang="en-US" sz="3600" dirty="0"/>
              <a:t>Omitted Variable Bias and Randomized trials cont’d</a:t>
            </a:r>
          </a:p>
        </p:txBody>
      </p:sp>
      <mc:AlternateContent xmlns:mc="http://schemas.openxmlformats.org/markup-compatibility/2006" xmlns:a14="http://schemas.microsoft.com/office/drawing/2010/main">
        <mc:Choice Requires="a14">
          <p:sp>
            <p:nvSpPr>
              <p:cNvPr id="7" name="Rectangle 4"/>
              <p:cNvSpPr>
                <a:spLocks noGrp="1" noChangeArrowheads="1"/>
              </p:cNvSpPr>
              <p:nvPr>
                <p:ph type="body" idx="1"/>
              </p:nvPr>
            </p:nvSpPr>
            <p:spPr>
              <a:xfrm>
                <a:off x="609600" y="1295400"/>
                <a:ext cx="10755086" cy="5562600"/>
              </a:xfrm>
            </p:spPr>
            <p:txBody>
              <a:bodyPr>
                <a:normAutofit/>
              </a:bodyPr>
              <a:lstStyle/>
              <a:p>
                <a:pPr marL="0" lvl="1" indent="0">
                  <a:spcBef>
                    <a:spcPts val="0"/>
                  </a:spcBef>
                  <a:spcAft>
                    <a:spcPts val="600"/>
                  </a:spcAft>
                  <a:buNone/>
                </a:pPr>
                <a:r>
                  <a:rPr lang="en-US" altLang="en-US" dirty="0"/>
                  <a:t>The expected value of our estimate is given by:</a:t>
                </a:r>
              </a:p>
              <a:p>
                <a:pPr marL="0" lvl="1" indent="0">
                  <a:spcBef>
                    <a:spcPts val="0"/>
                  </a:spcBef>
                  <a:spcAft>
                    <a:spcPts val="600"/>
                  </a:spcAft>
                  <a:buNone/>
                </a:pPr>
                <a14:m>
                  <m:oMathPara xmlns:m="http://schemas.openxmlformats.org/officeDocument/2006/math">
                    <m:oMathParaPr>
                      <m:jc m:val="centerGroup"/>
                    </m:oMathParaPr>
                    <m:oMath xmlns:m="http://schemas.openxmlformats.org/officeDocument/2006/math">
                      <m:acc>
                        <m:accPr>
                          <m:chr m:val="̂"/>
                          <m:ctrlPr>
                            <a:rPr lang="en-US" altLang="en-US" b="0" i="1" smtClean="0">
                              <a:latin typeface="Cambria Math" panose="02040503050406030204" pitchFamily="18" charset="0"/>
                              <a:ea typeface="Cambria Math" panose="02040503050406030204" pitchFamily="18" charset="0"/>
                            </a:rPr>
                          </m:ctrlPr>
                        </m:accPr>
                        <m:e>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𝛽</m:t>
                              </m:r>
                            </m:e>
                            <m:sub>
                              <m:r>
                                <a:rPr lang="en-US" altLang="en-US" i="1">
                                  <a:latin typeface="Cambria Math" panose="02040503050406030204" pitchFamily="18" charset="0"/>
                                  <a:ea typeface="Cambria Math" panose="02040503050406030204" pitchFamily="18" charset="0"/>
                                </a:rPr>
                                <m:t>1</m:t>
                              </m:r>
                            </m:sub>
                          </m:sSub>
                        </m:e>
                      </m:acc>
                      <m:r>
                        <a:rPr lang="en-US" altLang="en-US" b="0" i="1" smtClean="0">
                          <a:latin typeface="Cambria Math" panose="02040503050406030204" pitchFamily="18" charset="0"/>
                          <a:ea typeface="Cambria Math" panose="02040503050406030204" pitchFamily="18" charset="0"/>
                        </a:rPr>
                        <m:t>=(</m:t>
                      </m:r>
                      <m:sSup>
                        <m:sSupPr>
                          <m:ctrlPr>
                            <a:rPr lang="en-US" altLang="en-US" b="0" i="1" smtClean="0">
                              <a:latin typeface="Cambria Math" panose="02040503050406030204" pitchFamily="18" charset="0"/>
                              <a:ea typeface="Cambria Math" panose="02040503050406030204" pitchFamily="18" charset="0"/>
                            </a:rPr>
                          </m:ctrlPr>
                        </m:sSupPr>
                        <m:e>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𝑋</m:t>
                              </m:r>
                            </m:e>
                            <m:sub>
                              <m:r>
                                <a:rPr lang="en-US" altLang="en-US" b="0" i="1" smtClean="0">
                                  <a:latin typeface="Cambria Math" panose="02040503050406030204" pitchFamily="18" charset="0"/>
                                  <a:ea typeface="Cambria Math" panose="02040503050406030204" pitchFamily="18" charset="0"/>
                                </a:rPr>
                                <m:t>1</m:t>
                              </m:r>
                            </m:sub>
                          </m:sSub>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b="0" i="1" smtClean="0">
                                  <a:latin typeface="Cambria Math" panose="02040503050406030204" pitchFamily="18" charset="0"/>
                                  <a:ea typeface="Cambria Math" panose="02040503050406030204" pitchFamily="18" charset="0"/>
                                </a:rPr>
                                <m:t>1</m:t>
                              </m:r>
                            </m:sub>
                          </m:sSub>
                          <m:r>
                            <a:rPr lang="en-US" altLang="en-US" i="1">
                              <a:latin typeface="Cambria Math" panose="02040503050406030204" pitchFamily="18" charset="0"/>
                              <a:ea typeface="Cambria Math" panose="02040503050406030204" pitchFamily="18" charset="0"/>
                            </a:rPr>
                            <m:t>)</m:t>
                          </m:r>
                        </m:e>
                        <m:sup>
                          <m:r>
                            <a:rPr lang="en-US" altLang="en-US" b="0" i="1" smtClean="0">
                              <a:latin typeface="Cambria Math" panose="02040503050406030204" pitchFamily="18" charset="0"/>
                              <a:ea typeface="Cambria Math" panose="02040503050406030204" pitchFamily="18" charset="0"/>
                            </a:rPr>
                            <m:t>−1</m:t>
                          </m:r>
                        </m:sup>
                      </m:sSup>
                      <m:sSub>
                        <m:sSubPr>
                          <m:ctrlPr>
                            <a:rPr lang="en-US" altLang="en-US" b="0" i="1" smtClean="0">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𝑋</m:t>
                          </m:r>
                        </m:e>
                        <m:sub>
                          <m:r>
                            <a:rPr lang="en-US" altLang="en-US" b="0" i="1" smtClean="0">
                              <a:latin typeface="Cambria Math" panose="02040503050406030204" pitchFamily="18" charset="0"/>
                              <a:ea typeface="Cambria Math" panose="02040503050406030204" pitchFamily="18" charset="0"/>
                            </a:rPr>
                            <m:t>1</m:t>
                          </m:r>
                        </m:sub>
                      </m:sSub>
                      <m:r>
                        <a:rPr lang="en-US" altLang="en-US" b="0" i="1" smtClean="0">
                          <a:latin typeface="Cambria Math" panose="02040503050406030204" pitchFamily="18" charset="0"/>
                          <a:ea typeface="Cambria Math" panose="02040503050406030204" pitchFamily="18" charset="0"/>
                        </a:rPr>
                        <m:t>𝑌</m:t>
                      </m:r>
                    </m:oMath>
                  </m:oMathPara>
                </a14:m>
                <a:endParaRPr lang="en-US" altLang="en-US" dirty="0"/>
              </a:p>
              <a:p>
                <a:pPr marL="0" lvl="1" indent="0" algn="ctr">
                  <a:spcBef>
                    <a:spcPts val="0"/>
                  </a:spcBef>
                  <a:spcAft>
                    <a:spcPts val="600"/>
                  </a:spcAft>
                  <a:buNone/>
                </a:pPr>
                <a14:m>
                  <m:oMath xmlns:m="http://schemas.openxmlformats.org/officeDocument/2006/math">
                    <m:acc>
                      <m:accPr>
                        <m:chr m:val="̂"/>
                        <m:ctrlPr>
                          <a:rPr lang="en-US" altLang="en-US" i="1">
                            <a:latin typeface="Cambria Math" panose="02040503050406030204" pitchFamily="18" charset="0"/>
                            <a:ea typeface="Cambria Math" panose="02040503050406030204" pitchFamily="18" charset="0"/>
                          </a:rPr>
                        </m:ctrlPr>
                      </m:accPr>
                      <m:e>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𝛽</m:t>
                            </m:r>
                          </m:e>
                          <m:sub>
                            <m:r>
                              <a:rPr lang="en-US" altLang="en-US" i="1">
                                <a:latin typeface="Cambria Math" panose="02040503050406030204" pitchFamily="18" charset="0"/>
                                <a:ea typeface="Cambria Math" panose="02040503050406030204" pitchFamily="18" charset="0"/>
                              </a:rPr>
                              <m:t>1</m:t>
                            </m:r>
                          </m:sub>
                        </m:sSub>
                      </m:e>
                    </m:acc>
                    <m:r>
                      <a:rPr lang="en-US" altLang="en-US" i="1">
                        <a:latin typeface="Cambria Math" panose="02040503050406030204" pitchFamily="18" charset="0"/>
                        <a:ea typeface="Cambria Math" panose="02040503050406030204" pitchFamily="18" charset="0"/>
                      </a:rPr>
                      <m:t>=(</m:t>
                    </m:r>
                    <m:sSup>
                      <m:sSupPr>
                        <m:ctrlPr>
                          <a:rPr lang="en-US" altLang="en-US" i="1">
                            <a:latin typeface="Cambria Math" panose="02040503050406030204" pitchFamily="18" charset="0"/>
                            <a:ea typeface="Cambria Math" panose="02040503050406030204" pitchFamily="18" charset="0"/>
                          </a:rPr>
                        </m:ctrlPr>
                      </m:sSupPr>
                      <m:e>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𝑋</m:t>
                            </m:r>
                          </m:e>
                          <m:sub>
                            <m:r>
                              <a:rPr lang="en-US" altLang="en-US" b="0" i="1" smtClean="0">
                                <a:latin typeface="Cambria Math" panose="02040503050406030204" pitchFamily="18" charset="0"/>
                                <a:ea typeface="Cambria Math" panose="02040503050406030204" pitchFamily="18" charset="0"/>
                              </a:rPr>
                              <m:t>1</m:t>
                            </m:r>
                          </m:sub>
                        </m:sSub>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b="0" i="1" smtClean="0">
                                <a:latin typeface="Cambria Math" panose="02040503050406030204" pitchFamily="18" charset="0"/>
                                <a:ea typeface="Cambria Math" panose="02040503050406030204" pitchFamily="18" charset="0"/>
                              </a:rPr>
                              <m:t>1</m:t>
                            </m:r>
                          </m:sub>
                        </m:sSub>
                        <m:r>
                          <a:rPr lang="en-US" altLang="en-US" i="1">
                            <a:latin typeface="Cambria Math" panose="02040503050406030204" pitchFamily="18" charset="0"/>
                            <a:ea typeface="Cambria Math" panose="02040503050406030204" pitchFamily="18" charset="0"/>
                          </a:rPr>
                          <m:t>)</m:t>
                        </m:r>
                      </m:e>
                      <m:sup>
                        <m:r>
                          <a:rPr lang="en-US" altLang="en-US" i="1">
                            <a:latin typeface="Cambria Math" panose="02040503050406030204" pitchFamily="18" charset="0"/>
                            <a:ea typeface="Cambria Math" panose="02040503050406030204" pitchFamily="18" charset="0"/>
                          </a:rPr>
                          <m:t>−1</m:t>
                        </m:r>
                      </m:sup>
                    </m:sSup>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𝑋</m:t>
                        </m:r>
                      </m:e>
                      <m:sub>
                        <m:r>
                          <a:rPr lang="en-US" altLang="en-US" b="0" i="1" smtClean="0">
                            <a:latin typeface="Cambria Math" panose="02040503050406030204" pitchFamily="18" charset="0"/>
                            <a:ea typeface="Cambria Math" panose="02040503050406030204" pitchFamily="18" charset="0"/>
                          </a:rPr>
                          <m:t>1</m:t>
                        </m:r>
                      </m:sub>
                    </m:sSub>
                    <m:r>
                      <a:rPr lang="en-US" altLang="en-US" b="0" i="1" smtClean="0">
                        <a:latin typeface="Cambria Math" panose="02040503050406030204" pitchFamily="18" charset="0"/>
                        <a:ea typeface="Cambria Math" panose="02040503050406030204" pitchFamily="18" charset="0"/>
                      </a:rPr>
                      <m:t>′(</m:t>
                    </m:r>
                    <m:sSub>
                      <m:sSubPr>
                        <m:ctrlPr>
                          <a:rPr lang="en-US" altLang="en-US" b="0" i="1" smtClean="0">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𝑋</m:t>
                        </m:r>
                      </m:e>
                      <m:sub>
                        <m:r>
                          <a:rPr lang="en-US" altLang="en-US" b="0" i="1" smtClean="0">
                            <a:latin typeface="Cambria Math" panose="02040503050406030204" pitchFamily="18" charset="0"/>
                            <a:ea typeface="Cambria Math" panose="02040503050406030204" pitchFamily="18" charset="0"/>
                          </a:rPr>
                          <m:t>1</m:t>
                        </m:r>
                      </m:sub>
                    </m:sSub>
                    <m:sSub>
                      <m:sSubPr>
                        <m:ctrlPr>
                          <a:rPr lang="en-US" altLang="en-US" b="0" i="1" smtClean="0">
                            <a:latin typeface="Cambria Math" panose="02040503050406030204" pitchFamily="18" charset="0"/>
                            <a:ea typeface="Cambria Math" panose="02040503050406030204" pitchFamily="18" charset="0"/>
                          </a:rPr>
                        </m:ctrlPr>
                      </m:sSubPr>
                      <m:e>
                        <m:r>
                          <a:rPr lang="en-US" altLang="en-US" b="0" i="1" smtClean="0">
                            <a:latin typeface="Cambria Math" panose="02040503050406030204" pitchFamily="18" charset="0"/>
                            <a:ea typeface="Cambria Math" panose="02040503050406030204" pitchFamily="18" charset="0"/>
                          </a:rPr>
                          <m:t>𝛽</m:t>
                        </m:r>
                      </m:e>
                      <m:sub>
                        <m:r>
                          <a:rPr lang="en-US" altLang="en-US" b="0" i="1" smtClean="0">
                            <a:latin typeface="Cambria Math" panose="02040503050406030204" pitchFamily="18" charset="0"/>
                            <a:ea typeface="Cambria Math" panose="02040503050406030204" pitchFamily="18" charset="0"/>
                          </a:rPr>
                          <m:t>1</m:t>
                        </m:r>
                      </m:sub>
                    </m:sSub>
                  </m:oMath>
                </a14:m>
                <a:r>
                  <a:rPr lang="en-US" altLang="en-US" dirty="0"/>
                  <a:t>+</a:t>
                </a:r>
                <a14:m>
                  <m:oMath xmlns:m="http://schemas.openxmlformats.org/officeDocument/2006/math">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𝑋</m:t>
                        </m:r>
                      </m:e>
                      <m:sub>
                        <m:r>
                          <a:rPr lang="en-US" altLang="en-US" b="0" i="1" smtClean="0">
                            <a:latin typeface="Cambria Math" panose="02040503050406030204" pitchFamily="18" charset="0"/>
                            <a:ea typeface="Cambria Math" panose="02040503050406030204" pitchFamily="18" charset="0"/>
                          </a:rPr>
                          <m:t>2</m:t>
                        </m:r>
                      </m:sub>
                    </m:sSub>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𝛽</m:t>
                        </m:r>
                      </m:e>
                      <m:sub>
                        <m:r>
                          <a:rPr lang="en-US" altLang="en-US" b="0" i="1" smtClean="0">
                            <a:latin typeface="Cambria Math" panose="02040503050406030204" pitchFamily="18" charset="0"/>
                            <a:ea typeface="Cambria Math" panose="02040503050406030204" pitchFamily="18" charset="0"/>
                          </a:rPr>
                          <m:t>2</m:t>
                        </m:r>
                      </m:sub>
                    </m:sSub>
                    <m:r>
                      <a:rPr lang="en-US" altLang="en-US" b="0"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𝜀</m:t>
                    </m:r>
                  </m:oMath>
                </a14:m>
                <a:r>
                  <a:rPr lang="en-US" altLang="en-US" dirty="0"/>
                  <a:t>)</a:t>
                </a:r>
              </a:p>
              <a:p>
                <a:pPr marL="0" lvl="1" indent="0" algn="ctr">
                  <a:spcBef>
                    <a:spcPts val="0"/>
                  </a:spcBef>
                  <a:spcAft>
                    <a:spcPts val="600"/>
                  </a:spcAft>
                  <a:buNone/>
                </a:pPr>
                <a:r>
                  <a:rPr lang="en-US" altLang="en-US" dirty="0"/>
                  <a:t>and</a:t>
                </a:r>
              </a:p>
              <a:p>
                <a:pPr marL="0" lvl="1" indent="0">
                  <a:spcBef>
                    <a:spcPts val="0"/>
                  </a:spcBef>
                  <a:spcAft>
                    <a:spcPts val="600"/>
                  </a:spcAft>
                  <a:buNone/>
                </a:pPr>
                <a:endParaRPr lang="en-US" altLang="en-US" dirty="0"/>
              </a:p>
              <a:p>
                <a:pPr marL="0" lvl="1" indent="0">
                  <a:spcBef>
                    <a:spcPts val="0"/>
                  </a:spcBef>
                  <a:spcAft>
                    <a:spcPts val="600"/>
                  </a:spcAft>
                  <a:buNone/>
                </a:pPr>
                <a14:m>
                  <m:oMathPara xmlns:m="http://schemas.openxmlformats.org/officeDocument/2006/math">
                    <m:oMathParaPr>
                      <m:jc m:val="centerGroup"/>
                    </m:oMathParaPr>
                    <m:oMath xmlns:m="http://schemas.openxmlformats.org/officeDocument/2006/math">
                      <m:r>
                        <a:rPr lang="en-US" altLang="en-US" i="1">
                          <a:latin typeface="Cambria Math" panose="02040503050406030204" pitchFamily="18" charset="0"/>
                        </a:rPr>
                        <m:t>𝐸</m:t>
                      </m:r>
                      <m:d>
                        <m:dPr>
                          <m:begChr m:val="["/>
                          <m:endChr m:val="]"/>
                          <m:ctrlPr>
                            <a:rPr lang="en-US" altLang="en-US" i="1">
                              <a:latin typeface="Cambria Math" panose="02040503050406030204" pitchFamily="18" charset="0"/>
                            </a:rPr>
                          </m:ctrlPr>
                        </m:dPr>
                        <m:e>
                          <m:acc>
                            <m:accPr>
                              <m:chr m:val="̂"/>
                              <m:ctrlPr>
                                <a:rPr lang="en-US" altLang="en-US" i="1">
                                  <a:latin typeface="Cambria Math" panose="02040503050406030204" pitchFamily="18" charset="0"/>
                                </a:rPr>
                              </m:ctrlPr>
                            </m:accPr>
                            <m:e>
                              <m:sSub>
                                <m:sSubPr>
                                  <m:ctrlPr>
                                    <a:rPr lang="en-US" altLang="en-US" i="1">
                                      <a:latin typeface="Cambria Math" panose="02040503050406030204" pitchFamily="18" charset="0"/>
                                    </a:rPr>
                                  </m:ctrlPr>
                                </m:sSubPr>
                                <m:e>
                                  <m:r>
                                    <a:rPr lang="en-US" altLang="en-US" i="1">
                                      <a:latin typeface="Cambria Math" panose="02040503050406030204" pitchFamily="18" charset="0"/>
                                    </a:rPr>
                                    <m:t>𝛽</m:t>
                                  </m:r>
                                </m:e>
                                <m:sub>
                                  <m:r>
                                    <a:rPr lang="en-US" altLang="en-US" i="1">
                                      <a:latin typeface="Cambria Math" panose="02040503050406030204" pitchFamily="18" charset="0"/>
                                    </a:rPr>
                                    <m:t>1</m:t>
                                  </m:r>
                                </m:sub>
                              </m:sSub>
                            </m:e>
                          </m:acc>
                        </m:e>
                      </m:d>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rPr>
                            <m:t>𝛽</m:t>
                          </m:r>
                        </m:e>
                        <m:sub>
                          <m:r>
                            <a:rPr lang="en-US" altLang="en-US" i="1">
                              <a:latin typeface="Cambria Math" panose="02040503050406030204" pitchFamily="18" charset="0"/>
                            </a:rPr>
                            <m:t>1</m:t>
                          </m:r>
                        </m:sub>
                      </m:sSub>
                      <m:r>
                        <a:rPr lang="en-US" altLang="en-US" i="1">
                          <a:latin typeface="Cambria Math" panose="02040503050406030204" pitchFamily="18" charset="0"/>
                        </a:rPr>
                        <m:t>+</m:t>
                      </m:r>
                      <m:sSub>
                        <m:sSubPr>
                          <m:ctrlPr>
                            <a:rPr lang="en-US" altLang="en-US" i="1" smtClean="0">
                              <a:latin typeface="Cambria Math" panose="02040503050406030204" pitchFamily="18" charset="0"/>
                            </a:rPr>
                          </m:ctrlPr>
                        </m:sSubPr>
                        <m:e>
                          <m:r>
                            <a:rPr lang="en-US" altLang="en-US" i="1" smtClean="0">
                              <a:latin typeface="Cambria Math" panose="02040503050406030204" pitchFamily="18" charset="0"/>
                              <a:ea typeface="Cambria Math" panose="02040503050406030204" pitchFamily="18" charset="0"/>
                            </a:rPr>
                            <m:t>𝛽</m:t>
                          </m:r>
                        </m:e>
                        <m:sub>
                          <m:r>
                            <a:rPr lang="en-US" altLang="en-US" b="0" i="1" smtClean="0">
                              <a:latin typeface="Cambria Math" panose="02040503050406030204" pitchFamily="18" charset="0"/>
                            </a:rPr>
                            <m:t>2</m:t>
                          </m:r>
                        </m:sub>
                      </m:sSub>
                      <m:r>
                        <a:rPr lang="en-US" altLang="en-US" i="1">
                          <a:latin typeface="Cambria Math" panose="02040503050406030204" pitchFamily="18" charset="0"/>
                        </a:rPr>
                        <m:t>𝐸</m:t>
                      </m:r>
                      <m:sSup>
                        <m:sSupPr>
                          <m:ctrlPr>
                            <a:rPr lang="en-US" altLang="en-US" i="1">
                              <a:latin typeface="Cambria Math" panose="02040503050406030204" pitchFamily="18" charset="0"/>
                              <a:ea typeface="Cambria Math" panose="02040503050406030204" pitchFamily="18" charset="0"/>
                            </a:rPr>
                          </m:ctrlPr>
                        </m:sSupPr>
                        <m:e>
                          <m:sSub>
                            <m:sSubPr>
                              <m:ctrlPr>
                                <a:rPr lang="en-US" altLang="en-US" i="1">
                                  <a:latin typeface="Cambria Math" panose="02040503050406030204" pitchFamily="18" charset="0"/>
                                  <a:ea typeface="Cambria Math" panose="02040503050406030204" pitchFamily="18" charset="0"/>
                                </a:rPr>
                              </m:ctrlPr>
                            </m:sSubPr>
                            <m:e>
                              <m:r>
                                <a:rPr lang="en-US" altLang="en-US" b="0" i="1" smtClean="0">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r>
                            <a:rPr lang="en-US" altLang="en-US" i="1">
                              <a:latin typeface="Cambria Math" panose="02040503050406030204" pitchFamily="18" charset="0"/>
                              <a:ea typeface="Cambria Math" panose="02040503050406030204" pitchFamily="18" charset="0"/>
                            </a:rPr>
                            <m:t>)</m:t>
                          </m:r>
                        </m:e>
                        <m:sup>
                          <m:r>
                            <a:rPr lang="en-US" altLang="en-US" i="1">
                              <a:latin typeface="Cambria Math" panose="02040503050406030204" pitchFamily="18" charset="0"/>
                              <a:ea typeface="Cambria Math" panose="02040503050406030204" pitchFamily="18" charset="0"/>
                            </a:rPr>
                            <m:t>−1</m:t>
                          </m:r>
                        </m:sup>
                      </m:sSup>
                      <m:r>
                        <a:rPr lang="en-US" altLang="en-US" i="1">
                          <a:latin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2</m:t>
                          </m:r>
                        </m:sub>
                      </m:sSub>
                      <m:r>
                        <a:rPr lang="en-US" altLang="en-US" i="1">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rPr>
                        <m:t>+</m:t>
                      </m:r>
                      <m:r>
                        <a:rPr lang="en-US" altLang="en-US" i="1">
                          <a:latin typeface="Cambria Math" panose="02040503050406030204" pitchFamily="18" charset="0"/>
                        </a:rPr>
                        <m:t>𝐸</m:t>
                      </m:r>
                      <m:sSup>
                        <m:sSupPr>
                          <m:ctrlPr>
                            <a:rPr lang="en-US" altLang="en-US" i="1">
                              <a:latin typeface="Cambria Math" panose="02040503050406030204" pitchFamily="18" charset="0"/>
                              <a:ea typeface="Cambria Math" panose="02040503050406030204" pitchFamily="18" charset="0"/>
                            </a:rPr>
                          </m:ctrlPr>
                        </m:sSupPr>
                        <m:e>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r>
                            <a:rPr lang="en-US" altLang="en-US" i="1">
                              <a:latin typeface="Cambria Math" panose="02040503050406030204" pitchFamily="18" charset="0"/>
                              <a:ea typeface="Cambria Math" panose="02040503050406030204" pitchFamily="18" charset="0"/>
                            </a:rPr>
                            <m:t>)</m:t>
                          </m:r>
                        </m:e>
                        <m:sup>
                          <m:r>
                            <a:rPr lang="en-US" altLang="en-US" i="1">
                              <a:latin typeface="Cambria Math" panose="02040503050406030204" pitchFamily="18" charset="0"/>
                              <a:ea typeface="Cambria Math" panose="02040503050406030204" pitchFamily="18" charset="0"/>
                            </a:rPr>
                            <m:t>−1</m:t>
                          </m:r>
                        </m:sup>
                      </m:sSup>
                      <m:r>
                        <a:rPr lang="en-US" altLang="en-US" i="1">
                          <a:latin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r>
                        <a:rPr lang="en-US" altLang="en-US" b="0"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𝜀</m:t>
                      </m:r>
                      <m:r>
                        <a:rPr lang="en-US" altLang="en-US" i="1">
                          <a:latin typeface="Cambria Math" panose="02040503050406030204" pitchFamily="18" charset="0"/>
                          <a:ea typeface="Cambria Math" panose="02040503050406030204" pitchFamily="18" charset="0"/>
                        </a:rPr>
                        <m:t>)]</m:t>
                      </m:r>
                    </m:oMath>
                  </m:oMathPara>
                </a14:m>
                <a:endParaRPr lang="en-US" altLang="en-US" dirty="0"/>
              </a:p>
              <a:p>
                <a:pPr marL="0" lvl="1" indent="0">
                  <a:spcBef>
                    <a:spcPts val="0"/>
                  </a:spcBef>
                  <a:spcAft>
                    <a:spcPts val="600"/>
                  </a:spcAft>
                  <a:buNone/>
                </a:pPr>
                <a:r>
                  <a:rPr lang="en-US" altLang="en-US" dirty="0"/>
                  <a:t>Since </a:t>
                </a:r>
                <a14:m>
                  <m:oMath xmlns:m="http://schemas.openxmlformats.org/officeDocument/2006/math">
                    <m:r>
                      <a:rPr lang="en-US" altLang="en-US" i="1" smtClean="0">
                        <a:latin typeface="Cambria Math" panose="02040503050406030204" pitchFamily="18" charset="0"/>
                        <a:ea typeface="Cambria Math" panose="02040503050406030204" pitchFamily="18" charset="0"/>
                      </a:rPr>
                      <m:t>𝜀</m:t>
                    </m:r>
                  </m:oMath>
                </a14:m>
                <a:r>
                  <a:rPr lang="en-US" altLang="en-US" dirty="0"/>
                  <a:t> is random mean zero we have </a:t>
                </a:r>
              </a:p>
              <a:p>
                <a:pPr marL="0" lvl="1" indent="0">
                  <a:spcBef>
                    <a:spcPts val="0"/>
                  </a:spcBef>
                  <a:spcAft>
                    <a:spcPts val="600"/>
                  </a:spcAft>
                  <a:buNone/>
                </a:pPr>
                <a14:m>
                  <m:oMathPara xmlns:m="http://schemas.openxmlformats.org/officeDocument/2006/math">
                    <m:oMathParaPr>
                      <m:jc m:val="centerGroup"/>
                    </m:oMathParaPr>
                    <m:oMath xmlns:m="http://schemas.openxmlformats.org/officeDocument/2006/math">
                      <m:r>
                        <a:rPr lang="en-US" altLang="en-US" i="1">
                          <a:latin typeface="Cambria Math" panose="02040503050406030204" pitchFamily="18" charset="0"/>
                        </a:rPr>
                        <m:t>𝐸</m:t>
                      </m:r>
                      <m:d>
                        <m:dPr>
                          <m:begChr m:val="["/>
                          <m:endChr m:val="]"/>
                          <m:ctrlPr>
                            <a:rPr lang="en-US" altLang="en-US" i="1">
                              <a:latin typeface="Cambria Math" panose="02040503050406030204" pitchFamily="18" charset="0"/>
                            </a:rPr>
                          </m:ctrlPr>
                        </m:dPr>
                        <m:e>
                          <m:acc>
                            <m:accPr>
                              <m:chr m:val="̂"/>
                              <m:ctrlPr>
                                <a:rPr lang="en-US" altLang="en-US" i="1">
                                  <a:latin typeface="Cambria Math" panose="02040503050406030204" pitchFamily="18" charset="0"/>
                                </a:rPr>
                              </m:ctrlPr>
                            </m:accPr>
                            <m:e>
                              <m:sSub>
                                <m:sSubPr>
                                  <m:ctrlPr>
                                    <a:rPr lang="en-US" altLang="en-US" i="1">
                                      <a:latin typeface="Cambria Math" panose="02040503050406030204" pitchFamily="18" charset="0"/>
                                    </a:rPr>
                                  </m:ctrlPr>
                                </m:sSubPr>
                                <m:e>
                                  <m:r>
                                    <a:rPr lang="en-US" altLang="en-US" i="1">
                                      <a:latin typeface="Cambria Math" panose="02040503050406030204" pitchFamily="18" charset="0"/>
                                    </a:rPr>
                                    <m:t>𝛽</m:t>
                                  </m:r>
                                </m:e>
                                <m:sub>
                                  <m:r>
                                    <a:rPr lang="en-US" altLang="en-US" i="1">
                                      <a:latin typeface="Cambria Math" panose="02040503050406030204" pitchFamily="18" charset="0"/>
                                    </a:rPr>
                                    <m:t>1</m:t>
                                  </m:r>
                                </m:sub>
                              </m:sSub>
                            </m:e>
                          </m:acc>
                        </m:e>
                      </m:d>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rPr>
                            <m:t>𝛽</m:t>
                          </m:r>
                        </m:e>
                        <m:sub>
                          <m:r>
                            <a:rPr lang="en-US" altLang="en-US" i="1">
                              <a:latin typeface="Cambria Math" panose="02040503050406030204" pitchFamily="18" charset="0"/>
                            </a:rPr>
                            <m:t>1</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𝛽</m:t>
                          </m:r>
                        </m:e>
                        <m:sub>
                          <m:r>
                            <a:rPr lang="en-US" altLang="en-US" i="1">
                              <a:latin typeface="Cambria Math" panose="02040503050406030204" pitchFamily="18" charset="0"/>
                            </a:rPr>
                            <m:t>2</m:t>
                          </m:r>
                        </m:sub>
                      </m:sSub>
                      <m:r>
                        <a:rPr lang="en-US" altLang="en-US" i="1">
                          <a:latin typeface="Cambria Math" panose="02040503050406030204" pitchFamily="18" charset="0"/>
                        </a:rPr>
                        <m:t>𝐸</m:t>
                      </m:r>
                      <m:sSup>
                        <m:sSupPr>
                          <m:ctrlPr>
                            <a:rPr lang="en-US" altLang="en-US" i="1">
                              <a:latin typeface="Cambria Math" panose="02040503050406030204" pitchFamily="18" charset="0"/>
                              <a:ea typeface="Cambria Math" panose="02040503050406030204" pitchFamily="18" charset="0"/>
                            </a:rPr>
                          </m:ctrlPr>
                        </m:sSupPr>
                        <m:e>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r>
                            <a:rPr lang="en-US" altLang="en-US" i="1">
                              <a:latin typeface="Cambria Math" panose="02040503050406030204" pitchFamily="18" charset="0"/>
                              <a:ea typeface="Cambria Math" panose="02040503050406030204" pitchFamily="18" charset="0"/>
                            </a:rPr>
                            <m:t>)</m:t>
                          </m:r>
                        </m:e>
                        <m:sup>
                          <m:r>
                            <a:rPr lang="en-US" altLang="en-US" i="1">
                              <a:latin typeface="Cambria Math" panose="02040503050406030204" pitchFamily="18" charset="0"/>
                              <a:ea typeface="Cambria Math" panose="02040503050406030204" pitchFamily="18" charset="0"/>
                            </a:rPr>
                            <m:t>−1</m:t>
                          </m:r>
                        </m:sup>
                      </m:sSup>
                      <m:r>
                        <a:rPr lang="en-US" altLang="en-US" i="1">
                          <a:latin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2</m:t>
                          </m:r>
                        </m:sub>
                      </m:sSub>
                      <m:r>
                        <a:rPr lang="en-US" altLang="en-US" i="1">
                          <a:latin typeface="Cambria Math" panose="02040503050406030204" pitchFamily="18" charset="0"/>
                          <a:ea typeface="Cambria Math" panose="02040503050406030204" pitchFamily="18" charset="0"/>
                        </a:rPr>
                        <m:t>)]</m:t>
                      </m:r>
                    </m:oMath>
                  </m:oMathPara>
                </a14:m>
                <a:endParaRPr lang="en-US" altLang="en-US" dirty="0"/>
              </a:p>
              <a:p>
                <a:pPr marL="0" lvl="1" indent="0">
                  <a:spcBef>
                    <a:spcPts val="0"/>
                  </a:spcBef>
                  <a:spcAft>
                    <a:spcPts val="600"/>
                  </a:spcAft>
                  <a:buNone/>
                </a:pPr>
                <a:r>
                  <a:rPr lang="en-US" altLang="en-US" dirty="0"/>
                  <a:t>And there is omitted variable bias </a:t>
                </a:r>
              </a:p>
              <a:p>
                <a:pPr marL="0" lvl="1" indent="0">
                  <a:spcBef>
                    <a:spcPts val="0"/>
                  </a:spcBef>
                  <a:spcAft>
                    <a:spcPts val="600"/>
                  </a:spcAft>
                  <a:buNone/>
                </a:pPr>
                <a:endParaRPr lang="en-US" altLang="en-US" dirty="0"/>
              </a:p>
              <a:p>
                <a:pPr marL="0" lvl="1" indent="0">
                  <a:spcBef>
                    <a:spcPts val="0"/>
                  </a:spcBef>
                  <a:spcAft>
                    <a:spcPts val="600"/>
                  </a:spcAft>
                  <a:buNone/>
                </a:pPr>
                <a:r>
                  <a:rPr lang="en-US" altLang="en-US" dirty="0"/>
                  <a:t>However if </a:t>
                </a:r>
                <a14:m>
                  <m:oMath xmlns:m="http://schemas.openxmlformats.org/officeDocument/2006/math">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oMath>
                </a14:m>
                <a:r>
                  <a:rPr lang="en-US" altLang="en-US" dirty="0"/>
                  <a:t>is assigned randomly </a:t>
                </a:r>
                <a14:m>
                  <m:oMath xmlns:m="http://schemas.openxmlformats.org/officeDocument/2006/math">
                    <m:r>
                      <a:rPr lang="en-US" altLang="en-US" i="1">
                        <a:latin typeface="Cambria Math" panose="02040503050406030204" pitchFamily="18" charset="0"/>
                      </a:rPr>
                      <m:t>𝐸</m:t>
                    </m:r>
                    <m:sSup>
                      <m:sSupPr>
                        <m:ctrlPr>
                          <a:rPr lang="en-US" altLang="en-US" i="1">
                            <a:latin typeface="Cambria Math" panose="02040503050406030204" pitchFamily="18" charset="0"/>
                            <a:ea typeface="Cambria Math" panose="02040503050406030204" pitchFamily="18" charset="0"/>
                          </a:rPr>
                        </m:ctrlPr>
                      </m:sSupPr>
                      <m:e>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r>
                          <a:rPr lang="en-US" altLang="en-US" i="1">
                            <a:latin typeface="Cambria Math" panose="02040503050406030204" pitchFamily="18" charset="0"/>
                            <a:ea typeface="Cambria Math" panose="02040503050406030204" pitchFamily="18" charset="0"/>
                          </a:rPr>
                          <m:t>)</m:t>
                        </m:r>
                      </m:e>
                      <m:sup>
                        <m:r>
                          <a:rPr lang="en-US" altLang="en-US" i="1">
                            <a:latin typeface="Cambria Math" panose="02040503050406030204" pitchFamily="18" charset="0"/>
                            <a:ea typeface="Cambria Math" panose="02040503050406030204" pitchFamily="18" charset="0"/>
                          </a:rPr>
                          <m:t>−1</m:t>
                        </m:r>
                      </m:sup>
                    </m:sSup>
                    <m:r>
                      <a:rPr lang="en-US" altLang="en-US" i="1">
                        <a:latin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2</m:t>
                        </m:r>
                      </m:sub>
                    </m:sSub>
                    <m:r>
                      <a:rPr lang="en-US" altLang="en-US" i="1">
                        <a:latin typeface="Cambria Math" panose="02040503050406030204" pitchFamily="18" charset="0"/>
                        <a:ea typeface="Cambria Math" panose="02040503050406030204" pitchFamily="18" charset="0"/>
                      </a:rPr>
                      <m:t>)]</m:t>
                    </m:r>
                  </m:oMath>
                </a14:m>
                <a:r>
                  <a:rPr lang="en-US" altLang="en-US" dirty="0"/>
                  <a:t>=0 and there is no bias</a:t>
                </a:r>
              </a:p>
              <a:p>
                <a:pPr marL="0" lvl="1" indent="0">
                  <a:spcBef>
                    <a:spcPts val="0"/>
                  </a:spcBef>
                  <a:spcAft>
                    <a:spcPts val="600"/>
                  </a:spcAft>
                  <a:buNone/>
                </a:pPr>
                <a:r>
                  <a:rPr lang="en-US" altLang="en-US" dirty="0"/>
                  <a:t>Note with random assignment the error term  </a:t>
                </a:r>
                <a14:m>
                  <m:oMath xmlns:m="http://schemas.openxmlformats.org/officeDocument/2006/math">
                    <m:r>
                      <a:rPr lang="en-US" altLang="en-US" i="1">
                        <a:latin typeface="Cambria Math" panose="02040503050406030204" pitchFamily="18" charset="0"/>
                      </a:rPr>
                      <m:t>𝑢</m:t>
                    </m:r>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rPr>
                          <m:t>𝑋</m:t>
                        </m:r>
                      </m:e>
                      <m:sub>
                        <m:r>
                          <a:rPr lang="en-US" altLang="en-US" i="1">
                            <a:latin typeface="Cambria Math" panose="02040503050406030204" pitchFamily="18" charset="0"/>
                          </a:rPr>
                          <m:t>2</m:t>
                        </m:r>
                      </m:sub>
                    </m:sSub>
                    <m:sSub>
                      <m:sSubPr>
                        <m:ctrlPr>
                          <a:rPr lang="en-US" altLang="en-US" i="1">
                            <a:latin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𝛽</m:t>
                        </m:r>
                      </m:e>
                      <m:sub>
                        <m:r>
                          <a:rPr lang="en-US" altLang="en-US" i="1">
                            <a:latin typeface="Cambria Math" panose="02040503050406030204" pitchFamily="18" charset="0"/>
                            <a:ea typeface="Cambria Math" panose="02040503050406030204" pitchFamily="18" charset="0"/>
                          </a:rPr>
                          <m:t>2</m:t>
                        </m:r>
                      </m:sub>
                    </m:sSub>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𝜀</m:t>
                    </m:r>
                  </m:oMath>
                </a14:m>
                <a:r>
                  <a:rPr lang="en-US" altLang="en-US" dirty="0"/>
                  <a:t> from the “</a:t>
                </a:r>
                <a:r>
                  <a:rPr lang="en-US" altLang="en-US" dirty="0" err="1"/>
                  <a:t>misspecifed</a:t>
                </a:r>
                <a:r>
                  <a:rPr lang="en-US" altLang="en-US" dirty="0"/>
                  <a:t> equation” is uncorrelated with </a:t>
                </a:r>
                <a14:m>
                  <m:oMath xmlns:m="http://schemas.openxmlformats.org/officeDocument/2006/math">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𝑋</m:t>
                        </m:r>
                      </m:e>
                      <m:sub>
                        <m:r>
                          <a:rPr lang="en-US" altLang="en-US" i="1">
                            <a:latin typeface="Cambria Math" panose="02040503050406030204" pitchFamily="18" charset="0"/>
                            <a:ea typeface="Cambria Math" panose="02040503050406030204" pitchFamily="18" charset="0"/>
                          </a:rPr>
                          <m:t>1</m:t>
                        </m:r>
                      </m:sub>
                    </m:sSub>
                  </m:oMath>
                </a14:m>
                <a:r>
                  <a:rPr lang="en-US" altLang="en-US" dirty="0"/>
                  <a:t>  </a:t>
                </a:r>
              </a:p>
              <a:p>
                <a:pPr marL="0" lvl="1" indent="0">
                  <a:spcBef>
                    <a:spcPts val="0"/>
                  </a:spcBef>
                  <a:spcAft>
                    <a:spcPts val="600"/>
                  </a:spcAft>
                  <a:buNone/>
                </a:pPr>
                <a:endParaRPr lang="en-US" altLang="en-US" dirty="0"/>
              </a:p>
            </p:txBody>
          </p:sp>
        </mc:Choice>
        <mc:Fallback xmlns="">
          <p:sp>
            <p:nvSpPr>
              <p:cNvPr id="7" name="Rectangle 4"/>
              <p:cNvSpPr>
                <a:spLocks noGrp="1" noRot="1" noChangeAspect="1" noMove="1" noResize="1" noEditPoints="1" noAdjustHandles="1" noChangeArrowheads="1" noChangeShapeType="1" noTextEdit="1"/>
              </p:cNvSpPr>
              <p:nvPr>
                <p:ph type="body" idx="1"/>
              </p:nvPr>
            </p:nvSpPr>
            <p:spPr>
              <a:xfrm>
                <a:off x="609600" y="1295400"/>
                <a:ext cx="10755086" cy="5562600"/>
              </a:xfrm>
              <a:blipFill>
                <a:blip r:embed="rId3"/>
                <a:stretch>
                  <a:fillRect l="-850" t="-1535"/>
                </a:stretch>
              </a:blipFill>
            </p:spPr>
            <p:txBody>
              <a:bodyPr/>
              <a:lstStyle/>
              <a:p>
                <a:r>
                  <a:rPr lang="en-US">
                    <a:noFill/>
                  </a:rPr>
                  <a:t> </a:t>
                </a:r>
              </a:p>
            </p:txBody>
          </p:sp>
        </mc:Fallback>
      </mc:AlternateContent>
    </p:spTree>
    <p:extLst>
      <p:ext uri="{BB962C8B-B14F-4D97-AF65-F5344CB8AC3E}">
        <p14:creationId xmlns:p14="http://schemas.microsoft.com/office/powerpoint/2010/main" val="19269765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CFDD58E8-6963-4872-932B-AF0EF7CF293F}"/>
              </a:ext>
            </a:extLst>
          </p:cNvPr>
          <p:cNvGraphicFramePr>
            <a:graphicFrameLocks noGrp="1"/>
          </p:cNvGraphicFramePr>
          <p:nvPr>
            <p:ph idx="1"/>
            <p:extLst>
              <p:ext uri="{D42A27DB-BD31-4B8C-83A1-F6EECF244321}">
                <p14:modId xmlns:p14="http://schemas.microsoft.com/office/powerpoint/2010/main" val="280630692"/>
              </p:ext>
            </p:extLst>
          </p:nvPr>
        </p:nvGraphicFramePr>
        <p:xfrm>
          <a:off x="838200" y="226060"/>
          <a:ext cx="10515600" cy="5582920"/>
        </p:xfrm>
        <a:graphic>
          <a:graphicData uri="http://schemas.openxmlformats.org/drawingml/2006/table">
            <a:tbl>
              <a:tblPr firstRow="1" bandRow="1">
                <a:tableStyleId>{C083E6E3-FA7D-4D7B-A595-EF9225AFEA82}</a:tableStyleId>
              </a:tblPr>
              <a:tblGrid>
                <a:gridCol w="3505200">
                  <a:extLst>
                    <a:ext uri="{9D8B030D-6E8A-4147-A177-3AD203B41FA5}">
                      <a16:colId xmlns:a16="http://schemas.microsoft.com/office/drawing/2014/main" val="51563607"/>
                    </a:ext>
                  </a:extLst>
                </a:gridCol>
                <a:gridCol w="3505200">
                  <a:extLst>
                    <a:ext uri="{9D8B030D-6E8A-4147-A177-3AD203B41FA5}">
                      <a16:colId xmlns:a16="http://schemas.microsoft.com/office/drawing/2014/main" val="362195978"/>
                    </a:ext>
                  </a:extLst>
                </a:gridCol>
                <a:gridCol w="3505200">
                  <a:extLst>
                    <a:ext uri="{9D8B030D-6E8A-4147-A177-3AD203B41FA5}">
                      <a16:colId xmlns:a16="http://schemas.microsoft.com/office/drawing/2014/main" val="2753911777"/>
                    </a:ext>
                  </a:extLst>
                </a:gridCol>
              </a:tblGrid>
              <a:tr h="370840">
                <a:tc>
                  <a:txBody>
                    <a:bodyPr/>
                    <a:lstStyle/>
                    <a:p>
                      <a:r>
                        <a:rPr lang="en-US" dirty="0"/>
                        <a:t>Term</a:t>
                      </a:r>
                    </a:p>
                  </a:txBody>
                  <a:tcPr/>
                </a:tc>
                <a:tc>
                  <a:txBody>
                    <a:bodyPr/>
                    <a:lstStyle/>
                    <a:p>
                      <a:r>
                        <a:rPr lang="en-US" dirty="0"/>
                        <a:t>Use in Economics</a:t>
                      </a:r>
                    </a:p>
                  </a:txBody>
                  <a:tcPr/>
                </a:tc>
                <a:tc>
                  <a:txBody>
                    <a:bodyPr/>
                    <a:lstStyle/>
                    <a:p>
                      <a:r>
                        <a:rPr lang="en-US" dirty="0"/>
                        <a:t>Use in Epidemiology</a:t>
                      </a:r>
                    </a:p>
                  </a:txBody>
                  <a:tcPr/>
                </a:tc>
                <a:extLst>
                  <a:ext uri="{0D108BD9-81ED-4DB2-BD59-A6C34878D82A}">
                    <a16:rowId xmlns:a16="http://schemas.microsoft.com/office/drawing/2014/main" val="1805364640"/>
                  </a:ext>
                </a:extLst>
              </a:tr>
              <a:tr h="370840">
                <a:tc>
                  <a:txBody>
                    <a:bodyPr/>
                    <a:lstStyle/>
                    <a:p>
                      <a:r>
                        <a:rPr lang="en-US" dirty="0"/>
                        <a:t>Selection bias</a:t>
                      </a:r>
                    </a:p>
                  </a:txBody>
                  <a:tcPr/>
                </a:tc>
                <a:tc>
                  <a:txBody>
                    <a:bodyPr/>
                    <a:lstStyle/>
                    <a:p>
                      <a:r>
                        <a:rPr lang="en-US" dirty="0"/>
                        <a:t>Economists think about selection bias as a problem arising from selection into the sample being studied.  </a:t>
                      </a:r>
                    </a:p>
                  </a:txBody>
                  <a:tcPr/>
                </a:tc>
                <a:tc>
                  <a:txBody>
                    <a:bodyPr/>
                    <a:lstStyle/>
                    <a:p>
                      <a:r>
                        <a:rPr lang="en-US" dirty="0"/>
                        <a:t>Relationship between exposure and disease is different for those who participate in the study compared with all those who should have been theoretically eligible for the study. Epidemiologists think about selection bias as a problem arising from conditioning on common effects, or selection into the study. </a:t>
                      </a:r>
                    </a:p>
                  </a:txBody>
                  <a:tcPr/>
                </a:tc>
                <a:extLst>
                  <a:ext uri="{0D108BD9-81ED-4DB2-BD59-A6C34878D82A}">
                    <a16:rowId xmlns:a16="http://schemas.microsoft.com/office/drawing/2014/main" val="937173268"/>
                  </a:ext>
                </a:extLst>
              </a:tr>
              <a:tr h="370840">
                <a:tc>
                  <a:txBody>
                    <a:bodyPr/>
                    <a:lstStyle/>
                    <a:p>
                      <a:r>
                        <a:rPr lang="en-US" dirty="0"/>
                        <a:t>Omitted variable bias</a:t>
                      </a:r>
                    </a:p>
                  </a:txBody>
                  <a:tcPr/>
                </a:tc>
                <a:tc>
                  <a:txBody>
                    <a:bodyPr/>
                    <a:lstStyle/>
                    <a:p>
                      <a:r>
                        <a:rPr lang="en-US" dirty="0"/>
                        <a:t>The bias that arises when a confounder is not included in a regression model.</a:t>
                      </a:r>
                    </a:p>
                  </a:txBody>
                  <a:tcPr/>
                </a:tc>
                <a:tc>
                  <a:txBody>
                    <a:bodyPr/>
                    <a:lstStyle/>
                    <a:p>
                      <a:r>
                        <a:rPr lang="en-US" dirty="0"/>
                        <a:t>Epidemiologists would typically use the term “unmeasured confounding” here instead.</a:t>
                      </a:r>
                    </a:p>
                  </a:txBody>
                  <a:tcPr/>
                </a:tc>
                <a:extLst>
                  <a:ext uri="{0D108BD9-81ED-4DB2-BD59-A6C34878D82A}">
                    <a16:rowId xmlns:a16="http://schemas.microsoft.com/office/drawing/2014/main" val="3476233606"/>
                  </a:ext>
                </a:extLst>
              </a:tr>
              <a:tr h="370840">
                <a:tc>
                  <a:txBody>
                    <a:bodyPr/>
                    <a:lstStyle/>
                    <a:p>
                      <a:r>
                        <a:rPr lang="en-US" dirty="0"/>
                        <a:t>Identified</a:t>
                      </a:r>
                    </a:p>
                  </a:txBody>
                  <a:tcPr/>
                </a:tc>
                <a:tc>
                  <a:txBody>
                    <a:bodyPr/>
                    <a:lstStyle/>
                    <a:p>
                      <a:r>
                        <a:rPr lang="en-US" dirty="0"/>
                        <a:t>A parameter</a:t>
                      </a:r>
                      <a:r>
                        <a:rPr lang="en-US" baseline="0" dirty="0"/>
                        <a:t> is identified if different values  give rise to different data distributions. It is not identified if two values generate the same distribution of the data    </a:t>
                      </a:r>
                      <a:endParaRPr lang="en-US" dirty="0"/>
                    </a:p>
                  </a:txBody>
                  <a:tcPr/>
                </a:tc>
                <a:tc>
                  <a:txBody>
                    <a:bodyPr/>
                    <a:lstStyle/>
                    <a:p>
                      <a:endParaRPr lang="en-US" dirty="0"/>
                    </a:p>
                  </a:txBody>
                  <a:tcPr/>
                </a:tc>
                <a:extLst>
                  <a:ext uri="{0D108BD9-81ED-4DB2-BD59-A6C34878D82A}">
                    <a16:rowId xmlns:a16="http://schemas.microsoft.com/office/drawing/2014/main" val="1678355266"/>
                  </a:ext>
                </a:extLst>
              </a:tr>
            </a:tbl>
          </a:graphicData>
        </a:graphic>
      </p:graphicFrame>
      <p:sp>
        <p:nvSpPr>
          <p:cNvPr id="4" name="Slide Number Placeholder 3">
            <a:extLst>
              <a:ext uri="{FF2B5EF4-FFF2-40B4-BE49-F238E27FC236}">
                <a16:creationId xmlns:a16="http://schemas.microsoft.com/office/drawing/2014/main" id="{ABDF1522-0886-4DB3-AD7B-FB569F488E23}"/>
              </a:ext>
            </a:extLst>
          </p:cNvPr>
          <p:cNvSpPr>
            <a:spLocks noGrp="1"/>
          </p:cNvSpPr>
          <p:nvPr>
            <p:ph type="sldNum" sz="quarter" idx="12"/>
          </p:nvPr>
        </p:nvSpPr>
        <p:spPr/>
        <p:txBody>
          <a:bodyPr/>
          <a:lstStyle/>
          <a:p>
            <a:fld id="{4698AAF4-35A4-40F4-A7AE-C8E2C41B9252}" type="slidenum">
              <a:rPr lang="en-US" smtClean="0"/>
              <a:t>34</a:t>
            </a:fld>
            <a:endParaRPr lang="en-US"/>
          </a:p>
        </p:txBody>
      </p:sp>
    </p:spTree>
    <p:extLst>
      <p:ext uri="{BB962C8B-B14F-4D97-AF65-F5344CB8AC3E}">
        <p14:creationId xmlns:p14="http://schemas.microsoft.com/office/powerpoint/2010/main" val="1619439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CFDD58E8-6963-4872-932B-AF0EF7CF293F}"/>
              </a:ext>
            </a:extLst>
          </p:cNvPr>
          <p:cNvGraphicFramePr>
            <a:graphicFrameLocks noGrp="1"/>
          </p:cNvGraphicFramePr>
          <p:nvPr>
            <p:ph idx="1"/>
            <p:extLst>
              <p:ext uri="{D42A27DB-BD31-4B8C-83A1-F6EECF244321}">
                <p14:modId xmlns:p14="http://schemas.microsoft.com/office/powerpoint/2010/main" val="1783606543"/>
              </p:ext>
            </p:extLst>
          </p:nvPr>
        </p:nvGraphicFramePr>
        <p:xfrm>
          <a:off x="838200" y="505979"/>
          <a:ext cx="10515600" cy="5857240"/>
        </p:xfrm>
        <a:graphic>
          <a:graphicData uri="http://schemas.openxmlformats.org/drawingml/2006/table">
            <a:tbl>
              <a:tblPr firstRow="1" bandRow="1">
                <a:tableStyleId>{C083E6E3-FA7D-4D7B-A595-EF9225AFEA82}</a:tableStyleId>
              </a:tblPr>
              <a:tblGrid>
                <a:gridCol w="3505200">
                  <a:extLst>
                    <a:ext uri="{9D8B030D-6E8A-4147-A177-3AD203B41FA5}">
                      <a16:colId xmlns:a16="http://schemas.microsoft.com/office/drawing/2014/main" val="51563607"/>
                    </a:ext>
                  </a:extLst>
                </a:gridCol>
                <a:gridCol w="3505200">
                  <a:extLst>
                    <a:ext uri="{9D8B030D-6E8A-4147-A177-3AD203B41FA5}">
                      <a16:colId xmlns:a16="http://schemas.microsoft.com/office/drawing/2014/main" val="362195978"/>
                    </a:ext>
                  </a:extLst>
                </a:gridCol>
                <a:gridCol w="3505200">
                  <a:extLst>
                    <a:ext uri="{9D8B030D-6E8A-4147-A177-3AD203B41FA5}">
                      <a16:colId xmlns:a16="http://schemas.microsoft.com/office/drawing/2014/main" val="2753911777"/>
                    </a:ext>
                  </a:extLst>
                </a:gridCol>
              </a:tblGrid>
              <a:tr h="370840">
                <a:tc>
                  <a:txBody>
                    <a:bodyPr/>
                    <a:lstStyle/>
                    <a:p>
                      <a:r>
                        <a:rPr lang="en-US" dirty="0"/>
                        <a:t>Term</a:t>
                      </a:r>
                    </a:p>
                  </a:txBody>
                  <a:tcPr/>
                </a:tc>
                <a:tc>
                  <a:txBody>
                    <a:bodyPr/>
                    <a:lstStyle/>
                    <a:p>
                      <a:r>
                        <a:rPr lang="en-US" dirty="0"/>
                        <a:t>Use in Economics</a:t>
                      </a:r>
                    </a:p>
                  </a:txBody>
                  <a:tcPr/>
                </a:tc>
                <a:tc>
                  <a:txBody>
                    <a:bodyPr/>
                    <a:lstStyle/>
                    <a:p>
                      <a:r>
                        <a:rPr lang="en-US" dirty="0"/>
                        <a:t>Use in Epidemiology</a:t>
                      </a:r>
                    </a:p>
                  </a:txBody>
                  <a:tcPr/>
                </a:tc>
                <a:extLst>
                  <a:ext uri="{0D108BD9-81ED-4DB2-BD59-A6C34878D82A}">
                    <a16:rowId xmlns:a16="http://schemas.microsoft.com/office/drawing/2014/main" val="1805364640"/>
                  </a:ext>
                </a:extLst>
              </a:tr>
              <a:tr h="370840">
                <a:tc>
                  <a:txBody>
                    <a:bodyPr/>
                    <a:lstStyle/>
                    <a:p>
                      <a:r>
                        <a:rPr lang="en-US" dirty="0"/>
                        <a:t>Marginal effect</a:t>
                      </a:r>
                    </a:p>
                  </a:txBody>
                  <a:tcPr/>
                </a:tc>
                <a:tc>
                  <a:txBody>
                    <a:bodyPr/>
                    <a:lstStyle/>
                    <a:p>
                      <a:r>
                        <a:rPr lang="en-US" dirty="0"/>
                        <a:t>Marginal refers to a derivative (e.g., the marginal benefit is the additional amount of benefit that comes from consuming one additional unit of a good). Intuitively, you can think about “tweaking at the margins”.</a:t>
                      </a:r>
                    </a:p>
                  </a:txBody>
                  <a:tcPr/>
                </a:tc>
                <a:tc>
                  <a:txBody>
                    <a:bodyPr/>
                    <a:lstStyle/>
                    <a:p>
                      <a:r>
                        <a:rPr lang="en-US" dirty="0"/>
                        <a:t>Marginal refers to an integral or a sum (e.g., the marginal treatment effect is the effect over the total population). Intuitively, you can think about the margins of a 2x2 table.</a:t>
                      </a:r>
                    </a:p>
                  </a:txBody>
                  <a:tcPr/>
                </a:tc>
                <a:extLst>
                  <a:ext uri="{0D108BD9-81ED-4DB2-BD59-A6C34878D82A}">
                    <a16:rowId xmlns:a16="http://schemas.microsoft.com/office/drawing/2014/main" val="937173268"/>
                  </a:ext>
                </a:extLst>
              </a:tr>
              <a:tr h="370840">
                <a:tc>
                  <a:txBody>
                    <a:bodyPr/>
                    <a:lstStyle/>
                    <a:p>
                      <a:r>
                        <a:rPr lang="en-US" dirty="0"/>
                        <a:t>Endogenous</a:t>
                      </a:r>
                    </a:p>
                  </a:txBody>
                  <a:tcPr/>
                </a:tc>
                <a:tc>
                  <a:txBody>
                    <a:bodyPr/>
                    <a:lstStyle/>
                    <a:p>
                      <a:r>
                        <a:rPr lang="en-US" dirty="0"/>
                        <a:t>When a treatment variable is correlated with the error term in a linear regression creating bias. Usually used in the sense that  (1) the dependent variable Y has a causal effect on X (simultaneity or reverse causation bias). Can also occur if there is (1)  omitted variable bias; (2)  measurement error. </a:t>
                      </a:r>
                    </a:p>
                  </a:txBody>
                  <a:tcPr/>
                </a:tc>
                <a:tc>
                  <a:txBody>
                    <a:bodyPr/>
                    <a:lstStyle/>
                    <a:p>
                      <a:r>
                        <a:rPr lang="en-US" dirty="0"/>
                        <a:t>The term is not typically used in Epidemiology.</a:t>
                      </a:r>
                    </a:p>
                  </a:txBody>
                  <a:tcPr/>
                </a:tc>
                <a:extLst>
                  <a:ext uri="{0D108BD9-81ED-4DB2-BD59-A6C34878D82A}">
                    <a16:rowId xmlns:a16="http://schemas.microsoft.com/office/drawing/2014/main" val="3476233606"/>
                  </a:ext>
                </a:extLst>
              </a:tr>
              <a:tr h="370840">
                <a:tc>
                  <a:txBody>
                    <a:bodyPr/>
                    <a:lstStyle/>
                    <a:p>
                      <a:r>
                        <a:rPr lang="en-US" dirty="0"/>
                        <a:t>Exogenous</a:t>
                      </a:r>
                    </a:p>
                  </a:txBody>
                  <a:tcPr/>
                </a:tc>
                <a:tc>
                  <a:txBody>
                    <a:bodyPr/>
                    <a:lstStyle/>
                    <a:p>
                      <a:r>
                        <a:rPr lang="en-US" dirty="0"/>
                        <a:t>Opposite of endogenous, uncorrelated with error term</a:t>
                      </a:r>
                    </a:p>
                  </a:txBody>
                  <a:tcPr/>
                </a:tc>
                <a:tc>
                  <a:txBody>
                    <a:bodyPr/>
                    <a:lstStyle/>
                    <a:p>
                      <a:r>
                        <a:rPr lang="en-US" dirty="0"/>
                        <a:t>This term is not typically used in Epidemiology</a:t>
                      </a:r>
                    </a:p>
                  </a:txBody>
                  <a:tcPr/>
                </a:tc>
                <a:extLst>
                  <a:ext uri="{0D108BD9-81ED-4DB2-BD59-A6C34878D82A}">
                    <a16:rowId xmlns:a16="http://schemas.microsoft.com/office/drawing/2014/main" val="1678355266"/>
                  </a:ext>
                </a:extLst>
              </a:tr>
            </a:tbl>
          </a:graphicData>
        </a:graphic>
      </p:graphicFrame>
      <p:sp>
        <p:nvSpPr>
          <p:cNvPr id="4" name="Slide Number Placeholder 3">
            <a:extLst>
              <a:ext uri="{FF2B5EF4-FFF2-40B4-BE49-F238E27FC236}">
                <a16:creationId xmlns:a16="http://schemas.microsoft.com/office/drawing/2014/main" id="{ABDF1522-0886-4DB3-AD7B-FB569F488E23}"/>
              </a:ext>
            </a:extLst>
          </p:cNvPr>
          <p:cNvSpPr>
            <a:spLocks noGrp="1"/>
          </p:cNvSpPr>
          <p:nvPr>
            <p:ph type="sldNum" sz="quarter" idx="12"/>
          </p:nvPr>
        </p:nvSpPr>
        <p:spPr/>
        <p:txBody>
          <a:bodyPr/>
          <a:lstStyle/>
          <a:p>
            <a:fld id="{4698AAF4-35A4-40F4-A7AE-C8E2C41B9252}" type="slidenum">
              <a:rPr lang="en-US" smtClean="0"/>
              <a:t>35</a:t>
            </a:fld>
            <a:endParaRPr lang="en-US"/>
          </a:p>
        </p:txBody>
      </p:sp>
    </p:spTree>
    <p:extLst>
      <p:ext uri="{BB962C8B-B14F-4D97-AF65-F5344CB8AC3E}">
        <p14:creationId xmlns:p14="http://schemas.microsoft.com/office/powerpoint/2010/main" val="425819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D1E74-B6F7-4370-BAF7-CE051AD13281}"/>
              </a:ext>
            </a:extLst>
          </p:cNvPr>
          <p:cNvSpPr>
            <a:spLocks noGrp="1"/>
          </p:cNvSpPr>
          <p:nvPr>
            <p:ph type="title"/>
          </p:nvPr>
        </p:nvSpPr>
        <p:spPr/>
        <p:txBody>
          <a:bodyPr/>
          <a:lstStyle/>
          <a:p>
            <a:r>
              <a:rPr lang="en-US" dirty="0"/>
              <a:t>II. Comparing different estimators</a:t>
            </a:r>
          </a:p>
        </p:txBody>
      </p:sp>
      <p:sp>
        <p:nvSpPr>
          <p:cNvPr id="3" name="Text Placeholder 2">
            <a:extLst>
              <a:ext uri="{FF2B5EF4-FFF2-40B4-BE49-F238E27FC236}">
                <a16:creationId xmlns:a16="http://schemas.microsoft.com/office/drawing/2014/main" id="{86891700-3B83-4C69-BD70-B472D8844F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F02077-0973-46C6-9AF3-169AAA0DB281}"/>
              </a:ext>
            </a:extLst>
          </p:cNvPr>
          <p:cNvSpPr>
            <a:spLocks noGrp="1"/>
          </p:cNvSpPr>
          <p:nvPr>
            <p:ph type="sldNum" sz="quarter" idx="12"/>
          </p:nvPr>
        </p:nvSpPr>
        <p:spPr/>
        <p:txBody>
          <a:bodyPr/>
          <a:lstStyle/>
          <a:p>
            <a:fld id="{4698AAF4-35A4-40F4-A7AE-C8E2C41B9252}" type="slidenum">
              <a:rPr lang="en-US" smtClean="0"/>
              <a:t>36</a:t>
            </a:fld>
            <a:endParaRPr lang="en-US"/>
          </a:p>
        </p:txBody>
      </p:sp>
    </p:spTree>
    <p:extLst>
      <p:ext uri="{BB962C8B-B14F-4D97-AF65-F5344CB8AC3E}">
        <p14:creationId xmlns:p14="http://schemas.microsoft.com/office/powerpoint/2010/main" val="28731743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636918-62E1-41CC-B535-FB9680209235}"/>
              </a:ext>
            </a:extLst>
          </p:cNvPr>
          <p:cNvSpPr>
            <a:spLocks noGrp="1"/>
          </p:cNvSpPr>
          <p:nvPr>
            <p:ph type="title"/>
          </p:nvPr>
        </p:nvSpPr>
        <p:spPr/>
        <p:txBody>
          <a:bodyPr/>
          <a:lstStyle/>
          <a:p>
            <a:r>
              <a:rPr lang="en-US" dirty="0"/>
              <a:t>Different estimators</a:t>
            </a:r>
          </a:p>
        </p:txBody>
      </p:sp>
      <p:sp>
        <p:nvSpPr>
          <p:cNvPr id="5" name="Content Placeholder 4">
            <a:extLst>
              <a:ext uri="{FF2B5EF4-FFF2-40B4-BE49-F238E27FC236}">
                <a16:creationId xmlns:a16="http://schemas.microsoft.com/office/drawing/2014/main" id="{A770BFD5-83BD-462C-8C09-8082969E1AA8}"/>
              </a:ext>
            </a:extLst>
          </p:cNvPr>
          <p:cNvSpPr>
            <a:spLocks noGrp="1"/>
          </p:cNvSpPr>
          <p:nvPr>
            <p:ph idx="1"/>
          </p:nvPr>
        </p:nvSpPr>
        <p:spPr/>
        <p:txBody>
          <a:bodyPr>
            <a:normAutofit fontScale="92500" lnSpcReduction="10000"/>
          </a:bodyPr>
          <a:lstStyle/>
          <a:p>
            <a:r>
              <a:rPr lang="en-US" dirty="0"/>
              <a:t>Minimize a function of unexplained residuals</a:t>
            </a:r>
          </a:p>
          <a:p>
            <a:pPr lvl="1"/>
            <a:r>
              <a:rPr lang="en-US" dirty="0"/>
              <a:t>Choose parameters to minimize residuals from a model</a:t>
            </a:r>
          </a:p>
          <a:p>
            <a:pPr lvl="1"/>
            <a:r>
              <a:rPr lang="en-US" dirty="0"/>
              <a:t>Requires an explicit model</a:t>
            </a:r>
          </a:p>
          <a:p>
            <a:pPr lvl="1"/>
            <a:r>
              <a:rPr lang="en-US" dirty="0"/>
              <a:t>Sum of squared residuals, sum of absolute residuals</a:t>
            </a:r>
          </a:p>
          <a:p>
            <a:r>
              <a:rPr lang="en-US" dirty="0"/>
              <a:t>Maximum Likelihood</a:t>
            </a:r>
          </a:p>
          <a:p>
            <a:pPr lvl="1"/>
            <a:r>
              <a:rPr lang="en-US" dirty="0"/>
              <a:t>Choose parameters to maximize the likelihood of the observations given the parameter</a:t>
            </a:r>
          </a:p>
          <a:p>
            <a:pPr lvl="1"/>
            <a:r>
              <a:rPr lang="en-US" dirty="0"/>
              <a:t>Requires explicit model of how data are generated from parameters</a:t>
            </a:r>
          </a:p>
          <a:p>
            <a:r>
              <a:rPr lang="en-US" dirty="0"/>
              <a:t>Method of Moments</a:t>
            </a:r>
          </a:p>
          <a:p>
            <a:pPr lvl="1"/>
            <a:r>
              <a:rPr lang="en-US" dirty="0"/>
              <a:t>Choose parameters to equate observed, sample moments with expected moments given parameters</a:t>
            </a:r>
          </a:p>
          <a:p>
            <a:pPr lvl="1"/>
            <a:r>
              <a:rPr lang="en-US" dirty="0"/>
              <a:t>Many possible moments to match</a:t>
            </a:r>
          </a:p>
        </p:txBody>
      </p:sp>
      <p:sp>
        <p:nvSpPr>
          <p:cNvPr id="6" name="Slide Number Placeholder 5">
            <a:extLst>
              <a:ext uri="{FF2B5EF4-FFF2-40B4-BE49-F238E27FC236}">
                <a16:creationId xmlns:a16="http://schemas.microsoft.com/office/drawing/2014/main" id="{1D59FA3D-72DF-4F35-9DCA-30FE3E9D0E9F}"/>
              </a:ext>
            </a:extLst>
          </p:cNvPr>
          <p:cNvSpPr>
            <a:spLocks noGrp="1"/>
          </p:cNvSpPr>
          <p:nvPr>
            <p:ph type="sldNum" sz="quarter" idx="12"/>
          </p:nvPr>
        </p:nvSpPr>
        <p:spPr/>
        <p:txBody>
          <a:bodyPr/>
          <a:lstStyle/>
          <a:p>
            <a:fld id="{4698AAF4-35A4-40F4-A7AE-C8E2C41B9252}" type="slidenum">
              <a:rPr lang="en-US" smtClean="0"/>
              <a:t>37</a:t>
            </a:fld>
            <a:endParaRPr lang="en-US"/>
          </a:p>
        </p:txBody>
      </p:sp>
    </p:spTree>
    <p:extLst>
      <p:ext uri="{BB962C8B-B14F-4D97-AF65-F5344CB8AC3E}">
        <p14:creationId xmlns:p14="http://schemas.microsoft.com/office/powerpoint/2010/main" val="24507077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Minimizing Residuals</a:t>
            </a:r>
          </a:p>
        </p:txBody>
      </p:sp>
      <p:sp>
        <p:nvSpPr>
          <p:cNvPr id="3" name="Content Placeholder 2"/>
          <p:cNvSpPr>
            <a:spLocks noGrp="1"/>
          </p:cNvSpPr>
          <p:nvPr>
            <p:ph idx="1"/>
          </p:nvPr>
        </p:nvSpPr>
        <p:spPr/>
        <p:txBody>
          <a:bodyPr/>
          <a:lstStyle/>
          <a:p>
            <a:r>
              <a:rPr lang="en-US" dirty="0"/>
              <a:t>Fit a model</a:t>
            </a:r>
          </a:p>
          <a:p>
            <a:endParaRPr lang="en-US" dirty="0"/>
          </a:p>
          <a:p>
            <a:endParaRPr lang="en-US" dirty="0"/>
          </a:p>
          <a:p>
            <a:r>
              <a:rPr lang="en-US" dirty="0"/>
              <a:t>OLS Choose parameters to minimize  </a:t>
            </a:r>
          </a:p>
          <a:p>
            <a:endParaRPr lang="en-US" dirty="0"/>
          </a:p>
        </p:txBody>
      </p:sp>
      <p:sp>
        <p:nvSpPr>
          <p:cNvPr id="4" name="Slide Number Placeholder 3"/>
          <p:cNvSpPr>
            <a:spLocks noGrp="1"/>
          </p:cNvSpPr>
          <p:nvPr>
            <p:ph type="sldNum" sz="quarter" idx="12"/>
          </p:nvPr>
        </p:nvSpPr>
        <p:spPr/>
        <p:txBody>
          <a:bodyPr/>
          <a:lstStyle/>
          <a:p>
            <a:fld id="{4698AAF4-35A4-40F4-A7AE-C8E2C41B9252}" type="slidenum">
              <a:rPr lang="en-US" smtClean="0"/>
              <a:t>38</a:t>
            </a:fld>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3079477223"/>
              </p:ext>
            </p:extLst>
          </p:nvPr>
        </p:nvGraphicFramePr>
        <p:xfrm>
          <a:off x="3518369" y="2380421"/>
          <a:ext cx="2155690" cy="636105"/>
        </p:xfrm>
        <a:graphic>
          <a:graphicData uri="http://schemas.openxmlformats.org/presentationml/2006/ole">
            <mc:AlternateContent xmlns:mc="http://schemas.openxmlformats.org/markup-compatibility/2006">
              <mc:Choice xmlns:v="urn:schemas-microsoft-com:vml" Requires="v">
                <p:oleObj name="Equation" r:id="rId2" imgW="774360" imgH="228600" progId="Equation.DSMT4">
                  <p:embed/>
                </p:oleObj>
              </mc:Choice>
              <mc:Fallback>
                <p:oleObj name="Equation" r:id="rId2" imgW="774360" imgH="228600" progId="Equation.DSMT4">
                  <p:embed/>
                  <p:pic>
                    <p:nvPicPr>
                      <p:cNvPr id="5" name="Object 4"/>
                      <p:cNvPicPr/>
                      <p:nvPr/>
                    </p:nvPicPr>
                    <p:blipFill>
                      <a:blip r:embed="rId3"/>
                      <a:stretch>
                        <a:fillRect/>
                      </a:stretch>
                    </p:blipFill>
                    <p:spPr>
                      <a:xfrm>
                        <a:off x="3518369" y="2380421"/>
                        <a:ext cx="2155690" cy="636105"/>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078893464"/>
              </p:ext>
            </p:extLst>
          </p:nvPr>
        </p:nvGraphicFramePr>
        <p:xfrm>
          <a:off x="3277069" y="4134678"/>
          <a:ext cx="3662305" cy="924133"/>
        </p:xfrm>
        <a:graphic>
          <a:graphicData uri="http://schemas.openxmlformats.org/presentationml/2006/ole">
            <mc:AlternateContent xmlns:mc="http://schemas.openxmlformats.org/markup-compatibility/2006">
              <mc:Choice xmlns:v="urn:schemas-microsoft-com:vml" Requires="v">
                <p:oleObj name="Equation" r:id="rId4" imgW="1358640" imgH="342720" progId="Equation.DSMT4">
                  <p:embed/>
                </p:oleObj>
              </mc:Choice>
              <mc:Fallback>
                <p:oleObj name="Equation" r:id="rId4" imgW="1358640" imgH="342720" progId="Equation.DSMT4">
                  <p:embed/>
                  <p:pic>
                    <p:nvPicPr>
                      <p:cNvPr id="6" name="Object 5"/>
                      <p:cNvPicPr/>
                      <p:nvPr/>
                    </p:nvPicPr>
                    <p:blipFill>
                      <a:blip r:embed="rId5"/>
                      <a:stretch>
                        <a:fillRect/>
                      </a:stretch>
                    </p:blipFill>
                    <p:spPr>
                      <a:xfrm>
                        <a:off x="3277069" y="4134678"/>
                        <a:ext cx="3662305" cy="924133"/>
                      </a:xfrm>
                      <a:prstGeom prst="rect">
                        <a:avLst/>
                      </a:prstGeom>
                    </p:spPr>
                  </p:pic>
                </p:oleObj>
              </mc:Fallback>
            </mc:AlternateContent>
          </a:graphicData>
        </a:graphic>
      </p:graphicFrame>
    </p:spTree>
    <p:extLst>
      <p:ext uri="{BB962C8B-B14F-4D97-AF65-F5344CB8AC3E}">
        <p14:creationId xmlns:p14="http://schemas.microsoft.com/office/powerpoint/2010/main" val="6829279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9ECA9-0EE5-4710-B7C0-E7729B3DB8C2}"/>
              </a:ext>
            </a:extLst>
          </p:cNvPr>
          <p:cNvSpPr>
            <a:spLocks noGrp="1"/>
          </p:cNvSpPr>
          <p:nvPr>
            <p:ph type="title"/>
          </p:nvPr>
        </p:nvSpPr>
        <p:spPr/>
        <p:txBody>
          <a:bodyPr/>
          <a:lstStyle/>
          <a:p>
            <a:r>
              <a:rPr lang="en-US" dirty="0"/>
              <a:t>Maximum Likelihood Principle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13C6D8-9F94-4CA6-9E9C-B92DD791044D}"/>
                  </a:ext>
                </a:extLst>
              </p:cNvPr>
              <p:cNvSpPr>
                <a:spLocks noGrp="1"/>
              </p:cNvSpPr>
              <p:nvPr>
                <p:ph idx="1"/>
              </p:nvPr>
            </p:nvSpPr>
            <p:spPr/>
            <p:txBody>
              <a:bodyPr>
                <a:normAutofit fontScale="92500" lnSpcReduction="10000"/>
              </a:bodyPr>
              <a:lstStyle/>
              <a:p>
                <a:r>
                  <a:rPr lang="en-US" dirty="0"/>
                  <a:t>Find the distribution (generally characterized by a vector </a:t>
                </a:r>
                <a14:m>
                  <m:oMath xmlns:m="http://schemas.openxmlformats.org/officeDocument/2006/math">
                    <m:r>
                      <a:rPr lang="en-US" b="0" i="1" smtClean="0">
                        <a:latin typeface="Cambria Math" panose="02040503050406030204" pitchFamily="18" charset="0"/>
                      </a:rPr>
                      <m:t>𝜃</m:t>
                    </m:r>
                  </m:oMath>
                </a14:m>
                <a:r>
                  <a:rPr lang="en-US" dirty="0"/>
                  <a:t>) that maximizes the likelihood </a:t>
                </a:r>
                <a14:m>
                  <m:oMath xmlns:m="http://schemas.openxmlformats.org/officeDocument/2006/math">
                    <m:r>
                      <a:rPr lang="en-US" b="0" i="1" smtClean="0">
                        <a:latin typeface="Cambria Math" panose="02040503050406030204" pitchFamily="18" charset="0"/>
                      </a:rPr>
                      <m:t>𝐿</m:t>
                    </m:r>
                  </m:oMath>
                </a14:m>
                <a:r>
                  <a:rPr lang="en-US" dirty="0"/>
                  <a:t> of getting the collected sample data </a:t>
                </a:r>
                <a14:m>
                  <m:oMath xmlns:m="http://schemas.openxmlformats.org/officeDocument/2006/math">
                    <m:r>
                      <a:rPr lang="en-US" b="0" i="1" smtClean="0">
                        <a:latin typeface="Cambria Math" panose="02040503050406030204" pitchFamily="18" charset="0"/>
                      </a:rPr>
                      <m:t>𝑦</m:t>
                    </m:r>
                  </m:oMath>
                </a14:m>
                <a:endParaRPr lang="en-US" dirty="0"/>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𝜃</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e>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𝜃</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e>
                      </m:nary>
                    </m:oMath>
                  </m:oMathPara>
                </a14:m>
                <a:endParaRPr lang="en-US" b="0" dirty="0"/>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𝜃</m:t>
                                  </m:r>
                                </m:e>
                              </m:d>
                            </m:e>
                          </m:d>
                        </m:e>
                      </m:func>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𝜃</m:t>
                                      </m:r>
                                    </m:e>
                                  </m:d>
                                </m:e>
                              </m:d>
                            </m:e>
                          </m:func>
                        </m:e>
                      </m:nary>
                    </m:oMath>
                  </m:oMathPara>
                </a14:m>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r>
                        <a:rPr lang="en-US" b="0" i="1" dirty="0" smtClean="0">
                          <a:latin typeface="Cambria Math" panose="02040503050406030204" pitchFamily="18" charset="0"/>
                        </a:rPr>
                        <m:t>=</m:t>
                      </m:r>
                      <m:func>
                        <m:funcPr>
                          <m:ctrlPr>
                            <a:rPr lang="en-US" b="0" i="1" dirty="0" smtClean="0">
                              <a:latin typeface="Cambria Math" panose="02040503050406030204" pitchFamily="18" charset="0"/>
                            </a:rPr>
                          </m:ctrlPr>
                        </m:funcPr>
                        <m:fName>
                          <m:limLow>
                            <m:limLowPr>
                              <m:ctrlPr>
                                <a:rPr lang="en-US" b="0" i="1" dirty="0" smtClean="0">
                                  <a:latin typeface="Cambria Math" panose="02040503050406030204" pitchFamily="18" charset="0"/>
                                </a:rPr>
                              </m:ctrlPr>
                            </m:limLowPr>
                            <m:e>
                              <m:r>
                                <a:rPr lang="en-US" b="0" i="1" dirty="0" smtClean="0">
                                  <a:latin typeface="Cambria Math" panose="02040503050406030204" pitchFamily="18" charset="0"/>
                                </a:rPr>
                                <m:t>𝑎</m:t>
                              </m:r>
                              <m:r>
                                <m:rPr>
                                  <m:sty m:val="p"/>
                                </m:rPr>
                                <a:rPr lang="en-US" b="0" i="0" dirty="0" smtClean="0">
                                  <a:latin typeface="Cambria Math" panose="02040503050406030204" pitchFamily="18" charset="0"/>
                                </a:rPr>
                                <m:t>rgmax</m:t>
                              </m:r>
                            </m:e>
                            <m:lim>
                              <m:r>
                                <a:rPr lang="en-US" b="0" i="1" dirty="0" smtClean="0">
                                  <a:latin typeface="Cambria Math" panose="02040503050406030204" pitchFamily="18" charset="0"/>
                                </a:rPr>
                                <m:t>𝜃</m:t>
                              </m:r>
                              <m:r>
                                <a:rPr lang="en-US" b="0" i="1" dirty="0" smtClean="0">
                                  <a:latin typeface="Cambria Math" panose="02040503050406030204" pitchFamily="18" charset="0"/>
                                </a:rPr>
                                <m:t>∈</m:t>
                              </m:r>
                              <m:r>
                                <m:rPr>
                                  <m:sty m:val="p"/>
                                </m:rPr>
                                <a:rPr lang="en-US" b="0" i="0" dirty="0" smtClean="0">
                                  <a:latin typeface="Cambria Math" panose="02040503050406030204" pitchFamily="18" charset="0"/>
                                </a:rPr>
                                <m:t>Θ</m:t>
                              </m:r>
                            </m:lim>
                          </m:limLow>
                        </m:fName>
                        <m:e>
                          <m:r>
                            <a:rPr lang="en-US" b="0" i="1" dirty="0" smtClean="0">
                              <a:latin typeface="Cambria Math" panose="02040503050406030204" pitchFamily="18" charset="0"/>
                            </a:rPr>
                            <m:t>𝐿</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𝜃</m:t>
                              </m:r>
                            </m:e>
                          </m:d>
                          <m:r>
                            <a:rPr lang="en-US" b="0" i="1" dirty="0" smtClean="0">
                              <a:latin typeface="Cambria Math" panose="02040503050406030204" pitchFamily="18" charset="0"/>
                            </a:rPr>
                            <m:t>=</m:t>
                          </m:r>
                          <m:limLow>
                            <m:limLowPr>
                              <m:ctrlPr>
                                <a:rPr lang="en-US" i="1" dirty="0">
                                  <a:latin typeface="Cambria Math" panose="02040503050406030204" pitchFamily="18" charset="0"/>
                                </a:rPr>
                              </m:ctrlPr>
                            </m:limLowPr>
                            <m:e>
                              <m:r>
                                <a:rPr lang="en-US" i="1" dirty="0">
                                  <a:latin typeface="Cambria Math" panose="02040503050406030204" pitchFamily="18" charset="0"/>
                                </a:rPr>
                                <m:t>𝑎</m:t>
                              </m:r>
                              <m:r>
                                <m:rPr>
                                  <m:sty m:val="p"/>
                                </m:rPr>
                                <a:rPr lang="en-US" dirty="0">
                                  <a:latin typeface="Cambria Math" panose="02040503050406030204" pitchFamily="18" charset="0"/>
                                </a:rPr>
                                <m:t>rgmax</m:t>
                              </m:r>
                            </m:e>
                            <m:lim>
                              <m:r>
                                <a:rPr lang="en-US" i="1" dirty="0">
                                  <a:latin typeface="Cambria Math" panose="02040503050406030204" pitchFamily="18" charset="0"/>
                                </a:rPr>
                                <m:t>𝜃</m:t>
                              </m:r>
                              <m:r>
                                <a:rPr lang="en-US" i="1" dirty="0">
                                  <a:latin typeface="Cambria Math" panose="02040503050406030204" pitchFamily="18" charset="0"/>
                                </a:rPr>
                                <m:t>∈</m:t>
                              </m:r>
                              <m:r>
                                <m:rPr>
                                  <m:sty m:val="p"/>
                                </m:rPr>
                                <a:rPr lang="en-US" dirty="0">
                                  <a:latin typeface="Cambria Math" panose="02040503050406030204" pitchFamily="18" charset="0"/>
                                </a:rPr>
                                <m:t>Θ</m:t>
                              </m:r>
                            </m:lim>
                          </m:limLow>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log</m:t>
                              </m:r>
                            </m:fName>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𝐿</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𝜃</m:t>
                                      </m:r>
                                    </m:e>
                                  </m:d>
                                </m:e>
                              </m:d>
                            </m:e>
                          </m:func>
                        </m:e>
                      </m:func>
                    </m:oMath>
                  </m:oMathPara>
                </a14:m>
                <a:endParaRPr lang="en-US" b="0" dirty="0"/>
              </a:p>
              <a:p>
                <a:pPr marL="0" indent="0">
                  <a:buNone/>
                </a:pPr>
                <a:endParaRPr lang="en-US" dirty="0"/>
              </a:p>
              <a:p>
                <a:r>
                  <a:rPr lang="en-US" dirty="0"/>
                  <a:t>These ideas were presented in PHS 2000A, Lecture 5 as well</a:t>
                </a:r>
              </a:p>
            </p:txBody>
          </p:sp>
        </mc:Choice>
        <mc:Fallback xmlns="">
          <p:sp>
            <p:nvSpPr>
              <p:cNvPr id="3" name="Content Placeholder 2">
                <a:extLst>
                  <a:ext uri="{FF2B5EF4-FFF2-40B4-BE49-F238E27FC236}">
                    <a16:creationId xmlns:a16="http://schemas.microsoft.com/office/drawing/2014/main" id="{D913C6D8-9F94-4CA6-9E9C-B92DD791044D}"/>
                  </a:ext>
                </a:extLst>
              </p:cNvPr>
              <p:cNvSpPr>
                <a:spLocks noGrp="1" noRot="1" noChangeAspect="1" noMove="1" noResize="1" noEditPoints="1" noAdjustHandles="1" noChangeArrowheads="1" noChangeShapeType="1" noTextEdit="1"/>
              </p:cNvSpPr>
              <p:nvPr>
                <p:ph idx="1"/>
              </p:nvPr>
            </p:nvSpPr>
            <p:spPr>
              <a:blipFill>
                <a:blip r:embed="rId2"/>
                <a:stretch>
                  <a:fillRect l="-928" t="-2801" r="-928" b="-36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9FBFC2C5-723A-476D-8B0E-896FC39FC7E6}"/>
              </a:ext>
            </a:extLst>
          </p:cNvPr>
          <p:cNvSpPr txBox="1"/>
          <p:nvPr/>
        </p:nvSpPr>
        <p:spPr>
          <a:xfrm>
            <a:off x="5640355" y="2971800"/>
            <a:ext cx="65" cy="276999"/>
          </a:xfrm>
          <a:prstGeom prst="rect">
            <a:avLst/>
          </a:prstGeom>
          <a:noFill/>
        </p:spPr>
        <p:txBody>
          <a:bodyPr wrap="none" lIns="0" tIns="0" rIns="0" bIns="0" rtlCol="0">
            <a:spAutoFit/>
          </a:bodyPr>
          <a:lstStyle/>
          <a:p>
            <a:endParaRPr lang="en-US" dirty="0"/>
          </a:p>
        </p:txBody>
      </p:sp>
      <p:sp>
        <p:nvSpPr>
          <p:cNvPr id="5" name="Slide Number Placeholder 4">
            <a:extLst>
              <a:ext uri="{FF2B5EF4-FFF2-40B4-BE49-F238E27FC236}">
                <a16:creationId xmlns:a16="http://schemas.microsoft.com/office/drawing/2014/main" id="{244DB1FE-8A30-4EE6-B87A-CC23F1DEE4D0}"/>
              </a:ext>
            </a:extLst>
          </p:cNvPr>
          <p:cNvSpPr>
            <a:spLocks noGrp="1"/>
          </p:cNvSpPr>
          <p:nvPr>
            <p:ph type="sldNum" sz="quarter" idx="12"/>
          </p:nvPr>
        </p:nvSpPr>
        <p:spPr/>
        <p:txBody>
          <a:bodyPr/>
          <a:lstStyle/>
          <a:p>
            <a:fld id="{4698AAF4-35A4-40F4-A7AE-C8E2C41B9252}" type="slidenum">
              <a:rPr lang="en-US" smtClean="0"/>
              <a:t>39</a:t>
            </a:fld>
            <a:endParaRPr lang="en-US"/>
          </a:p>
        </p:txBody>
      </p:sp>
    </p:spTree>
    <p:extLst>
      <p:ext uri="{BB962C8B-B14F-4D97-AF65-F5344CB8AC3E}">
        <p14:creationId xmlns:p14="http://schemas.microsoft.com/office/powerpoint/2010/main" val="4191512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FF348-7C38-4C72-A45B-D77C5E3985ED}"/>
              </a:ext>
            </a:extLst>
          </p:cNvPr>
          <p:cNvSpPr>
            <a:spLocks noGrp="1"/>
          </p:cNvSpPr>
          <p:nvPr>
            <p:ph type="title"/>
          </p:nvPr>
        </p:nvSpPr>
        <p:spPr/>
        <p:txBody>
          <a:bodyPr/>
          <a:lstStyle/>
          <a:p>
            <a:r>
              <a:rPr lang="en-US" dirty="0"/>
              <a:t>Generalized Method of Moments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20D667-1324-4B66-A89B-C3034648D747}"/>
                  </a:ext>
                </a:extLst>
              </p:cNvPr>
              <p:cNvSpPr>
                <a:spLocks noGrp="1"/>
              </p:cNvSpPr>
              <p:nvPr>
                <p:ph idx="1"/>
              </p:nvPr>
            </p:nvSpPr>
            <p:spPr/>
            <p:txBody>
              <a:bodyPr/>
              <a:lstStyle/>
              <a:p>
                <a:r>
                  <a:rPr lang="en-US" dirty="0"/>
                  <a:t>Take any moment that holds true in the population given the model and impose it on the sample</a:t>
                </a:r>
              </a:p>
              <a:p>
                <a:endParaRPr lang="en-US" dirty="0"/>
              </a:p>
              <a:p>
                <a:r>
                  <a:rPr lang="en-US" dirty="0"/>
                  <a:t>Moment condition: theoretical moment = sample moment</a:t>
                </a:r>
              </a:p>
              <a:p>
                <a:endParaRPr lang="en-US" dirty="0"/>
              </a:p>
              <a:p>
                <a:r>
                  <a:rPr lang="en-US" dirty="0"/>
                  <a:t>Moment condition mathematically: </a:t>
                </a:r>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𝑋</m:t>
                            </m:r>
                          </m:e>
                        </m:d>
                      </m:e>
                      <m:e>
                        <m:r>
                          <a:rPr lang="en-US" b="0" i="1" smtClean="0">
                            <a:latin typeface="Cambria Math" panose="02040503050406030204" pitchFamily="18" charset="0"/>
                          </a:rPr>
                          <m:t>𝜃</m:t>
                        </m:r>
                      </m:e>
                    </m:d>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e>
                    </m:acc>
                  </m:oMath>
                </a14:m>
                <a:endParaRPr lang="en-US" dirty="0"/>
              </a:p>
              <a:p>
                <a:endParaRPr lang="en-US" dirty="0"/>
              </a:p>
              <a:p>
                <a:r>
                  <a:rPr lang="en-US" dirty="0"/>
                  <a:t>Solve this equation for </a:t>
                </a:r>
                <a14:m>
                  <m:oMath xmlns:m="http://schemas.openxmlformats.org/officeDocument/2006/math">
                    <m:r>
                      <a:rPr lang="en-US" i="1">
                        <a:latin typeface="Cambria Math" panose="02040503050406030204" pitchFamily="18" charset="0"/>
                      </a:rPr>
                      <m:t>𝜃</m:t>
                    </m:r>
                  </m:oMath>
                </a14:m>
                <a:endParaRPr lang="en-US" dirty="0"/>
              </a:p>
            </p:txBody>
          </p:sp>
        </mc:Choice>
        <mc:Fallback xmlns="">
          <p:sp>
            <p:nvSpPr>
              <p:cNvPr id="3" name="Content Placeholder 2">
                <a:extLst>
                  <a:ext uri="{FF2B5EF4-FFF2-40B4-BE49-F238E27FC236}">
                    <a16:creationId xmlns:a16="http://schemas.microsoft.com/office/drawing/2014/main" id="{D920D667-1324-4B66-A89B-C3034648D74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B33A53A-6827-4E67-931D-401F3BD83D94}"/>
              </a:ext>
            </a:extLst>
          </p:cNvPr>
          <p:cNvSpPr>
            <a:spLocks noGrp="1"/>
          </p:cNvSpPr>
          <p:nvPr>
            <p:ph type="sldNum" sz="quarter" idx="12"/>
          </p:nvPr>
        </p:nvSpPr>
        <p:spPr/>
        <p:txBody>
          <a:bodyPr/>
          <a:lstStyle/>
          <a:p>
            <a:fld id="{4698AAF4-35A4-40F4-A7AE-C8E2C41B9252}" type="slidenum">
              <a:rPr lang="en-US" smtClean="0"/>
              <a:t>40</a:t>
            </a:fld>
            <a:endParaRPr lang="en-US"/>
          </a:p>
        </p:txBody>
      </p:sp>
    </p:spTree>
    <p:extLst>
      <p:ext uri="{BB962C8B-B14F-4D97-AF65-F5344CB8AC3E}">
        <p14:creationId xmlns:p14="http://schemas.microsoft.com/office/powerpoint/2010/main" val="11858331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dirty="0"/>
              <a:t>Coin Toss – is it a fair coin?: Estimator Comparisons</a:t>
            </a:r>
          </a:p>
        </p:txBody>
      </p:sp>
      <p:sp>
        <p:nvSpPr>
          <p:cNvPr id="48131" name="Content Placeholder 2"/>
          <p:cNvSpPr>
            <a:spLocks noGrp="1"/>
          </p:cNvSpPr>
          <p:nvPr>
            <p:ph idx="1"/>
          </p:nvPr>
        </p:nvSpPr>
        <p:spPr/>
        <p:txBody>
          <a:bodyPr/>
          <a:lstStyle/>
          <a:p>
            <a:r>
              <a:rPr lang="en-US" altLang="en-US" dirty="0"/>
              <a:t>Coin flip n tosses</a:t>
            </a:r>
          </a:p>
          <a:p>
            <a:r>
              <a:rPr lang="en-US" altLang="en-US" dirty="0"/>
              <a:t>Outcome </a:t>
            </a:r>
          </a:p>
          <a:p>
            <a:r>
              <a:rPr lang="en-US" altLang="en-US" dirty="0"/>
              <a:t>Observe k heads</a:t>
            </a:r>
          </a:p>
          <a:p>
            <a:r>
              <a:rPr lang="en-US" altLang="en-US" dirty="0"/>
              <a:t>We want probability of a head</a:t>
            </a:r>
          </a:p>
          <a:p>
            <a:endParaRPr lang="en-US" altLang="en-US" dirty="0"/>
          </a:p>
          <a:p>
            <a:r>
              <a:rPr lang="en-US" altLang="en-US" dirty="0"/>
              <a:t>OLS estimate</a:t>
            </a:r>
          </a:p>
        </p:txBody>
      </p:sp>
      <p:graphicFrame>
        <p:nvGraphicFramePr>
          <p:cNvPr id="48132" name="Object 3"/>
          <p:cNvGraphicFramePr>
            <a:graphicFrameLocks noChangeAspect="1"/>
          </p:cNvGraphicFramePr>
          <p:nvPr/>
        </p:nvGraphicFramePr>
        <p:xfrm>
          <a:off x="3846514" y="4057650"/>
          <a:ext cx="3667125" cy="1022350"/>
        </p:xfrm>
        <a:graphic>
          <a:graphicData uri="http://schemas.openxmlformats.org/presentationml/2006/ole">
            <mc:AlternateContent xmlns:mc="http://schemas.openxmlformats.org/markup-compatibility/2006">
              <mc:Choice xmlns:v="urn:schemas-microsoft-com:vml" Requires="v">
                <p:oleObj name="Equation" r:id="rId2" imgW="2095500" imgH="584200" progId="Equation.DSMT4">
                  <p:embed/>
                </p:oleObj>
              </mc:Choice>
              <mc:Fallback>
                <p:oleObj name="Equation" r:id="rId2" imgW="2095500" imgH="584200" progId="Equation.DSMT4">
                  <p:embed/>
                  <p:pic>
                    <p:nvPicPr>
                      <p:cNvPr id="48132"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6514" y="4057650"/>
                        <a:ext cx="366712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3" name="Object 4"/>
          <p:cNvGraphicFramePr>
            <a:graphicFrameLocks noChangeAspect="1"/>
          </p:cNvGraphicFramePr>
          <p:nvPr>
            <p:extLst>
              <p:ext uri="{D42A27DB-BD31-4B8C-83A1-F6EECF244321}">
                <p14:modId xmlns:p14="http://schemas.microsoft.com/office/powerpoint/2010/main" val="1816566746"/>
              </p:ext>
            </p:extLst>
          </p:nvPr>
        </p:nvGraphicFramePr>
        <p:xfrm>
          <a:off x="3846514" y="2198688"/>
          <a:ext cx="1609725" cy="742950"/>
        </p:xfrm>
        <a:graphic>
          <a:graphicData uri="http://schemas.openxmlformats.org/presentationml/2006/ole">
            <mc:AlternateContent xmlns:mc="http://schemas.openxmlformats.org/markup-compatibility/2006">
              <mc:Choice xmlns:v="urn:schemas-microsoft-com:vml" Requires="v">
                <p:oleObj name="Equation" r:id="rId4" imgW="990600" imgH="457200" progId="Equation.DSMT4">
                  <p:embed/>
                </p:oleObj>
              </mc:Choice>
              <mc:Fallback>
                <p:oleObj name="Equation" r:id="rId4" imgW="990600" imgH="457200" progId="Equation.DSMT4">
                  <p:embed/>
                  <p:pic>
                    <p:nvPicPr>
                      <p:cNvPr id="4813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6514" y="2198688"/>
                        <a:ext cx="160972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Slide Number Placeholder 1">
            <a:extLst>
              <a:ext uri="{FF2B5EF4-FFF2-40B4-BE49-F238E27FC236}">
                <a16:creationId xmlns:a16="http://schemas.microsoft.com/office/drawing/2014/main" id="{CE3E7890-221C-4887-8EC7-3BE3E7B959BE}"/>
              </a:ext>
            </a:extLst>
          </p:cNvPr>
          <p:cNvSpPr>
            <a:spLocks noGrp="1"/>
          </p:cNvSpPr>
          <p:nvPr>
            <p:ph type="sldNum" sz="quarter" idx="12"/>
          </p:nvPr>
        </p:nvSpPr>
        <p:spPr/>
        <p:txBody>
          <a:bodyPr/>
          <a:lstStyle/>
          <a:p>
            <a:fld id="{4698AAF4-35A4-40F4-A7AE-C8E2C41B9252}" type="slidenum">
              <a:rPr lang="en-US" smtClean="0"/>
              <a:t>41</a:t>
            </a:fld>
            <a:endParaRPr lang="en-US"/>
          </a:p>
        </p:txBody>
      </p:sp>
    </p:spTree>
    <p:extLst>
      <p:ext uri="{BB962C8B-B14F-4D97-AF65-F5344CB8AC3E}">
        <p14:creationId xmlns:p14="http://schemas.microsoft.com/office/powerpoint/2010/main" val="38806639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a:t>Coin Toss: Maximum Likelihood</a:t>
            </a:r>
          </a:p>
        </p:txBody>
      </p:sp>
      <p:sp>
        <p:nvSpPr>
          <p:cNvPr id="49155" name="Content Placeholder 2"/>
          <p:cNvSpPr>
            <a:spLocks noGrp="1"/>
          </p:cNvSpPr>
          <p:nvPr>
            <p:ph idx="1"/>
          </p:nvPr>
        </p:nvSpPr>
        <p:spPr/>
        <p:txBody>
          <a:bodyPr/>
          <a:lstStyle/>
          <a:p>
            <a:r>
              <a:rPr lang="en-US" altLang="en-US"/>
              <a:t>Maximum likelihood estimate</a:t>
            </a:r>
          </a:p>
          <a:p>
            <a:endParaRPr lang="en-US" altLang="en-US"/>
          </a:p>
        </p:txBody>
      </p:sp>
      <p:graphicFrame>
        <p:nvGraphicFramePr>
          <p:cNvPr id="49156" name="Object 3"/>
          <p:cNvGraphicFramePr>
            <a:graphicFrameLocks noChangeAspect="1"/>
          </p:cNvGraphicFramePr>
          <p:nvPr>
            <p:extLst>
              <p:ext uri="{D42A27DB-BD31-4B8C-83A1-F6EECF244321}">
                <p14:modId xmlns:p14="http://schemas.microsoft.com/office/powerpoint/2010/main" val="2413165908"/>
              </p:ext>
            </p:extLst>
          </p:nvPr>
        </p:nvGraphicFramePr>
        <p:xfrm>
          <a:off x="3856039" y="3010696"/>
          <a:ext cx="2368296" cy="640080"/>
        </p:xfrm>
        <a:graphic>
          <a:graphicData uri="http://schemas.openxmlformats.org/presentationml/2006/ole">
            <mc:AlternateContent xmlns:mc="http://schemas.openxmlformats.org/markup-compatibility/2006">
              <mc:Choice xmlns:v="urn:schemas-microsoft-com:vml" Requires="v">
                <p:oleObj name="Equation" r:id="rId2" imgW="1600200" imgH="431800" progId="Equation.DSMT4">
                  <p:embed/>
                </p:oleObj>
              </mc:Choice>
              <mc:Fallback>
                <p:oleObj name="Equation" r:id="rId2" imgW="1600200" imgH="431800" progId="Equation.DSMT4">
                  <p:embed/>
                  <p:pic>
                    <p:nvPicPr>
                      <p:cNvPr id="4915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6039" y="3010696"/>
                        <a:ext cx="2368296" cy="64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57" name="Object 5"/>
          <p:cNvGraphicFramePr>
            <a:graphicFrameLocks noChangeAspect="1"/>
          </p:cNvGraphicFramePr>
          <p:nvPr>
            <p:extLst>
              <p:ext uri="{D42A27DB-BD31-4B8C-83A1-F6EECF244321}">
                <p14:modId xmlns:p14="http://schemas.microsoft.com/office/powerpoint/2010/main" val="1414173683"/>
              </p:ext>
            </p:extLst>
          </p:nvPr>
        </p:nvGraphicFramePr>
        <p:xfrm>
          <a:off x="3856036" y="2443163"/>
          <a:ext cx="2813629" cy="640080"/>
        </p:xfrm>
        <a:graphic>
          <a:graphicData uri="http://schemas.openxmlformats.org/presentationml/2006/ole">
            <mc:AlternateContent xmlns:mc="http://schemas.openxmlformats.org/markup-compatibility/2006">
              <mc:Choice xmlns:v="urn:schemas-microsoft-com:vml" Requires="v">
                <p:oleObj name="Equation" r:id="rId4" imgW="1396394" imgH="317362" progId="Equation.DSMT4">
                  <p:embed/>
                </p:oleObj>
              </mc:Choice>
              <mc:Fallback>
                <p:oleObj name="Equation" r:id="rId4" imgW="1396394" imgH="317362" progId="Equation.DSMT4">
                  <p:embed/>
                  <p:pic>
                    <p:nvPicPr>
                      <p:cNvPr id="4915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6036" y="2443163"/>
                        <a:ext cx="2813629" cy="64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58" name="Object 6"/>
          <p:cNvGraphicFramePr>
            <a:graphicFrameLocks noChangeAspect="1"/>
          </p:cNvGraphicFramePr>
          <p:nvPr>
            <p:extLst>
              <p:ext uri="{D42A27DB-BD31-4B8C-83A1-F6EECF244321}">
                <p14:modId xmlns:p14="http://schemas.microsoft.com/office/powerpoint/2010/main" val="3379719146"/>
              </p:ext>
            </p:extLst>
          </p:nvPr>
        </p:nvGraphicFramePr>
        <p:xfrm>
          <a:off x="3856036" y="3586164"/>
          <a:ext cx="3693753" cy="640080"/>
        </p:xfrm>
        <a:graphic>
          <a:graphicData uri="http://schemas.openxmlformats.org/presentationml/2006/ole">
            <mc:AlternateContent xmlns:mc="http://schemas.openxmlformats.org/markup-compatibility/2006">
              <mc:Choice xmlns:v="urn:schemas-microsoft-com:vml" Requires="v">
                <p:oleObj name="Equation" r:id="rId6" imgW="2349360" imgH="406080" progId="Equation.DSMT4">
                  <p:embed/>
                </p:oleObj>
              </mc:Choice>
              <mc:Fallback>
                <p:oleObj name="Equation" r:id="rId6" imgW="2349360" imgH="406080" progId="Equation.DSMT4">
                  <p:embed/>
                  <p:pic>
                    <p:nvPicPr>
                      <p:cNvPr id="4915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6036" y="3586164"/>
                        <a:ext cx="3693753" cy="64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59" name="Object 7"/>
          <p:cNvGraphicFramePr>
            <a:graphicFrameLocks noChangeAspect="1"/>
          </p:cNvGraphicFramePr>
          <p:nvPr>
            <p:extLst>
              <p:ext uri="{D42A27DB-BD31-4B8C-83A1-F6EECF244321}">
                <p14:modId xmlns:p14="http://schemas.microsoft.com/office/powerpoint/2010/main" val="3343833655"/>
              </p:ext>
            </p:extLst>
          </p:nvPr>
        </p:nvGraphicFramePr>
        <p:xfrm>
          <a:off x="3856036" y="4085792"/>
          <a:ext cx="2881336" cy="1481930"/>
        </p:xfrm>
        <a:graphic>
          <a:graphicData uri="http://schemas.openxmlformats.org/presentationml/2006/ole">
            <mc:AlternateContent xmlns:mc="http://schemas.openxmlformats.org/markup-compatibility/2006">
              <mc:Choice xmlns:v="urn:schemas-microsoft-com:vml" Requires="v">
                <p:oleObj name="Equation" r:id="rId8" imgW="2171520" imgH="1117440" progId="Equation.DSMT4">
                  <p:embed/>
                </p:oleObj>
              </mc:Choice>
              <mc:Fallback>
                <p:oleObj name="Equation" r:id="rId8" imgW="2171520" imgH="1117440" progId="Equation.DSMT4">
                  <p:embed/>
                  <p:pic>
                    <p:nvPicPr>
                      <p:cNvPr id="49159"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6036" y="4085792"/>
                        <a:ext cx="2881336" cy="1481930"/>
                      </a:xfrm>
                      <a:prstGeom prst="rect">
                        <a:avLst/>
                      </a:prstGeom>
                      <a:noFill/>
                      <a:ln>
                        <a:noFill/>
                      </a:ln>
                    </p:spPr>
                  </p:pic>
                </p:oleObj>
              </mc:Fallback>
            </mc:AlternateContent>
          </a:graphicData>
        </a:graphic>
      </p:graphicFrame>
      <p:graphicFrame>
        <p:nvGraphicFramePr>
          <p:cNvPr id="49160" name="Object 8"/>
          <p:cNvGraphicFramePr>
            <a:graphicFrameLocks noChangeAspect="1"/>
          </p:cNvGraphicFramePr>
          <p:nvPr>
            <p:extLst>
              <p:ext uri="{D42A27DB-BD31-4B8C-83A1-F6EECF244321}">
                <p14:modId xmlns:p14="http://schemas.microsoft.com/office/powerpoint/2010/main" val="2424585820"/>
              </p:ext>
            </p:extLst>
          </p:nvPr>
        </p:nvGraphicFramePr>
        <p:xfrm>
          <a:off x="3856036" y="5596297"/>
          <a:ext cx="1420811" cy="464421"/>
        </p:xfrm>
        <a:graphic>
          <a:graphicData uri="http://schemas.openxmlformats.org/presentationml/2006/ole">
            <mc:AlternateContent xmlns:mc="http://schemas.openxmlformats.org/markup-compatibility/2006">
              <mc:Choice xmlns:v="urn:schemas-microsoft-com:vml" Requires="v">
                <p:oleObj name="Equation" r:id="rId10" imgW="698500" imgH="228600" progId="Equation.DSMT4">
                  <p:embed/>
                </p:oleObj>
              </mc:Choice>
              <mc:Fallback>
                <p:oleObj name="Equation" r:id="rId10" imgW="698500" imgH="228600" progId="Equation.DSMT4">
                  <p:embed/>
                  <p:pic>
                    <p:nvPicPr>
                      <p:cNvPr id="4916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56036" y="5596297"/>
                        <a:ext cx="1420811" cy="464421"/>
                      </a:xfrm>
                      <a:prstGeom prst="rect">
                        <a:avLst/>
                      </a:prstGeom>
                      <a:noFill/>
                      <a:ln>
                        <a:noFill/>
                      </a:ln>
                    </p:spPr>
                  </p:pic>
                </p:oleObj>
              </mc:Fallback>
            </mc:AlternateContent>
          </a:graphicData>
        </a:graphic>
      </p:graphicFrame>
      <p:sp>
        <p:nvSpPr>
          <p:cNvPr id="2" name="Slide Number Placeholder 1">
            <a:extLst>
              <a:ext uri="{FF2B5EF4-FFF2-40B4-BE49-F238E27FC236}">
                <a16:creationId xmlns:a16="http://schemas.microsoft.com/office/drawing/2014/main" id="{2B954E4F-21F6-42A6-9CE1-FFCABDB90257}"/>
              </a:ext>
            </a:extLst>
          </p:cNvPr>
          <p:cNvSpPr>
            <a:spLocks noGrp="1"/>
          </p:cNvSpPr>
          <p:nvPr>
            <p:ph type="sldNum" sz="quarter" idx="12"/>
          </p:nvPr>
        </p:nvSpPr>
        <p:spPr/>
        <p:txBody>
          <a:bodyPr/>
          <a:lstStyle/>
          <a:p>
            <a:fld id="{4698AAF4-35A4-40F4-A7AE-C8E2C41B9252}" type="slidenum">
              <a:rPr lang="en-US" smtClean="0"/>
              <a:t>42</a:t>
            </a:fld>
            <a:endParaRPr lang="en-US"/>
          </a:p>
        </p:txBody>
      </p:sp>
    </p:spTree>
    <p:extLst>
      <p:ext uri="{BB962C8B-B14F-4D97-AF65-F5344CB8AC3E}">
        <p14:creationId xmlns:p14="http://schemas.microsoft.com/office/powerpoint/2010/main" val="40539116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a:t>Coin Toss: Method of Moments</a:t>
            </a:r>
          </a:p>
        </p:txBody>
      </p:sp>
      <p:sp>
        <p:nvSpPr>
          <p:cNvPr id="50179" name="Content Placeholder 2"/>
          <p:cNvSpPr>
            <a:spLocks noGrp="1"/>
          </p:cNvSpPr>
          <p:nvPr>
            <p:ph idx="1"/>
          </p:nvPr>
        </p:nvSpPr>
        <p:spPr/>
        <p:txBody>
          <a:bodyPr>
            <a:normAutofit lnSpcReduction="10000"/>
          </a:bodyPr>
          <a:lstStyle/>
          <a:p>
            <a:r>
              <a:rPr lang="en-US" altLang="en-US" dirty="0"/>
              <a:t>Method of moments equate model moment and observed moment</a:t>
            </a:r>
          </a:p>
          <a:p>
            <a:r>
              <a:rPr lang="en-US" altLang="en-US" dirty="0"/>
              <a:t>Observed moment – proportion heads</a:t>
            </a:r>
          </a:p>
          <a:p>
            <a:endParaRPr lang="en-US" altLang="en-US" dirty="0"/>
          </a:p>
          <a:p>
            <a:endParaRPr lang="en-US" altLang="en-US" dirty="0"/>
          </a:p>
          <a:p>
            <a:r>
              <a:rPr lang="en-US" altLang="en-US" dirty="0"/>
              <a:t>Model moment – expected proportion heads</a:t>
            </a:r>
          </a:p>
          <a:p>
            <a:endParaRPr lang="en-US" altLang="en-US" dirty="0"/>
          </a:p>
          <a:p>
            <a:endParaRPr lang="en-US" altLang="en-US" dirty="0"/>
          </a:p>
          <a:p>
            <a:endParaRPr lang="en-US" altLang="en-US" dirty="0"/>
          </a:p>
          <a:p>
            <a:r>
              <a:rPr lang="en-US" altLang="en-US" dirty="0"/>
              <a:t>Equating moments</a:t>
            </a:r>
          </a:p>
          <a:p>
            <a:endParaRPr lang="en-US" altLang="en-US" dirty="0"/>
          </a:p>
        </p:txBody>
      </p:sp>
      <p:graphicFrame>
        <p:nvGraphicFramePr>
          <p:cNvPr id="50180" name="Object 3"/>
          <p:cNvGraphicFramePr>
            <a:graphicFrameLocks noChangeAspect="1"/>
          </p:cNvGraphicFramePr>
          <p:nvPr>
            <p:extLst>
              <p:ext uri="{D42A27DB-BD31-4B8C-83A1-F6EECF244321}">
                <p14:modId xmlns:p14="http://schemas.microsoft.com/office/powerpoint/2010/main" val="2988173636"/>
              </p:ext>
            </p:extLst>
          </p:nvPr>
        </p:nvGraphicFramePr>
        <p:xfrm>
          <a:off x="4667251" y="2888974"/>
          <a:ext cx="1345372" cy="489226"/>
        </p:xfrm>
        <a:graphic>
          <a:graphicData uri="http://schemas.openxmlformats.org/presentationml/2006/ole">
            <mc:AlternateContent xmlns:mc="http://schemas.openxmlformats.org/markup-compatibility/2006">
              <mc:Choice xmlns:v="urn:schemas-microsoft-com:vml" Requires="v">
                <p:oleObj name="Equation" r:id="rId2" imgW="558558" imgH="203112" progId="Equation.DSMT4">
                  <p:embed/>
                </p:oleObj>
              </mc:Choice>
              <mc:Fallback>
                <p:oleObj name="Equation" r:id="rId2" imgW="558558" imgH="203112" progId="Equation.DSMT4">
                  <p:embed/>
                  <p:pic>
                    <p:nvPicPr>
                      <p:cNvPr id="5018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7251" y="2888974"/>
                        <a:ext cx="1345372" cy="489226"/>
                      </a:xfrm>
                      <a:prstGeom prst="rect">
                        <a:avLst/>
                      </a:prstGeom>
                      <a:noFill/>
                      <a:ln>
                        <a:noFill/>
                      </a:ln>
                    </p:spPr>
                  </p:pic>
                </p:oleObj>
              </mc:Fallback>
            </mc:AlternateContent>
          </a:graphicData>
        </a:graphic>
      </p:graphicFrame>
      <p:graphicFrame>
        <p:nvGraphicFramePr>
          <p:cNvPr id="50181" name="Object 4"/>
          <p:cNvGraphicFramePr>
            <a:graphicFrameLocks noChangeAspect="1"/>
          </p:cNvGraphicFramePr>
          <p:nvPr>
            <p:extLst>
              <p:ext uri="{D42A27DB-BD31-4B8C-83A1-F6EECF244321}">
                <p14:modId xmlns:p14="http://schemas.microsoft.com/office/powerpoint/2010/main" val="1277928462"/>
              </p:ext>
            </p:extLst>
          </p:nvPr>
        </p:nvGraphicFramePr>
        <p:xfrm>
          <a:off x="4127500" y="4138613"/>
          <a:ext cx="3496804" cy="791196"/>
        </p:xfrm>
        <a:graphic>
          <a:graphicData uri="http://schemas.openxmlformats.org/presentationml/2006/ole">
            <mc:AlternateContent xmlns:mc="http://schemas.openxmlformats.org/markup-compatibility/2006">
              <mc:Choice xmlns:v="urn:schemas-microsoft-com:vml" Requires="v">
                <p:oleObj name="Equation" r:id="rId4" imgW="1854000" imgH="419040" progId="Equation.DSMT4">
                  <p:embed/>
                </p:oleObj>
              </mc:Choice>
              <mc:Fallback>
                <p:oleObj name="Equation" r:id="rId4" imgW="1854000" imgH="419040" progId="Equation.DSMT4">
                  <p:embed/>
                  <p:pic>
                    <p:nvPicPr>
                      <p:cNvPr id="50181"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7500" y="4138613"/>
                        <a:ext cx="3496804" cy="791196"/>
                      </a:xfrm>
                      <a:prstGeom prst="rect">
                        <a:avLst/>
                      </a:prstGeom>
                      <a:noFill/>
                      <a:ln>
                        <a:noFill/>
                      </a:ln>
                    </p:spPr>
                  </p:pic>
                </p:oleObj>
              </mc:Fallback>
            </mc:AlternateContent>
          </a:graphicData>
        </a:graphic>
      </p:graphicFrame>
      <p:graphicFrame>
        <p:nvGraphicFramePr>
          <p:cNvPr id="50182" name="Object 5"/>
          <p:cNvGraphicFramePr>
            <a:graphicFrameLocks noChangeAspect="1"/>
          </p:cNvGraphicFramePr>
          <p:nvPr>
            <p:extLst>
              <p:ext uri="{D42A27DB-BD31-4B8C-83A1-F6EECF244321}">
                <p14:modId xmlns:p14="http://schemas.microsoft.com/office/powerpoint/2010/main" val="1031802782"/>
              </p:ext>
            </p:extLst>
          </p:nvPr>
        </p:nvGraphicFramePr>
        <p:xfrm>
          <a:off x="5055419" y="5719694"/>
          <a:ext cx="1914408" cy="592206"/>
        </p:xfrm>
        <a:graphic>
          <a:graphicData uri="http://schemas.openxmlformats.org/presentationml/2006/ole">
            <mc:AlternateContent xmlns:mc="http://schemas.openxmlformats.org/markup-compatibility/2006">
              <mc:Choice xmlns:v="urn:schemas-microsoft-com:vml" Requires="v">
                <p:oleObj name="Equation" r:id="rId6" imgW="736600" imgH="228600" progId="Equation.DSMT4">
                  <p:embed/>
                </p:oleObj>
              </mc:Choice>
              <mc:Fallback>
                <p:oleObj name="Equation" r:id="rId6" imgW="736600" imgH="228600" progId="Equation.DSMT4">
                  <p:embed/>
                  <p:pic>
                    <p:nvPicPr>
                      <p:cNvPr id="50182"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55419" y="5719694"/>
                        <a:ext cx="1914408" cy="592206"/>
                      </a:xfrm>
                      <a:prstGeom prst="rect">
                        <a:avLst/>
                      </a:prstGeom>
                      <a:noFill/>
                      <a:ln>
                        <a:noFill/>
                      </a:ln>
                    </p:spPr>
                  </p:pic>
                </p:oleObj>
              </mc:Fallback>
            </mc:AlternateContent>
          </a:graphicData>
        </a:graphic>
      </p:graphicFrame>
      <p:sp>
        <p:nvSpPr>
          <p:cNvPr id="2" name="Slide Number Placeholder 1">
            <a:extLst>
              <a:ext uri="{FF2B5EF4-FFF2-40B4-BE49-F238E27FC236}">
                <a16:creationId xmlns:a16="http://schemas.microsoft.com/office/drawing/2014/main" id="{38C00D0A-AEA7-4D28-9AC2-A5C76EDB10F2}"/>
              </a:ext>
            </a:extLst>
          </p:cNvPr>
          <p:cNvSpPr>
            <a:spLocks noGrp="1"/>
          </p:cNvSpPr>
          <p:nvPr>
            <p:ph type="sldNum" sz="quarter" idx="12"/>
          </p:nvPr>
        </p:nvSpPr>
        <p:spPr/>
        <p:txBody>
          <a:bodyPr/>
          <a:lstStyle/>
          <a:p>
            <a:fld id="{4698AAF4-35A4-40F4-A7AE-C8E2C41B9252}" type="slidenum">
              <a:rPr lang="en-US" smtClean="0"/>
              <a:t>43</a:t>
            </a:fld>
            <a:endParaRPr lang="en-US"/>
          </a:p>
        </p:txBody>
      </p:sp>
    </p:spTree>
    <p:extLst>
      <p:ext uri="{BB962C8B-B14F-4D97-AF65-F5344CB8AC3E}">
        <p14:creationId xmlns:p14="http://schemas.microsoft.com/office/powerpoint/2010/main" val="34109203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dirty="0"/>
              <a:t>OLS and Maximum Likelihood</a:t>
            </a:r>
          </a:p>
        </p:txBody>
      </p:sp>
      <p:graphicFrame>
        <p:nvGraphicFramePr>
          <p:cNvPr id="51203" name="Content Placeholder 3"/>
          <p:cNvGraphicFramePr>
            <a:graphicFrameLocks noGrp="1" noChangeAspect="1"/>
          </p:cNvGraphicFramePr>
          <p:nvPr>
            <p:ph idx="1"/>
            <p:extLst>
              <p:ext uri="{D42A27DB-BD31-4B8C-83A1-F6EECF244321}">
                <p14:modId xmlns:p14="http://schemas.microsoft.com/office/powerpoint/2010/main" val="710014676"/>
              </p:ext>
            </p:extLst>
          </p:nvPr>
        </p:nvGraphicFramePr>
        <p:xfrm>
          <a:off x="985839" y="1577182"/>
          <a:ext cx="2590800" cy="609600"/>
        </p:xfrm>
        <a:graphic>
          <a:graphicData uri="http://schemas.openxmlformats.org/presentationml/2006/ole">
            <mc:AlternateContent xmlns:mc="http://schemas.openxmlformats.org/markup-compatibility/2006">
              <mc:Choice xmlns:v="urn:schemas-microsoft-com:vml" Requires="v">
                <p:oleObj name="Equation" r:id="rId2" imgW="774364" imgH="203112" progId="Equation.DSMT4">
                  <p:embed/>
                </p:oleObj>
              </mc:Choice>
              <mc:Fallback>
                <p:oleObj name="Equation" r:id="rId2" imgW="774364" imgH="203112" progId="Equation.DSMT4">
                  <p:embed/>
                  <p:pic>
                    <p:nvPicPr>
                      <p:cNvPr id="51203" name="Content Placeholder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9" y="1577182"/>
                        <a:ext cx="259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4" name="Object 4"/>
          <p:cNvGraphicFramePr>
            <a:graphicFrameLocks noChangeAspect="1"/>
          </p:cNvGraphicFramePr>
          <p:nvPr/>
        </p:nvGraphicFramePr>
        <p:xfrm>
          <a:off x="6096000" y="2413000"/>
          <a:ext cx="914400" cy="198438"/>
        </p:xfrm>
        <a:graphic>
          <a:graphicData uri="http://schemas.openxmlformats.org/presentationml/2006/ole">
            <mc:AlternateContent xmlns:mc="http://schemas.openxmlformats.org/markup-compatibility/2006">
              <mc:Choice xmlns:v="urn:schemas-microsoft-com:vml" Requires="v">
                <p:oleObj name="Equation" r:id="rId4" imgW="914400" imgH="198720" progId="Equation.DSMT4">
                  <p:embed/>
                </p:oleObj>
              </mc:Choice>
              <mc:Fallback>
                <p:oleObj name="Equation" r:id="rId4" imgW="914400" imgH="198720" progId="Equation.DSMT4">
                  <p:embed/>
                  <p:pic>
                    <p:nvPicPr>
                      <p:cNvPr id="5120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41300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5" name="Object 5"/>
          <p:cNvGraphicFramePr>
            <a:graphicFrameLocks noChangeAspect="1"/>
          </p:cNvGraphicFramePr>
          <p:nvPr/>
        </p:nvGraphicFramePr>
        <p:xfrm>
          <a:off x="6496050" y="2422525"/>
          <a:ext cx="114300" cy="177800"/>
        </p:xfrm>
        <a:graphic>
          <a:graphicData uri="http://schemas.openxmlformats.org/presentationml/2006/ole">
            <mc:AlternateContent xmlns:mc="http://schemas.openxmlformats.org/markup-compatibility/2006">
              <mc:Choice xmlns:v="urn:schemas-microsoft-com:vml" Requires="v">
                <p:oleObj name="Equation" r:id="rId6" imgW="914400" imgH="198720" progId="Equation.DSMT4">
                  <p:embed/>
                </p:oleObj>
              </mc:Choice>
              <mc:Fallback>
                <p:oleObj name="Equation" r:id="rId6" imgW="914400" imgH="198720" progId="Equation.DSMT4">
                  <p:embed/>
                  <p:pic>
                    <p:nvPicPr>
                      <p:cNvPr id="5120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96050" y="2422525"/>
                        <a:ext cx="1143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6" name="Object 7"/>
          <p:cNvGraphicFramePr>
            <a:graphicFrameLocks noChangeAspect="1"/>
          </p:cNvGraphicFramePr>
          <p:nvPr>
            <p:extLst>
              <p:ext uri="{D42A27DB-BD31-4B8C-83A1-F6EECF244321}">
                <p14:modId xmlns:p14="http://schemas.microsoft.com/office/powerpoint/2010/main" val="3156561298"/>
              </p:ext>
            </p:extLst>
          </p:nvPr>
        </p:nvGraphicFramePr>
        <p:xfrm>
          <a:off x="985839" y="2237185"/>
          <a:ext cx="3751262" cy="669925"/>
        </p:xfrm>
        <a:graphic>
          <a:graphicData uri="http://schemas.openxmlformats.org/presentationml/2006/ole">
            <mc:AlternateContent xmlns:mc="http://schemas.openxmlformats.org/markup-compatibility/2006">
              <mc:Choice xmlns:v="urn:schemas-microsoft-com:vml" Requires="v">
                <p:oleObj name="Equation" r:id="rId7" imgW="1422360" imgH="253800" progId="Equation.DSMT4">
                  <p:embed/>
                </p:oleObj>
              </mc:Choice>
              <mc:Fallback>
                <p:oleObj name="Equation" r:id="rId7" imgW="1422360" imgH="253800" progId="Equation.DSMT4">
                  <p:embed/>
                  <p:pic>
                    <p:nvPicPr>
                      <p:cNvPr id="51206"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5839" y="2237185"/>
                        <a:ext cx="3751262"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7" name="Object 8"/>
          <p:cNvGraphicFramePr>
            <a:graphicFrameLocks noChangeAspect="1"/>
          </p:cNvGraphicFramePr>
          <p:nvPr>
            <p:extLst>
              <p:ext uri="{D42A27DB-BD31-4B8C-83A1-F6EECF244321}">
                <p14:modId xmlns:p14="http://schemas.microsoft.com/office/powerpoint/2010/main" val="3024406142"/>
              </p:ext>
            </p:extLst>
          </p:nvPr>
        </p:nvGraphicFramePr>
        <p:xfrm>
          <a:off x="985839" y="2984501"/>
          <a:ext cx="4454525" cy="669925"/>
        </p:xfrm>
        <a:graphic>
          <a:graphicData uri="http://schemas.openxmlformats.org/presentationml/2006/ole">
            <mc:AlternateContent xmlns:mc="http://schemas.openxmlformats.org/markup-compatibility/2006">
              <mc:Choice xmlns:v="urn:schemas-microsoft-com:vml" Requires="v">
                <p:oleObj name="Equation" r:id="rId9" imgW="1688760" imgH="253800" progId="Equation.DSMT4">
                  <p:embed/>
                </p:oleObj>
              </mc:Choice>
              <mc:Fallback>
                <p:oleObj name="Equation" r:id="rId9" imgW="1688760" imgH="253800" progId="Equation.DSMT4">
                  <p:embed/>
                  <p:pic>
                    <p:nvPicPr>
                      <p:cNvPr id="51207"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85839" y="2984501"/>
                        <a:ext cx="445452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8" name="Object 9"/>
          <p:cNvGraphicFramePr>
            <a:graphicFrameLocks noChangeAspect="1"/>
          </p:cNvGraphicFramePr>
          <p:nvPr>
            <p:extLst>
              <p:ext uri="{D42A27DB-BD31-4B8C-83A1-F6EECF244321}">
                <p14:modId xmlns:p14="http://schemas.microsoft.com/office/powerpoint/2010/main" val="1004848177"/>
              </p:ext>
            </p:extLst>
          </p:nvPr>
        </p:nvGraphicFramePr>
        <p:xfrm>
          <a:off x="985839" y="4606342"/>
          <a:ext cx="4021137" cy="1754188"/>
        </p:xfrm>
        <a:graphic>
          <a:graphicData uri="http://schemas.openxmlformats.org/presentationml/2006/ole">
            <mc:AlternateContent xmlns:mc="http://schemas.openxmlformats.org/markup-compatibility/2006">
              <mc:Choice xmlns:v="urn:schemas-microsoft-com:vml" Requires="v">
                <p:oleObj name="Equation" r:id="rId11" imgW="1981080" imgH="863280" progId="Equation.DSMT4">
                  <p:embed/>
                </p:oleObj>
              </mc:Choice>
              <mc:Fallback>
                <p:oleObj name="Equation" r:id="rId11" imgW="1981080" imgH="863280" progId="Equation.DSMT4">
                  <p:embed/>
                  <p:pic>
                    <p:nvPicPr>
                      <p:cNvPr id="51208"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85839" y="4606342"/>
                        <a:ext cx="4021137"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9" name="TextBox 11"/>
          <p:cNvSpPr txBox="1">
            <a:spLocks noChangeArrowheads="1"/>
          </p:cNvSpPr>
          <p:nvPr/>
        </p:nvSpPr>
        <p:spPr bwMode="auto">
          <a:xfrm>
            <a:off x="985839" y="4009055"/>
            <a:ext cx="100989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i="1" dirty="0"/>
              <a:t>Further, assume one explanatory variable no constant and errors are normally distributed</a:t>
            </a:r>
          </a:p>
        </p:txBody>
      </p:sp>
      <p:sp>
        <p:nvSpPr>
          <p:cNvPr id="2" name="Slide Number Placeholder 1">
            <a:extLst>
              <a:ext uri="{FF2B5EF4-FFF2-40B4-BE49-F238E27FC236}">
                <a16:creationId xmlns:a16="http://schemas.microsoft.com/office/drawing/2014/main" id="{7F96F881-D786-4A39-844D-0C88AD74EB80}"/>
              </a:ext>
            </a:extLst>
          </p:cNvPr>
          <p:cNvSpPr>
            <a:spLocks noGrp="1"/>
          </p:cNvSpPr>
          <p:nvPr>
            <p:ph type="sldNum" sz="quarter" idx="12"/>
          </p:nvPr>
        </p:nvSpPr>
        <p:spPr/>
        <p:txBody>
          <a:bodyPr/>
          <a:lstStyle/>
          <a:p>
            <a:fld id="{4698AAF4-35A4-40F4-A7AE-C8E2C41B9252}" type="slidenum">
              <a:rPr lang="en-US" smtClean="0"/>
              <a:t>44</a:t>
            </a:fld>
            <a:endParaRPr lang="en-US"/>
          </a:p>
        </p:txBody>
      </p:sp>
    </p:spTree>
    <p:extLst>
      <p:ext uri="{BB962C8B-B14F-4D97-AF65-F5344CB8AC3E}">
        <p14:creationId xmlns:p14="http://schemas.microsoft.com/office/powerpoint/2010/main" val="522062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BC475-B520-4EB2-977E-A433B048C3CF}"/>
              </a:ext>
            </a:extLst>
          </p:cNvPr>
          <p:cNvSpPr>
            <a:spLocks noGrp="1"/>
          </p:cNvSpPr>
          <p:nvPr>
            <p:ph type="title"/>
          </p:nvPr>
        </p:nvSpPr>
        <p:spPr/>
        <p:txBody>
          <a:bodyPr/>
          <a:lstStyle/>
          <a:p>
            <a:r>
              <a:rPr lang="en-US" dirty="0"/>
              <a:t>OLS and Maximum Likelihood</a:t>
            </a:r>
          </a:p>
        </p:txBody>
      </p:sp>
      <p:graphicFrame>
        <p:nvGraphicFramePr>
          <p:cNvPr id="4" name="Object 3">
            <a:extLst>
              <a:ext uri="{FF2B5EF4-FFF2-40B4-BE49-F238E27FC236}">
                <a16:creationId xmlns:a16="http://schemas.microsoft.com/office/drawing/2014/main" id="{2A61112E-88FD-4AA8-8277-B2E66C54F127}"/>
              </a:ext>
            </a:extLst>
          </p:cNvPr>
          <p:cNvGraphicFramePr>
            <a:graphicFrameLocks noChangeAspect="1"/>
          </p:cNvGraphicFramePr>
          <p:nvPr>
            <p:extLst>
              <p:ext uri="{D42A27DB-BD31-4B8C-83A1-F6EECF244321}">
                <p14:modId xmlns:p14="http://schemas.microsoft.com/office/powerpoint/2010/main" val="2393009938"/>
              </p:ext>
            </p:extLst>
          </p:nvPr>
        </p:nvGraphicFramePr>
        <p:xfrm>
          <a:off x="838200" y="1771261"/>
          <a:ext cx="8761413" cy="723900"/>
        </p:xfrm>
        <a:graphic>
          <a:graphicData uri="http://schemas.openxmlformats.org/presentationml/2006/ole">
            <mc:AlternateContent xmlns:mc="http://schemas.openxmlformats.org/markup-compatibility/2006">
              <mc:Choice xmlns:v="urn:schemas-microsoft-com:vml" Requires="v">
                <p:oleObj name="Equation" r:id="rId2" imgW="4317840" imgH="355320" progId="Equation.DSMT4">
                  <p:embed/>
                </p:oleObj>
              </mc:Choice>
              <mc:Fallback>
                <p:oleObj name="Equation" r:id="rId2" imgW="4317840" imgH="355320" progId="Equation.DSMT4">
                  <p:embed/>
                  <p:pic>
                    <p:nvPicPr>
                      <p:cNvPr id="4" name="Object 3">
                        <a:extLst>
                          <a:ext uri="{FF2B5EF4-FFF2-40B4-BE49-F238E27FC236}">
                            <a16:creationId xmlns:a16="http://schemas.microsoft.com/office/drawing/2014/main" id="{2A61112E-88FD-4AA8-8277-B2E66C54F1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771261"/>
                        <a:ext cx="876141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373EE20-8872-4D44-9A17-940DAFB0D6AD}"/>
                  </a:ext>
                </a:extLst>
              </p:cNvPr>
              <p:cNvSpPr txBox="1">
                <a:spLocks noChangeArrowheads="1"/>
              </p:cNvSpPr>
              <p:nvPr/>
            </p:nvSpPr>
            <p:spPr bwMode="auto">
              <a:xfrm>
                <a:off x="838200" y="2575734"/>
                <a:ext cx="4876800"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en-US" sz="2400" b="0" i="1" dirty="0">
                    <a:latin typeface="+mn-lt"/>
                  </a:rPr>
                  <a:t>Maximizing with respect to </a:t>
                </a:r>
                <a14:m>
                  <m:oMath xmlns:m="http://schemas.openxmlformats.org/officeDocument/2006/math">
                    <m:r>
                      <a:rPr lang="en-US" altLang="en-US" sz="2400" b="0" i="1" smtClean="0">
                        <a:latin typeface="Cambria Math" panose="02040503050406030204" pitchFamily="18" charset="0"/>
                      </a:rPr>
                      <m:t>𝛽</m:t>
                    </m:r>
                  </m:oMath>
                </a14:m>
                <a:r>
                  <a:rPr lang="en-US" altLang="en-US" sz="2400" b="0" i="1" dirty="0">
                    <a:latin typeface="+mn-lt"/>
                  </a:rPr>
                  <a:t>, we get:</a:t>
                </a:r>
              </a:p>
            </p:txBody>
          </p:sp>
        </mc:Choice>
        <mc:Fallback xmlns="">
          <p:sp>
            <p:nvSpPr>
              <p:cNvPr id="5" name="TextBox 4">
                <a:extLst>
                  <a:ext uri="{FF2B5EF4-FFF2-40B4-BE49-F238E27FC236}">
                    <a16:creationId xmlns:a16="http://schemas.microsoft.com/office/drawing/2014/main" id="{C373EE20-8872-4D44-9A17-940DAFB0D6AD}"/>
                  </a:ext>
                </a:extLst>
              </p:cNvPr>
              <p:cNvSpPr txBox="1">
                <a:spLocks noRot="1" noChangeAspect="1" noMove="1" noResize="1" noEditPoints="1" noAdjustHandles="1" noChangeArrowheads="1" noChangeShapeType="1" noTextEdit="1"/>
              </p:cNvSpPr>
              <p:nvPr/>
            </p:nvSpPr>
            <p:spPr bwMode="auto">
              <a:xfrm>
                <a:off x="838200" y="2575734"/>
                <a:ext cx="4876800" cy="461665"/>
              </a:xfrm>
              <a:prstGeom prst="rect">
                <a:avLst/>
              </a:prstGeom>
              <a:blipFill>
                <a:blip r:embed="rId5"/>
                <a:stretch>
                  <a:fillRect l="-2000" t="-10667" r="-1375" b="-30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6" name="Object 7">
            <a:extLst>
              <a:ext uri="{FF2B5EF4-FFF2-40B4-BE49-F238E27FC236}">
                <a16:creationId xmlns:a16="http://schemas.microsoft.com/office/drawing/2014/main" id="{BFD8C900-E95E-4EC8-B5CF-D05893E829EB}"/>
              </a:ext>
            </a:extLst>
          </p:cNvPr>
          <p:cNvGraphicFramePr>
            <a:graphicFrameLocks noChangeAspect="1"/>
          </p:cNvGraphicFramePr>
          <p:nvPr>
            <p:extLst>
              <p:ext uri="{D42A27DB-BD31-4B8C-83A1-F6EECF244321}">
                <p14:modId xmlns:p14="http://schemas.microsoft.com/office/powerpoint/2010/main" val="1133771413"/>
              </p:ext>
            </p:extLst>
          </p:nvPr>
        </p:nvGraphicFramePr>
        <p:xfrm>
          <a:off x="838200" y="3141307"/>
          <a:ext cx="2362200" cy="906463"/>
        </p:xfrm>
        <a:graphic>
          <a:graphicData uri="http://schemas.openxmlformats.org/presentationml/2006/ole">
            <mc:AlternateContent xmlns:mc="http://schemas.openxmlformats.org/markup-compatibility/2006">
              <mc:Choice xmlns:v="urn:schemas-microsoft-com:vml" Requires="v">
                <p:oleObj name="Equation" r:id="rId6" imgW="1091880" imgH="419040" progId="Equation.DSMT4">
                  <p:embed/>
                </p:oleObj>
              </mc:Choice>
              <mc:Fallback>
                <p:oleObj name="Equation" r:id="rId6" imgW="1091880" imgH="419040" progId="Equation.DSMT4">
                  <p:embed/>
                  <p:pic>
                    <p:nvPicPr>
                      <p:cNvPr id="6" name="Object 7">
                        <a:extLst>
                          <a:ext uri="{FF2B5EF4-FFF2-40B4-BE49-F238E27FC236}">
                            <a16:creationId xmlns:a16="http://schemas.microsoft.com/office/drawing/2014/main" id="{BFD8C900-E95E-4EC8-B5CF-D05893E829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3141307"/>
                        <a:ext cx="23622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8">
            <a:extLst>
              <a:ext uri="{FF2B5EF4-FFF2-40B4-BE49-F238E27FC236}">
                <a16:creationId xmlns:a16="http://schemas.microsoft.com/office/drawing/2014/main" id="{2B07B84C-950C-4E4A-8C4D-387B185F1CD0}"/>
              </a:ext>
            </a:extLst>
          </p:cNvPr>
          <p:cNvGraphicFramePr>
            <a:graphicFrameLocks noChangeAspect="1"/>
          </p:cNvGraphicFramePr>
          <p:nvPr>
            <p:extLst>
              <p:ext uri="{D42A27DB-BD31-4B8C-83A1-F6EECF244321}">
                <p14:modId xmlns:p14="http://schemas.microsoft.com/office/powerpoint/2010/main" val="41413138"/>
              </p:ext>
            </p:extLst>
          </p:nvPr>
        </p:nvGraphicFramePr>
        <p:xfrm>
          <a:off x="838200" y="4244011"/>
          <a:ext cx="4876800" cy="881062"/>
        </p:xfrm>
        <a:graphic>
          <a:graphicData uri="http://schemas.openxmlformats.org/presentationml/2006/ole">
            <mc:AlternateContent xmlns:mc="http://schemas.openxmlformats.org/markup-compatibility/2006">
              <mc:Choice xmlns:v="urn:schemas-microsoft-com:vml" Requires="v">
                <p:oleObj name="Equation" r:id="rId8" imgW="1765080" imgH="342720" progId="Equation.DSMT4">
                  <p:embed/>
                </p:oleObj>
              </mc:Choice>
              <mc:Fallback>
                <p:oleObj name="Equation" r:id="rId8" imgW="1765080" imgH="342720" progId="Equation.DSMT4">
                  <p:embed/>
                  <p:pic>
                    <p:nvPicPr>
                      <p:cNvPr id="7" name="Object 8">
                        <a:extLst>
                          <a:ext uri="{FF2B5EF4-FFF2-40B4-BE49-F238E27FC236}">
                            <a16:creationId xmlns:a16="http://schemas.microsoft.com/office/drawing/2014/main" id="{2B07B84C-950C-4E4A-8C4D-387B185F1CD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 y="4244011"/>
                        <a:ext cx="4876800" cy="88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9">
            <a:extLst>
              <a:ext uri="{FF2B5EF4-FFF2-40B4-BE49-F238E27FC236}">
                <a16:creationId xmlns:a16="http://schemas.microsoft.com/office/drawing/2014/main" id="{021A48AF-C61E-4357-9808-B89FCC14ABF9}"/>
              </a:ext>
            </a:extLst>
          </p:cNvPr>
          <p:cNvGraphicFramePr>
            <a:graphicFrameLocks noChangeAspect="1"/>
          </p:cNvGraphicFramePr>
          <p:nvPr>
            <p:extLst>
              <p:ext uri="{D42A27DB-BD31-4B8C-83A1-F6EECF244321}">
                <p14:modId xmlns:p14="http://schemas.microsoft.com/office/powerpoint/2010/main" val="2316856805"/>
              </p:ext>
            </p:extLst>
          </p:nvPr>
        </p:nvGraphicFramePr>
        <p:xfrm>
          <a:off x="838200" y="5127640"/>
          <a:ext cx="6192838" cy="1025525"/>
        </p:xfrm>
        <a:graphic>
          <a:graphicData uri="http://schemas.openxmlformats.org/presentationml/2006/ole">
            <mc:AlternateContent xmlns:mc="http://schemas.openxmlformats.org/markup-compatibility/2006">
              <mc:Choice xmlns:v="urn:schemas-microsoft-com:vml" Requires="v">
                <p:oleObj name="Equation" r:id="rId10" imgW="2145960" imgH="355320" progId="Equation.DSMT4">
                  <p:embed/>
                </p:oleObj>
              </mc:Choice>
              <mc:Fallback>
                <p:oleObj name="Equation" r:id="rId10" imgW="2145960" imgH="355320" progId="Equation.DSMT4">
                  <p:embed/>
                  <p:pic>
                    <p:nvPicPr>
                      <p:cNvPr id="8" name="Object 9">
                        <a:extLst>
                          <a:ext uri="{FF2B5EF4-FFF2-40B4-BE49-F238E27FC236}">
                            <a16:creationId xmlns:a16="http://schemas.microsoft.com/office/drawing/2014/main" id="{021A48AF-C61E-4357-9808-B89FCC14ABF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8200" y="5127640"/>
                        <a:ext cx="6192838"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Slide Number Placeholder 8">
            <a:extLst>
              <a:ext uri="{FF2B5EF4-FFF2-40B4-BE49-F238E27FC236}">
                <a16:creationId xmlns:a16="http://schemas.microsoft.com/office/drawing/2014/main" id="{18A0C835-E9A5-4D44-AAA6-C2DFE57C0815}"/>
              </a:ext>
            </a:extLst>
          </p:cNvPr>
          <p:cNvSpPr>
            <a:spLocks noGrp="1"/>
          </p:cNvSpPr>
          <p:nvPr>
            <p:ph type="sldNum" sz="quarter" idx="12"/>
          </p:nvPr>
        </p:nvSpPr>
        <p:spPr/>
        <p:txBody>
          <a:bodyPr/>
          <a:lstStyle/>
          <a:p>
            <a:fld id="{4698AAF4-35A4-40F4-A7AE-C8E2C41B9252}" type="slidenum">
              <a:rPr lang="en-US" smtClean="0"/>
              <a:t>45</a:t>
            </a:fld>
            <a:endParaRPr lang="en-US"/>
          </a:p>
        </p:txBody>
      </p:sp>
    </p:spTree>
    <p:extLst>
      <p:ext uri="{BB962C8B-B14F-4D97-AF65-F5344CB8AC3E}">
        <p14:creationId xmlns:p14="http://schemas.microsoft.com/office/powerpoint/2010/main" val="797609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60C17-827D-4179-9976-2FDE965F5503}"/>
              </a:ext>
            </a:extLst>
          </p:cNvPr>
          <p:cNvSpPr>
            <a:spLocks noGrp="1"/>
          </p:cNvSpPr>
          <p:nvPr>
            <p:ph type="title"/>
          </p:nvPr>
        </p:nvSpPr>
        <p:spPr/>
        <p:txBody>
          <a:bodyPr/>
          <a:lstStyle/>
          <a:p>
            <a:r>
              <a:rPr lang="en-US" dirty="0"/>
              <a:t>OLS and Method of Moments</a:t>
            </a:r>
          </a:p>
        </p:txBody>
      </p:sp>
      <p:sp>
        <p:nvSpPr>
          <p:cNvPr id="3" name="Content Placeholder 2">
            <a:extLst>
              <a:ext uri="{FF2B5EF4-FFF2-40B4-BE49-F238E27FC236}">
                <a16:creationId xmlns:a16="http://schemas.microsoft.com/office/drawing/2014/main" id="{B88AC246-2DDD-493E-8BFD-96F9BA714930}"/>
              </a:ext>
            </a:extLst>
          </p:cNvPr>
          <p:cNvSpPr>
            <a:spLocks noGrp="1"/>
          </p:cNvSpPr>
          <p:nvPr>
            <p:ph idx="1"/>
          </p:nvPr>
        </p:nvSpPr>
        <p:spPr>
          <a:xfrm>
            <a:off x="838200" y="1825625"/>
            <a:ext cx="10515600" cy="544351"/>
          </a:xfrm>
        </p:spPr>
        <p:txBody>
          <a:bodyPr>
            <a:normAutofit/>
          </a:bodyPr>
          <a:lstStyle/>
          <a:p>
            <a:pPr marL="0" indent="0">
              <a:buNone/>
            </a:pPr>
            <a:r>
              <a:rPr lang="en-US" sz="2400" i="1" dirty="0"/>
              <a:t>Take the sample moments one for each explanatory variable</a:t>
            </a:r>
          </a:p>
        </p:txBody>
      </p:sp>
      <p:graphicFrame>
        <p:nvGraphicFramePr>
          <p:cNvPr id="4" name="Object 5">
            <a:extLst>
              <a:ext uri="{FF2B5EF4-FFF2-40B4-BE49-F238E27FC236}">
                <a16:creationId xmlns:a16="http://schemas.microsoft.com/office/drawing/2014/main" id="{309FD5C7-3EC8-4E8E-AEB0-DB4911FFCB5F}"/>
              </a:ext>
            </a:extLst>
          </p:cNvPr>
          <p:cNvGraphicFramePr>
            <a:graphicFrameLocks noChangeAspect="1"/>
          </p:cNvGraphicFramePr>
          <p:nvPr>
            <p:extLst>
              <p:ext uri="{D42A27DB-BD31-4B8C-83A1-F6EECF244321}">
                <p14:modId xmlns:p14="http://schemas.microsoft.com/office/powerpoint/2010/main" val="729225577"/>
              </p:ext>
            </p:extLst>
          </p:nvPr>
        </p:nvGraphicFramePr>
        <p:xfrm>
          <a:off x="838200" y="2274272"/>
          <a:ext cx="5827643" cy="1080558"/>
        </p:xfrm>
        <a:graphic>
          <a:graphicData uri="http://schemas.openxmlformats.org/presentationml/2006/ole">
            <mc:AlternateContent xmlns:mc="http://schemas.openxmlformats.org/markup-compatibility/2006">
              <mc:Choice xmlns:v="urn:schemas-microsoft-com:vml" Requires="v">
                <p:oleObj name="Equation" r:id="rId2" imgW="2806700" imgH="520700" progId="Equation.DSMT4">
                  <p:embed/>
                </p:oleObj>
              </mc:Choice>
              <mc:Fallback>
                <p:oleObj name="Equation" r:id="rId2" imgW="2806700" imgH="520700" progId="Equation.DSMT4">
                  <p:embed/>
                  <p:pic>
                    <p:nvPicPr>
                      <p:cNvPr id="4" name="Object 5">
                        <a:extLst>
                          <a:ext uri="{FF2B5EF4-FFF2-40B4-BE49-F238E27FC236}">
                            <a16:creationId xmlns:a16="http://schemas.microsoft.com/office/drawing/2014/main" id="{309FD5C7-3EC8-4E8E-AEB0-DB4911FFCB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274272"/>
                        <a:ext cx="5827643" cy="1080558"/>
                      </a:xfrm>
                      <a:prstGeom prst="rect">
                        <a:avLst/>
                      </a:prstGeom>
                      <a:noFill/>
                      <a:ln>
                        <a:noFill/>
                      </a:ln>
                    </p:spPr>
                  </p:pic>
                </p:oleObj>
              </mc:Fallback>
            </mc:AlternateContent>
          </a:graphicData>
        </a:graphic>
      </p:graphicFrame>
      <p:graphicFrame>
        <p:nvGraphicFramePr>
          <p:cNvPr id="5" name="Object 4">
            <a:extLst>
              <a:ext uri="{FF2B5EF4-FFF2-40B4-BE49-F238E27FC236}">
                <a16:creationId xmlns:a16="http://schemas.microsoft.com/office/drawing/2014/main" id="{65F1D1E7-8D60-4B8B-9E61-C076D00C1528}"/>
              </a:ext>
            </a:extLst>
          </p:cNvPr>
          <p:cNvGraphicFramePr>
            <a:graphicFrameLocks noChangeAspect="1"/>
          </p:cNvGraphicFramePr>
          <p:nvPr>
            <p:extLst>
              <p:ext uri="{D42A27DB-BD31-4B8C-83A1-F6EECF244321}">
                <p14:modId xmlns:p14="http://schemas.microsoft.com/office/powerpoint/2010/main" val="3677257267"/>
              </p:ext>
            </p:extLst>
          </p:nvPr>
        </p:nvGraphicFramePr>
        <p:xfrm>
          <a:off x="838200" y="3421419"/>
          <a:ext cx="7840714" cy="2714338"/>
        </p:xfrm>
        <a:graphic>
          <a:graphicData uri="http://schemas.openxmlformats.org/presentationml/2006/ole">
            <mc:AlternateContent xmlns:mc="http://schemas.openxmlformats.org/markup-compatibility/2006">
              <mc:Choice xmlns:v="urn:schemas-microsoft-com:vml" Requires="v">
                <p:oleObj name="Equation" r:id="rId4" imgW="3251200" imgH="1155700" progId="Equation.DSMT4">
                  <p:embed/>
                </p:oleObj>
              </mc:Choice>
              <mc:Fallback>
                <p:oleObj name="Equation" r:id="rId4" imgW="3251200" imgH="1155700" progId="Equation.DSMT4">
                  <p:embed/>
                  <p:pic>
                    <p:nvPicPr>
                      <p:cNvPr id="5" name="Object 4">
                        <a:extLst>
                          <a:ext uri="{FF2B5EF4-FFF2-40B4-BE49-F238E27FC236}">
                            <a16:creationId xmlns:a16="http://schemas.microsoft.com/office/drawing/2014/main" id="{65F1D1E7-8D60-4B8B-9E61-C076D00C15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421419"/>
                        <a:ext cx="7840714" cy="2714338"/>
                      </a:xfrm>
                      <a:prstGeom prst="rect">
                        <a:avLst/>
                      </a:prstGeom>
                      <a:noFill/>
                      <a:ln>
                        <a:noFill/>
                      </a:ln>
                    </p:spPr>
                  </p:pic>
                </p:oleObj>
              </mc:Fallback>
            </mc:AlternateContent>
          </a:graphicData>
        </a:graphic>
      </p:graphicFrame>
      <p:sp>
        <p:nvSpPr>
          <p:cNvPr id="6" name="Slide Number Placeholder 5">
            <a:extLst>
              <a:ext uri="{FF2B5EF4-FFF2-40B4-BE49-F238E27FC236}">
                <a16:creationId xmlns:a16="http://schemas.microsoft.com/office/drawing/2014/main" id="{DA4CD283-BFCE-4921-AC9B-C027B53C04B0}"/>
              </a:ext>
            </a:extLst>
          </p:cNvPr>
          <p:cNvSpPr>
            <a:spLocks noGrp="1"/>
          </p:cNvSpPr>
          <p:nvPr>
            <p:ph type="sldNum" sz="quarter" idx="12"/>
          </p:nvPr>
        </p:nvSpPr>
        <p:spPr/>
        <p:txBody>
          <a:bodyPr/>
          <a:lstStyle/>
          <a:p>
            <a:fld id="{4698AAF4-35A4-40F4-A7AE-C8E2C41B9252}" type="slidenum">
              <a:rPr lang="en-US" smtClean="0"/>
              <a:t>46</a:t>
            </a:fld>
            <a:endParaRPr lang="en-US"/>
          </a:p>
        </p:txBody>
      </p:sp>
    </p:spTree>
    <p:extLst>
      <p:ext uri="{BB962C8B-B14F-4D97-AF65-F5344CB8AC3E}">
        <p14:creationId xmlns:p14="http://schemas.microsoft.com/office/powerpoint/2010/main" val="26250936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altLang="en-US" dirty="0"/>
              <a:t>Some notes on different estimators</a:t>
            </a:r>
          </a:p>
        </p:txBody>
      </p:sp>
      <p:sp>
        <p:nvSpPr>
          <p:cNvPr id="54275" name="Content Placeholder 2"/>
          <p:cNvSpPr>
            <a:spLocks noGrp="1"/>
          </p:cNvSpPr>
          <p:nvPr>
            <p:ph idx="1"/>
          </p:nvPr>
        </p:nvSpPr>
        <p:spPr/>
        <p:txBody>
          <a:bodyPr>
            <a:normAutofit fontScale="85000" lnSpcReduction="10000"/>
          </a:bodyPr>
          <a:lstStyle/>
          <a:p>
            <a:r>
              <a:rPr lang="en-US" altLang="en-US" dirty="0"/>
              <a:t>In simple cases the three estimation approaches are equivalent. OLS is minimum sum or residuals, method of moments, and maximum likelihood estimator (for assumed normal errors ) </a:t>
            </a:r>
          </a:p>
          <a:p>
            <a:endParaRPr lang="en-US" altLang="en-US" dirty="0"/>
          </a:p>
          <a:p>
            <a:r>
              <a:rPr lang="en-US" altLang="en-US" dirty="0"/>
              <a:t>In more complex cases they may give different estimators</a:t>
            </a:r>
          </a:p>
          <a:p>
            <a:pPr lvl="1"/>
            <a:r>
              <a:rPr lang="en-US" altLang="en-US" dirty="0"/>
              <a:t>Taxi problem: suppose we know taxi’s in a town are numbered 1 to N we observe one taxi numbered k. What is your estimate of N using Method of Moments and Maximum Likelihood? Actually used in WW2 where enemy tank with number k was captured. </a:t>
            </a:r>
          </a:p>
          <a:p>
            <a:endParaRPr lang="en-US" altLang="en-US" dirty="0"/>
          </a:p>
          <a:p>
            <a:r>
              <a:rPr lang="en-US" altLang="en-US" dirty="0"/>
              <a:t>As well as 3 different types of estimator we also have different estimators depending on details – e.g. function of residuals to minimize, functional form of error term in max likelihood, which moments we equate in method of moments</a:t>
            </a:r>
          </a:p>
        </p:txBody>
      </p:sp>
      <p:sp>
        <p:nvSpPr>
          <p:cNvPr id="2" name="Slide Number Placeholder 1">
            <a:extLst>
              <a:ext uri="{FF2B5EF4-FFF2-40B4-BE49-F238E27FC236}">
                <a16:creationId xmlns:a16="http://schemas.microsoft.com/office/drawing/2014/main" id="{04232B4E-0C13-4101-90A3-FEFEA2BCC253}"/>
              </a:ext>
            </a:extLst>
          </p:cNvPr>
          <p:cNvSpPr>
            <a:spLocks noGrp="1"/>
          </p:cNvSpPr>
          <p:nvPr>
            <p:ph type="sldNum" sz="quarter" idx="12"/>
          </p:nvPr>
        </p:nvSpPr>
        <p:spPr/>
        <p:txBody>
          <a:bodyPr/>
          <a:lstStyle/>
          <a:p>
            <a:fld id="{4698AAF4-35A4-40F4-A7AE-C8E2C41B9252}" type="slidenum">
              <a:rPr lang="en-US" smtClean="0"/>
              <a:t>47</a:t>
            </a:fld>
            <a:endParaRPr lang="en-US"/>
          </a:p>
        </p:txBody>
      </p:sp>
    </p:spTree>
    <p:extLst>
      <p:ext uri="{BB962C8B-B14F-4D97-AF65-F5344CB8AC3E}">
        <p14:creationId xmlns:p14="http://schemas.microsoft.com/office/powerpoint/2010/main" val="10272971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19768</TotalTime>
  <Words>3296</Words>
  <Application>Microsoft Macintosh PowerPoint</Application>
  <PresentationFormat>Widescreen</PresentationFormat>
  <Paragraphs>437</Paragraphs>
  <Slides>47</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3" baseType="lpstr">
      <vt:lpstr>Arial</vt:lpstr>
      <vt:lpstr>Calibri</vt:lpstr>
      <vt:lpstr>Calibri Light</vt:lpstr>
      <vt:lpstr>Cambria Math</vt:lpstr>
      <vt:lpstr>Office Theme</vt:lpstr>
      <vt:lpstr>Equation</vt:lpstr>
      <vt:lpstr>Econometric Methods: Introduction</vt:lpstr>
      <vt:lpstr>Plan of presentation</vt:lpstr>
      <vt:lpstr>What is the point of econometrics?</vt:lpstr>
      <vt:lpstr>What is confounding to econometricians</vt:lpstr>
      <vt:lpstr>What is the point of econometrics?</vt:lpstr>
      <vt:lpstr>Econometrics: focus on internal validity</vt:lpstr>
      <vt:lpstr>Markers of internally valid models</vt:lpstr>
      <vt:lpstr>Internal validity</vt:lpstr>
      <vt:lpstr>External validity</vt:lpstr>
      <vt:lpstr>Econometric strategies</vt:lpstr>
      <vt:lpstr>Randomized trials: internal validity</vt:lpstr>
      <vt:lpstr>Randomized trials: internal validity</vt:lpstr>
      <vt:lpstr>Application – evaluating the impact of interventions during pregnancy </vt:lpstr>
      <vt:lpstr>Propensity score matching example</vt:lpstr>
      <vt:lpstr>Results without matching</vt:lpstr>
      <vt:lpstr>PowerPoint Presentation</vt:lpstr>
      <vt:lpstr>Results with matching</vt:lpstr>
      <vt:lpstr>Randomized controlled trial</vt:lpstr>
      <vt:lpstr>PowerPoint Presentation</vt:lpstr>
      <vt:lpstr>Results</vt:lpstr>
      <vt:lpstr>Results</vt:lpstr>
      <vt:lpstr>This is not a one off-example!</vt:lpstr>
      <vt:lpstr>Other causal inference strategies</vt:lpstr>
      <vt:lpstr>Approach to Econometrics in PHS2000B</vt:lpstr>
      <vt:lpstr>Learning to use a method</vt:lpstr>
      <vt:lpstr>Debates between different disciplines</vt:lpstr>
      <vt:lpstr>Some social norms in Econometrics compared with Biostatistics and Epidemiology</vt:lpstr>
      <vt:lpstr>Continuous development of methods</vt:lpstr>
      <vt:lpstr>Additional slides</vt:lpstr>
      <vt:lpstr>Estimator properties expressed mathematically</vt:lpstr>
      <vt:lpstr>I. Epi-Econ Dictionary</vt:lpstr>
      <vt:lpstr>Omitted Variable Bias and Randomized Trials</vt:lpstr>
      <vt:lpstr>Omitted Variable Bias and Randomized trials cont’d</vt:lpstr>
      <vt:lpstr>PowerPoint Presentation</vt:lpstr>
      <vt:lpstr>PowerPoint Presentation</vt:lpstr>
      <vt:lpstr>II. Comparing different estimators</vt:lpstr>
      <vt:lpstr>Different estimators</vt:lpstr>
      <vt:lpstr>Minimizing Residuals</vt:lpstr>
      <vt:lpstr>Maximum Likelihood Principle</vt:lpstr>
      <vt:lpstr>Generalized Method of Moments</vt:lpstr>
      <vt:lpstr>Coin Toss – is it a fair coin?: Estimator Comparisons</vt:lpstr>
      <vt:lpstr>Coin Toss: Maximum Likelihood</vt:lpstr>
      <vt:lpstr>Coin Toss: Method of Moments</vt:lpstr>
      <vt:lpstr>OLS and Maximum Likelihood</vt:lpstr>
      <vt:lpstr>OLS and Maximum Likelihood</vt:lpstr>
      <vt:lpstr>OLS and Method of Moments</vt:lpstr>
      <vt:lpstr>Some notes on different estimators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dc:creator>
  <cp:lastModifiedBy>McConnell, Margaret Anne</cp:lastModifiedBy>
  <cp:revision>373</cp:revision>
  <dcterms:created xsi:type="dcterms:W3CDTF">2019-03-20T01:54:21Z</dcterms:created>
  <dcterms:modified xsi:type="dcterms:W3CDTF">2026-03-21T13:55:32Z</dcterms:modified>
</cp:coreProperties>
</file>