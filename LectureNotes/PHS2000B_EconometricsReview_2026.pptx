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6" r:id="rId2"/>
    <p:sldId id="257" r:id="rId3"/>
    <p:sldId id="563" r:id="rId4"/>
    <p:sldId id="579" r:id="rId5"/>
    <p:sldId id="2018" r:id="rId6"/>
    <p:sldId id="571" r:id="rId7"/>
    <p:sldId id="572" r:id="rId8"/>
    <p:sldId id="573" r:id="rId9"/>
    <p:sldId id="2041" r:id="rId10"/>
    <p:sldId id="2042" r:id="rId11"/>
    <p:sldId id="2043" r:id="rId12"/>
    <p:sldId id="2044" r:id="rId13"/>
    <p:sldId id="2045" r:id="rId14"/>
    <p:sldId id="2046" r:id="rId15"/>
    <p:sldId id="2047" r:id="rId16"/>
    <p:sldId id="2048" r:id="rId17"/>
    <p:sldId id="2049" r:id="rId18"/>
    <p:sldId id="2015" r:id="rId19"/>
    <p:sldId id="2021" r:id="rId20"/>
    <p:sldId id="2023" r:id="rId21"/>
    <p:sldId id="2024" r:id="rId22"/>
    <p:sldId id="2025" r:id="rId23"/>
    <p:sldId id="577" r:id="rId24"/>
    <p:sldId id="575" r:id="rId25"/>
    <p:sldId id="576" r:id="rId26"/>
    <p:sldId id="2026" r:id="rId27"/>
    <p:sldId id="2051" r:id="rId28"/>
    <p:sldId id="580" r:id="rId29"/>
    <p:sldId id="472" r:id="rId30"/>
    <p:sldId id="462" r:id="rId31"/>
    <p:sldId id="488" r:id="rId32"/>
    <p:sldId id="560" r:id="rId33"/>
    <p:sldId id="2035" r:id="rId34"/>
    <p:sldId id="2050" r:id="rId35"/>
    <p:sldId id="463" r:id="rId36"/>
    <p:sldId id="495" r:id="rId37"/>
    <p:sldId id="496" r:id="rId38"/>
    <p:sldId id="490" r:id="rId39"/>
    <p:sldId id="491" r:id="rId40"/>
    <p:sldId id="593" r:id="rId41"/>
    <p:sldId id="584" r:id="rId42"/>
    <p:sldId id="2040" r:id="rId43"/>
    <p:sldId id="2034" r:id="rId44"/>
    <p:sldId id="581" r:id="rId45"/>
    <p:sldId id="582" r:id="rId46"/>
    <p:sldId id="2037" r:id="rId47"/>
    <p:sldId id="583" r:id="rId48"/>
    <p:sldId id="521" r:id="rId49"/>
    <p:sldId id="522" r:id="rId50"/>
    <p:sldId id="589" r:id="rId51"/>
    <p:sldId id="586" r:id="rId52"/>
    <p:sldId id="530" r:id="rId53"/>
    <p:sldId id="2039" r:id="rId54"/>
    <p:sldId id="507" r:id="rId55"/>
    <p:sldId id="590" r:id="rId56"/>
    <p:sldId id="554" r:id="rId57"/>
    <p:sldId id="519" r:id="rId58"/>
    <p:sldId id="520" r:id="rId59"/>
    <p:sldId id="525" r:id="rId60"/>
    <p:sldId id="526" r:id="rId61"/>
    <p:sldId id="591" r:id="rId62"/>
    <p:sldId id="540" r:id="rId63"/>
    <p:sldId id="352" r:id="rId64"/>
    <p:sldId id="546" r:id="rId65"/>
    <p:sldId id="542" r:id="rId66"/>
    <p:sldId id="587" r:id="rId67"/>
    <p:sldId id="2029" r:id="rId68"/>
    <p:sldId id="2033" r:id="rId69"/>
    <p:sldId id="266" r:id="rId70"/>
    <p:sldId id="592"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4" autoAdjust="0"/>
    <p:restoredTop sz="94660"/>
  </p:normalViewPr>
  <p:slideViewPr>
    <p:cSldViewPr snapToGrid="0">
      <p:cViewPr varScale="1">
        <p:scale>
          <a:sx n="115" d="100"/>
          <a:sy n="115" d="100"/>
        </p:scale>
        <p:origin x="224" y="3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107515-0406-F640-861D-58D7CDCCAA71}" type="datetimeFigureOut">
              <a:rPr lang="en-US" smtClean="0"/>
              <a:t>4/13/26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CC1016-C422-7346-ADEF-2A68FBF947E4}" type="slidenum">
              <a:rPr lang="en-US" smtClean="0"/>
              <a:t>‹#›</a:t>
            </a:fld>
            <a:endParaRPr lang="en-US"/>
          </a:p>
        </p:txBody>
      </p:sp>
    </p:spTree>
    <p:extLst>
      <p:ext uri="{BB962C8B-B14F-4D97-AF65-F5344CB8AC3E}">
        <p14:creationId xmlns:p14="http://schemas.microsoft.com/office/powerpoint/2010/main" val="2549615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CIA</a:t>
            </a:r>
          </a:p>
        </p:txBody>
      </p:sp>
      <p:sp>
        <p:nvSpPr>
          <p:cNvPr id="4" name="Slide Number Placeholder 3"/>
          <p:cNvSpPr>
            <a:spLocks noGrp="1"/>
          </p:cNvSpPr>
          <p:nvPr>
            <p:ph type="sldNum" sz="quarter" idx="5"/>
          </p:nvPr>
        </p:nvSpPr>
        <p:spPr/>
        <p:txBody>
          <a:bodyPr/>
          <a:lstStyle/>
          <a:p>
            <a:fld id="{963F5536-7C40-4D79-8D59-3C9CBA8A0204}" type="slidenum">
              <a:rPr lang="en-US" smtClean="0"/>
              <a:pPr/>
              <a:t>5</a:t>
            </a:fld>
            <a:endParaRPr lang="en-US"/>
          </a:p>
        </p:txBody>
      </p:sp>
    </p:spTree>
    <p:extLst>
      <p:ext uri="{BB962C8B-B14F-4D97-AF65-F5344CB8AC3E}">
        <p14:creationId xmlns:p14="http://schemas.microsoft.com/office/powerpoint/2010/main" val="4165792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CIA</a:t>
            </a:r>
          </a:p>
        </p:txBody>
      </p:sp>
      <p:sp>
        <p:nvSpPr>
          <p:cNvPr id="4" name="Slide Number Placeholder 3"/>
          <p:cNvSpPr>
            <a:spLocks noGrp="1"/>
          </p:cNvSpPr>
          <p:nvPr>
            <p:ph type="sldNum" sz="quarter" idx="5"/>
          </p:nvPr>
        </p:nvSpPr>
        <p:spPr/>
        <p:txBody>
          <a:bodyPr/>
          <a:lstStyle/>
          <a:p>
            <a:fld id="{963F5536-7C40-4D79-8D59-3C9CBA8A0204}" type="slidenum">
              <a:rPr lang="en-US" smtClean="0"/>
              <a:pPr/>
              <a:t>9</a:t>
            </a:fld>
            <a:endParaRPr lang="en-US"/>
          </a:p>
        </p:txBody>
      </p:sp>
    </p:spTree>
    <p:extLst>
      <p:ext uri="{BB962C8B-B14F-4D97-AF65-F5344CB8AC3E}">
        <p14:creationId xmlns:p14="http://schemas.microsoft.com/office/powerpoint/2010/main" val="611001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CIA</a:t>
            </a:r>
          </a:p>
        </p:txBody>
      </p:sp>
      <p:sp>
        <p:nvSpPr>
          <p:cNvPr id="4" name="Slide Number Placeholder 3"/>
          <p:cNvSpPr>
            <a:spLocks noGrp="1"/>
          </p:cNvSpPr>
          <p:nvPr>
            <p:ph type="sldNum" sz="quarter" idx="5"/>
          </p:nvPr>
        </p:nvSpPr>
        <p:spPr/>
        <p:txBody>
          <a:bodyPr/>
          <a:lstStyle/>
          <a:p>
            <a:fld id="{963F5536-7C40-4D79-8D59-3C9CBA8A0204}" type="slidenum">
              <a:rPr lang="en-US" smtClean="0"/>
              <a:pPr/>
              <a:t>10</a:t>
            </a:fld>
            <a:endParaRPr lang="en-US"/>
          </a:p>
        </p:txBody>
      </p:sp>
    </p:spTree>
    <p:extLst>
      <p:ext uri="{BB962C8B-B14F-4D97-AF65-F5344CB8AC3E}">
        <p14:creationId xmlns:p14="http://schemas.microsoft.com/office/powerpoint/2010/main" val="3100825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3F5536-7C40-4D79-8D59-3C9CBA8A0204}" type="slidenum">
              <a:rPr lang="en-US" smtClean="0"/>
              <a:pPr/>
              <a:t>11</a:t>
            </a:fld>
            <a:endParaRPr lang="en-US"/>
          </a:p>
        </p:txBody>
      </p:sp>
    </p:spTree>
    <p:extLst>
      <p:ext uri="{BB962C8B-B14F-4D97-AF65-F5344CB8AC3E}">
        <p14:creationId xmlns:p14="http://schemas.microsoft.com/office/powerpoint/2010/main" val="2634451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3F5536-7C40-4D79-8D59-3C9CBA8A0204}" type="slidenum">
              <a:rPr lang="en-US" smtClean="0"/>
              <a:pPr/>
              <a:t>12</a:t>
            </a:fld>
            <a:endParaRPr lang="en-US"/>
          </a:p>
        </p:txBody>
      </p:sp>
    </p:spTree>
    <p:extLst>
      <p:ext uri="{BB962C8B-B14F-4D97-AF65-F5344CB8AC3E}">
        <p14:creationId xmlns:p14="http://schemas.microsoft.com/office/powerpoint/2010/main" val="18583942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3F5536-7C40-4D79-8D59-3C9CBA8A0204}" type="slidenum">
              <a:rPr lang="en-US" smtClean="0"/>
              <a:pPr/>
              <a:t>13</a:t>
            </a:fld>
            <a:endParaRPr lang="en-US"/>
          </a:p>
        </p:txBody>
      </p:sp>
    </p:spTree>
    <p:extLst>
      <p:ext uri="{BB962C8B-B14F-4D97-AF65-F5344CB8AC3E}">
        <p14:creationId xmlns:p14="http://schemas.microsoft.com/office/powerpoint/2010/main" val="3792855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CIA</a:t>
            </a:r>
          </a:p>
        </p:txBody>
      </p:sp>
      <p:sp>
        <p:nvSpPr>
          <p:cNvPr id="4" name="Slide Number Placeholder 3"/>
          <p:cNvSpPr>
            <a:spLocks noGrp="1"/>
          </p:cNvSpPr>
          <p:nvPr>
            <p:ph type="sldNum" sz="quarter" idx="5"/>
          </p:nvPr>
        </p:nvSpPr>
        <p:spPr/>
        <p:txBody>
          <a:bodyPr/>
          <a:lstStyle/>
          <a:p>
            <a:fld id="{963F5536-7C40-4D79-8D59-3C9CBA8A0204}" type="slidenum">
              <a:rPr lang="en-US" smtClean="0"/>
              <a:pPr/>
              <a:t>18</a:t>
            </a:fld>
            <a:endParaRPr lang="en-US"/>
          </a:p>
        </p:txBody>
      </p:sp>
    </p:spTree>
    <p:extLst>
      <p:ext uri="{BB962C8B-B14F-4D97-AF65-F5344CB8AC3E}">
        <p14:creationId xmlns:p14="http://schemas.microsoft.com/office/powerpoint/2010/main" val="6110011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CIA</a:t>
            </a:r>
          </a:p>
        </p:txBody>
      </p:sp>
      <p:sp>
        <p:nvSpPr>
          <p:cNvPr id="4" name="Slide Number Placeholder 3"/>
          <p:cNvSpPr>
            <a:spLocks noGrp="1"/>
          </p:cNvSpPr>
          <p:nvPr>
            <p:ph type="sldNum" sz="quarter" idx="5"/>
          </p:nvPr>
        </p:nvSpPr>
        <p:spPr/>
        <p:txBody>
          <a:bodyPr/>
          <a:lstStyle/>
          <a:p>
            <a:fld id="{963F5536-7C40-4D79-8D59-3C9CBA8A0204}" type="slidenum">
              <a:rPr lang="en-US" smtClean="0"/>
              <a:pPr/>
              <a:t>19</a:t>
            </a:fld>
            <a:endParaRPr lang="en-US"/>
          </a:p>
        </p:txBody>
      </p:sp>
    </p:spTree>
    <p:extLst>
      <p:ext uri="{BB962C8B-B14F-4D97-AF65-F5344CB8AC3E}">
        <p14:creationId xmlns:p14="http://schemas.microsoft.com/office/powerpoint/2010/main" val="31008253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3F5536-7C40-4D79-8D59-3C9CBA8A0204}" type="slidenum">
              <a:rPr lang="en-US" smtClean="0"/>
              <a:pPr/>
              <a:t>20</a:t>
            </a:fld>
            <a:endParaRPr lang="en-US"/>
          </a:p>
        </p:txBody>
      </p:sp>
    </p:spTree>
    <p:extLst>
      <p:ext uri="{BB962C8B-B14F-4D97-AF65-F5344CB8AC3E}">
        <p14:creationId xmlns:p14="http://schemas.microsoft.com/office/powerpoint/2010/main" val="2634451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3F5536-7C40-4D79-8D59-3C9CBA8A0204}" type="slidenum">
              <a:rPr lang="en-US" smtClean="0"/>
              <a:pPr/>
              <a:t>21</a:t>
            </a:fld>
            <a:endParaRPr lang="en-US"/>
          </a:p>
        </p:txBody>
      </p:sp>
    </p:spTree>
    <p:extLst>
      <p:ext uri="{BB962C8B-B14F-4D97-AF65-F5344CB8AC3E}">
        <p14:creationId xmlns:p14="http://schemas.microsoft.com/office/powerpoint/2010/main" val="1858394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3F5536-7C40-4D79-8D59-3C9CBA8A0204}" type="slidenum">
              <a:rPr lang="en-US" smtClean="0"/>
              <a:pPr/>
              <a:t>22</a:t>
            </a:fld>
            <a:endParaRPr lang="en-US"/>
          </a:p>
        </p:txBody>
      </p:sp>
    </p:spTree>
    <p:extLst>
      <p:ext uri="{BB962C8B-B14F-4D97-AF65-F5344CB8AC3E}">
        <p14:creationId xmlns:p14="http://schemas.microsoft.com/office/powerpoint/2010/main" val="3792855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FD968C-2F49-4FA7-AEDD-59EB6B4F6572}" type="slidenum">
              <a:rPr lang="en-US" smtClean="0"/>
              <a:t>63</a:t>
            </a:fld>
            <a:endParaRPr lang="en-US"/>
          </a:p>
        </p:txBody>
      </p:sp>
    </p:spTree>
    <p:extLst>
      <p:ext uri="{BB962C8B-B14F-4D97-AF65-F5344CB8AC3E}">
        <p14:creationId xmlns:p14="http://schemas.microsoft.com/office/powerpoint/2010/main" val="1248794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C1DD0-DA29-428E-AC65-656AB38DB9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D43536-FB9A-4F97-B912-3022CBF113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81BCAF-3C1F-4EA8-82CA-0C4E1038487B}"/>
              </a:ext>
            </a:extLst>
          </p:cNvPr>
          <p:cNvSpPr>
            <a:spLocks noGrp="1"/>
          </p:cNvSpPr>
          <p:nvPr>
            <p:ph type="dt" sz="half" idx="10"/>
          </p:nvPr>
        </p:nvSpPr>
        <p:spPr/>
        <p:txBody>
          <a:bodyPr/>
          <a:lstStyle/>
          <a:p>
            <a:fld id="{D9C782E8-583B-4C73-8AAB-C770984AA5BC}" type="datetimeFigureOut">
              <a:rPr lang="en-US" smtClean="0"/>
              <a:t>4/13/26</a:t>
            </a:fld>
            <a:endParaRPr lang="en-US"/>
          </a:p>
        </p:txBody>
      </p:sp>
      <p:sp>
        <p:nvSpPr>
          <p:cNvPr id="5" name="Footer Placeholder 4">
            <a:extLst>
              <a:ext uri="{FF2B5EF4-FFF2-40B4-BE49-F238E27FC236}">
                <a16:creationId xmlns:a16="http://schemas.microsoft.com/office/drawing/2014/main" id="{8F332B0E-D3F1-42DA-8A47-FC78CC8091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B5B351-8985-4B9C-88FD-DD400A2B61AF}"/>
              </a:ext>
            </a:extLst>
          </p:cNvPr>
          <p:cNvSpPr>
            <a:spLocks noGrp="1"/>
          </p:cNvSpPr>
          <p:nvPr>
            <p:ph type="sldNum" sz="quarter" idx="12"/>
          </p:nvPr>
        </p:nvSpPr>
        <p:spPr/>
        <p:txBody>
          <a:bodyPr/>
          <a:lstStyle/>
          <a:p>
            <a:fld id="{49B4297C-8BDE-41D6-A780-F8CB7D91405A}" type="slidenum">
              <a:rPr lang="en-US" smtClean="0"/>
              <a:t>‹#›</a:t>
            </a:fld>
            <a:endParaRPr lang="en-US"/>
          </a:p>
        </p:txBody>
      </p:sp>
    </p:spTree>
    <p:extLst>
      <p:ext uri="{BB962C8B-B14F-4D97-AF65-F5344CB8AC3E}">
        <p14:creationId xmlns:p14="http://schemas.microsoft.com/office/powerpoint/2010/main" val="1683694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7A25A-A959-4278-B67E-A99ACF91ED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ABE4C3-41E8-419D-B74C-93137CFD67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656122-FFF4-4437-A6F6-05C748065966}"/>
              </a:ext>
            </a:extLst>
          </p:cNvPr>
          <p:cNvSpPr>
            <a:spLocks noGrp="1"/>
          </p:cNvSpPr>
          <p:nvPr>
            <p:ph type="dt" sz="half" idx="10"/>
          </p:nvPr>
        </p:nvSpPr>
        <p:spPr/>
        <p:txBody>
          <a:bodyPr/>
          <a:lstStyle/>
          <a:p>
            <a:fld id="{D9C782E8-583B-4C73-8AAB-C770984AA5BC}" type="datetimeFigureOut">
              <a:rPr lang="en-US" smtClean="0"/>
              <a:t>4/13/26</a:t>
            </a:fld>
            <a:endParaRPr lang="en-US"/>
          </a:p>
        </p:txBody>
      </p:sp>
      <p:sp>
        <p:nvSpPr>
          <p:cNvPr id="5" name="Footer Placeholder 4">
            <a:extLst>
              <a:ext uri="{FF2B5EF4-FFF2-40B4-BE49-F238E27FC236}">
                <a16:creationId xmlns:a16="http://schemas.microsoft.com/office/drawing/2014/main" id="{484BFC24-84A3-4515-81AB-D2F145498B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76FA4F-0F7B-4FE7-8A73-7C4624C207BB}"/>
              </a:ext>
            </a:extLst>
          </p:cNvPr>
          <p:cNvSpPr>
            <a:spLocks noGrp="1"/>
          </p:cNvSpPr>
          <p:nvPr>
            <p:ph type="sldNum" sz="quarter" idx="12"/>
          </p:nvPr>
        </p:nvSpPr>
        <p:spPr/>
        <p:txBody>
          <a:bodyPr/>
          <a:lstStyle/>
          <a:p>
            <a:fld id="{49B4297C-8BDE-41D6-A780-F8CB7D91405A}" type="slidenum">
              <a:rPr lang="en-US" smtClean="0"/>
              <a:t>‹#›</a:t>
            </a:fld>
            <a:endParaRPr lang="en-US"/>
          </a:p>
        </p:txBody>
      </p:sp>
    </p:spTree>
    <p:extLst>
      <p:ext uri="{BB962C8B-B14F-4D97-AF65-F5344CB8AC3E}">
        <p14:creationId xmlns:p14="http://schemas.microsoft.com/office/powerpoint/2010/main" val="1285959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BC797-6EC9-41E1-BC09-28877F4D52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3CF2E5-C2C4-49AA-B3E0-44D9BBB208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29FB03-EAC6-401E-A61B-5912A6A37F6A}"/>
              </a:ext>
            </a:extLst>
          </p:cNvPr>
          <p:cNvSpPr>
            <a:spLocks noGrp="1"/>
          </p:cNvSpPr>
          <p:nvPr>
            <p:ph type="dt" sz="half" idx="10"/>
          </p:nvPr>
        </p:nvSpPr>
        <p:spPr/>
        <p:txBody>
          <a:bodyPr/>
          <a:lstStyle/>
          <a:p>
            <a:fld id="{D9C782E8-583B-4C73-8AAB-C770984AA5BC}" type="datetimeFigureOut">
              <a:rPr lang="en-US" smtClean="0"/>
              <a:t>4/13/26</a:t>
            </a:fld>
            <a:endParaRPr lang="en-US"/>
          </a:p>
        </p:txBody>
      </p:sp>
      <p:sp>
        <p:nvSpPr>
          <p:cNvPr id="5" name="Footer Placeholder 4">
            <a:extLst>
              <a:ext uri="{FF2B5EF4-FFF2-40B4-BE49-F238E27FC236}">
                <a16:creationId xmlns:a16="http://schemas.microsoft.com/office/drawing/2014/main" id="{2A0AA832-1733-45FA-A27D-9EF59BAB0A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6B5E67-1897-4C59-AF43-C163E5E19B1E}"/>
              </a:ext>
            </a:extLst>
          </p:cNvPr>
          <p:cNvSpPr>
            <a:spLocks noGrp="1"/>
          </p:cNvSpPr>
          <p:nvPr>
            <p:ph type="sldNum" sz="quarter" idx="12"/>
          </p:nvPr>
        </p:nvSpPr>
        <p:spPr/>
        <p:txBody>
          <a:bodyPr/>
          <a:lstStyle/>
          <a:p>
            <a:fld id="{49B4297C-8BDE-41D6-A780-F8CB7D91405A}" type="slidenum">
              <a:rPr lang="en-US" smtClean="0"/>
              <a:t>‹#›</a:t>
            </a:fld>
            <a:endParaRPr lang="en-US"/>
          </a:p>
        </p:txBody>
      </p:sp>
    </p:spTree>
    <p:extLst>
      <p:ext uri="{BB962C8B-B14F-4D97-AF65-F5344CB8AC3E}">
        <p14:creationId xmlns:p14="http://schemas.microsoft.com/office/powerpoint/2010/main" val="1698441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2E20F-177D-4B33-A870-E198707EC5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A11797-95DD-4DCA-9A6F-2DF9820592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E4A6EF-DAE7-4A2C-8888-01371081D5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AD6373-2306-4DE0-9E40-53502C34C82E}"/>
              </a:ext>
            </a:extLst>
          </p:cNvPr>
          <p:cNvSpPr>
            <a:spLocks noGrp="1"/>
          </p:cNvSpPr>
          <p:nvPr>
            <p:ph type="dt" sz="half" idx="10"/>
          </p:nvPr>
        </p:nvSpPr>
        <p:spPr/>
        <p:txBody>
          <a:bodyPr/>
          <a:lstStyle/>
          <a:p>
            <a:fld id="{D9C782E8-583B-4C73-8AAB-C770984AA5BC}" type="datetimeFigureOut">
              <a:rPr lang="en-US" smtClean="0"/>
              <a:t>4/13/26</a:t>
            </a:fld>
            <a:endParaRPr lang="en-US"/>
          </a:p>
        </p:txBody>
      </p:sp>
      <p:sp>
        <p:nvSpPr>
          <p:cNvPr id="6" name="Footer Placeholder 5">
            <a:extLst>
              <a:ext uri="{FF2B5EF4-FFF2-40B4-BE49-F238E27FC236}">
                <a16:creationId xmlns:a16="http://schemas.microsoft.com/office/drawing/2014/main" id="{AAC5526B-35E1-4077-9A58-E17C67A784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CC8181-401C-429D-8742-06E97231529E}"/>
              </a:ext>
            </a:extLst>
          </p:cNvPr>
          <p:cNvSpPr>
            <a:spLocks noGrp="1"/>
          </p:cNvSpPr>
          <p:nvPr>
            <p:ph type="sldNum" sz="quarter" idx="12"/>
          </p:nvPr>
        </p:nvSpPr>
        <p:spPr/>
        <p:txBody>
          <a:bodyPr/>
          <a:lstStyle/>
          <a:p>
            <a:fld id="{49B4297C-8BDE-41D6-A780-F8CB7D91405A}" type="slidenum">
              <a:rPr lang="en-US" smtClean="0"/>
              <a:t>‹#›</a:t>
            </a:fld>
            <a:endParaRPr lang="en-US"/>
          </a:p>
        </p:txBody>
      </p:sp>
    </p:spTree>
    <p:extLst>
      <p:ext uri="{BB962C8B-B14F-4D97-AF65-F5344CB8AC3E}">
        <p14:creationId xmlns:p14="http://schemas.microsoft.com/office/powerpoint/2010/main" val="441067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7F315-948D-4302-9FD1-000DA840DA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9D799A-5D54-4683-A25B-2BAE1CF7E4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7909E7-EE1E-4D46-BED6-E31E389CFF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61B7BE-A2A0-486B-8687-0B6C8BFAD9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467915-EACD-4F4C-8097-E94628B203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00943C-D827-4EF2-ACB0-8E79B16C2EE4}"/>
              </a:ext>
            </a:extLst>
          </p:cNvPr>
          <p:cNvSpPr>
            <a:spLocks noGrp="1"/>
          </p:cNvSpPr>
          <p:nvPr>
            <p:ph type="dt" sz="half" idx="10"/>
          </p:nvPr>
        </p:nvSpPr>
        <p:spPr/>
        <p:txBody>
          <a:bodyPr/>
          <a:lstStyle/>
          <a:p>
            <a:fld id="{D9C782E8-583B-4C73-8AAB-C770984AA5BC}" type="datetimeFigureOut">
              <a:rPr lang="en-US" smtClean="0"/>
              <a:t>4/13/26</a:t>
            </a:fld>
            <a:endParaRPr lang="en-US"/>
          </a:p>
        </p:txBody>
      </p:sp>
      <p:sp>
        <p:nvSpPr>
          <p:cNvPr id="8" name="Footer Placeholder 7">
            <a:extLst>
              <a:ext uri="{FF2B5EF4-FFF2-40B4-BE49-F238E27FC236}">
                <a16:creationId xmlns:a16="http://schemas.microsoft.com/office/drawing/2014/main" id="{75256CBF-FD65-4E2F-9C2D-9D5F7A5DB0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7894BD-C081-423C-8037-D58D5C815468}"/>
              </a:ext>
            </a:extLst>
          </p:cNvPr>
          <p:cNvSpPr>
            <a:spLocks noGrp="1"/>
          </p:cNvSpPr>
          <p:nvPr>
            <p:ph type="sldNum" sz="quarter" idx="12"/>
          </p:nvPr>
        </p:nvSpPr>
        <p:spPr/>
        <p:txBody>
          <a:bodyPr/>
          <a:lstStyle/>
          <a:p>
            <a:fld id="{49B4297C-8BDE-41D6-A780-F8CB7D91405A}" type="slidenum">
              <a:rPr lang="en-US" smtClean="0"/>
              <a:t>‹#›</a:t>
            </a:fld>
            <a:endParaRPr lang="en-US"/>
          </a:p>
        </p:txBody>
      </p:sp>
    </p:spTree>
    <p:extLst>
      <p:ext uri="{BB962C8B-B14F-4D97-AF65-F5344CB8AC3E}">
        <p14:creationId xmlns:p14="http://schemas.microsoft.com/office/powerpoint/2010/main" val="2856902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8242B-F8DD-46BD-B61A-0E6DB04B66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494CCA-7BC0-4D92-9564-7EDFE6EF4907}"/>
              </a:ext>
            </a:extLst>
          </p:cNvPr>
          <p:cNvSpPr>
            <a:spLocks noGrp="1"/>
          </p:cNvSpPr>
          <p:nvPr>
            <p:ph type="dt" sz="half" idx="10"/>
          </p:nvPr>
        </p:nvSpPr>
        <p:spPr/>
        <p:txBody>
          <a:bodyPr/>
          <a:lstStyle/>
          <a:p>
            <a:fld id="{D9C782E8-583B-4C73-8AAB-C770984AA5BC}" type="datetimeFigureOut">
              <a:rPr lang="en-US" smtClean="0"/>
              <a:t>4/13/26</a:t>
            </a:fld>
            <a:endParaRPr lang="en-US"/>
          </a:p>
        </p:txBody>
      </p:sp>
      <p:sp>
        <p:nvSpPr>
          <p:cNvPr id="4" name="Footer Placeholder 3">
            <a:extLst>
              <a:ext uri="{FF2B5EF4-FFF2-40B4-BE49-F238E27FC236}">
                <a16:creationId xmlns:a16="http://schemas.microsoft.com/office/drawing/2014/main" id="{13246236-F830-4BD1-9347-3C26E6D77E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CA6CB8-6022-44DA-B5D5-10A1C673092B}"/>
              </a:ext>
            </a:extLst>
          </p:cNvPr>
          <p:cNvSpPr>
            <a:spLocks noGrp="1"/>
          </p:cNvSpPr>
          <p:nvPr>
            <p:ph type="sldNum" sz="quarter" idx="12"/>
          </p:nvPr>
        </p:nvSpPr>
        <p:spPr/>
        <p:txBody>
          <a:bodyPr/>
          <a:lstStyle/>
          <a:p>
            <a:fld id="{49B4297C-8BDE-41D6-A780-F8CB7D91405A}" type="slidenum">
              <a:rPr lang="en-US" smtClean="0"/>
              <a:t>‹#›</a:t>
            </a:fld>
            <a:endParaRPr lang="en-US"/>
          </a:p>
        </p:txBody>
      </p:sp>
    </p:spTree>
    <p:extLst>
      <p:ext uri="{BB962C8B-B14F-4D97-AF65-F5344CB8AC3E}">
        <p14:creationId xmlns:p14="http://schemas.microsoft.com/office/powerpoint/2010/main" val="1204292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BFCE7B-6E83-4876-8D1C-9455ABF8D137}"/>
              </a:ext>
            </a:extLst>
          </p:cNvPr>
          <p:cNvSpPr>
            <a:spLocks noGrp="1"/>
          </p:cNvSpPr>
          <p:nvPr>
            <p:ph type="dt" sz="half" idx="10"/>
          </p:nvPr>
        </p:nvSpPr>
        <p:spPr/>
        <p:txBody>
          <a:bodyPr/>
          <a:lstStyle/>
          <a:p>
            <a:fld id="{D9C782E8-583B-4C73-8AAB-C770984AA5BC}" type="datetimeFigureOut">
              <a:rPr lang="en-US" smtClean="0"/>
              <a:t>4/13/26</a:t>
            </a:fld>
            <a:endParaRPr lang="en-US"/>
          </a:p>
        </p:txBody>
      </p:sp>
      <p:sp>
        <p:nvSpPr>
          <p:cNvPr id="3" name="Footer Placeholder 2">
            <a:extLst>
              <a:ext uri="{FF2B5EF4-FFF2-40B4-BE49-F238E27FC236}">
                <a16:creationId xmlns:a16="http://schemas.microsoft.com/office/drawing/2014/main" id="{5CAAC698-FF3D-481B-85E6-E301FEEA24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79B7D9-07FC-4557-B8F8-40ABE58BA10F}"/>
              </a:ext>
            </a:extLst>
          </p:cNvPr>
          <p:cNvSpPr>
            <a:spLocks noGrp="1"/>
          </p:cNvSpPr>
          <p:nvPr>
            <p:ph type="sldNum" sz="quarter" idx="12"/>
          </p:nvPr>
        </p:nvSpPr>
        <p:spPr/>
        <p:txBody>
          <a:bodyPr/>
          <a:lstStyle/>
          <a:p>
            <a:fld id="{49B4297C-8BDE-41D6-A780-F8CB7D91405A}" type="slidenum">
              <a:rPr lang="en-US" smtClean="0"/>
              <a:t>‹#›</a:t>
            </a:fld>
            <a:endParaRPr lang="en-US"/>
          </a:p>
        </p:txBody>
      </p:sp>
    </p:spTree>
    <p:extLst>
      <p:ext uri="{BB962C8B-B14F-4D97-AF65-F5344CB8AC3E}">
        <p14:creationId xmlns:p14="http://schemas.microsoft.com/office/powerpoint/2010/main" val="1557443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63ECC-F3CC-4ED8-960A-8B912E4D3F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152F08-AC7E-4BAB-975C-012D3DAE9B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91D299-2E14-4103-8395-97A7ACFA4B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A64FA3-2B6E-4D21-A357-9CEF50C751BF}"/>
              </a:ext>
            </a:extLst>
          </p:cNvPr>
          <p:cNvSpPr>
            <a:spLocks noGrp="1"/>
          </p:cNvSpPr>
          <p:nvPr>
            <p:ph type="dt" sz="half" idx="10"/>
          </p:nvPr>
        </p:nvSpPr>
        <p:spPr/>
        <p:txBody>
          <a:bodyPr/>
          <a:lstStyle/>
          <a:p>
            <a:fld id="{D9C782E8-583B-4C73-8AAB-C770984AA5BC}" type="datetimeFigureOut">
              <a:rPr lang="en-US" smtClean="0"/>
              <a:t>4/13/26</a:t>
            </a:fld>
            <a:endParaRPr lang="en-US"/>
          </a:p>
        </p:txBody>
      </p:sp>
      <p:sp>
        <p:nvSpPr>
          <p:cNvPr id="6" name="Footer Placeholder 5">
            <a:extLst>
              <a:ext uri="{FF2B5EF4-FFF2-40B4-BE49-F238E27FC236}">
                <a16:creationId xmlns:a16="http://schemas.microsoft.com/office/drawing/2014/main" id="{410AFEB0-EDCC-43AA-B3AA-04F6EBED91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E9C6F1-A180-4F55-9243-5F0508F2F0C2}"/>
              </a:ext>
            </a:extLst>
          </p:cNvPr>
          <p:cNvSpPr>
            <a:spLocks noGrp="1"/>
          </p:cNvSpPr>
          <p:nvPr>
            <p:ph type="sldNum" sz="quarter" idx="12"/>
          </p:nvPr>
        </p:nvSpPr>
        <p:spPr/>
        <p:txBody>
          <a:bodyPr/>
          <a:lstStyle/>
          <a:p>
            <a:fld id="{49B4297C-8BDE-41D6-A780-F8CB7D91405A}" type="slidenum">
              <a:rPr lang="en-US" smtClean="0"/>
              <a:t>‹#›</a:t>
            </a:fld>
            <a:endParaRPr lang="en-US"/>
          </a:p>
        </p:txBody>
      </p:sp>
    </p:spTree>
    <p:extLst>
      <p:ext uri="{BB962C8B-B14F-4D97-AF65-F5344CB8AC3E}">
        <p14:creationId xmlns:p14="http://schemas.microsoft.com/office/powerpoint/2010/main" val="3767473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24C43-1097-4624-9870-77834A9724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2E9BCF-5BE6-47B9-AB4F-2FCEB9B9E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F263AB-E733-4609-983C-59D5C59DE8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795E69-FF4F-40EC-96BB-2A06DC4DC6BF}"/>
              </a:ext>
            </a:extLst>
          </p:cNvPr>
          <p:cNvSpPr>
            <a:spLocks noGrp="1"/>
          </p:cNvSpPr>
          <p:nvPr>
            <p:ph type="dt" sz="half" idx="10"/>
          </p:nvPr>
        </p:nvSpPr>
        <p:spPr/>
        <p:txBody>
          <a:bodyPr/>
          <a:lstStyle/>
          <a:p>
            <a:fld id="{D9C782E8-583B-4C73-8AAB-C770984AA5BC}" type="datetimeFigureOut">
              <a:rPr lang="en-US" smtClean="0"/>
              <a:t>4/13/26</a:t>
            </a:fld>
            <a:endParaRPr lang="en-US"/>
          </a:p>
        </p:txBody>
      </p:sp>
      <p:sp>
        <p:nvSpPr>
          <p:cNvPr id="6" name="Footer Placeholder 5">
            <a:extLst>
              <a:ext uri="{FF2B5EF4-FFF2-40B4-BE49-F238E27FC236}">
                <a16:creationId xmlns:a16="http://schemas.microsoft.com/office/drawing/2014/main" id="{310B8FE9-1A4A-4C16-AFED-7A08629F7E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01501C-8A4A-4872-9907-DBA1EC6248B7}"/>
              </a:ext>
            </a:extLst>
          </p:cNvPr>
          <p:cNvSpPr>
            <a:spLocks noGrp="1"/>
          </p:cNvSpPr>
          <p:nvPr>
            <p:ph type="sldNum" sz="quarter" idx="12"/>
          </p:nvPr>
        </p:nvSpPr>
        <p:spPr/>
        <p:txBody>
          <a:bodyPr/>
          <a:lstStyle/>
          <a:p>
            <a:fld id="{49B4297C-8BDE-41D6-A780-F8CB7D91405A}" type="slidenum">
              <a:rPr lang="en-US" smtClean="0"/>
              <a:t>‹#›</a:t>
            </a:fld>
            <a:endParaRPr lang="en-US"/>
          </a:p>
        </p:txBody>
      </p:sp>
    </p:spTree>
    <p:extLst>
      <p:ext uri="{BB962C8B-B14F-4D97-AF65-F5344CB8AC3E}">
        <p14:creationId xmlns:p14="http://schemas.microsoft.com/office/powerpoint/2010/main" val="1575774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D0D32-72D1-47AD-9085-FD281FFE67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B39BB-09D2-497D-A3E2-F38A9F7C11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5611C-EEDD-4B40-AB6D-06BEF4632B91}"/>
              </a:ext>
            </a:extLst>
          </p:cNvPr>
          <p:cNvSpPr>
            <a:spLocks noGrp="1"/>
          </p:cNvSpPr>
          <p:nvPr>
            <p:ph type="dt" sz="half" idx="10"/>
          </p:nvPr>
        </p:nvSpPr>
        <p:spPr/>
        <p:txBody>
          <a:bodyPr/>
          <a:lstStyle/>
          <a:p>
            <a:fld id="{D9C782E8-583B-4C73-8AAB-C770984AA5BC}" type="datetimeFigureOut">
              <a:rPr lang="en-US" smtClean="0"/>
              <a:t>4/13/26</a:t>
            </a:fld>
            <a:endParaRPr lang="en-US"/>
          </a:p>
        </p:txBody>
      </p:sp>
      <p:sp>
        <p:nvSpPr>
          <p:cNvPr id="5" name="Footer Placeholder 4">
            <a:extLst>
              <a:ext uri="{FF2B5EF4-FFF2-40B4-BE49-F238E27FC236}">
                <a16:creationId xmlns:a16="http://schemas.microsoft.com/office/drawing/2014/main" id="{C7D484BF-BC34-4469-A34C-4B1AE4BD2F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02957A-AC69-4795-9B9F-57294E8B39F2}"/>
              </a:ext>
            </a:extLst>
          </p:cNvPr>
          <p:cNvSpPr>
            <a:spLocks noGrp="1"/>
          </p:cNvSpPr>
          <p:nvPr>
            <p:ph type="sldNum" sz="quarter" idx="12"/>
          </p:nvPr>
        </p:nvSpPr>
        <p:spPr/>
        <p:txBody>
          <a:bodyPr/>
          <a:lstStyle/>
          <a:p>
            <a:fld id="{49B4297C-8BDE-41D6-A780-F8CB7D91405A}" type="slidenum">
              <a:rPr lang="en-US" smtClean="0"/>
              <a:t>‹#›</a:t>
            </a:fld>
            <a:endParaRPr lang="en-US"/>
          </a:p>
        </p:txBody>
      </p:sp>
    </p:spTree>
    <p:extLst>
      <p:ext uri="{BB962C8B-B14F-4D97-AF65-F5344CB8AC3E}">
        <p14:creationId xmlns:p14="http://schemas.microsoft.com/office/powerpoint/2010/main" val="25442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57BB86-8073-46A5-80BA-D7F9271F75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6767E6-4C45-40E5-B0B8-493AA1090D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4A7A63-16DB-4930-9E6D-A1B3F2A586CB}"/>
              </a:ext>
            </a:extLst>
          </p:cNvPr>
          <p:cNvSpPr>
            <a:spLocks noGrp="1"/>
          </p:cNvSpPr>
          <p:nvPr>
            <p:ph type="dt" sz="half" idx="10"/>
          </p:nvPr>
        </p:nvSpPr>
        <p:spPr/>
        <p:txBody>
          <a:bodyPr/>
          <a:lstStyle/>
          <a:p>
            <a:fld id="{D9C782E8-583B-4C73-8AAB-C770984AA5BC}" type="datetimeFigureOut">
              <a:rPr lang="en-US" smtClean="0"/>
              <a:t>4/13/26</a:t>
            </a:fld>
            <a:endParaRPr lang="en-US"/>
          </a:p>
        </p:txBody>
      </p:sp>
      <p:sp>
        <p:nvSpPr>
          <p:cNvPr id="5" name="Footer Placeholder 4">
            <a:extLst>
              <a:ext uri="{FF2B5EF4-FFF2-40B4-BE49-F238E27FC236}">
                <a16:creationId xmlns:a16="http://schemas.microsoft.com/office/drawing/2014/main" id="{EA9B921F-26C3-4B69-9D4D-CF62287023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91E410-2072-47F3-BFD0-F7D5E93ECD37}"/>
              </a:ext>
            </a:extLst>
          </p:cNvPr>
          <p:cNvSpPr>
            <a:spLocks noGrp="1"/>
          </p:cNvSpPr>
          <p:nvPr>
            <p:ph type="sldNum" sz="quarter" idx="12"/>
          </p:nvPr>
        </p:nvSpPr>
        <p:spPr/>
        <p:txBody>
          <a:bodyPr/>
          <a:lstStyle/>
          <a:p>
            <a:fld id="{49B4297C-8BDE-41D6-A780-F8CB7D91405A}" type="slidenum">
              <a:rPr lang="en-US" smtClean="0"/>
              <a:t>‹#›</a:t>
            </a:fld>
            <a:endParaRPr lang="en-US"/>
          </a:p>
        </p:txBody>
      </p:sp>
    </p:spTree>
    <p:extLst>
      <p:ext uri="{BB962C8B-B14F-4D97-AF65-F5344CB8AC3E}">
        <p14:creationId xmlns:p14="http://schemas.microsoft.com/office/powerpoint/2010/main" val="1170364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E95886-68D2-4555-BBC9-A8BAADC232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84D612-3C3B-4911-ADAA-1CB7F1E6C2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53803C-B2B2-4584-96F4-3EDA0A1C4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C782E8-583B-4C73-8AAB-C770984AA5BC}" type="datetimeFigureOut">
              <a:rPr lang="en-US" smtClean="0"/>
              <a:t>4/13/26</a:t>
            </a:fld>
            <a:endParaRPr lang="en-US"/>
          </a:p>
        </p:txBody>
      </p:sp>
      <p:sp>
        <p:nvSpPr>
          <p:cNvPr id="5" name="Footer Placeholder 4">
            <a:extLst>
              <a:ext uri="{FF2B5EF4-FFF2-40B4-BE49-F238E27FC236}">
                <a16:creationId xmlns:a16="http://schemas.microsoft.com/office/drawing/2014/main" id="{D4D692A3-78D7-46B4-87FD-EC11673CB4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A9B9C2-70A6-40CE-8454-009FCF56E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B4297C-8BDE-41D6-A780-F8CB7D91405A}" type="slidenum">
              <a:rPr lang="en-US" smtClean="0"/>
              <a:t>‹#›</a:t>
            </a:fld>
            <a:endParaRPr lang="en-US"/>
          </a:p>
        </p:txBody>
      </p:sp>
    </p:spTree>
    <p:extLst>
      <p:ext uri="{BB962C8B-B14F-4D97-AF65-F5344CB8AC3E}">
        <p14:creationId xmlns:p14="http://schemas.microsoft.com/office/powerpoint/2010/main" val="1645066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eb.stanford.edu/~jhain/Paper/JASA2010.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eb.stanford.edu/~jhain/Paper/JASA2010.pd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hyperlink" Target="https://a-torgovitsky.github.io/sc.pdf"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nber.org/system/files/working_papers/w21138/w21138.pdf" TargetMode="External"/><Relationship Id="rId2" Type="http://schemas.openxmlformats.org/officeDocument/2006/relationships/hyperlink" Target="http://mitsloan.mit.edu/shared/ods/documents?PublicationDocumentID=5656" TargetMode="External"/><Relationship Id="rId1" Type="http://schemas.openxmlformats.org/officeDocument/2006/relationships/slideLayout" Target="../slideLayouts/slideLayout2.xml"/><Relationship Id="rId4" Type="http://schemas.openxmlformats.org/officeDocument/2006/relationships/hyperlink" Target="https://www.nber.org/system/files/working_papers/w28275/w28275.pdf"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sciencedirect.com/science/article/pii/S0304407607001133"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724B5-9EB0-43B5-93EF-DB0028379567}"/>
              </a:ext>
            </a:extLst>
          </p:cNvPr>
          <p:cNvSpPr>
            <a:spLocks noGrp="1"/>
          </p:cNvSpPr>
          <p:nvPr>
            <p:ph type="ctrTitle"/>
          </p:nvPr>
        </p:nvSpPr>
        <p:spPr/>
        <p:txBody>
          <a:bodyPr>
            <a:normAutofit/>
          </a:bodyPr>
          <a:lstStyle/>
          <a:p>
            <a:r>
              <a:rPr lang="en-US" dirty="0"/>
              <a:t>Econometrics Review:</a:t>
            </a:r>
            <a:br>
              <a:rPr lang="en-US" dirty="0"/>
            </a:br>
            <a:r>
              <a:rPr lang="en-US" dirty="0"/>
              <a:t>PHS 2000B</a:t>
            </a:r>
          </a:p>
        </p:txBody>
      </p:sp>
      <p:sp>
        <p:nvSpPr>
          <p:cNvPr id="3" name="Subtitle 2">
            <a:extLst>
              <a:ext uri="{FF2B5EF4-FFF2-40B4-BE49-F238E27FC236}">
                <a16:creationId xmlns:a16="http://schemas.microsoft.com/office/drawing/2014/main" id="{6A44B2B9-33CC-4A29-A091-9B6A4AA6ED06}"/>
              </a:ext>
            </a:extLst>
          </p:cNvPr>
          <p:cNvSpPr>
            <a:spLocks noGrp="1"/>
          </p:cNvSpPr>
          <p:nvPr>
            <p:ph type="subTitle" idx="1"/>
          </p:nvPr>
        </p:nvSpPr>
        <p:spPr/>
        <p:txBody>
          <a:bodyPr>
            <a:normAutofit/>
          </a:bodyPr>
          <a:lstStyle/>
          <a:p>
            <a:r>
              <a:rPr lang="en-US" dirty="0"/>
              <a:t>Maggie McConnell</a:t>
            </a:r>
          </a:p>
          <a:p>
            <a:r>
              <a:rPr lang="en-US" dirty="0"/>
              <a:t>Spring 2025</a:t>
            </a:r>
          </a:p>
          <a:p>
            <a:r>
              <a:rPr lang="en-US" dirty="0"/>
              <a:t>Harvard T. H. Chan School of Public Health</a:t>
            </a:r>
          </a:p>
        </p:txBody>
      </p:sp>
    </p:spTree>
    <p:extLst>
      <p:ext uri="{BB962C8B-B14F-4D97-AF65-F5344CB8AC3E}">
        <p14:creationId xmlns:p14="http://schemas.microsoft.com/office/powerpoint/2010/main" val="2417494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CFE87-3E5A-4E40-8C2D-C36782377A20}"/>
              </a:ext>
            </a:extLst>
          </p:cNvPr>
          <p:cNvSpPr>
            <a:spLocks noGrp="1"/>
          </p:cNvSpPr>
          <p:nvPr>
            <p:ph type="title"/>
          </p:nvPr>
        </p:nvSpPr>
        <p:spPr/>
        <p:txBody>
          <a:bodyPr/>
          <a:lstStyle/>
          <a:p>
            <a:r>
              <a:rPr lang="en-US" dirty="0"/>
              <a:t>Plan of presentation</a:t>
            </a:r>
          </a:p>
        </p:txBody>
      </p:sp>
      <p:sp>
        <p:nvSpPr>
          <p:cNvPr id="3" name="Content Placeholder 2">
            <a:extLst>
              <a:ext uri="{FF2B5EF4-FFF2-40B4-BE49-F238E27FC236}">
                <a16:creationId xmlns:a16="http://schemas.microsoft.com/office/drawing/2014/main" id="{A634E706-D99F-461A-82B7-43E3350B7908}"/>
              </a:ext>
            </a:extLst>
          </p:cNvPr>
          <p:cNvSpPr>
            <a:spLocks noGrp="1"/>
          </p:cNvSpPr>
          <p:nvPr>
            <p:ph idx="1"/>
          </p:nvPr>
        </p:nvSpPr>
        <p:spPr>
          <a:xfrm>
            <a:off x="838200" y="1690688"/>
            <a:ext cx="10515600" cy="4486275"/>
          </a:xfrm>
        </p:spPr>
        <p:txBody>
          <a:bodyPr>
            <a:normAutofit fontScale="70000" lnSpcReduction="20000"/>
          </a:bodyPr>
          <a:lstStyle/>
          <a:p>
            <a:pPr marL="514350" indent="-514350">
              <a:buFont typeface="+mj-lt"/>
              <a:buAutoNum type="arabicPeriod"/>
            </a:pPr>
            <a:r>
              <a:rPr lang="en-US" dirty="0"/>
              <a:t>Wrap-up synthetic control</a:t>
            </a:r>
          </a:p>
          <a:p>
            <a:pPr marL="514350" indent="-514350">
              <a:buFont typeface="+mj-lt"/>
              <a:buAutoNum type="arabicPeriod"/>
            </a:pPr>
            <a:endParaRPr lang="en-US" dirty="0"/>
          </a:p>
          <a:p>
            <a:pPr marL="514350" indent="-514350">
              <a:buFont typeface="+mj-lt"/>
              <a:buAutoNum type="arabicPeriod"/>
            </a:pPr>
            <a:r>
              <a:rPr lang="en-US" dirty="0"/>
              <a:t>Recap objectives of econometrics</a:t>
            </a:r>
          </a:p>
          <a:p>
            <a:pPr marL="514350" indent="-514350">
              <a:buFont typeface="+mj-lt"/>
              <a:buAutoNum type="arabicPeriod"/>
            </a:pPr>
            <a:endParaRPr lang="en-US" dirty="0"/>
          </a:p>
          <a:p>
            <a:pPr marL="514350" indent="-514350">
              <a:buFont typeface="+mj-lt"/>
              <a:buAutoNum type="arabicPeriod"/>
            </a:pPr>
            <a:r>
              <a:rPr lang="en-US" dirty="0"/>
              <a:t>Discussion of </a:t>
            </a:r>
            <a:r>
              <a:rPr lang="en-US" dirty="0">
                <a:solidFill>
                  <a:srgbClr val="FF0000"/>
                </a:solidFill>
              </a:rPr>
              <a:t>internal</a:t>
            </a:r>
            <a:r>
              <a:rPr lang="en-US" dirty="0"/>
              <a:t> and </a:t>
            </a:r>
            <a:r>
              <a:rPr lang="en-US" dirty="0">
                <a:solidFill>
                  <a:srgbClr val="FF0000"/>
                </a:solidFill>
              </a:rPr>
              <a:t>external</a:t>
            </a:r>
            <a:r>
              <a:rPr lang="en-US" dirty="0"/>
              <a:t> validity</a:t>
            </a:r>
          </a:p>
          <a:p>
            <a:pPr marL="514350" indent="-514350">
              <a:buFont typeface="+mj-lt"/>
              <a:buAutoNum type="arabicPeriod"/>
            </a:pPr>
            <a:endParaRPr lang="en-US" dirty="0"/>
          </a:p>
          <a:p>
            <a:pPr marL="514350" indent="-514350">
              <a:buFont typeface="+mj-lt"/>
              <a:buAutoNum type="arabicPeriod"/>
            </a:pPr>
            <a:r>
              <a:rPr lang="en-US" dirty="0"/>
              <a:t>Using a method</a:t>
            </a:r>
          </a:p>
          <a:p>
            <a:pPr marL="514350" indent="-514350">
              <a:buFont typeface="+mj-lt"/>
              <a:buAutoNum type="arabicPeriod"/>
            </a:pPr>
            <a:endParaRPr lang="en-US" dirty="0"/>
          </a:p>
          <a:p>
            <a:pPr marL="514350" indent="-514350">
              <a:buFont typeface="+mj-lt"/>
              <a:buAutoNum type="arabicPeriod"/>
            </a:pPr>
            <a:r>
              <a:rPr lang="en-US" dirty="0"/>
              <a:t>Review of Instrumental variables</a:t>
            </a:r>
          </a:p>
          <a:p>
            <a:pPr marL="514350" indent="-514350">
              <a:buFont typeface="+mj-lt"/>
              <a:buAutoNum type="arabicPeriod"/>
            </a:pPr>
            <a:endParaRPr lang="en-US" dirty="0"/>
          </a:p>
          <a:p>
            <a:pPr marL="514350" indent="-514350">
              <a:buFont typeface="+mj-lt"/>
              <a:buAutoNum type="arabicPeriod"/>
            </a:pPr>
            <a:r>
              <a:rPr lang="en-US" dirty="0"/>
              <a:t>Review of Interrupted Time Series</a:t>
            </a:r>
          </a:p>
          <a:p>
            <a:pPr marL="514350" indent="-514350">
              <a:buFont typeface="+mj-lt"/>
              <a:buAutoNum type="arabicPeriod"/>
            </a:pPr>
            <a:endParaRPr lang="en-US" dirty="0"/>
          </a:p>
          <a:p>
            <a:pPr marL="0" indent="0">
              <a:buNone/>
            </a:pPr>
            <a:r>
              <a:rPr lang="en-US" dirty="0"/>
              <a:t>My office hours: Tuesday 1:15pm-1:50pm, Building 1 Room 1217</a:t>
            </a:r>
          </a:p>
          <a:p>
            <a:pPr marL="0" indent="0">
              <a:buNone/>
            </a:pPr>
            <a:endParaRPr lang="en-US" dirty="0"/>
          </a:p>
        </p:txBody>
      </p:sp>
    </p:spTree>
    <p:extLst>
      <p:ext uri="{BB962C8B-B14F-4D97-AF65-F5344CB8AC3E}">
        <p14:creationId xmlns:p14="http://schemas.microsoft.com/office/powerpoint/2010/main" val="1553412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Synthetic control -- Intuition</a:t>
            </a:r>
            <a:br>
              <a:rPr lang="en-US" dirty="0"/>
            </a:br>
            <a:endParaRPr lang="en-US" dirty="0"/>
          </a:p>
        </p:txBody>
      </p:sp>
      <p:sp>
        <p:nvSpPr>
          <p:cNvPr id="3" name="Content Placeholder 2"/>
          <p:cNvSpPr>
            <a:spLocks noGrp="1"/>
          </p:cNvSpPr>
          <p:nvPr>
            <p:ph idx="1"/>
          </p:nvPr>
        </p:nvSpPr>
        <p:spPr>
          <a:xfrm>
            <a:off x="838200" y="1576873"/>
            <a:ext cx="10515600" cy="4600090"/>
          </a:xfrm>
        </p:spPr>
        <p:txBody>
          <a:bodyPr>
            <a:normAutofit fontScale="92500" lnSpcReduction="20000"/>
          </a:bodyPr>
          <a:lstStyle/>
          <a:p>
            <a:r>
              <a:rPr lang="en-US" dirty="0"/>
              <a:t>Intuition – we are trying to find a control group that is similar to treated group in pre-treatment period</a:t>
            </a:r>
          </a:p>
          <a:p>
            <a:pPr lvl="1"/>
            <a:r>
              <a:rPr lang="en-US" dirty="0"/>
              <a:t>Similar covariates that affect the outcome </a:t>
            </a:r>
          </a:p>
          <a:p>
            <a:pPr lvl="1"/>
            <a:r>
              <a:rPr lang="en-US" dirty="0"/>
              <a:t>Similar values of the outcome</a:t>
            </a:r>
          </a:p>
          <a:p>
            <a:pPr lvl="1"/>
            <a:r>
              <a:rPr lang="en-US" dirty="0"/>
              <a:t>Helps with the plausibility of the counterfactual </a:t>
            </a:r>
          </a:p>
          <a:p>
            <a:pPr lvl="2"/>
            <a:r>
              <a:rPr lang="en-US" dirty="0"/>
              <a:t>The treatment group would have followed the path of the control group if it had not been treated in the post-intervention period</a:t>
            </a:r>
          </a:p>
          <a:p>
            <a:pPr lvl="2"/>
            <a:endParaRPr lang="en-US" dirty="0"/>
          </a:p>
          <a:p>
            <a:r>
              <a:rPr lang="en-US" dirty="0"/>
              <a:t>We may try to find this as a naturally occurring phenomena</a:t>
            </a:r>
          </a:p>
          <a:p>
            <a:pPr lvl="1"/>
            <a:r>
              <a:rPr lang="en-US" dirty="0"/>
              <a:t>Sometimes this isn’t possible – especially with just one treatment group and few control options</a:t>
            </a:r>
          </a:p>
          <a:p>
            <a:pPr marL="457200" lvl="1" indent="0">
              <a:buNone/>
            </a:pPr>
            <a:endParaRPr lang="en-US" dirty="0"/>
          </a:p>
          <a:p>
            <a:r>
              <a:rPr lang="en-US" dirty="0"/>
              <a:t>The idea of synthetic control is to “create” this control group using a data driven and transparent process</a:t>
            </a:r>
          </a:p>
          <a:p>
            <a:endParaRPr lang="en-US" dirty="0"/>
          </a:p>
          <a:p>
            <a:pPr lvl="1"/>
            <a:endParaRPr lang="en-US" dirty="0"/>
          </a:p>
        </p:txBody>
      </p:sp>
      <p:sp>
        <p:nvSpPr>
          <p:cNvPr id="4" name="Slide Number Placeholder 3"/>
          <p:cNvSpPr>
            <a:spLocks noGrp="1"/>
          </p:cNvSpPr>
          <p:nvPr>
            <p:ph type="sldNum" sz="quarter" idx="12"/>
          </p:nvPr>
        </p:nvSpPr>
        <p:spPr/>
        <p:txBody>
          <a:bodyPr/>
          <a:lstStyle/>
          <a:p>
            <a:fld id="{4698AAF4-35A4-40F4-A7AE-C8E2C41B9252}" type="slidenum">
              <a:rPr lang="en-US" smtClean="0"/>
              <a:t>3</a:t>
            </a:fld>
            <a:endParaRPr lang="en-US"/>
          </a:p>
        </p:txBody>
      </p:sp>
    </p:spTree>
    <p:extLst>
      <p:ext uri="{BB962C8B-B14F-4D97-AF65-F5344CB8AC3E}">
        <p14:creationId xmlns:p14="http://schemas.microsoft.com/office/powerpoint/2010/main" val="3087905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Synthetic control – How it works</a:t>
            </a:r>
          </a:p>
        </p:txBody>
      </p:sp>
      <p:sp>
        <p:nvSpPr>
          <p:cNvPr id="3" name="Content Placeholder 2"/>
          <p:cNvSpPr>
            <a:spLocks noGrp="1"/>
          </p:cNvSpPr>
          <p:nvPr>
            <p:ph idx="1"/>
          </p:nvPr>
        </p:nvSpPr>
        <p:spPr>
          <a:xfrm>
            <a:off x="838200" y="1576873"/>
            <a:ext cx="10515600" cy="4600090"/>
          </a:xfrm>
        </p:spPr>
        <p:txBody>
          <a:bodyPr>
            <a:normAutofit/>
          </a:bodyPr>
          <a:lstStyle/>
          <a:p>
            <a:r>
              <a:rPr lang="en-US" dirty="0"/>
              <a:t>To create a </a:t>
            </a:r>
            <a:r>
              <a:rPr lang="en-US" i="1" dirty="0"/>
              <a:t>synthetic control</a:t>
            </a:r>
            <a:r>
              <a:rPr lang="en-US" dirty="0"/>
              <a:t> we use weighted average of possible control groups as counterfactual</a:t>
            </a:r>
          </a:p>
          <a:p>
            <a:endParaRPr lang="en-US" dirty="0"/>
          </a:p>
          <a:p>
            <a:r>
              <a:rPr lang="en-US" dirty="0"/>
              <a:t>Choose weights to match outcome and covariates in the treated group during the pre-interventional period   </a:t>
            </a:r>
          </a:p>
          <a:p>
            <a:endParaRPr lang="en-US" dirty="0"/>
          </a:p>
          <a:p>
            <a:r>
              <a:rPr lang="en-US" dirty="0"/>
              <a:t>Counterfactual – treated group would have continued in the same way as the synthetic control in the absence of treatment  </a:t>
            </a:r>
          </a:p>
          <a:p>
            <a:endParaRPr lang="en-US" dirty="0"/>
          </a:p>
        </p:txBody>
      </p:sp>
      <p:sp>
        <p:nvSpPr>
          <p:cNvPr id="4" name="Slide Number Placeholder 3"/>
          <p:cNvSpPr>
            <a:spLocks noGrp="1"/>
          </p:cNvSpPr>
          <p:nvPr>
            <p:ph type="sldNum" sz="quarter" idx="12"/>
          </p:nvPr>
        </p:nvSpPr>
        <p:spPr/>
        <p:txBody>
          <a:bodyPr/>
          <a:lstStyle/>
          <a:p>
            <a:fld id="{4698AAF4-35A4-40F4-A7AE-C8E2C41B9252}" type="slidenum">
              <a:rPr lang="en-US" smtClean="0"/>
              <a:t>4</a:t>
            </a:fld>
            <a:endParaRPr lang="en-US"/>
          </a:p>
        </p:txBody>
      </p:sp>
    </p:spTree>
    <p:extLst>
      <p:ext uri="{BB962C8B-B14F-4D97-AF65-F5344CB8AC3E}">
        <p14:creationId xmlns:p14="http://schemas.microsoft.com/office/powerpoint/2010/main" val="3676384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B9CA4-3974-49E3-AB71-4523A07E64F8}"/>
              </a:ext>
            </a:extLst>
          </p:cNvPr>
          <p:cNvSpPr>
            <a:spLocks noGrp="1"/>
          </p:cNvSpPr>
          <p:nvPr>
            <p:ph type="title"/>
          </p:nvPr>
        </p:nvSpPr>
        <p:spPr/>
        <p:txBody>
          <a:bodyPr/>
          <a:lstStyle/>
          <a:p>
            <a:r>
              <a:rPr lang="en-US" dirty="0"/>
              <a:t>Diff-in-diff – Synthetic control</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B04380C-4505-4DE2-A795-88B662243B1C}"/>
                  </a:ext>
                </a:extLst>
              </p:cNvPr>
              <p:cNvSpPr>
                <a:spLocks noGrp="1"/>
              </p:cNvSpPr>
              <p:nvPr>
                <p:ph idx="1"/>
              </p:nvPr>
            </p:nvSpPr>
            <p:spPr/>
            <p:txBody>
              <a:bodyPr>
                <a:normAutofit fontScale="77500" lnSpcReduction="20000"/>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1" i="0" smtClean="0">
                            <a:latin typeface="Cambria Math" panose="02040503050406030204" pitchFamily="18" charset="0"/>
                          </a:rPr>
                          <m:t>𝐗</m:t>
                        </m:r>
                      </m:e>
                      <m:sub>
                        <m:r>
                          <a:rPr lang="en-US" b="0" i="1" smtClean="0">
                            <a:latin typeface="Cambria Math" panose="02040503050406030204" pitchFamily="18" charset="0"/>
                          </a:rPr>
                          <m:t>1</m:t>
                        </m:r>
                      </m:sub>
                    </m:sSub>
                  </m:oMath>
                </a14:m>
                <a:r>
                  <a:rPr lang="en-US" dirty="0"/>
                  <a:t> be a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vector of pre-intervention characteristics for the treated unit </a:t>
                </a:r>
              </a:p>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1" i="0" smtClean="0">
                            <a:latin typeface="Cambria Math" panose="02040503050406030204" pitchFamily="18" charset="0"/>
                          </a:rPr>
                          <m:t>𝐗</m:t>
                        </m:r>
                      </m:e>
                      <m:sub>
                        <m:r>
                          <a:rPr lang="en-US" b="0" i="1" smtClean="0">
                            <a:latin typeface="Cambria Math" panose="02040503050406030204" pitchFamily="18" charset="0"/>
                          </a:rPr>
                          <m:t>0</m:t>
                        </m:r>
                      </m:sub>
                    </m:sSub>
                  </m:oMath>
                </a14:m>
                <a:r>
                  <a:rPr lang="en-US" dirty="0"/>
                  <a:t> be a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𝐽</m:t>
                    </m:r>
                  </m:oMath>
                </a14:m>
                <a:r>
                  <a:rPr lang="en-US" dirty="0"/>
                  <a:t>) matrix of same characteristics for the potential control units</a:t>
                </a:r>
              </a:p>
              <a:p>
                <a:pPr lvl="1"/>
                <a:r>
                  <a:rPr lang="en-US" dirty="0"/>
                  <a:t>Variables in X matrices could include the outcomes we want to analyze!</a:t>
                </a:r>
              </a:p>
              <a:p>
                <a:r>
                  <a:rPr lang="en-US" dirty="0"/>
                  <a:t>Then we choose the vector of weights to minimize differences in the </a:t>
                </a:r>
                <a14:m>
                  <m:oMath xmlns:m="http://schemas.openxmlformats.org/officeDocument/2006/math">
                    <m:r>
                      <a:rPr lang="en-US" b="1">
                        <a:latin typeface="Cambria Math" panose="02040503050406030204" pitchFamily="18" charset="0"/>
                      </a:rPr>
                      <m:t>𝐗</m:t>
                    </m:r>
                  </m:oMath>
                </a14:m>
                <a:r>
                  <a:rPr lang="en-US" dirty="0"/>
                  <a:t> between the treated unit and the synthetic control</a:t>
                </a:r>
              </a:p>
              <a:p>
                <a:r>
                  <a:rPr lang="en-US" dirty="0"/>
                  <a:t>Choose </a:t>
                </a:r>
                <a14:m>
                  <m:oMath xmlns:m="http://schemas.openxmlformats.org/officeDocument/2006/math">
                    <m:sSup>
                      <m:sSupPr>
                        <m:ctrlPr>
                          <a:rPr lang="en-US" b="1" i="1" smtClean="0">
                            <a:latin typeface="Cambria Math" panose="02040503050406030204" pitchFamily="18" charset="0"/>
                          </a:rPr>
                        </m:ctrlPr>
                      </m:sSupPr>
                      <m:e>
                        <m:r>
                          <a:rPr lang="en-US" b="1" i="0" smtClean="0">
                            <a:latin typeface="Cambria Math" panose="02040503050406030204" pitchFamily="18" charset="0"/>
                          </a:rPr>
                          <m:t>𝐖</m:t>
                        </m:r>
                      </m:e>
                      <m:sup>
                        <m:r>
                          <a:rPr lang="en-US" b="1" i="0" smtClean="0">
                            <a:latin typeface="Cambria Math" panose="02040503050406030204" pitchFamily="18" charset="0"/>
                          </a:rPr>
                          <m:t>∗</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𝐽</m:t>
                            </m:r>
                            <m:r>
                              <a:rPr lang="en-US" b="0" i="1" smtClean="0">
                                <a:latin typeface="Cambria Math" panose="02040503050406030204" pitchFamily="18" charset="0"/>
                              </a:rPr>
                              <m:t>+1</m:t>
                            </m:r>
                          </m:sub>
                          <m:sup>
                            <m:r>
                              <a:rPr lang="en-US" b="0" i="1" smtClean="0">
                                <a:latin typeface="Cambria Math" panose="02040503050406030204" pitchFamily="18" charset="0"/>
                              </a:rPr>
                              <m:t>∗</m:t>
                            </m:r>
                          </m:sup>
                        </m:sSubSup>
                      </m:e>
                    </m:d>
                  </m:oMath>
                </a14:m>
                <a:r>
                  <a:rPr lang="en-US" dirty="0"/>
                  <a:t> to minimize some general measure of “distance” between treatment and synthetic control covariates</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0" smtClean="0">
                                  <a:latin typeface="Cambria Math" panose="02040503050406030204" pitchFamily="18" charset="0"/>
                                </a:rPr>
                                <m:t>𝐗</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0" smtClean="0">
                                  <a:latin typeface="Cambria Math" panose="02040503050406030204" pitchFamily="18" charset="0"/>
                                </a:rPr>
                                <m:t>𝐗</m:t>
                              </m:r>
                            </m:e>
                            <m:sub>
                              <m:r>
                                <a:rPr lang="en-US" b="0" i="0" smtClean="0">
                                  <a:latin typeface="Cambria Math" panose="02040503050406030204" pitchFamily="18" charset="0"/>
                                </a:rPr>
                                <m:t>0</m:t>
                              </m:r>
                            </m:sub>
                          </m:sSub>
                          <m:r>
                            <a:rPr lang="en-US" b="1" i="0" smtClean="0">
                              <a:latin typeface="Cambria Math" panose="02040503050406030204" pitchFamily="18" charset="0"/>
                            </a:rPr>
                            <m:t>𝐖</m:t>
                          </m:r>
                        </m:e>
                      </m:d>
                    </m:oMath>
                  </m:oMathPara>
                </a14:m>
                <a:endParaRPr lang="en-US" dirty="0"/>
              </a:p>
              <a:p>
                <a:pPr lvl="1"/>
                <a:r>
                  <a:rPr lang="en-US" dirty="0"/>
                  <a:t>Usually by minimizing mean squared prediction error</a:t>
                </a:r>
              </a:p>
              <a:p>
                <a:pPr>
                  <a:spcBef>
                    <a:spcPts val="0"/>
                  </a:spcBef>
                  <a:spcAft>
                    <a:spcPts val="600"/>
                  </a:spcAft>
                </a:pPr>
                <a:endParaRPr lang="en-US" dirty="0"/>
              </a:p>
              <a:p>
                <a:pPr>
                  <a:spcBef>
                    <a:spcPts val="0"/>
                  </a:spcBef>
                  <a:spcAft>
                    <a:spcPts val="600"/>
                  </a:spcAft>
                </a:pPr>
                <a:r>
                  <a:rPr lang="en-US" dirty="0"/>
                  <a:t>Then estimate the causal effect of the treatment in time </a:t>
                </a:r>
                <a14:m>
                  <m:oMath xmlns:m="http://schemas.openxmlformats.org/officeDocument/2006/math">
                    <m:r>
                      <a:rPr lang="en-US" b="0" i="1" smtClean="0">
                        <a:latin typeface="Cambria Math" panose="02040503050406030204" pitchFamily="18" charset="0"/>
                      </a:rPr>
                      <m:t>𝑡</m:t>
                    </m:r>
                  </m:oMath>
                </a14:m>
                <a:r>
                  <a:rPr lang="en-US" dirty="0"/>
                  <a:t> as</a:t>
                </a:r>
              </a:p>
              <a:p>
                <a:pPr marL="0" indent="0">
                  <a:spcBef>
                    <a:spcPts val="0"/>
                  </a:spcBef>
                  <a:spcAft>
                    <a:spcPts val="600"/>
                  </a:spcAft>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𝛼</m:t>
                              </m:r>
                            </m:e>
                          </m:acc>
                        </m:e>
                        <m:sub>
                          <m:r>
                            <a:rPr lang="en-US" b="0" i="1" dirty="0" smtClean="0">
                              <a:latin typeface="Cambria Math" panose="02040503050406030204" pitchFamily="18" charset="0"/>
                            </a:rPr>
                            <m:t>1</m:t>
                          </m:r>
                          <m:r>
                            <a:rPr lang="en-US" b="0" i="1" dirty="0" smtClean="0">
                              <a:latin typeface="Cambria Math" panose="02040503050406030204" pitchFamily="18" charset="0"/>
                            </a:rPr>
                            <m:t>𝑡</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𝑌</m:t>
                          </m:r>
                        </m:e>
                        <m:sub>
                          <m:r>
                            <a:rPr lang="en-US" b="0" i="1" dirty="0" smtClean="0">
                              <a:latin typeface="Cambria Math" panose="02040503050406030204" pitchFamily="18" charset="0"/>
                            </a:rPr>
                            <m:t>1</m:t>
                          </m:r>
                          <m:r>
                            <a:rPr lang="en-US" b="0" i="1" dirty="0" smtClean="0">
                              <a:latin typeface="Cambria Math" panose="02040503050406030204" pitchFamily="18" charset="0"/>
                            </a:rPr>
                            <m:t>𝑡</m:t>
                          </m:r>
                        </m:sub>
                      </m:sSub>
                      <m:r>
                        <a:rPr lang="en-US" b="0" i="1" dirty="0" smtClean="0">
                          <a:latin typeface="Cambria Math" panose="02040503050406030204" pitchFamily="18" charset="0"/>
                        </a:rPr>
                        <m:t>−</m:t>
                      </m:r>
                      <m:nary>
                        <m:naryPr>
                          <m:chr m:val="∑"/>
                          <m:ctrlPr>
                            <a:rPr lang="en-US" b="0" i="1" dirty="0" smtClean="0">
                              <a:latin typeface="Cambria Math" panose="02040503050406030204" pitchFamily="18" charset="0"/>
                            </a:rPr>
                          </m:ctrlPr>
                        </m:naryPr>
                        <m:sub>
                          <m:r>
                            <m:rPr>
                              <m:brk m:alnAt="23"/>
                            </m:rPr>
                            <a:rPr lang="en-US" b="0" i="1" dirty="0" smtClean="0">
                              <a:latin typeface="Cambria Math" panose="02040503050406030204" pitchFamily="18" charset="0"/>
                            </a:rPr>
                            <m:t>𝑖</m:t>
                          </m:r>
                          <m:r>
                            <a:rPr lang="en-US" b="0" i="1" dirty="0" smtClean="0">
                              <a:latin typeface="Cambria Math" panose="02040503050406030204" pitchFamily="18" charset="0"/>
                            </a:rPr>
                            <m:t>=2</m:t>
                          </m:r>
                        </m:sub>
                        <m:sup>
                          <m:r>
                            <a:rPr lang="en-US" b="0" i="1" dirty="0" smtClean="0">
                              <a:latin typeface="Cambria Math" panose="02040503050406030204" pitchFamily="18" charset="0"/>
                            </a:rPr>
                            <m:t>𝐽</m:t>
                          </m:r>
                          <m:r>
                            <a:rPr lang="en-US" b="0" i="1" dirty="0" smtClean="0">
                              <a:latin typeface="Cambria Math" panose="02040503050406030204" pitchFamily="18" charset="0"/>
                            </a:rPr>
                            <m:t>+1</m:t>
                          </m:r>
                        </m:sup>
                        <m:e>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𝑤</m:t>
                              </m:r>
                            </m:e>
                            <m:sub>
                              <m:r>
                                <a:rPr lang="en-US" b="0" i="1" dirty="0" smtClean="0">
                                  <a:latin typeface="Cambria Math" panose="02040503050406030204" pitchFamily="18" charset="0"/>
                                </a:rPr>
                                <m:t>𝑖</m:t>
                              </m:r>
                            </m:sub>
                            <m:sup>
                              <m:r>
                                <a:rPr lang="en-US" b="0" i="1" dirty="0" smtClean="0">
                                  <a:latin typeface="Cambria Math" panose="02040503050406030204" pitchFamily="18" charset="0"/>
                                </a:rPr>
                                <m:t>∗</m:t>
                              </m:r>
                            </m:sup>
                          </m:sSubSup>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𝑌</m:t>
                              </m:r>
                            </m:e>
                            <m:sub>
                              <m:r>
                                <a:rPr lang="en-US" b="0" i="1" dirty="0" smtClean="0">
                                  <a:latin typeface="Cambria Math" panose="02040503050406030204" pitchFamily="18" charset="0"/>
                                </a:rPr>
                                <m:t>𝑖𝑡</m:t>
                              </m:r>
                            </m:sub>
                          </m:sSub>
                        </m:e>
                      </m:nary>
                    </m:oMath>
                  </m:oMathPara>
                </a14:m>
                <a:endParaRPr lang="en-US" dirty="0"/>
              </a:p>
            </p:txBody>
          </p:sp>
        </mc:Choice>
        <mc:Fallback xmlns="">
          <p:sp>
            <p:nvSpPr>
              <p:cNvPr id="4" name="Content Placeholder 3">
                <a:extLst>
                  <a:ext uri="{FF2B5EF4-FFF2-40B4-BE49-F238E27FC236}">
                    <a16:creationId xmlns:a16="http://schemas.microsoft.com/office/drawing/2014/main" id="{2B04380C-4505-4DE2-A795-88B662243B1C}"/>
                  </a:ext>
                </a:extLst>
              </p:cNvPr>
              <p:cNvSpPr>
                <a:spLocks noGrp="1" noRot="1" noChangeAspect="1" noMove="1" noResize="1" noEditPoints="1" noAdjustHandles="1" noChangeArrowheads="1" noChangeShapeType="1" noTextEdit="1"/>
              </p:cNvSpPr>
              <p:nvPr>
                <p:ph idx="1"/>
              </p:nvPr>
            </p:nvSpPr>
            <p:spPr>
              <a:blipFill>
                <a:blip r:embed="rId3"/>
                <a:stretch>
                  <a:fillRect l="-724" t="-2907" b="-35465"/>
                </a:stretch>
              </a:blipFill>
            </p:spPr>
            <p:txBody>
              <a:bodyPr/>
              <a:lstStyle/>
              <a:p>
                <a:r>
                  <a:rPr lang="en-US">
                    <a:noFill/>
                  </a:rPr>
                  <a:t> </a:t>
                </a:r>
              </a:p>
            </p:txBody>
          </p:sp>
        </mc:Fallback>
      </mc:AlternateContent>
    </p:spTree>
    <p:extLst>
      <p:ext uri="{BB962C8B-B14F-4D97-AF65-F5344CB8AC3E}">
        <p14:creationId xmlns:p14="http://schemas.microsoft.com/office/powerpoint/2010/main" val="385437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Overfitting and Validation</a:t>
            </a:r>
          </a:p>
        </p:txBody>
      </p:sp>
      <p:sp>
        <p:nvSpPr>
          <p:cNvPr id="3" name="Content Placeholder 2"/>
          <p:cNvSpPr>
            <a:spLocks noGrp="1"/>
          </p:cNvSpPr>
          <p:nvPr>
            <p:ph idx="1"/>
          </p:nvPr>
        </p:nvSpPr>
        <p:spPr>
          <a:xfrm>
            <a:off x="838200" y="1483567"/>
            <a:ext cx="10515600" cy="4693396"/>
          </a:xfrm>
        </p:spPr>
        <p:txBody>
          <a:bodyPr>
            <a:normAutofit lnSpcReduction="10000"/>
          </a:bodyPr>
          <a:lstStyle/>
          <a:p>
            <a:r>
              <a:rPr lang="en-US" dirty="0"/>
              <a:t>Model may be over fit – it performs very well in the pretreatment period due to chance </a:t>
            </a:r>
          </a:p>
          <a:p>
            <a:pPr lvl="1"/>
            <a:r>
              <a:rPr lang="en-US" dirty="0"/>
              <a:t>Particularly true if there are a lot of potential control groups and pretreatment time period is short </a:t>
            </a:r>
          </a:p>
          <a:p>
            <a:pPr lvl="1"/>
            <a:r>
              <a:rPr lang="en-US" dirty="0"/>
              <a:t>May bias results </a:t>
            </a:r>
          </a:p>
          <a:p>
            <a:r>
              <a:rPr lang="en-US" dirty="0"/>
              <a:t>Some strategies to address </a:t>
            </a:r>
          </a:p>
          <a:p>
            <a:pPr lvl="1"/>
            <a:r>
              <a:rPr lang="en-US" dirty="0"/>
              <a:t>Only fit model in training period subsample of the full pre-intervention period</a:t>
            </a:r>
          </a:p>
          <a:p>
            <a:pPr lvl="1"/>
            <a:r>
              <a:rPr lang="en-US" dirty="0"/>
              <a:t>Validate the fitted model by using it to predict outcomes in the data held back from fitting.</a:t>
            </a:r>
          </a:p>
          <a:p>
            <a:pPr lvl="1"/>
            <a:r>
              <a:rPr lang="en-US" dirty="0"/>
              <a:t>Use weights that preform well in both fit in training period and out of sample validation </a:t>
            </a:r>
          </a:p>
          <a:p>
            <a:pPr lvl="1"/>
            <a:r>
              <a:rPr lang="en-US" dirty="0"/>
              <a:t>Similar approach to machine learning approaches (i.e. causal forests)</a:t>
            </a:r>
          </a:p>
          <a:p>
            <a:pPr lvl="1"/>
            <a:endParaRPr lang="en-US" dirty="0"/>
          </a:p>
          <a:p>
            <a:endParaRPr lang="en-US" dirty="0"/>
          </a:p>
        </p:txBody>
      </p:sp>
      <p:sp>
        <p:nvSpPr>
          <p:cNvPr id="4" name="Slide Number Placeholder 3"/>
          <p:cNvSpPr>
            <a:spLocks noGrp="1"/>
          </p:cNvSpPr>
          <p:nvPr>
            <p:ph type="sldNum" sz="quarter" idx="12"/>
          </p:nvPr>
        </p:nvSpPr>
        <p:spPr/>
        <p:txBody>
          <a:bodyPr/>
          <a:lstStyle/>
          <a:p>
            <a:fld id="{4698AAF4-35A4-40F4-A7AE-C8E2C41B9252}" type="slidenum">
              <a:rPr lang="en-US" smtClean="0"/>
              <a:t>6</a:t>
            </a:fld>
            <a:endParaRPr lang="en-US"/>
          </a:p>
        </p:txBody>
      </p:sp>
    </p:spTree>
    <p:extLst>
      <p:ext uri="{BB962C8B-B14F-4D97-AF65-F5344CB8AC3E}">
        <p14:creationId xmlns:p14="http://schemas.microsoft.com/office/powerpoint/2010/main" val="1665041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Hypothesis testing</a:t>
            </a:r>
          </a:p>
        </p:txBody>
      </p:sp>
      <p:sp>
        <p:nvSpPr>
          <p:cNvPr id="3" name="Content Placeholder 2"/>
          <p:cNvSpPr>
            <a:spLocks noGrp="1"/>
          </p:cNvSpPr>
          <p:nvPr>
            <p:ph idx="1"/>
          </p:nvPr>
        </p:nvSpPr>
        <p:spPr/>
        <p:txBody>
          <a:bodyPr>
            <a:normAutofit lnSpcReduction="10000"/>
          </a:bodyPr>
          <a:lstStyle/>
          <a:p>
            <a:r>
              <a:rPr lang="en-US" dirty="0"/>
              <a:t>How likely is it we see the gap between treated group and synthetic control due to chance ?</a:t>
            </a:r>
          </a:p>
          <a:p>
            <a:r>
              <a:rPr lang="en-US" dirty="0"/>
              <a:t>Placebo approach – time dimension and space dimension </a:t>
            </a:r>
          </a:p>
          <a:p>
            <a:pPr lvl="1"/>
            <a:r>
              <a:rPr lang="en-US" dirty="0"/>
              <a:t>Try setting different random placebo “intervention” groups and times in control units</a:t>
            </a:r>
          </a:p>
          <a:p>
            <a:pPr lvl="1"/>
            <a:r>
              <a:rPr lang="en-US" dirty="0"/>
              <a:t>Estimate the “effect” of these fake intervention by creating synthetic controls form them from the other control groups. </a:t>
            </a:r>
          </a:p>
          <a:p>
            <a:pPr lvl="1"/>
            <a:r>
              <a:rPr lang="en-US" dirty="0"/>
              <a:t>Under assumption of no effect of the placebo “interventions” we get a distribution of observed “effects” under the null of no effect</a:t>
            </a:r>
          </a:p>
          <a:p>
            <a:r>
              <a:rPr lang="en-US" dirty="0"/>
              <a:t>Reject the null of no effect if estimated effect size for the treatment is outside the 95% confidence interval generated by the placebo effect distribution     </a:t>
            </a:r>
          </a:p>
        </p:txBody>
      </p:sp>
      <p:sp>
        <p:nvSpPr>
          <p:cNvPr id="4" name="Slide Number Placeholder 3"/>
          <p:cNvSpPr>
            <a:spLocks noGrp="1"/>
          </p:cNvSpPr>
          <p:nvPr>
            <p:ph type="sldNum" sz="quarter" idx="12"/>
          </p:nvPr>
        </p:nvSpPr>
        <p:spPr/>
        <p:txBody>
          <a:bodyPr/>
          <a:lstStyle/>
          <a:p>
            <a:fld id="{4698AAF4-35A4-40F4-A7AE-C8E2C41B9252}" type="slidenum">
              <a:rPr lang="en-US" smtClean="0"/>
              <a:t>7</a:t>
            </a:fld>
            <a:endParaRPr lang="en-US"/>
          </a:p>
        </p:txBody>
      </p:sp>
    </p:spTree>
    <p:extLst>
      <p:ext uri="{BB962C8B-B14F-4D97-AF65-F5344CB8AC3E}">
        <p14:creationId xmlns:p14="http://schemas.microsoft.com/office/powerpoint/2010/main" val="220624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Assumptions for Synthetic control methods </a:t>
            </a:r>
          </a:p>
        </p:txBody>
      </p:sp>
      <p:sp>
        <p:nvSpPr>
          <p:cNvPr id="3" name="Content Placeholder 2"/>
          <p:cNvSpPr>
            <a:spLocks noGrp="1"/>
          </p:cNvSpPr>
          <p:nvPr>
            <p:ph idx="1"/>
          </p:nvPr>
        </p:nvSpPr>
        <p:spPr>
          <a:xfrm>
            <a:off x="838200" y="1825625"/>
            <a:ext cx="10515600" cy="4895850"/>
          </a:xfrm>
        </p:spPr>
        <p:txBody>
          <a:bodyPr>
            <a:normAutofit/>
          </a:bodyPr>
          <a:lstStyle/>
          <a:p>
            <a:r>
              <a:rPr lang="en-US" dirty="0"/>
              <a:t>Availability of donor groups to construct controls. Similar to treatment group – driven by similar shocks</a:t>
            </a:r>
          </a:p>
          <a:p>
            <a:pPr lvl="1"/>
            <a:r>
              <a:rPr lang="en-US" dirty="0"/>
              <a:t>But did </a:t>
            </a:r>
            <a:r>
              <a:rPr lang="en-US" b="1" dirty="0"/>
              <a:t>not</a:t>
            </a:r>
            <a:r>
              <a:rPr lang="en-US" dirty="0"/>
              <a:t> get the treatment</a:t>
            </a:r>
          </a:p>
          <a:p>
            <a:pPr lvl="1"/>
            <a:r>
              <a:rPr lang="en-US" dirty="0"/>
              <a:t>Did not get large idiosyncratic shocks in the post-intervention period that did not affect the treatment group </a:t>
            </a:r>
          </a:p>
          <a:p>
            <a:r>
              <a:rPr lang="en-US" dirty="0"/>
              <a:t>Synthetic control matches actual outcome data closely in the pre-intervention period – testable</a:t>
            </a:r>
          </a:p>
          <a:p>
            <a:r>
              <a:rPr lang="en-US" dirty="0"/>
              <a:t>Size of the effect is large relative to noise </a:t>
            </a:r>
          </a:p>
          <a:p>
            <a:r>
              <a:rPr lang="en-US" dirty="0"/>
              <a:t>No anticipation of treatment </a:t>
            </a:r>
          </a:p>
          <a:p>
            <a:r>
              <a:rPr lang="en-US" dirty="0"/>
              <a:t>No spillovers of treatment effect between groups  </a:t>
            </a:r>
          </a:p>
        </p:txBody>
      </p:sp>
      <p:sp>
        <p:nvSpPr>
          <p:cNvPr id="4" name="Slide Number Placeholder 3"/>
          <p:cNvSpPr>
            <a:spLocks noGrp="1"/>
          </p:cNvSpPr>
          <p:nvPr>
            <p:ph type="sldNum" sz="quarter" idx="12"/>
          </p:nvPr>
        </p:nvSpPr>
        <p:spPr/>
        <p:txBody>
          <a:bodyPr/>
          <a:lstStyle/>
          <a:p>
            <a:fld id="{4698AAF4-35A4-40F4-A7AE-C8E2C41B9252}" type="slidenum">
              <a:rPr lang="en-US" smtClean="0"/>
              <a:t>8</a:t>
            </a:fld>
            <a:endParaRPr lang="en-US"/>
          </a:p>
        </p:txBody>
      </p:sp>
    </p:spTree>
    <p:extLst>
      <p:ext uri="{BB962C8B-B14F-4D97-AF65-F5344CB8AC3E}">
        <p14:creationId xmlns:p14="http://schemas.microsoft.com/office/powerpoint/2010/main" val="2962471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B9CA4-3974-49E3-AB71-4523A07E64F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AF911821-0CF6-4C46-836F-44C51111A608}"/>
              </a:ext>
            </a:extLst>
          </p:cNvPr>
          <p:cNvSpPr>
            <a:spLocks noGrp="1"/>
          </p:cNvSpPr>
          <p:nvPr>
            <p:ph idx="1"/>
          </p:nvPr>
        </p:nvSpPr>
        <p:spPr/>
        <p:txBody>
          <a:bodyPr>
            <a:normAutofit fontScale="92500" lnSpcReduction="10000"/>
          </a:bodyPr>
          <a:lstStyle/>
          <a:p>
            <a:r>
              <a:rPr lang="en-US" dirty="0"/>
              <a:t>Research question: What was the effect of California’s Proposition 99 on cigarette sales?</a:t>
            </a:r>
          </a:p>
          <a:p>
            <a:pPr lvl="1"/>
            <a:r>
              <a:rPr lang="en-US" dirty="0"/>
              <a:t>Increased cigarette tax by 25 cents/pack</a:t>
            </a:r>
          </a:p>
          <a:p>
            <a:pPr lvl="1"/>
            <a:r>
              <a:rPr lang="en-US" dirty="0"/>
              <a:t>Tax revenues earmarked for anti-smoking education</a:t>
            </a:r>
          </a:p>
          <a:p>
            <a:pPr lvl="1"/>
            <a:r>
              <a:rPr lang="en-US" dirty="0"/>
              <a:t>Funded anti-smoking media campaigns</a:t>
            </a:r>
          </a:p>
          <a:p>
            <a:pPr lvl="1"/>
            <a:r>
              <a:rPr lang="en-US" dirty="0"/>
              <a:t>Clean indoor-air ordinances</a:t>
            </a:r>
          </a:p>
          <a:p>
            <a:pPr lvl="1"/>
            <a:r>
              <a:rPr lang="en-US" dirty="0"/>
              <a:t>Passed in 1988</a:t>
            </a:r>
          </a:p>
          <a:p>
            <a:r>
              <a:rPr lang="en-US" dirty="0"/>
              <a:t>Policy passed in only one state</a:t>
            </a:r>
          </a:p>
          <a:p>
            <a:pPr lvl="1"/>
            <a:r>
              <a:rPr lang="en-US" dirty="0">
                <a:solidFill>
                  <a:srgbClr val="FF0000"/>
                </a:solidFill>
              </a:rPr>
              <a:t>Are there any states that make good “controls” for California?</a:t>
            </a:r>
          </a:p>
          <a:p>
            <a:pPr lvl="1"/>
            <a:endParaRPr lang="en-US" dirty="0"/>
          </a:p>
          <a:p>
            <a:r>
              <a:rPr lang="en-US" dirty="0"/>
              <a:t>Synthetic Control Methods for Comparative Case Studies: </a:t>
            </a:r>
            <a:r>
              <a:rPr lang="en-US" dirty="0">
                <a:hlinkClick r:id="rId3"/>
              </a:rPr>
              <a:t>Estimating the Effect of California’s Tobacco Control Program</a:t>
            </a:r>
            <a:r>
              <a:rPr lang="en-US" dirty="0"/>
              <a:t> (Abadie et al 2010)</a:t>
            </a:r>
          </a:p>
        </p:txBody>
      </p:sp>
    </p:spTree>
    <p:extLst>
      <p:ext uri="{BB962C8B-B14F-4D97-AF65-F5344CB8AC3E}">
        <p14:creationId xmlns:p14="http://schemas.microsoft.com/office/powerpoint/2010/main" val="2998095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B9CA4-3974-49E3-AB71-4523A07E64F8}"/>
              </a:ext>
            </a:extLst>
          </p:cNvPr>
          <p:cNvSpPr>
            <a:spLocks noGrp="1"/>
          </p:cNvSpPr>
          <p:nvPr>
            <p:ph type="title"/>
          </p:nvPr>
        </p:nvSpPr>
        <p:spPr/>
        <p:txBody>
          <a:bodyPr/>
          <a:lstStyle/>
          <a:p>
            <a:r>
              <a:rPr lang="en-US" dirty="0"/>
              <a:t>Synthetic Control Example</a:t>
            </a:r>
          </a:p>
        </p:txBody>
      </p:sp>
      <p:sp>
        <p:nvSpPr>
          <p:cNvPr id="3" name="Content Placeholder 2">
            <a:extLst>
              <a:ext uri="{FF2B5EF4-FFF2-40B4-BE49-F238E27FC236}">
                <a16:creationId xmlns:a16="http://schemas.microsoft.com/office/drawing/2014/main" id="{451DAAC8-2474-4795-B3B5-6F2A73CA8D63}"/>
              </a:ext>
            </a:extLst>
          </p:cNvPr>
          <p:cNvSpPr>
            <a:spLocks noGrp="1"/>
          </p:cNvSpPr>
          <p:nvPr>
            <p:ph idx="1"/>
          </p:nvPr>
        </p:nvSpPr>
        <p:spPr>
          <a:xfrm>
            <a:off x="444500" y="1943100"/>
            <a:ext cx="4940300" cy="4686300"/>
          </a:xfrm>
        </p:spPr>
        <p:txBody>
          <a:bodyPr>
            <a:normAutofit fontScale="85000" lnSpcReduction="10000"/>
          </a:bodyPr>
          <a:lstStyle/>
          <a:p>
            <a:r>
              <a:rPr lang="en-US" i="1" dirty="0"/>
              <a:t>Step 1</a:t>
            </a:r>
            <a:r>
              <a:rPr lang="en-US" dirty="0"/>
              <a:t>: Throw out 11 other states that passed similar tobacco control legislation (contaminates control)</a:t>
            </a:r>
          </a:p>
          <a:p>
            <a:r>
              <a:rPr lang="en-US" i="1" dirty="0"/>
              <a:t>Step 2</a:t>
            </a:r>
            <a:r>
              <a:rPr lang="en-US" dirty="0"/>
              <a:t>: Decide which covariates predict post-period outcomes and should be used for determining synth control weights (minimize MSPE)</a:t>
            </a:r>
          </a:p>
          <a:p>
            <a:r>
              <a:rPr lang="en-US" dirty="0"/>
              <a:t>Step 3: Look at the weights assigned by the MSPE minimization</a:t>
            </a:r>
          </a:p>
          <a:p>
            <a:pPr lvl="1"/>
            <a:r>
              <a:rPr lang="en-US" dirty="0"/>
              <a:t>Are they “reasonable”? What might you consider reasonable?</a:t>
            </a:r>
          </a:p>
          <a:p>
            <a:pPr lvl="1"/>
            <a:r>
              <a:rPr lang="en-US" dirty="0"/>
              <a:t>If not, might reconsider whether you’re using the right variables to construct weights</a:t>
            </a:r>
          </a:p>
          <a:p>
            <a:endParaRPr lang="en-US" dirty="0"/>
          </a:p>
        </p:txBody>
      </p:sp>
      <p:pic>
        <p:nvPicPr>
          <p:cNvPr id="6" name="Picture 5" descr="A screenshot of a cell phone&#10;&#10;Description automatically generated">
            <a:extLst>
              <a:ext uri="{FF2B5EF4-FFF2-40B4-BE49-F238E27FC236}">
                <a16:creationId xmlns:a16="http://schemas.microsoft.com/office/drawing/2014/main" id="{BED84EB9-CE49-42B1-B0E9-4EEB68D06E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4800" y="1943100"/>
            <a:ext cx="5676900" cy="3648539"/>
          </a:xfrm>
          <a:prstGeom prst="rect">
            <a:avLst/>
          </a:prstGeom>
        </p:spPr>
      </p:pic>
    </p:spTree>
    <p:extLst>
      <p:ext uri="{BB962C8B-B14F-4D97-AF65-F5344CB8AC3E}">
        <p14:creationId xmlns:p14="http://schemas.microsoft.com/office/powerpoint/2010/main" val="43768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B9CA4-3974-49E3-AB71-4523A07E64F8}"/>
              </a:ext>
            </a:extLst>
          </p:cNvPr>
          <p:cNvSpPr>
            <a:spLocks noGrp="1"/>
          </p:cNvSpPr>
          <p:nvPr>
            <p:ph type="title"/>
          </p:nvPr>
        </p:nvSpPr>
        <p:spPr>
          <a:xfrm>
            <a:off x="838200" y="365125"/>
            <a:ext cx="4483100" cy="1325563"/>
          </a:xfrm>
        </p:spPr>
        <p:txBody>
          <a:bodyPr/>
          <a:lstStyle/>
          <a:p>
            <a:r>
              <a:rPr lang="en-US" dirty="0"/>
              <a:t>Synthetic Control Example</a:t>
            </a:r>
          </a:p>
        </p:txBody>
      </p:sp>
      <p:pic>
        <p:nvPicPr>
          <p:cNvPr id="6" name="Content Placeholder 5" descr="A screenshot of a cell phone&#10;&#10;Description automatically generated">
            <a:extLst>
              <a:ext uri="{FF2B5EF4-FFF2-40B4-BE49-F238E27FC236}">
                <a16:creationId xmlns:a16="http://schemas.microsoft.com/office/drawing/2014/main" id="{C55E42DB-732A-4D95-97B0-D030E60CFD2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210300" y="365125"/>
            <a:ext cx="4826000" cy="5791200"/>
          </a:xfrm>
        </p:spPr>
      </p:pic>
    </p:spTree>
    <p:extLst>
      <p:ext uri="{BB962C8B-B14F-4D97-AF65-F5344CB8AC3E}">
        <p14:creationId xmlns:p14="http://schemas.microsoft.com/office/powerpoint/2010/main" val="233997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B9CA4-3974-49E3-AB71-4523A07E64F8}"/>
              </a:ext>
            </a:extLst>
          </p:cNvPr>
          <p:cNvSpPr>
            <a:spLocks noGrp="1"/>
          </p:cNvSpPr>
          <p:nvPr>
            <p:ph type="title"/>
          </p:nvPr>
        </p:nvSpPr>
        <p:spPr>
          <a:xfrm>
            <a:off x="736600" y="32519"/>
            <a:ext cx="10515600" cy="1325563"/>
          </a:xfrm>
        </p:spPr>
        <p:txBody>
          <a:bodyPr/>
          <a:lstStyle/>
          <a:p>
            <a:r>
              <a:rPr lang="en-US" dirty="0"/>
              <a:t>Synthetic control example</a:t>
            </a:r>
          </a:p>
        </p:txBody>
      </p:sp>
      <p:sp>
        <p:nvSpPr>
          <p:cNvPr id="3" name="Content Placeholder 2">
            <a:extLst>
              <a:ext uri="{FF2B5EF4-FFF2-40B4-BE49-F238E27FC236}">
                <a16:creationId xmlns:a16="http://schemas.microsoft.com/office/drawing/2014/main" id="{2F322A11-68D9-4343-B0B7-32ED823AEA0C}"/>
              </a:ext>
            </a:extLst>
          </p:cNvPr>
          <p:cNvSpPr>
            <a:spLocks noGrp="1"/>
          </p:cNvSpPr>
          <p:nvPr>
            <p:ph idx="1"/>
          </p:nvPr>
        </p:nvSpPr>
        <p:spPr>
          <a:xfrm>
            <a:off x="622300" y="1253331"/>
            <a:ext cx="10515600" cy="4351338"/>
          </a:xfrm>
        </p:spPr>
        <p:txBody>
          <a:bodyPr/>
          <a:lstStyle/>
          <a:p>
            <a:r>
              <a:rPr lang="en-US" dirty="0"/>
              <a:t>Synthetic control uses high-tech methods to get “right” counterfactual but </a:t>
            </a:r>
            <a:r>
              <a:rPr lang="en-US" b="1" dirty="0"/>
              <a:t>you can still make nice visuals</a:t>
            </a:r>
            <a:endParaRPr lang="en-US" dirty="0"/>
          </a:p>
          <a:p>
            <a:endParaRPr lang="en-US" b="1" dirty="0"/>
          </a:p>
        </p:txBody>
      </p:sp>
      <p:pic>
        <p:nvPicPr>
          <p:cNvPr id="5" name="Picture 4" descr="A close up of a map&#10;&#10;Description automatically generated">
            <a:extLst>
              <a:ext uri="{FF2B5EF4-FFF2-40B4-BE49-F238E27FC236}">
                <a16:creationId xmlns:a16="http://schemas.microsoft.com/office/drawing/2014/main" id="{5A152134-7B61-446B-9821-9BAE410C4A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0" y="2552701"/>
            <a:ext cx="9144000" cy="4091805"/>
          </a:xfrm>
          <a:prstGeom prst="rect">
            <a:avLst/>
          </a:prstGeom>
        </p:spPr>
      </p:pic>
    </p:spTree>
    <p:extLst>
      <p:ext uri="{BB962C8B-B14F-4D97-AF65-F5344CB8AC3E}">
        <p14:creationId xmlns:p14="http://schemas.microsoft.com/office/powerpoint/2010/main" val="2823805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B9CA4-3974-49E3-AB71-4523A07E64F8}"/>
              </a:ext>
            </a:extLst>
          </p:cNvPr>
          <p:cNvSpPr>
            <a:spLocks noGrp="1"/>
          </p:cNvSpPr>
          <p:nvPr>
            <p:ph type="title"/>
          </p:nvPr>
        </p:nvSpPr>
        <p:spPr/>
        <p:txBody>
          <a:bodyPr/>
          <a:lstStyle/>
          <a:p>
            <a:r>
              <a:rPr lang="en-US" dirty="0"/>
              <a:t>Synthetic control example – event study</a:t>
            </a:r>
          </a:p>
        </p:txBody>
      </p:sp>
      <p:sp>
        <p:nvSpPr>
          <p:cNvPr id="3" name="Content Placeholder 2">
            <a:extLst>
              <a:ext uri="{FF2B5EF4-FFF2-40B4-BE49-F238E27FC236}">
                <a16:creationId xmlns:a16="http://schemas.microsoft.com/office/drawing/2014/main" id="{2F322A11-68D9-4343-B0B7-32ED823AEA0C}"/>
              </a:ext>
            </a:extLst>
          </p:cNvPr>
          <p:cNvSpPr>
            <a:spLocks noGrp="1"/>
          </p:cNvSpPr>
          <p:nvPr>
            <p:ph idx="1"/>
          </p:nvPr>
        </p:nvSpPr>
        <p:spPr/>
        <p:txBody>
          <a:bodyPr/>
          <a:lstStyle/>
          <a:p>
            <a:pPr marL="0" indent="0">
              <a:buNone/>
            </a:pPr>
            <a:endParaRPr lang="en-US" b="1" dirty="0"/>
          </a:p>
        </p:txBody>
      </p:sp>
      <p:pic>
        <p:nvPicPr>
          <p:cNvPr id="6" name="Picture 5" descr="A screenshot of a cell phone&#10;&#10;Description automatically generated">
            <a:extLst>
              <a:ext uri="{FF2B5EF4-FFF2-40B4-BE49-F238E27FC236}">
                <a16:creationId xmlns:a16="http://schemas.microsoft.com/office/drawing/2014/main" id="{CF8CE5BB-B105-4961-AA9C-B4833A07B3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7044" y="1231900"/>
            <a:ext cx="6843712" cy="5150668"/>
          </a:xfrm>
          <a:prstGeom prst="rect">
            <a:avLst/>
          </a:prstGeom>
        </p:spPr>
      </p:pic>
    </p:spTree>
    <p:extLst>
      <p:ext uri="{BB962C8B-B14F-4D97-AF65-F5344CB8AC3E}">
        <p14:creationId xmlns:p14="http://schemas.microsoft.com/office/powerpoint/2010/main" val="644476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ITS and Synthetic Control example</a:t>
            </a:r>
          </a:p>
        </p:txBody>
      </p:sp>
      <p:sp>
        <p:nvSpPr>
          <p:cNvPr id="3" name="Content Placeholder 2"/>
          <p:cNvSpPr>
            <a:spLocks noGrp="1"/>
          </p:cNvSpPr>
          <p:nvPr>
            <p:ph idx="1"/>
          </p:nvPr>
        </p:nvSpPr>
        <p:spPr/>
        <p:txBody>
          <a:bodyPr>
            <a:normAutofit fontScale="85000" lnSpcReduction="20000"/>
          </a:bodyPr>
          <a:lstStyle/>
          <a:p>
            <a:r>
              <a:rPr lang="en-US" dirty="0"/>
              <a:t>You can also use synthetic control methods within ITS – situations where we might have just one treatment group</a:t>
            </a:r>
          </a:p>
          <a:p>
            <a:endParaRPr lang="en-US" dirty="0"/>
          </a:p>
          <a:p>
            <a:r>
              <a:rPr lang="en-US" dirty="0"/>
              <a:t>Example: Impact of tobacco taxes in South Africa</a:t>
            </a:r>
          </a:p>
          <a:p>
            <a:r>
              <a:rPr lang="en-US" dirty="0"/>
              <a:t>South Africa increased tobacco taxes considerably after 1994.</a:t>
            </a:r>
          </a:p>
          <a:p>
            <a:r>
              <a:rPr lang="en-US" dirty="0"/>
              <a:t>Advertising and smoking bans were implemented in 2001.</a:t>
            </a:r>
          </a:p>
          <a:p>
            <a:r>
              <a:rPr lang="en-US" dirty="0"/>
              <a:t>What was the effect on tobacco consumption?</a:t>
            </a:r>
          </a:p>
          <a:p>
            <a:endParaRPr lang="en-US" dirty="0"/>
          </a:p>
          <a:p>
            <a:r>
              <a:rPr lang="en-US" dirty="0"/>
              <a:t>Counterfactual – synthetic control from similar countries  </a:t>
            </a:r>
          </a:p>
          <a:p>
            <a:r>
              <a:rPr lang="en-US" dirty="0" err="1"/>
              <a:t>Chelwa</a:t>
            </a:r>
            <a:r>
              <a:rPr lang="en-US" dirty="0"/>
              <a:t>, Grieve, </a:t>
            </a:r>
            <a:r>
              <a:rPr lang="en-US" dirty="0" err="1"/>
              <a:t>Corné</a:t>
            </a:r>
            <a:r>
              <a:rPr lang="en-US" dirty="0"/>
              <a:t> van </a:t>
            </a:r>
            <a:r>
              <a:rPr lang="en-US" dirty="0" err="1"/>
              <a:t>Walbeek</a:t>
            </a:r>
            <a:r>
              <a:rPr lang="en-US" dirty="0"/>
              <a:t>, and Evan </a:t>
            </a:r>
            <a:r>
              <a:rPr lang="en-US" dirty="0" err="1"/>
              <a:t>Blecher</a:t>
            </a:r>
            <a:r>
              <a:rPr lang="en-US" dirty="0"/>
              <a:t>. "Evaluating South Africa's tobacco control policy using a synthetic control method." </a:t>
            </a:r>
            <a:r>
              <a:rPr lang="en-US" i="1" dirty="0"/>
              <a:t>Tobacco Control</a:t>
            </a:r>
            <a:r>
              <a:rPr lang="en-US" dirty="0"/>
              <a:t> 26.5 (2017): 509-517.</a:t>
            </a:r>
          </a:p>
        </p:txBody>
      </p:sp>
      <p:sp>
        <p:nvSpPr>
          <p:cNvPr id="4" name="Slide Number Placeholder 3"/>
          <p:cNvSpPr>
            <a:spLocks noGrp="1"/>
          </p:cNvSpPr>
          <p:nvPr>
            <p:ph type="sldNum" sz="quarter" idx="12"/>
          </p:nvPr>
        </p:nvSpPr>
        <p:spPr/>
        <p:txBody>
          <a:bodyPr/>
          <a:lstStyle/>
          <a:p>
            <a:fld id="{4698AAF4-35A4-40F4-A7AE-C8E2C41B9252}" type="slidenum">
              <a:rPr lang="en-US" smtClean="0"/>
              <a:t>14</a:t>
            </a:fld>
            <a:endParaRPr lang="en-US"/>
          </a:p>
        </p:txBody>
      </p:sp>
    </p:spTree>
    <p:extLst>
      <p:ext uri="{BB962C8B-B14F-4D97-AF65-F5344CB8AC3E}">
        <p14:creationId xmlns:p14="http://schemas.microsoft.com/office/powerpoint/2010/main" val="1773902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Synthetic Weights</a:t>
            </a:r>
          </a:p>
        </p:txBody>
      </p:sp>
      <p:sp>
        <p:nvSpPr>
          <p:cNvPr id="5" name="Content Placeholder 4"/>
          <p:cNvSpPr>
            <a:spLocks noGrp="1"/>
          </p:cNvSpPr>
          <p:nvPr>
            <p:ph idx="1"/>
          </p:nvPr>
        </p:nvSpPr>
        <p:spPr>
          <a:xfrm>
            <a:off x="838200" y="1825625"/>
            <a:ext cx="5833188" cy="4351338"/>
          </a:xfrm>
        </p:spPr>
        <p:txBody>
          <a:bodyPr>
            <a:normAutofit fontScale="85000" lnSpcReduction="10000"/>
          </a:bodyPr>
          <a:lstStyle/>
          <a:p>
            <a:r>
              <a:rPr lang="en-US" dirty="0"/>
              <a:t>Donor pool: other low and middle-income countries</a:t>
            </a:r>
          </a:p>
          <a:p>
            <a:pPr lvl="1"/>
            <a:r>
              <a:rPr lang="en-US" dirty="0"/>
              <a:t>Pattern of increasing affordability of cigarettes over the period (price/income per capita)</a:t>
            </a:r>
          </a:p>
          <a:p>
            <a:r>
              <a:rPr lang="en-US" dirty="0"/>
              <a:t>Donor pool excludes Thailand (and South Africa) and any countries with missing data</a:t>
            </a:r>
          </a:p>
          <a:p>
            <a:r>
              <a:rPr lang="en-US" dirty="0"/>
              <a:t>Variables: Per capita cigarette consumption (the outcome variable), real price of cigarettes, per capita real GDP, per capita alcohol consumption and the proportion of adults in the total population.</a:t>
            </a:r>
          </a:p>
          <a:p>
            <a:r>
              <a:rPr lang="en-US" dirty="0"/>
              <a:t>24 control countries  </a:t>
            </a:r>
          </a:p>
          <a:p>
            <a:endParaRPr lang="en-US" dirty="0"/>
          </a:p>
          <a:p>
            <a:endParaRPr lang="en-US" dirty="0"/>
          </a:p>
          <a:p>
            <a:endParaRPr lang="en-US" dirty="0"/>
          </a:p>
        </p:txBody>
      </p:sp>
      <p:sp>
        <p:nvSpPr>
          <p:cNvPr id="2" name="Slide Number Placeholder 1"/>
          <p:cNvSpPr>
            <a:spLocks noGrp="1"/>
          </p:cNvSpPr>
          <p:nvPr>
            <p:ph type="sldNum" sz="quarter" idx="12"/>
          </p:nvPr>
        </p:nvSpPr>
        <p:spPr/>
        <p:txBody>
          <a:bodyPr/>
          <a:lstStyle/>
          <a:p>
            <a:fld id="{4698AAF4-35A4-40F4-A7AE-C8E2C41B9252}" type="slidenum">
              <a:rPr lang="en-US" smtClean="0"/>
              <a:t>15</a:t>
            </a:fld>
            <a:endParaRPr lang="en-US"/>
          </a:p>
        </p:txBody>
      </p:sp>
      <p:pic>
        <p:nvPicPr>
          <p:cNvPr id="3" name="Picture 2"/>
          <p:cNvPicPr>
            <a:picLocks noChangeAspect="1"/>
          </p:cNvPicPr>
          <p:nvPr/>
        </p:nvPicPr>
        <p:blipFill>
          <a:blip r:embed="rId2"/>
          <a:stretch>
            <a:fillRect/>
          </a:stretch>
        </p:blipFill>
        <p:spPr>
          <a:xfrm>
            <a:off x="7072603" y="662473"/>
            <a:ext cx="4469785" cy="5499074"/>
          </a:xfrm>
          <a:prstGeom prst="rect">
            <a:avLst/>
          </a:prstGeom>
        </p:spPr>
      </p:pic>
    </p:spTree>
    <p:extLst>
      <p:ext uri="{BB962C8B-B14F-4D97-AF65-F5344CB8AC3E}">
        <p14:creationId xmlns:p14="http://schemas.microsoft.com/office/powerpoint/2010/main" val="122980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98AAF4-35A4-40F4-A7AE-C8E2C41B9252}" type="slidenum">
              <a:rPr lang="en-US" smtClean="0"/>
              <a:t>16</a:t>
            </a:fld>
            <a:endParaRPr lang="en-US"/>
          </a:p>
        </p:txBody>
      </p:sp>
      <p:pic>
        <p:nvPicPr>
          <p:cNvPr id="5" name="Picture 4"/>
          <p:cNvPicPr>
            <a:picLocks noChangeAspect="1"/>
          </p:cNvPicPr>
          <p:nvPr/>
        </p:nvPicPr>
        <p:blipFill>
          <a:blip r:embed="rId2"/>
          <a:stretch>
            <a:fillRect/>
          </a:stretch>
        </p:blipFill>
        <p:spPr>
          <a:xfrm>
            <a:off x="1139063" y="629542"/>
            <a:ext cx="10085664" cy="5830935"/>
          </a:xfrm>
          <a:prstGeom prst="rect">
            <a:avLst/>
          </a:prstGeom>
        </p:spPr>
      </p:pic>
    </p:spTree>
    <p:extLst>
      <p:ext uri="{BB962C8B-B14F-4D97-AF65-F5344CB8AC3E}">
        <p14:creationId xmlns:p14="http://schemas.microsoft.com/office/powerpoint/2010/main" val="707476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 Synthetic Control</a:t>
            </a:r>
          </a:p>
        </p:txBody>
      </p:sp>
      <p:sp>
        <p:nvSpPr>
          <p:cNvPr id="3" name="Content Placeholder 2"/>
          <p:cNvSpPr>
            <a:spLocks noGrp="1"/>
          </p:cNvSpPr>
          <p:nvPr>
            <p:ph idx="1"/>
          </p:nvPr>
        </p:nvSpPr>
        <p:spPr/>
        <p:txBody>
          <a:bodyPr>
            <a:normAutofit lnSpcReduction="10000"/>
          </a:bodyPr>
          <a:lstStyle/>
          <a:p>
            <a:r>
              <a:rPr lang="en-US" dirty="0"/>
              <a:t>In settings with few treated units and few control units, synthetic control can be a powerful way to improve on diff-in-diff</a:t>
            </a:r>
          </a:p>
          <a:p>
            <a:pPr lvl="1"/>
            <a:r>
              <a:rPr lang="en-US" dirty="0"/>
              <a:t>Weights can be estimated </a:t>
            </a:r>
            <a:r>
              <a:rPr lang="en-US" i="1" dirty="0"/>
              <a:t>before </a:t>
            </a:r>
            <a:r>
              <a:rPr lang="en-US" dirty="0"/>
              <a:t>an intervention even begins; allows for pre-specification of counterfactual </a:t>
            </a:r>
          </a:p>
          <a:p>
            <a:r>
              <a:rPr lang="en-US" dirty="0"/>
              <a:t>If used to complement diff-in-diff or ITS: Be transparent! Show regular diff-in-diff / ITS and synth control estimates</a:t>
            </a:r>
          </a:p>
          <a:p>
            <a:pPr lvl="1"/>
            <a:r>
              <a:rPr lang="en-US" dirty="0"/>
              <a:t>Weights can be sensitive to specification choices – good to show different options</a:t>
            </a:r>
          </a:p>
          <a:p>
            <a:r>
              <a:rPr lang="en-US" dirty="0"/>
              <a:t>Requires a lot of high-quality pre-treatment data to get a good fit </a:t>
            </a:r>
          </a:p>
          <a:p>
            <a:r>
              <a:rPr lang="en-US" dirty="0"/>
              <a:t>Inference requires a variety of methods: placebo methods, randomization inference</a:t>
            </a:r>
          </a:p>
          <a:p>
            <a:endParaRPr lang="en-US" dirty="0"/>
          </a:p>
        </p:txBody>
      </p:sp>
      <p:sp>
        <p:nvSpPr>
          <p:cNvPr id="4" name="Slide Number Placeholder 3"/>
          <p:cNvSpPr>
            <a:spLocks noGrp="1"/>
          </p:cNvSpPr>
          <p:nvPr>
            <p:ph type="sldNum" sz="quarter" idx="12"/>
          </p:nvPr>
        </p:nvSpPr>
        <p:spPr/>
        <p:txBody>
          <a:bodyPr/>
          <a:lstStyle/>
          <a:p>
            <a:fld id="{4698AAF4-35A4-40F4-A7AE-C8E2C41B9252}" type="slidenum">
              <a:rPr lang="en-US" smtClean="0"/>
              <a:t>17</a:t>
            </a:fld>
            <a:endParaRPr lang="en-US"/>
          </a:p>
        </p:txBody>
      </p:sp>
    </p:spTree>
    <p:extLst>
      <p:ext uri="{BB962C8B-B14F-4D97-AF65-F5344CB8AC3E}">
        <p14:creationId xmlns:p14="http://schemas.microsoft.com/office/powerpoint/2010/main" val="1163228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B9CA4-3974-49E3-AB71-4523A07E64F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AF911821-0CF6-4C46-836F-44C51111A608}"/>
              </a:ext>
            </a:extLst>
          </p:cNvPr>
          <p:cNvSpPr>
            <a:spLocks noGrp="1"/>
          </p:cNvSpPr>
          <p:nvPr>
            <p:ph idx="1"/>
          </p:nvPr>
        </p:nvSpPr>
        <p:spPr/>
        <p:txBody>
          <a:bodyPr>
            <a:normAutofit fontScale="92500" lnSpcReduction="10000"/>
          </a:bodyPr>
          <a:lstStyle/>
          <a:p>
            <a:r>
              <a:rPr lang="en-US" dirty="0"/>
              <a:t>Research question: What was the effect of California’s Proposition 99 on cigarette sales?</a:t>
            </a:r>
          </a:p>
          <a:p>
            <a:pPr lvl="1"/>
            <a:r>
              <a:rPr lang="en-US" dirty="0"/>
              <a:t>Increased cigarette tax by 25 cents/pack</a:t>
            </a:r>
          </a:p>
          <a:p>
            <a:pPr lvl="1"/>
            <a:r>
              <a:rPr lang="en-US" dirty="0"/>
              <a:t>Tax revenues earmarked for anti-smoking education</a:t>
            </a:r>
          </a:p>
          <a:p>
            <a:pPr lvl="1"/>
            <a:r>
              <a:rPr lang="en-US" dirty="0"/>
              <a:t>Funded anti-smoking media campaigns</a:t>
            </a:r>
          </a:p>
          <a:p>
            <a:pPr lvl="1"/>
            <a:r>
              <a:rPr lang="en-US" dirty="0"/>
              <a:t>Clean indoor-air ordinances</a:t>
            </a:r>
          </a:p>
          <a:p>
            <a:pPr lvl="1"/>
            <a:r>
              <a:rPr lang="en-US" dirty="0"/>
              <a:t>Passed in 1988</a:t>
            </a:r>
          </a:p>
          <a:p>
            <a:r>
              <a:rPr lang="en-US" dirty="0"/>
              <a:t>Policy passed in only one state</a:t>
            </a:r>
          </a:p>
          <a:p>
            <a:pPr lvl="1"/>
            <a:r>
              <a:rPr lang="en-US" dirty="0">
                <a:solidFill>
                  <a:srgbClr val="FF0000"/>
                </a:solidFill>
              </a:rPr>
              <a:t>Are there any states that make good “controls” for California?</a:t>
            </a:r>
          </a:p>
          <a:p>
            <a:pPr lvl="1"/>
            <a:endParaRPr lang="en-US" dirty="0"/>
          </a:p>
          <a:p>
            <a:r>
              <a:rPr lang="en-US" dirty="0"/>
              <a:t>Synthetic Control Methods for Comparative Case Studies: </a:t>
            </a:r>
            <a:r>
              <a:rPr lang="en-US" dirty="0">
                <a:hlinkClick r:id="rId3"/>
              </a:rPr>
              <a:t>Estimating the Effect of California’s Tobacco Control Program</a:t>
            </a:r>
            <a:r>
              <a:rPr lang="en-US" dirty="0"/>
              <a:t> (Abadie et al 2010)</a:t>
            </a:r>
          </a:p>
        </p:txBody>
      </p:sp>
    </p:spTree>
    <p:extLst>
      <p:ext uri="{BB962C8B-B14F-4D97-AF65-F5344CB8AC3E}">
        <p14:creationId xmlns:p14="http://schemas.microsoft.com/office/powerpoint/2010/main" val="265754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B9CA4-3974-49E3-AB71-4523A07E64F8}"/>
              </a:ext>
            </a:extLst>
          </p:cNvPr>
          <p:cNvSpPr>
            <a:spLocks noGrp="1"/>
          </p:cNvSpPr>
          <p:nvPr>
            <p:ph type="title"/>
          </p:nvPr>
        </p:nvSpPr>
        <p:spPr/>
        <p:txBody>
          <a:bodyPr/>
          <a:lstStyle/>
          <a:p>
            <a:r>
              <a:rPr lang="en-US" dirty="0"/>
              <a:t>Synthetic Control Example</a:t>
            </a:r>
          </a:p>
        </p:txBody>
      </p:sp>
      <p:sp>
        <p:nvSpPr>
          <p:cNvPr id="3" name="Content Placeholder 2">
            <a:extLst>
              <a:ext uri="{FF2B5EF4-FFF2-40B4-BE49-F238E27FC236}">
                <a16:creationId xmlns:a16="http://schemas.microsoft.com/office/drawing/2014/main" id="{451DAAC8-2474-4795-B3B5-6F2A73CA8D63}"/>
              </a:ext>
            </a:extLst>
          </p:cNvPr>
          <p:cNvSpPr>
            <a:spLocks noGrp="1"/>
          </p:cNvSpPr>
          <p:nvPr>
            <p:ph idx="1"/>
          </p:nvPr>
        </p:nvSpPr>
        <p:spPr>
          <a:xfrm>
            <a:off x="444500" y="1943100"/>
            <a:ext cx="4940300" cy="4686300"/>
          </a:xfrm>
        </p:spPr>
        <p:txBody>
          <a:bodyPr>
            <a:normAutofit fontScale="85000" lnSpcReduction="10000"/>
          </a:bodyPr>
          <a:lstStyle/>
          <a:p>
            <a:r>
              <a:rPr lang="en-US" i="1" dirty="0"/>
              <a:t>Step 1</a:t>
            </a:r>
            <a:r>
              <a:rPr lang="en-US" dirty="0"/>
              <a:t>: Throw out 11 other states that passed similar tobacco control legislation (contaminates control)</a:t>
            </a:r>
          </a:p>
          <a:p>
            <a:r>
              <a:rPr lang="en-US" i="1" dirty="0"/>
              <a:t>Step 2</a:t>
            </a:r>
            <a:r>
              <a:rPr lang="en-US" dirty="0"/>
              <a:t>: Decide which covariates predict post-period outcomes and should be used for determining synth control weights (minimize MSPE)</a:t>
            </a:r>
          </a:p>
          <a:p>
            <a:r>
              <a:rPr lang="en-US" dirty="0"/>
              <a:t>Step 3: Look at the weights assigned by the MSPE minimization</a:t>
            </a:r>
          </a:p>
          <a:p>
            <a:pPr lvl="1"/>
            <a:r>
              <a:rPr lang="en-US" dirty="0"/>
              <a:t>Are they “reasonable”? What might you consider reasonable?</a:t>
            </a:r>
          </a:p>
          <a:p>
            <a:pPr lvl="1"/>
            <a:r>
              <a:rPr lang="en-US" dirty="0"/>
              <a:t>If not, might reconsider whether you’re using the right variables to construct weights</a:t>
            </a:r>
          </a:p>
          <a:p>
            <a:endParaRPr lang="en-US" dirty="0"/>
          </a:p>
        </p:txBody>
      </p:sp>
      <p:pic>
        <p:nvPicPr>
          <p:cNvPr id="6" name="Picture 5" descr="A screenshot of a cell phone&#10;&#10;Description automatically generated">
            <a:extLst>
              <a:ext uri="{FF2B5EF4-FFF2-40B4-BE49-F238E27FC236}">
                <a16:creationId xmlns:a16="http://schemas.microsoft.com/office/drawing/2014/main" id="{BED84EB9-CE49-42B1-B0E9-4EEB68D06E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4800" y="1943100"/>
            <a:ext cx="5676900" cy="3648539"/>
          </a:xfrm>
          <a:prstGeom prst="rect">
            <a:avLst/>
          </a:prstGeom>
        </p:spPr>
      </p:pic>
    </p:spTree>
    <p:extLst>
      <p:ext uri="{BB962C8B-B14F-4D97-AF65-F5344CB8AC3E}">
        <p14:creationId xmlns:p14="http://schemas.microsoft.com/office/powerpoint/2010/main" val="940714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B9CA4-3974-49E3-AB71-4523A07E64F8}"/>
              </a:ext>
            </a:extLst>
          </p:cNvPr>
          <p:cNvSpPr>
            <a:spLocks noGrp="1"/>
          </p:cNvSpPr>
          <p:nvPr>
            <p:ph type="title"/>
          </p:nvPr>
        </p:nvSpPr>
        <p:spPr>
          <a:xfrm>
            <a:off x="838200" y="365125"/>
            <a:ext cx="4483100" cy="1325563"/>
          </a:xfrm>
        </p:spPr>
        <p:txBody>
          <a:bodyPr/>
          <a:lstStyle/>
          <a:p>
            <a:r>
              <a:rPr lang="en-US" dirty="0"/>
              <a:t>Synthetic Control Example</a:t>
            </a:r>
          </a:p>
        </p:txBody>
      </p:sp>
      <p:pic>
        <p:nvPicPr>
          <p:cNvPr id="6" name="Content Placeholder 5" descr="A screenshot of a cell phone&#10;&#10;Description automatically generated">
            <a:extLst>
              <a:ext uri="{FF2B5EF4-FFF2-40B4-BE49-F238E27FC236}">
                <a16:creationId xmlns:a16="http://schemas.microsoft.com/office/drawing/2014/main" id="{C55E42DB-732A-4D95-97B0-D030E60CFD2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210300" y="365125"/>
            <a:ext cx="4826000" cy="5791200"/>
          </a:xfrm>
        </p:spPr>
      </p:pic>
    </p:spTree>
    <p:extLst>
      <p:ext uri="{BB962C8B-B14F-4D97-AF65-F5344CB8AC3E}">
        <p14:creationId xmlns:p14="http://schemas.microsoft.com/office/powerpoint/2010/main" val="3501081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B9CA4-3974-49E3-AB71-4523A07E64F8}"/>
              </a:ext>
            </a:extLst>
          </p:cNvPr>
          <p:cNvSpPr>
            <a:spLocks noGrp="1"/>
          </p:cNvSpPr>
          <p:nvPr>
            <p:ph type="title"/>
          </p:nvPr>
        </p:nvSpPr>
        <p:spPr>
          <a:xfrm>
            <a:off x="736600" y="32519"/>
            <a:ext cx="10515600" cy="1325563"/>
          </a:xfrm>
        </p:spPr>
        <p:txBody>
          <a:bodyPr/>
          <a:lstStyle/>
          <a:p>
            <a:r>
              <a:rPr lang="en-US" dirty="0"/>
              <a:t>Synthetic control example</a:t>
            </a:r>
          </a:p>
        </p:txBody>
      </p:sp>
      <p:sp>
        <p:nvSpPr>
          <p:cNvPr id="3" name="Content Placeholder 2">
            <a:extLst>
              <a:ext uri="{FF2B5EF4-FFF2-40B4-BE49-F238E27FC236}">
                <a16:creationId xmlns:a16="http://schemas.microsoft.com/office/drawing/2014/main" id="{2F322A11-68D9-4343-B0B7-32ED823AEA0C}"/>
              </a:ext>
            </a:extLst>
          </p:cNvPr>
          <p:cNvSpPr>
            <a:spLocks noGrp="1"/>
          </p:cNvSpPr>
          <p:nvPr>
            <p:ph idx="1"/>
          </p:nvPr>
        </p:nvSpPr>
        <p:spPr>
          <a:xfrm>
            <a:off x="622300" y="1253331"/>
            <a:ext cx="10515600" cy="4351338"/>
          </a:xfrm>
        </p:spPr>
        <p:txBody>
          <a:bodyPr/>
          <a:lstStyle/>
          <a:p>
            <a:r>
              <a:rPr lang="en-US" dirty="0"/>
              <a:t>Synthetic control uses high-tech methods to get “right” counterfactual but </a:t>
            </a:r>
            <a:r>
              <a:rPr lang="en-US" b="1" dirty="0"/>
              <a:t>you can still make nice visuals</a:t>
            </a:r>
            <a:endParaRPr lang="en-US" dirty="0"/>
          </a:p>
          <a:p>
            <a:endParaRPr lang="en-US" b="1" dirty="0"/>
          </a:p>
        </p:txBody>
      </p:sp>
      <p:pic>
        <p:nvPicPr>
          <p:cNvPr id="5" name="Picture 4" descr="A close up of a map&#10;&#10;Description automatically generated">
            <a:extLst>
              <a:ext uri="{FF2B5EF4-FFF2-40B4-BE49-F238E27FC236}">
                <a16:creationId xmlns:a16="http://schemas.microsoft.com/office/drawing/2014/main" id="{5A152134-7B61-446B-9821-9BAE410C4A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0" y="2552701"/>
            <a:ext cx="9144000" cy="4091805"/>
          </a:xfrm>
          <a:prstGeom prst="rect">
            <a:avLst/>
          </a:prstGeom>
        </p:spPr>
      </p:pic>
    </p:spTree>
    <p:extLst>
      <p:ext uri="{BB962C8B-B14F-4D97-AF65-F5344CB8AC3E}">
        <p14:creationId xmlns:p14="http://schemas.microsoft.com/office/powerpoint/2010/main" val="3418593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B9CA4-3974-49E3-AB71-4523A07E64F8}"/>
              </a:ext>
            </a:extLst>
          </p:cNvPr>
          <p:cNvSpPr>
            <a:spLocks noGrp="1"/>
          </p:cNvSpPr>
          <p:nvPr>
            <p:ph type="title"/>
          </p:nvPr>
        </p:nvSpPr>
        <p:spPr/>
        <p:txBody>
          <a:bodyPr/>
          <a:lstStyle/>
          <a:p>
            <a:r>
              <a:rPr lang="en-US" dirty="0"/>
              <a:t>Synthetic control example – event study</a:t>
            </a:r>
          </a:p>
        </p:txBody>
      </p:sp>
      <p:sp>
        <p:nvSpPr>
          <p:cNvPr id="3" name="Content Placeholder 2">
            <a:extLst>
              <a:ext uri="{FF2B5EF4-FFF2-40B4-BE49-F238E27FC236}">
                <a16:creationId xmlns:a16="http://schemas.microsoft.com/office/drawing/2014/main" id="{2F322A11-68D9-4343-B0B7-32ED823AEA0C}"/>
              </a:ext>
            </a:extLst>
          </p:cNvPr>
          <p:cNvSpPr>
            <a:spLocks noGrp="1"/>
          </p:cNvSpPr>
          <p:nvPr>
            <p:ph idx="1"/>
          </p:nvPr>
        </p:nvSpPr>
        <p:spPr/>
        <p:txBody>
          <a:bodyPr/>
          <a:lstStyle/>
          <a:p>
            <a:pPr marL="0" indent="0">
              <a:buNone/>
            </a:pPr>
            <a:endParaRPr lang="en-US" b="1" dirty="0"/>
          </a:p>
        </p:txBody>
      </p:sp>
      <p:pic>
        <p:nvPicPr>
          <p:cNvPr id="6" name="Picture 5" descr="A screenshot of a cell phone&#10;&#10;Description automatically generated">
            <a:extLst>
              <a:ext uri="{FF2B5EF4-FFF2-40B4-BE49-F238E27FC236}">
                <a16:creationId xmlns:a16="http://schemas.microsoft.com/office/drawing/2014/main" id="{CF8CE5BB-B105-4961-AA9C-B4833A07B3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7044" y="1231900"/>
            <a:ext cx="6843712" cy="5150668"/>
          </a:xfrm>
          <a:prstGeom prst="rect">
            <a:avLst/>
          </a:prstGeom>
        </p:spPr>
      </p:pic>
    </p:spTree>
    <p:extLst>
      <p:ext uri="{BB962C8B-B14F-4D97-AF65-F5344CB8AC3E}">
        <p14:creationId xmlns:p14="http://schemas.microsoft.com/office/powerpoint/2010/main" val="2643284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ITS and Synthetic Control example</a:t>
            </a:r>
          </a:p>
        </p:txBody>
      </p:sp>
      <p:sp>
        <p:nvSpPr>
          <p:cNvPr id="3" name="Content Placeholder 2"/>
          <p:cNvSpPr>
            <a:spLocks noGrp="1"/>
          </p:cNvSpPr>
          <p:nvPr>
            <p:ph idx="1"/>
          </p:nvPr>
        </p:nvSpPr>
        <p:spPr/>
        <p:txBody>
          <a:bodyPr>
            <a:normAutofit fontScale="85000" lnSpcReduction="20000"/>
          </a:bodyPr>
          <a:lstStyle/>
          <a:p>
            <a:r>
              <a:rPr lang="en-US" dirty="0"/>
              <a:t>You can also use synthetic control methods within ITS – situations where we might have just one treatment group</a:t>
            </a:r>
          </a:p>
          <a:p>
            <a:endParaRPr lang="en-US" dirty="0"/>
          </a:p>
          <a:p>
            <a:r>
              <a:rPr lang="en-US" dirty="0"/>
              <a:t>Example: Impact of tobacco taxes in South Africa</a:t>
            </a:r>
          </a:p>
          <a:p>
            <a:r>
              <a:rPr lang="en-US" dirty="0"/>
              <a:t>South Africa increased tobacco taxes considerably after 1994.</a:t>
            </a:r>
          </a:p>
          <a:p>
            <a:r>
              <a:rPr lang="en-US" dirty="0"/>
              <a:t>Advertising and smoking bans were implemented in 2001.</a:t>
            </a:r>
          </a:p>
          <a:p>
            <a:r>
              <a:rPr lang="en-US" dirty="0"/>
              <a:t>What was the effect on tobacco consumption?</a:t>
            </a:r>
          </a:p>
          <a:p>
            <a:endParaRPr lang="en-US" dirty="0"/>
          </a:p>
          <a:p>
            <a:r>
              <a:rPr lang="en-US" dirty="0"/>
              <a:t>Counterfactual – synthetic control from similar countries  </a:t>
            </a:r>
          </a:p>
          <a:p>
            <a:r>
              <a:rPr lang="en-US" dirty="0" err="1"/>
              <a:t>Chelwa</a:t>
            </a:r>
            <a:r>
              <a:rPr lang="en-US" dirty="0"/>
              <a:t>, Grieve, </a:t>
            </a:r>
            <a:r>
              <a:rPr lang="en-US" dirty="0" err="1"/>
              <a:t>Corné</a:t>
            </a:r>
            <a:r>
              <a:rPr lang="en-US" dirty="0"/>
              <a:t> van </a:t>
            </a:r>
            <a:r>
              <a:rPr lang="en-US" dirty="0" err="1"/>
              <a:t>Walbeek</a:t>
            </a:r>
            <a:r>
              <a:rPr lang="en-US" dirty="0"/>
              <a:t>, and Evan </a:t>
            </a:r>
            <a:r>
              <a:rPr lang="en-US" dirty="0" err="1"/>
              <a:t>Blecher</a:t>
            </a:r>
            <a:r>
              <a:rPr lang="en-US" dirty="0"/>
              <a:t>. "Evaluating South Africa's tobacco control policy using a synthetic control method." </a:t>
            </a:r>
            <a:r>
              <a:rPr lang="en-US" i="1" dirty="0"/>
              <a:t>Tobacco Control</a:t>
            </a:r>
            <a:r>
              <a:rPr lang="en-US" dirty="0"/>
              <a:t> 26.5 (2017): 509-517.</a:t>
            </a:r>
          </a:p>
        </p:txBody>
      </p:sp>
      <p:sp>
        <p:nvSpPr>
          <p:cNvPr id="4" name="Slide Number Placeholder 3"/>
          <p:cNvSpPr>
            <a:spLocks noGrp="1"/>
          </p:cNvSpPr>
          <p:nvPr>
            <p:ph type="sldNum" sz="quarter" idx="12"/>
          </p:nvPr>
        </p:nvSpPr>
        <p:spPr/>
        <p:txBody>
          <a:bodyPr/>
          <a:lstStyle/>
          <a:p>
            <a:fld id="{4698AAF4-35A4-40F4-A7AE-C8E2C41B9252}" type="slidenum">
              <a:rPr lang="en-US" smtClean="0"/>
              <a:t>23</a:t>
            </a:fld>
            <a:endParaRPr lang="en-US"/>
          </a:p>
        </p:txBody>
      </p:sp>
    </p:spTree>
    <p:extLst>
      <p:ext uri="{BB962C8B-B14F-4D97-AF65-F5344CB8AC3E}">
        <p14:creationId xmlns:p14="http://schemas.microsoft.com/office/powerpoint/2010/main" val="3551357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Synthetic Weights</a:t>
            </a:r>
          </a:p>
        </p:txBody>
      </p:sp>
      <p:sp>
        <p:nvSpPr>
          <p:cNvPr id="5" name="Content Placeholder 4"/>
          <p:cNvSpPr>
            <a:spLocks noGrp="1"/>
          </p:cNvSpPr>
          <p:nvPr>
            <p:ph idx="1"/>
          </p:nvPr>
        </p:nvSpPr>
        <p:spPr>
          <a:xfrm>
            <a:off x="838200" y="1825625"/>
            <a:ext cx="5833188" cy="4351338"/>
          </a:xfrm>
        </p:spPr>
        <p:txBody>
          <a:bodyPr>
            <a:normAutofit fontScale="85000" lnSpcReduction="10000"/>
          </a:bodyPr>
          <a:lstStyle/>
          <a:p>
            <a:r>
              <a:rPr lang="en-US" dirty="0"/>
              <a:t>Donor pool: other low and middle-income countries</a:t>
            </a:r>
          </a:p>
          <a:p>
            <a:pPr lvl="1"/>
            <a:r>
              <a:rPr lang="en-US" dirty="0"/>
              <a:t>Pattern of increasing affordability of cigarettes over the period (price/income per capita)</a:t>
            </a:r>
          </a:p>
          <a:p>
            <a:r>
              <a:rPr lang="en-US" dirty="0"/>
              <a:t>Donor pool excludes Thailand (and South Africa) and any countries with missing data</a:t>
            </a:r>
          </a:p>
          <a:p>
            <a:r>
              <a:rPr lang="en-US" dirty="0"/>
              <a:t>Variables: Per capita cigarette consumption (the outcome variable), real price of cigarettes, per capita real GDP, per capita alcohol consumption and the proportion of adults in the total population.</a:t>
            </a:r>
          </a:p>
          <a:p>
            <a:r>
              <a:rPr lang="en-US" dirty="0"/>
              <a:t>24 control countries  </a:t>
            </a:r>
          </a:p>
          <a:p>
            <a:endParaRPr lang="en-US" dirty="0"/>
          </a:p>
          <a:p>
            <a:endParaRPr lang="en-US" dirty="0"/>
          </a:p>
          <a:p>
            <a:endParaRPr lang="en-US" dirty="0"/>
          </a:p>
        </p:txBody>
      </p:sp>
      <p:sp>
        <p:nvSpPr>
          <p:cNvPr id="2" name="Slide Number Placeholder 1"/>
          <p:cNvSpPr>
            <a:spLocks noGrp="1"/>
          </p:cNvSpPr>
          <p:nvPr>
            <p:ph type="sldNum" sz="quarter" idx="12"/>
          </p:nvPr>
        </p:nvSpPr>
        <p:spPr/>
        <p:txBody>
          <a:bodyPr/>
          <a:lstStyle/>
          <a:p>
            <a:fld id="{4698AAF4-35A4-40F4-A7AE-C8E2C41B9252}" type="slidenum">
              <a:rPr lang="en-US" smtClean="0"/>
              <a:t>24</a:t>
            </a:fld>
            <a:endParaRPr lang="en-US"/>
          </a:p>
        </p:txBody>
      </p:sp>
      <p:pic>
        <p:nvPicPr>
          <p:cNvPr id="3" name="Picture 2"/>
          <p:cNvPicPr>
            <a:picLocks noChangeAspect="1"/>
          </p:cNvPicPr>
          <p:nvPr/>
        </p:nvPicPr>
        <p:blipFill>
          <a:blip r:embed="rId2"/>
          <a:stretch>
            <a:fillRect/>
          </a:stretch>
        </p:blipFill>
        <p:spPr>
          <a:xfrm>
            <a:off x="7072603" y="662473"/>
            <a:ext cx="4469785" cy="5499074"/>
          </a:xfrm>
          <a:prstGeom prst="rect">
            <a:avLst/>
          </a:prstGeom>
        </p:spPr>
      </p:pic>
    </p:spTree>
    <p:extLst>
      <p:ext uri="{BB962C8B-B14F-4D97-AF65-F5344CB8AC3E}">
        <p14:creationId xmlns:p14="http://schemas.microsoft.com/office/powerpoint/2010/main" val="33795721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98AAF4-35A4-40F4-A7AE-C8E2C41B9252}" type="slidenum">
              <a:rPr lang="en-US" smtClean="0"/>
              <a:t>25</a:t>
            </a:fld>
            <a:endParaRPr lang="en-US"/>
          </a:p>
        </p:txBody>
      </p:sp>
      <p:pic>
        <p:nvPicPr>
          <p:cNvPr id="5" name="Picture 4"/>
          <p:cNvPicPr>
            <a:picLocks noChangeAspect="1"/>
          </p:cNvPicPr>
          <p:nvPr/>
        </p:nvPicPr>
        <p:blipFill>
          <a:blip r:embed="rId2"/>
          <a:stretch>
            <a:fillRect/>
          </a:stretch>
        </p:blipFill>
        <p:spPr>
          <a:xfrm>
            <a:off x="1139063" y="629542"/>
            <a:ext cx="10085664" cy="5830935"/>
          </a:xfrm>
          <a:prstGeom prst="rect">
            <a:avLst/>
          </a:prstGeom>
        </p:spPr>
      </p:pic>
    </p:spTree>
    <p:extLst>
      <p:ext uri="{BB962C8B-B14F-4D97-AF65-F5344CB8AC3E}">
        <p14:creationId xmlns:p14="http://schemas.microsoft.com/office/powerpoint/2010/main" val="25201790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 Synthetic Control</a:t>
            </a:r>
          </a:p>
        </p:txBody>
      </p:sp>
      <p:sp>
        <p:nvSpPr>
          <p:cNvPr id="3" name="Content Placeholder 2"/>
          <p:cNvSpPr>
            <a:spLocks noGrp="1"/>
          </p:cNvSpPr>
          <p:nvPr>
            <p:ph idx="1"/>
          </p:nvPr>
        </p:nvSpPr>
        <p:spPr/>
        <p:txBody>
          <a:bodyPr>
            <a:normAutofit fontScale="85000" lnSpcReduction="20000"/>
          </a:bodyPr>
          <a:lstStyle/>
          <a:p>
            <a:r>
              <a:rPr lang="en-US" dirty="0"/>
              <a:t>In settings with few treated units and few control units, synthetic control can be a powerful way to improve on diff-in-diff</a:t>
            </a:r>
          </a:p>
          <a:p>
            <a:pPr lvl="1"/>
            <a:r>
              <a:rPr lang="en-US" dirty="0"/>
              <a:t>Weights can be estimated </a:t>
            </a:r>
            <a:r>
              <a:rPr lang="en-US" i="1" dirty="0"/>
              <a:t>before </a:t>
            </a:r>
            <a:r>
              <a:rPr lang="en-US" dirty="0"/>
              <a:t>an intervention even begins; allows for pre-specification of counterfactual </a:t>
            </a:r>
          </a:p>
          <a:p>
            <a:r>
              <a:rPr lang="en-US" dirty="0"/>
              <a:t>If used to complement diff-in-diff or ITS: Be transparent! Show regular diff-in-diff / ITS and synth control estimates</a:t>
            </a:r>
          </a:p>
          <a:p>
            <a:pPr lvl="1"/>
            <a:r>
              <a:rPr lang="en-US" dirty="0"/>
              <a:t>Weights can be sensitive to specification choices – good to show different options</a:t>
            </a:r>
          </a:p>
          <a:p>
            <a:r>
              <a:rPr lang="en-US" dirty="0"/>
              <a:t>Requires a lot of high-quality pre-treatment data to get a good fit </a:t>
            </a:r>
          </a:p>
          <a:p>
            <a:r>
              <a:rPr lang="en-US" dirty="0"/>
              <a:t>Inference requires a variety of methods: placebo methods, randomization inference</a:t>
            </a:r>
          </a:p>
          <a:p>
            <a:r>
              <a:rPr lang="en-US" dirty="0"/>
              <a:t>Synthetic control versus matching strategies</a:t>
            </a:r>
          </a:p>
          <a:p>
            <a:pPr lvl="1"/>
            <a:r>
              <a:rPr lang="en-US" dirty="0"/>
              <a:t>Individual versus group level data</a:t>
            </a:r>
          </a:p>
          <a:p>
            <a:pPr lvl="1"/>
            <a:r>
              <a:rPr lang="en-US" dirty="0"/>
              <a:t>Interpolation versus extrapolation bias</a:t>
            </a:r>
          </a:p>
          <a:p>
            <a:pPr lvl="1"/>
            <a:r>
              <a:rPr lang="en-US" dirty="0"/>
              <a:t>In theory could be combined, see </a:t>
            </a:r>
            <a:r>
              <a:rPr lang="en-US" dirty="0">
                <a:hlinkClick r:id="rId2"/>
              </a:rPr>
              <a:t>Kellog et al 2021</a:t>
            </a:r>
            <a:endParaRPr lang="en-US" dirty="0"/>
          </a:p>
          <a:p>
            <a:endParaRPr lang="en-US" dirty="0"/>
          </a:p>
        </p:txBody>
      </p:sp>
      <p:sp>
        <p:nvSpPr>
          <p:cNvPr id="4" name="Slide Number Placeholder 3"/>
          <p:cNvSpPr>
            <a:spLocks noGrp="1"/>
          </p:cNvSpPr>
          <p:nvPr>
            <p:ph type="sldNum" sz="quarter" idx="12"/>
          </p:nvPr>
        </p:nvSpPr>
        <p:spPr/>
        <p:txBody>
          <a:bodyPr/>
          <a:lstStyle/>
          <a:p>
            <a:fld id="{4698AAF4-35A4-40F4-A7AE-C8E2C41B9252}" type="slidenum">
              <a:rPr lang="en-US" smtClean="0"/>
              <a:t>26</a:t>
            </a:fld>
            <a:endParaRPr lang="en-US"/>
          </a:p>
        </p:txBody>
      </p:sp>
    </p:spTree>
    <p:extLst>
      <p:ext uri="{BB962C8B-B14F-4D97-AF65-F5344CB8AC3E}">
        <p14:creationId xmlns:p14="http://schemas.microsoft.com/office/powerpoint/2010/main" val="3836616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F5494-90B4-6C8C-668E-63FDE5514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B4596-FE43-34B2-725C-C46C2D12DCF3}"/>
              </a:ext>
            </a:extLst>
          </p:cNvPr>
          <p:cNvSpPr>
            <a:spLocks noGrp="1"/>
          </p:cNvSpPr>
          <p:nvPr>
            <p:ph type="title"/>
          </p:nvPr>
        </p:nvSpPr>
        <p:spPr/>
        <p:txBody>
          <a:bodyPr/>
          <a:lstStyle/>
          <a:p>
            <a:r>
              <a:rPr lang="en-US" dirty="0"/>
              <a:t>Review</a:t>
            </a:r>
            <a:r>
              <a:rPr lang="en-US"/>
              <a:t>: Econometrics</a:t>
            </a:r>
            <a:endParaRPr lang="en-US" dirty="0"/>
          </a:p>
        </p:txBody>
      </p:sp>
      <p:sp>
        <p:nvSpPr>
          <p:cNvPr id="4" name="Slide Number Placeholder 3">
            <a:extLst>
              <a:ext uri="{FF2B5EF4-FFF2-40B4-BE49-F238E27FC236}">
                <a16:creationId xmlns:a16="http://schemas.microsoft.com/office/drawing/2014/main" id="{8AF4D1B2-3E9B-E56E-F416-71C0D1DE3816}"/>
              </a:ext>
            </a:extLst>
          </p:cNvPr>
          <p:cNvSpPr>
            <a:spLocks noGrp="1"/>
          </p:cNvSpPr>
          <p:nvPr>
            <p:ph type="sldNum" sz="quarter" idx="12"/>
          </p:nvPr>
        </p:nvSpPr>
        <p:spPr/>
        <p:txBody>
          <a:bodyPr/>
          <a:lstStyle/>
          <a:p>
            <a:fld id="{4698AAF4-35A4-40F4-A7AE-C8E2C41B9252}" type="slidenum">
              <a:rPr lang="en-US" smtClean="0"/>
              <a:t>27</a:t>
            </a:fld>
            <a:endParaRPr lang="en-US"/>
          </a:p>
        </p:txBody>
      </p:sp>
      <p:sp>
        <p:nvSpPr>
          <p:cNvPr id="6" name="Content Placeholder 5">
            <a:extLst>
              <a:ext uri="{FF2B5EF4-FFF2-40B4-BE49-F238E27FC236}">
                <a16:creationId xmlns:a16="http://schemas.microsoft.com/office/drawing/2014/main" id="{32F39187-7EA4-F3CF-B14F-8602BDCD34E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36106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119CD-4BBC-594D-DD81-816454A444A2}"/>
              </a:ext>
            </a:extLst>
          </p:cNvPr>
          <p:cNvSpPr>
            <a:spLocks noGrp="1"/>
          </p:cNvSpPr>
          <p:nvPr>
            <p:ph type="title"/>
          </p:nvPr>
        </p:nvSpPr>
        <p:spPr/>
        <p:txBody>
          <a:bodyPr/>
          <a:lstStyle/>
          <a:p>
            <a:r>
              <a:rPr lang="en-US" dirty="0"/>
              <a:t>What is the point of econometrics?</a:t>
            </a:r>
          </a:p>
        </p:txBody>
      </p:sp>
      <p:sp>
        <p:nvSpPr>
          <p:cNvPr id="3" name="Content Placeholder 2">
            <a:extLst>
              <a:ext uri="{FF2B5EF4-FFF2-40B4-BE49-F238E27FC236}">
                <a16:creationId xmlns:a16="http://schemas.microsoft.com/office/drawing/2014/main" id="{27A45812-4166-4D4B-3F35-A2400284C4F9}"/>
              </a:ext>
            </a:extLst>
          </p:cNvPr>
          <p:cNvSpPr>
            <a:spLocks noGrp="1"/>
          </p:cNvSpPr>
          <p:nvPr>
            <p:ph idx="1"/>
          </p:nvPr>
        </p:nvSpPr>
        <p:spPr/>
        <p:txBody>
          <a:bodyPr>
            <a:normAutofit lnSpcReduction="10000"/>
          </a:bodyPr>
          <a:lstStyle/>
          <a:p>
            <a:r>
              <a:rPr lang="en-US" dirty="0"/>
              <a:t>The primary objective of econometrics is to identify </a:t>
            </a:r>
            <a:r>
              <a:rPr lang="en-US" i="1" dirty="0"/>
              <a:t>causal effects</a:t>
            </a:r>
            <a:endParaRPr lang="en-US" dirty="0"/>
          </a:p>
          <a:p>
            <a:endParaRPr lang="en-US" dirty="0"/>
          </a:p>
          <a:p>
            <a:r>
              <a:rPr lang="en-US" dirty="0"/>
              <a:t>What differentiates econometrics from other causal inference approaches is </a:t>
            </a:r>
            <a:r>
              <a:rPr lang="en-US" u="sng" dirty="0"/>
              <a:t>extremely</a:t>
            </a:r>
            <a:r>
              <a:rPr lang="en-US" dirty="0"/>
              <a:t> limited tolerance for confounding</a:t>
            </a:r>
          </a:p>
          <a:p>
            <a:pPr lvl="1"/>
            <a:r>
              <a:rPr lang="en-US" dirty="0"/>
              <a:t>Very unwilling to imagine that we could model sources of confounding</a:t>
            </a:r>
          </a:p>
          <a:p>
            <a:pPr lvl="1"/>
            <a:r>
              <a:rPr lang="en-US" dirty="0"/>
              <a:t>Human behavior is unpredictable and interesting and full of agency – people can choose how to react to policies/program and anticipate policy changes</a:t>
            </a:r>
          </a:p>
          <a:p>
            <a:pPr lvl="1"/>
            <a:r>
              <a:rPr lang="en-US" dirty="0"/>
              <a:t>Many of the things that economists care about are hard to measure/not typically available in datasets</a:t>
            </a:r>
          </a:p>
          <a:p>
            <a:pPr lvl="2"/>
            <a:r>
              <a:rPr lang="en-US" dirty="0"/>
              <a:t>Your beliefs, preferences, motivations, past experiences, </a:t>
            </a:r>
            <a:r>
              <a:rPr lang="en-US" dirty="0" err="1"/>
              <a:t>etc</a:t>
            </a:r>
            <a:endParaRPr lang="en-US" dirty="0"/>
          </a:p>
          <a:p>
            <a:pPr lvl="1"/>
            <a:r>
              <a:rPr lang="en-US" dirty="0"/>
              <a:t>Economists love to imagine alternative theories – plausible or not!</a:t>
            </a:r>
          </a:p>
          <a:p>
            <a:pPr lvl="2"/>
            <a:r>
              <a:rPr lang="en-US" dirty="0"/>
              <a:t>Very hard to imagine you could model/“control for” all possible theories of behavior</a:t>
            </a:r>
          </a:p>
          <a:p>
            <a:endParaRPr lang="en-US" dirty="0"/>
          </a:p>
        </p:txBody>
      </p:sp>
      <p:sp>
        <p:nvSpPr>
          <p:cNvPr id="4" name="Slide Number Placeholder 3">
            <a:extLst>
              <a:ext uri="{FF2B5EF4-FFF2-40B4-BE49-F238E27FC236}">
                <a16:creationId xmlns:a16="http://schemas.microsoft.com/office/drawing/2014/main" id="{DD674817-CD7F-DF4B-0769-3782F1017CDE}"/>
              </a:ext>
            </a:extLst>
          </p:cNvPr>
          <p:cNvSpPr>
            <a:spLocks noGrp="1"/>
          </p:cNvSpPr>
          <p:nvPr>
            <p:ph type="sldNum" sz="quarter" idx="12"/>
          </p:nvPr>
        </p:nvSpPr>
        <p:spPr/>
        <p:txBody>
          <a:bodyPr/>
          <a:lstStyle/>
          <a:p>
            <a:fld id="{4698AAF4-35A4-40F4-A7AE-C8E2C41B9252}" type="slidenum">
              <a:rPr lang="en-US" smtClean="0"/>
              <a:t>28</a:t>
            </a:fld>
            <a:endParaRPr lang="en-US"/>
          </a:p>
        </p:txBody>
      </p:sp>
    </p:spTree>
    <p:extLst>
      <p:ext uri="{BB962C8B-B14F-4D97-AF65-F5344CB8AC3E}">
        <p14:creationId xmlns:p14="http://schemas.microsoft.com/office/powerpoint/2010/main" val="85171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FA482-A653-4876-B942-EE0BFB576B84}"/>
              </a:ext>
            </a:extLst>
          </p:cNvPr>
          <p:cNvSpPr>
            <a:spLocks noGrp="1"/>
          </p:cNvSpPr>
          <p:nvPr>
            <p:ph type="title"/>
          </p:nvPr>
        </p:nvSpPr>
        <p:spPr/>
        <p:txBody>
          <a:bodyPr/>
          <a:lstStyle/>
          <a:p>
            <a:r>
              <a:rPr lang="en-US" dirty="0"/>
              <a:t>Econometrics: focus on internal validity</a:t>
            </a:r>
          </a:p>
        </p:txBody>
      </p:sp>
      <p:sp>
        <p:nvSpPr>
          <p:cNvPr id="3" name="Content Placeholder 2">
            <a:extLst>
              <a:ext uri="{FF2B5EF4-FFF2-40B4-BE49-F238E27FC236}">
                <a16:creationId xmlns:a16="http://schemas.microsoft.com/office/drawing/2014/main" id="{57F1AD40-86D3-4DDD-86F9-F3AB03AF17D4}"/>
              </a:ext>
            </a:extLst>
          </p:cNvPr>
          <p:cNvSpPr>
            <a:spLocks noGrp="1"/>
          </p:cNvSpPr>
          <p:nvPr>
            <p:ph idx="1"/>
          </p:nvPr>
        </p:nvSpPr>
        <p:spPr>
          <a:xfrm>
            <a:off x="838200" y="1825624"/>
            <a:ext cx="10515600" cy="4808855"/>
          </a:xfrm>
        </p:spPr>
        <p:txBody>
          <a:bodyPr>
            <a:normAutofit fontScale="92500"/>
          </a:bodyPr>
          <a:lstStyle/>
          <a:p>
            <a:r>
              <a:rPr lang="en-US" dirty="0"/>
              <a:t>Ultimately economists require methods that ensure internal validity</a:t>
            </a:r>
          </a:p>
          <a:p>
            <a:pPr lvl="1"/>
            <a:r>
              <a:rPr lang="en-US" dirty="0"/>
              <a:t>Sometimes external validity is less of a focus</a:t>
            </a:r>
          </a:p>
          <a:p>
            <a:r>
              <a:rPr lang="en-US" dirty="0"/>
              <a:t>Internal validity</a:t>
            </a:r>
          </a:p>
          <a:p>
            <a:pPr lvl="1"/>
            <a:r>
              <a:rPr lang="en-US" dirty="0"/>
              <a:t>The estimates are close to the true parameter values in the sample for which we have data</a:t>
            </a:r>
          </a:p>
          <a:p>
            <a:pPr lvl="1"/>
            <a:r>
              <a:rPr lang="en-US" dirty="0"/>
              <a:t>If methods are not internally valid, economists not interested in results</a:t>
            </a:r>
          </a:p>
          <a:p>
            <a:r>
              <a:rPr lang="en-US" dirty="0"/>
              <a:t>External validity</a:t>
            </a:r>
          </a:p>
          <a:p>
            <a:pPr lvl="1"/>
            <a:r>
              <a:rPr lang="en-US" dirty="0"/>
              <a:t>The estimates are close to the parameter values in a population when they are used to predict outcomes</a:t>
            </a:r>
          </a:p>
          <a:p>
            <a:pPr lvl="1"/>
            <a:r>
              <a:rPr lang="en-US" dirty="0"/>
              <a:t>Generalizability and transportability</a:t>
            </a:r>
          </a:p>
          <a:p>
            <a:r>
              <a:rPr lang="en-US" dirty="0"/>
              <a:t>One thing to practice as you study different methods is knowing how to differentiate between concerns related to internal vs external validity</a:t>
            </a:r>
          </a:p>
        </p:txBody>
      </p:sp>
      <p:sp>
        <p:nvSpPr>
          <p:cNvPr id="4" name="Slide Number Placeholder 3">
            <a:extLst>
              <a:ext uri="{FF2B5EF4-FFF2-40B4-BE49-F238E27FC236}">
                <a16:creationId xmlns:a16="http://schemas.microsoft.com/office/drawing/2014/main" id="{C8E21849-BCE4-4338-A59B-65D86A677BB3}"/>
              </a:ext>
            </a:extLst>
          </p:cNvPr>
          <p:cNvSpPr>
            <a:spLocks noGrp="1"/>
          </p:cNvSpPr>
          <p:nvPr>
            <p:ph type="sldNum" sz="quarter" idx="12"/>
          </p:nvPr>
        </p:nvSpPr>
        <p:spPr/>
        <p:txBody>
          <a:bodyPr/>
          <a:lstStyle/>
          <a:p>
            <a:fld id="{4698AAF4-35A4-40F4-A7AE-C8E2C41B9252}" type="slidenum">
              <a:rPr lang="en-US" smtClean="0"/>
              <a:t>29</a:t>
            </a:fld>
            <a:endParaRPr lang="en-US"/>
          </a:p>
        </p:txBody>
      </p:sp>
    </p:spTree>
    <p:extLst>
      <p:ext uri="{BB962C8B-B14F-4D97-AF65-F5344CB8AC3E}">
        <p14:creationId xmlns:p14="http://schemas.microsoft.com/office/powerpoint/2010/main" val="2475956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54C82-28D2-4BB0-AEF0-28BCA9F418CE}"/>
              </a:ext>
            </a:extLst>
          </p:cNvPr>
          <p:cNvSpPr>
            <a:spLocks noGrp="1"/>
          </p:cNvSpPr>
          <p:nvPr>
            <p:ph type="title"/>
          </p:nvPr>
        </p:nvSpPr>
        <p:spPr/>
        <p:txBody>
          <a:bodyPr/>
          <a:lstStyle/>
          <a:p>
            <a:r>
              <a:rPr lang="en-US" dirty="0"/>
              <a:t>Internal validity</a:t>
            </a:r>
          </a:p>
        </p:txBody>
      </p:sp>
      <p:sp>
        <p:nvSpPr>
          <p:cNvPr id="3" name="Content Placeholder 2">
            <a:extLst>
              <a:ext uri="{FF2B5EF4-FFF2-40B4-BE49-F238E27FC236}">
                <a16:creationId xmlns:a16="http://schemas.microsoft.com/office/drawing/2014/main" id="{A40AAC63-0C10-434A-87D8-0184C184D2E3}"/>
              </a:ext>
            </a:extLst>
          </p:cNvPr>
          <p:cNvSpPr>
            <a:spLocks noGrp="1"/>
          </p:cNvSpPr>
          <p:nvPr>
            <p:ph idx="1"/>
          </p:nvPr>
        </p:nvSpPr>
        <p:spPr>
          <a:xfrm>
            <a:off x="838200" y="1825624"/>
            <a:ext cx="10515600" cy="4667251"/>
          </a:xfrm>
        </p:spPr>
        <p:txBody>
          <a:bodyPr>
            <a:normAutofit fontScale="70000" lnSpcReduction="20000"/>
          </a:bodyPr>
          <a:lstStyle/>
          <a:p>
            <a:r>
              <a:rPr lang="en-US" dirty="0"/>
              <a:t>Internal validity usually requires some assumptions BUT only some of the assumptions are testable </a:t>
            </a:r>
          </a:p>
          <a:p>
            <a:endParaRPr lang="en-US" dirty="0"/>
          </a:p>
          <a:p>
            <a:r>
              <a:rPr lang="en-US" dirty="0"/>
              <a:t>When we can’t directly test, economists favor methods that can: </a:t>
            </a:r>
          </a:p>
          <a:p>
            <a:pPr lvl="1"/>
            <a:r>
              <a:rPr lang="en-US" dirty="0"/>
              <a:t>provide transparent visualizations (RDD, ITS, </a:t>
            </a:r>
            <a:r>
              <a:rPr lang="en-US" dirty="0" err="1"/>
              <a:t>DiD</a:t>
            </a:r>
            <a:r>
              <a:rPr lang="en-US" dirty="0"/>
              <a:t> when presented as event study) OR</a:t>
            </a:r>
          </a:p>
          <a:p>
            <a:pPr lvl="1"/>
            <a:r>
              <a:rPr lang="en-US" dirty="0"/>
              <a:t>settings where we know enough about the institutional setting to be confident about the assignment to ”treatment” (IV)</a:t>
            </a:r>
          </a:p>
          <a:p>
            <a:pPr lvl="2"/>
            <a:r>
              <a:rPr lang="en-US" dirty="0"/>
              <a:t>I.e. designs that use the assignment of a case worker, judge, </a:t>
            </a:r>
            <a:r>
              <a:rPr lang="en-US" dirty="0" err="1"/>
              <a:t>etc</a:t>
            </a:r>
            <a:endParaRPr lang="en-US" dirty="0"/>
          </a:p>
          <a:p>
            <a:endParaRPr lang="en-US" dirty="0"/>
          </a:p>
          <a:p>
            <a:r>
              <a:rPr lang="en-US" dirty="0"/>
              <a:t>Where a choice of methods is available, economists always prefer the method with fewer untestable assumptions </a:t>
            </a:r>
          </a:p>
          <a:p>
            <a:pPr marL="0" indent="0">
              <a:buNone/>
            </a:pPr>
            <a:r>
              <a:rPr lang="en-US" dirty="0"/>
              <a:t>  </a:t>
            </a:r>
          </a:p>
          <a:p>
            <a:r>
              <a:rPr lang="en-US" dirty="0"/>
              <a:t>New methods sometimes have “hidden” assumptions that are stated in highly technical language --may take time and examples to uncover plausibility</a:t>
            </a:r>
          </a:p>
          <a:p>
            <a:pPr lvl="1"/>
            <a:r>
              <a:rPr lang="en-US" dirty="0"/>
              <a:t>Example – the discovery that two-way fixed effects models in difference in difference estimates using already treated units as controls – people used this for decades before realizing it can bias results toward the null</a:t>
            </a:r>
          </a:p>
          <a:p>
            <a:pPr marL="0" indent="0">
              <a:buNone/>
            </a:pPr>
            <a:endParaRPr lang="en-US" dirty="0"/>
          </a:p>
        </p:txBody>
      </p:sp>
      <p:sp>
        <p:nvSpPr>
          <p:cNvPr id="4" name="Slide Number Placeholder 3">
            <a:extLst>
              <a:ext uri="{FF2B5EF4-FFF2-40B4-BE49-F238E27FC236}">
                <a16:creationId xmlns:a16="http://schemas.microsoft.com/office/drawing/2014/main" id="{1AF2EBCA-2531-4C58-AEB6-DB365058A116}"/>
              </a:ext>
            </a:extLst>
          </p:cNvPr>
          <p:cNvSpPr>
            <a:spLocks noGrp="1"/>
          </p:cNvSpPr>
          <p:nvPr>
            <p:ph type="sldNum" sz="quarter" idx="12"/>
          </p:nvPr>
        </p:nvSpPr>
        <p:spPr/>
        <p:txBody>
          <a:bodyPr/>
          <a:lstStyle/>
          <a:p>
            <a:fld id="{4698AAF4-35A4-40F4-A7AE-C8E2C41B9252}" type="slidenum">
              <a:rPr lang="en-US" smtClean="0"/>
              <a:t>30</a:t>
            </a:fld>
            <a:endParaRPr lang="en-US"/>
          </a:p>
        </p:txBody>
      </p:sp>
    </p:spTree>
    <p:extLst>
      <p:ext uri="{BB962C8B-B14F-4D97-AF65-F5344CB8AC3E}">
        <p14:creationId xmlns:p14="http://schemas.microsoft.com/office/powerpoint/2010/main" val="117506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validity</a:t>
            </a:r>
          </a:p>
        </p:txBody>
      </p:sp>
      <p:sp>
        <p:nvSpPr>
          <p:cNvPr id="3" name="Content Placeholder 2"/>
          <p:cNvSpPr>
            <a:spLocks noGrp="1"/>
          </p:cNvSpPr>
          <p:nvPr>
            <p:ph idx="1"/>
          </p:nvPr>
        </p:nvSpPr>
        <p:spPr>
          <a:xfrm>
            <a:off x="838200" y="1520890"/>
            <a:ext cx="10515600" cy="5337110"/>
          </a:xfrm>
        </p:spPr>
        <p:txBody>
          <a:bodyPr>
            <a:normAutofit fontScale="77500" lnSpcReduction="20000"/>
          </a:bodyPr>
          <a:lstStyle/>
          <a:p>
            <a:r>
              <a:rPr lang="en-US" dirty="0"/>
              <a:t>When we use econometric methods we get estimates of “treatment effects” for specific sample at a particular time under certain conditions </a:t>
            </a:r>
          </a:p>
          <a:p>
            <a:r>
              <a:rPr lang="en-US" dirty="0"/>
              <a:t>How much can we generalize these findings? what about similar interventions/policies? differences in implementation? </a:t>
            </a:r>
          </a:p>
          <a:p>
            <a:r>
              <a:rPr lang="en-US" dirty="0"/>
              <a:t>While trials provide excellent </a:t>
            </a:r>
            <a:r>
              <a:rPr lang="en-US" i="1" dirty="0"/>
              <a:t>internal validity</a:t>
            </a:r>
            <a:r>
              <a:rPr lang="en-US" dirty="0"/>
              <a:t> – they may have external validity challenges</a:t>
            </a:r>
          </a:p>
          <a:p>
            <a:pPr lvl="1"/>
            <a:r>
              <a:rPr lang="en-US" dirty="0"/>
              <a:t>Special inclusion criteria: i.e. restricting trials to populations that are not likely to move away, those above a certain age, </a:t>
            </a:r>
            <a:r>
              <a:rPr lang="en-US" dirty="0" err="1"/>
              <a:t>etc</a:t>
            </a:r>
            <a:endParaRPr lang="en-US" dirty="0"/>
          </a:p>
          <a:p>
            <a:pPr lvl="1"/>
            <a:r>
              <a:rPr lang="en-US" dirty="0"/>
              <a:t>Trial conditions that minimize attrition may limit external validity</a:t>
            </a:r>
          </a:p>
          <a:p>
            <a:pPr lvl="2"/>
            <a:r>
              <a:rPr lang="en-US" dirty="0"/>
              <a:t>i.e. many trials provide substantial financial payments for ongoing participation</a:t>
            </a:r>
          </a:p>
          <a:p>
            <a:pPr lvl="1"/>
            <a:r>
              <a:rPr lang="en-US" dirty="0"/>
              <a:t>Populations that historically have been excluded from trials may be the policy relevant population (i.e. women, Black birthing women, pregnant people)</a:t>
            </a:r>
          </a:p>
          <a:p>
            <a:r>
              <a:rPr lang="en-US" dirty="0"/>
              <a:t>Quasi-experimental techniques we have learned may be </a:t>
            </a:r>
          </a:p>
          <a:p>
            <a:pPr lvl="1"/>
            <a:r>
              <a:rPr lang="en-US" u="sng" dirty="0"/>
              <a:t>more</a:t>
            </a:r>
            <a:r>
              <a:rPr lang="en-US" dirty="0"/>
              <a:t> externally valid</a:t>
            </a:r>
          </a:p>
          <a:p>
            <a:pPr lvl="2"/>
            <a:r>
              <a:rPr lang="en-US" dirty="0"/>
              <a:t>For example if they take place in more naturalistic or policy-relevant settings, use naturally occurring administrative records that don’t require follow-up data collection and include data from a wide variety of states and settings</a:t>
            </a:r>
          </a:p>
          <a:p>
            <a:pPr lvl="1"/>
            <a:r>
              <a:rPr lang="en-US" u="sng" dirty="0"/>
              <a:t>less</a:t>
            </a:r>
            <a:r>
              <a:rPr lang="en-US" dirty="0"/>
              <a:t> externally valid</a:t>
            </a:r>
          </a:p>
          <a:p>
            <a:pPr lvl="2"/>
            <a:r>
              <a:rPr lang="en-US" dirty="0"/>
              <a:t>For example when they take place at a specific time/setting or the estimated treatment effect is only valid for a narrow group (i.e. those affected by an instrumental variable or near a threshold)</a:t>
            </a:r>
            <a:endParaRPr lang="en-US" u="sng" dirty="0"/>
          </a:p>
          <a:p>
            <a:endParaRPr lang="en-US" dirty="0"/>
          </a:p>
        </p:txBody>
      </p:sp>
      <p:sp>
        <p:nvSpPr>
          <p:cNvPr id="4" name="Slide Number Placeholder 3"/>
          <p:cNvSpPr>
            <a:spLocks noGrp="1"/>
          </p:cNvSpPr>
          <p:nvPr>
            <p:ph type="sldNum" sz="quarter" idx="12"/>
          </p:nvPr>
        </p:nvSpPr>
        <p:spPr/>
        <p:txBody>
          <a:bodyPr/>
          <a:lstStyle/>
          <a:p>
            <a:fld id="{4698AAF4-35A4-40F4-A7AE-C8E2C41B9252}" type="slidenum">
              <a:rPr lang="en-US" smtClean="0"/>
              <a:t>31</a:t>
            </a:fld>
            <a:endParaRPr lang="en-US"/>
          </a:p>
        </p:txBody>
      </p:sp>
    </p:spTree>
    <p:extLst>
      <p:ext uri="{BB962C8B-B14F-4D97-AF65-F5344CB8AC3E}">
        <p14:creationId xmlns:p14="http://schemas.microsoft.com/office/powerpoint/2010/main" val="1069226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6351"/>
          </a:xfrm>
        </p:spPr>
        <p:txBody>
          <a:bodyPr/>
          <a:lstStyle/>
          <a:p>
            <a:r>
              <a:rPr lang="en-US" dirty="0"/>
              <a:t>Improving Internal and External Validity</a:t>
            </a:r>
          </a:p>
        </p:txBody>
      </p:sp>
      <p:sp>
        <p:nvSpPr>
          <p:cNvPr id="3" name="Content Placeholder 2"/>
          <p:cNvSpPr>
            <a:spLocks noGrp="1"/>
          </p:cNvSpPr>
          <p:nvPr>
            <p:ph idx="1"/>
          </p:nvPr>
        </p:nvSpPr>
        <p:spPr>
          <a:xfrm>
            <a:off x="838200" y="1313412"/>
            <a:ext cx="10515600" cy="4863552"/>
          </a:xfrm>
        </p:spPr>
        <p:txBody>
          <a:bodyPr>
            <a:normAutofit/>
          </a:bodyPr>
          <a:lstStyle/>
          <a:p>
            <a:endParaRPr lang="en-US" dirty="0"/>
          </a:p>
          <a:p>
            <a:r>
              <a:rPr lang="en-US" dirty="0"/>
              <a:t>Empirical work usually does not settle a research question – new papers continue to be published</a:t>
            </a:r>
          </a:p>
          <a:p>
            <a:endParaRPr lang="en-US" dirty="0"/>
          </a:p>
          <a:p>
            <a:r>
              <a:rPr lang="en-US" dirty="0"/>
              <a:t>Contribution is to advance knowledge – can we </a:t>
            </a:r>
            <a:r>
              <a:rPr lang="en-US" dirty="0">
                <a:solidFill>
                  <a:srgbClr val="FF0000"/>
                </a:solidFill>
              </a:rPr>
              <a:t>improve</a:t>
            </a:r>
            <a:r>
              <a:rPr lang="en-US" dirty="0"/>
              <a:t> internal and external validity?</a:t>
            </a:r>
          </a:p>
          <a:p>
            <a:endParaRPr lang="en-US" dirty="0"/>
          </a:p>
          <a:p>
            <a:r>
              <a:rPr lang="en-US" dirty="0"/>
              <a:t>Some questions are hard to answer – can we improve on existing estimates even if we do not have perfection?</a:t>
            </a:r>
          </a:p>
        </p:txBody>
      </p:sp>
    </p:spTree>
    <p:extLst>
      <p:ext uri="{BB962C8B-B14F-4D97-AF65-F5344CB8AC3E}">
        <p14:creationId xmlns:p14="http://schemas.microsoft.com/office/powerpoint/2010/main" val="359922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FA482-A653-4876-B942-EE0BFB576B84}"/>
              </a:ext>
            </a:extLst>
          </p:cNvPr>
          <p:cNvSpPr>
            <a:spLocks noGrp="1"/>
          </p:cNvSpPr>
          <p:nvPr>
            <p:ph type="title"/>
          </p:nvPr>
        </p:nvSpPr>
        <p:spPr/>
        <p:txBody>
          <a:bodyPr/>
          <a:lstStyle/>
          <a:p>
            <a:r>
              <a:rPr lang="en-US" dirty="0"/>
              <a:t>Rationale – quasi-experimental studies</a:t>
            </a:r>
          </a:p>
        </p:txBody>
      </p:sp>
      <p:sp>
        <p:nvSpPr>
          <p:cNvPr id="4" name="Slide Number Placeholder 3">
            <a:extLst>
              <a:ext uri="{FF2B5EF4-FFF2-40B4-BE49-F238E27FC236}">
                <a16:creationId xmlns:a16="http://schemas.microsoft.com/office/drawing/2014/main" id="{C8E21849-BCE4-4338-A59B-65D86A677BB3}"/>
              </a:ext>
            </a:extLst>
          </p:cNvPr>
          <p:cNvSpPr>
            <a:spLocks noGrp="1"/>
          </p:cNvSpPr>
          <p:nvPr>
            <p:ph type="sldNum" sz="quarter" idx="12"/>
          </p:nvPr>
        </p:nvSpPr>
        <p:spPr/>
        <p:txBody>
          <a:bodyPr/>
          <a:lstStyle/>
          <a:p>
            <a:fld id="{4698AAF4-35A4-40F4-A7AE-C8E2C41B9252}" type="slidenum">
              <a:rPr lang="en-US" smtClean="0"/>
              <a:t>33</a:t>
            </a:fld>
            <a:endParaRPr lang="en-US"/>
          </a:p>
        </p:txBody>
      </p:sp>
      <p:pic>
        <p:nvPicPr>
          <p:cNvPr id="8" name="Content Placeholder 7" descr="A close-up of a chart&#10;&#10;Description automatically generated">
            <a:extLst>
              <a:ext uri="{FF2B5EF4-FFF2-40B4-BE49-F238E27FC236}">
                <a16:creationId xmlns:a16="http://schemas.microsoft.com/office/drawing/2014/main" id="{F60FD6DC-1A94-D4D7-5BB7-60EFD1632C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0427" y="1755009"/>
            <a:ext cx="8334703" cy="2897953"/>
          </a:xfrm>
        </p:spPr>
      </p:pic>
      <p:sp>
        <p:nvSpPr>
          <p:cNvPr id="9" name="TextBox 8">
            <a:extLst>
              <a:ext uri="{FF2B5EF4-FFF2-40B4-BE49-F238E27FC236}">
                <a16:creationId xmlns:a16="http://schemas.microsoft.com/office/drawing/2014/main" id="{130C12B6-C603-BDA6-1240-E4D52B9096EE}"/>
              </a:ext>
            </a:extLst>
          </p:cNvPr>
          <p:cNvSpPr txBox="1"/>
          <p:nvPr/>
        </p:nvSpPr>
        <p:spPr>
          <a:xfrm>
            <a:off x="588579" y="5192110"/>
            <a:ext cx="10573407" cy="646331"/>
          </a:xfrm>
          <a:prstGeom prst="rect">
            <a:avLst/>
          </a:prstGeom>
          <a:noFill/>
        </p:spPr>
        <p:txBody>
          <a:bodyPr wrap="square" rtlCol="0">
            <a:spAutoFit/>
          </a:bodyPr>
          <a:lstStyle/>
          <a:p>
            <a:r>
              <a:rPr lang="en-US" b="0" i="0" dirty="0" err="1">
                <a:solidFill>
                  <a:srgbClr val="212121"/>
                </a:solidFill>
                <a:effectLst/>
                <a:latin typeface="system-ui"/>
              </a:rPr>
              <a:t>Calonico</a:t>
            </a:r>
            <a:r>
              <a:rPr lang="en-US" b="0" i="0" dirty="0">
                <a:solidFill>
                  <a:srgbClr val="212121"/>
                </a:solidFill>
                <a:effectLst/>
                <a:latin typeface="system-ui"/>
              </a:rPr>
              <a:t> S, </a:t>
            </a:r>
            <a:r>
              <a:rPr lang="en-US" b="0" i="0" dirty="0" err="1">
                <a:solidFill>
                  <a:srgbClr val="212121"/>
                </a:solidFill>
                <a:effectLst/>
                <a:latin typeface="system-ui"/>
              </a:rPr>
              <a:t>Jawadekar</a:t>
            </a:r>
            <a:r>
              <a:rPr lang="en-US" b="0" i="0" dirty="0">
                <a:solidFill>
                  <a:srgbClr val="212121"/>
                </a:solidFill>
                <a:effectLst/>
                <a:latin typeface="system-ui"/>
              </a:rPr>
              <a:t> N, </a:t>
            </a:r>
            <a:r>
              <a:rPr lang="en-US" b="0" i="0" dirty="0" err="1">
                <a:solidFill>
                  <a:srgbClr val="212121"/>
                </a:solidFill>
                <a:effectLst/>
                <a:latin typeface="system-ui"/>
              </a:rPr>
              <a:t>Kezios</a:t>
            </a:r>
            <a:r>
              <a:rPr lang="en-US" b="0" i="0" dirty="0">
                <a:solidFill>
                  <a:srgbClr val="212121"/>
                </a:solidFill>
                <a:effectLst/>
                <a:latin typeface="system-ui"/>
              </a:rPr>
              <a:t> K, Zeki Al </a:t>
            </a:r>
            <a:r>
              <a:rPr lang="en-US" b="0" i="0" dirty="0" err="1">
                <a:solidFill>
                  <a:srgbClr val="212121"/>
                </a:solidFill>
                <a:effectLst/>
                <a:latin typeface="system-ui"/>
              </a:rPr>
              <a:t>Hazzouri</a:t>
            </a:r>
            <a:r>
              <a:rPr lang="en-US" b="0" i="0" dirty="0">
                <a:solidFill>
                  <a:srgbClr val="212121"/>
                </a:solidFill>
                <a:effectLst/>
                <a:latin typeface="system-ui"/>
              </a:rPr>
              <a:t> A. Regression discontinuity design studies: a guide for health researchers. BMJ. 2024 Feb 27;384:e072254.</a:t>
            </a:r>
            <a:endParaRPr lang="en-US" dirty="0"/>
          </a:p>
        </p:txBody>
      </p:sp>
    </p:spTree>
    <p:extLst>
      <p:ext uri="{BB962C8B-B14F-4D97-AF65-F5344CB8AC3E}">
        <p14:creationId xmlns:p14="http://schemas.microsoft.com/office/powerpoint/2010/main" val="3739019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1A0B086-76DF-F4C6-B336-F47FA10D66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38128"/>
            <a:ext cx="6345044" cy="3080615"/>
          </a:xfrm>
          <a:prstGeom prst="rect">
            <a:avLst/>
          </a:prstGeom>
        </p:spPr>
      </p:pic>
      <p:pic>
        <p:nvPicPr>
          <p:cNvPr id="9" name="Picture 8">
            <a:extLst>
              <a:ext uri="{FF2B5EF4-FFF2-40B4-BE49-F238E27FC236}">
                <a16:creationId xmlns:a16="http://schemas.microsoft.com/office/drawing/2014/main" id="{99A2FD84-3C3E-88AB-559A-46D9CE3081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5044" y="3609846"/>
            <a:ext cx="5846956" cy="3101376"/>
          </a:xfrm>
          <a:prstGeom prst="rect">
            <a:avLst/>
          </a:prstGeom>
        </p:spPr>
      </p:pic>
      <p:pic>
        <p:nvPicPr>
          <p:cNvPr id="11" name="Picture 10">
            <a:extLst>
              <a:ext uri="{FF2B5EF4-FFF2-40B4-BE49-F238E27FC236}">
                <a16:creationId xmlns:a16="http://schemas.microsoft.com/office/drawing/2014/main" id="{3625399D-2F0A-9E4E-BA66-04AB6700B9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492" y="69878"/>
            <a:ext cx="6244683" cy="3113461"/>
          </a:xfrm>
          <a:prstGeom prst="rect">
            <a:avLst/>
          </a:prstGeom>
        </p:spPr>
      </p:pic>
      <p:pic>
        <p:nvPicPr>
          <p:cNvPr id="13" name="Picture 12">
            <a:extLst>
              <a:ext uri="{FF2B5EF4-FFF2-40B4-BE49-F238E27FC236}">
                <a16:creationId xmlns:a16="http://schemas.microsoft.com/office/drawing/2014/main" id="{8696F8C9-B146-C5D1-34C7-F878146DB5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5044" y="69878"/>
            <a:ext cx="5564458" cy="3056896"/>
          </a:xfrm>
          <a:prstGeom prst="rect">
            <a:avLst/>
          </a:prstGeom>
        </p:spPr>
      </p:pic>
    </p:spTree>
    <p:extLst>
      <p:ext uri="{BB962C8B-B14F-4D97-AF65-F5344CB8AC3E}">
        <p14:creationId xmlns:p14="http://schemas.microsoft.com/office/powerpoint/2010/main" val="1346852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FD0FE-359E-4CBF-8C0E-95A0F5514803}"/>
              </a:ext>
            </a:extLst>
          </p:cNvPr>
          <p:cNvSpPr>
            <a:spLocks noGrp="1"/>
          </p:cNvSpPr>
          <p:nvPr>
            <p:ph type="title"/>
          </p:nvPr>
        </p:nvSpPr>
        <p:spPr/>
        <p:txBody>
          <a:bodyPr/>
          <a:lstStyle/>
          <a:p>
            <a:r>
              <a:rPr lang="en-US" dirty="0"/>
              <a:t>Learning to use a method</a:t>
            </a:r>
          </a:p>
        </p:txBody>
      </p:sp>
      <p:sp>
        <p:nvSpPr>
          <p:cNvPr id="3" name="Content Placeholder 2">
            <a:extLst>
              <a:ext uri="{FF2B5EF4-FFF2-40B4-BE49-F238E27FC236}">
                <a16:creationId xmlns:a16="http://schemas.microsoft.com/office/drawing/2014/main" id="{7C2FE7D1-9CD8-426E-8FB7-5B428FE1EFA6}"/>
              </a:ext>
            </a:extLst>
          </p:cNvPr>
          <p:cNvSpPr>
            <a:spLocks noGrp="1"/>
          </p:cNvSpPr>
          <p:nvPr>
            <p:ph idx="1"/>
          </p:nvPr>
        </p:nvSpPr>
        <p:spPr/>
        <p:txBody>
          <a:bodyPr>
            <a:normAutofit lnSpcReduction="10000"/>
          </a:bodyPr>
          <a:lstStyle/>
          <a:p>
            <a:r>
              <a:rPr lang="en-US" dirty="0"/>
              <a:t>Assumptions: we should know and state the assumptions of the method that are required to establish internal validity of estimates</a:t>
            </a:r>
          </a:p>
          <a:p>
            <a:pPr lvl="1"/>
            <a:r>
              <a:rPr lang="en-US" dirty="0"/>
              <a:t>Testable assumptions should be tested, proceeding only if these tests are passed</a:t>
            </a:r>
          </a:p>
          <a:p>
            <a:r>
              <a:rPr lang="en-US" dirty="0"/>
              <a:t>Additional assumptions are required for valid confidence intervals, and these should also be stated and tested </a:t>
            </a:r>
          </a:p>
          <a:p>
            <a:r>
              <a:rPr lang="en-US" dirty="0"/>
              <a:t>Analysis should reflect recent developments – awareness of advances in tests of assumption validity, estimation techniques, options for estimation, post estimation presentation of results </a:t>
            </a:r>
          </a:p>
          <a:p>
            <a:r>
              <a:rPr lang="en-US" dirty="0"/>
              <a:t>Increasingly, success in publishing relies on making compelling and transparent figures to go along with your estimates</a:t>
            </a:r>
          </a:p>
          <a:p>
            <a:pPr marL="0" indent="0">
              <a:buNone/>
            </a:pPr>
            <a:endParaRPr lang="en-US" dirty="0"/>
          </a:p>
        </p:txBody>
      </p:sp>
      <p:sp>
        <p:nvSpPr>
          <p:cNvPr id="4" name="Slide Number Placeholder 3">
            <a:extLst>
              <a:ext uri="{FF2B5EF4-FFF2-40B4-BE49-F238E27FC236}">
                <a16:creationId xmlns:a16="http://schemas.microsoft.com/office/drawing/2014/main" id="{5AD17A77-6C1C-4183-9678-E749F6412765}"/>
              </a:ext>
            </a:extLst>
          </p:cNvPr>
          <p:cNvSpPr>
            <a:spLocks noGrp="1"/>
          </p:cNvSpPr>
          <p:nvPr>
            <p:ph type="sldNum" sz="quarter" idx="12"/>
          </p:nvPr>
        </p:nvSpPr>
        <p:spPr/>
        <p:txBody>
          <a:bodyPr/>
          <a:lstStyle/>
          <a:p>
            <a:fld id="{4698AAF4-35A4-40F4-A7AE-C8E2C41B9252}" type="slidenum">
              <a:rPr lang="en-US" smtClean="0"/>
              <a:t>35</a:t>
            </a:fld>
            <a:endParaRPr lang="en-US"/>
          </a:p>
        </p:txBody>
      </p:sp>
    </p:spTree>
    <p:extLst>
      <p:ext uri="{BB962C8B-B14F-4D97-AF65-F5344CB8AC3E}">
        <p14:creationId xmlns:p14="http://schemas.microsoft.com/office/powerpoint/2010/main" val="444210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DE1AC-AD65-4293-A6F9-84D419F4A990}"/>
              </a:ext>
            </a:extLst>
          </p:cNvPr>
          <p:cNvSpPr>
            <a:spLocks noGrp="1"/>
          </p:cNvSpPr>
          <p:nvPr>
            <p:ph type="title"/>
          </p:nvPr>
        </p:nvSpPr>
        <p:spPr/>
        <p:txBody>
          <a:bodyPr/>
          <a:lstStyle/>
          <a:p>
            <a:r>
              <a:rPr lang="en-US" dirty="0"/>
              <a:t>Instrumental variables recap</a:t>
            </a:r>
          </a:p>
        </p:txBody>
      </p:sp>
      <p:sp>
        <p:nvSpPr>
          <p:cNvPr id="4" name="Slide Number Placeholder 3">
            <a:extLst>
              <a:ext uri="{FF2B5EF4-FFF2-40B4-BE49-F238E27FC236}">
                <a16:creationId xmlns:a16="http://schemas.microsoft.com/office/drawing/2014/main" id="{C6C5EA20-967D-4660-95B4-08319DA7A856}"/>
              </a:ext>
            </a:extLst>
          </p:cNvPr>
          <p:cNvSpPr>
            <a:spLocks noGrp="1"/>
          </p:cNvSpPr>
          <p:nvPr>
            <p:ph type="sldNum" sz="quarter" idx="12"/>
          </p:nvPr>
        </p:nvSpPr>
        <p:spPr/>
        <p:txBody>
          <a:bodyPr/>
          <a:lstStyle/>
          <a:p>
            <a:fld id="{4698AAF4-35A4-40F4-A7AE-C8E2C41B9252}" type="slidenum">
              <a:rPr lang="en-US" smtClean="0"/>
              <a:t>36</a:t>
            </a:fld>
            <a:endParaRPr lang="en-US"/>
          </a:p>
        </p:txBody>
      </p:sp>
      <p:sp>
        <p:nvSpPr>
          <p:cNvPr id="5" name="TextBox 4">
            <a:extLst>
              <a:ext uri="{FF2B5EF4-FFF2-40B4-BE49-F238E27FC236}">
                <a16:creationId xmlns:a16="http://schemas.microsoft.com/office/drawing/2014/main" id="{9CFA027E-508D-44B4-8E5D-7FD73B614B48}"/>
              </a:ext>
            </a:extLst>
          </p:cNvPr>
          <p:cNvSpPr txBox="1"/>
          <p:nvPr/>
        </p:nvSpPr>
        <p:spPr>
          <a:xfrm>
            <a:off x="3732798" y="3712765"/>
            <a:ext cx="423514"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dirty="0"/>
              <a:t>X</a:t>
            </a:r>
            <a:endParaRPr lang="en-US" sz="2400" dirty="0"/>
          </a:p>
        </p:txBody>
      </p:sp>
      <p:sp>
        <p:nvSpPr>
          <p:cNvPr id="6" name="TextBox 5">
            <a:extLst>
              <a:ext uri="{FF2B5EF4-FFF2-40B4-BE49-F238E27FC236}">
                <a16:creationId xmlns:a16="http://schemas.microsoft.com/office/drawing/2014/main" id="{7ABEA2AD-EC22-43D5-BCDC-EE3BD19D864F}"/>
              </a:ext>
            </a:extLst>
          </p:cNvPr>
          <p:cNvSpPr txBox="1"/>
          <p:nvPr/>
        </p:nvSpPr>
        <p:spPr>
          <a:xfrm>
            <a:off x="6597803" y="3712765"/>
            <a:ext cx="397866" cy="58477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dirty="0"/>
              <a:t>Y</a:t>
            </a:r>
          </a:p>
        </p:txBody>
      </p:sp>
      <p:sp>
        <p:nvSpPr>
          <p:cNvPr id="7" name="TextBox 10">
            <a:extLst>
              <a:ext uri="{FF2B5EF4-FFF2-40B4-BE49-F238E27FC236}">
                <a16:creationId xmlns:a16="http://schemas.microsoft.com/office/drawing/2014/main" id="{B1F4F2BB-DCD6-428C-91FB-3D20E268BD93}"/>
              </a:ext>
            </a:extLst>
          </p:cNvPr>
          <p:cNvSpPr txBox="1"/>
          <p:nvPr/>
        </p:nvSpPr>
        <p:spPr>
          <a:xfrm>
            <a:off x="5027196" y="2498904"/>
            <a:ext cx="729410"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dirty="0"/>
              <a:t>W</a:t>
            </a:r>
            <a:endParaRPr lang="en-US" sz="2400" dirty="0"/>
          </a:p>
        </p:txBody>
      </p:sp>
      <p:sp>
        <p:nvSpPr>
          <p:cNvPr id="11" name="TextBox 10">
            <a:extLst>
              <a:ext uri="{FF2B5EF4-FFF2-40B4-BE49-F238E27FC236}">
                <a16:creationId xmlns:a16="http://schemas.microsoft.com/office/drawing/2014/main" id="{95E1E72A-D1BB-4C62-9A8B-36DE374771BB}"/>
              </a:ext>
            </a:extLst>
          </p:cNvPr>
          <p:cNvSpPr txBox="1"/>
          <p:nvPr/>
        </p:nvSpPr>
        <p:spPr>
          <a:xfrm>
            <a:off x="2818471" y="4587942"/>
            <a:ext cx="401072" cy="646331"/>
          </a:xfrm>
          <a:prstGeom prst="rect">
            <a:avLst/>
          </a:prstGeom>
          <a:noFill/>
        </p:spPr>
        <p:txBody>
          <a:bodyPr wrap="none" rtlCol="0">
            <a:spAutoFit/>
          </a:bodyPr>
          <a:lstStyle/>
          <a:p>
            <a:r>
              <a:rPr lang="en-US" sz="3600" dirty="0"/>
              <a:t>Z</a:t>
            </a:r>
            <a:endParaRPr lang="en-US" sz="2400" dirty="0"/>
          </a:p>
        </p:txBody>
      </p:sp>
      <p:cxnSp>
        <p:nvCxnSpPr>
          <p:cNvPr id="12" name="Straight Arrow Connector 11">
            <a:extLst>
              <a:ext uri="{FF2B5EF4-FFF2-40B4-BE49-F238E27FC236}">
                <a16:creationId xmlns:a16="http://schemas.microsoft.com/office/drawing/2014/main" id="{53003686-779C-4354-8B17-B8F34D68D422}"/>
              </a:ext>
            </a:extLst>
          </p:cNvPr>
          <p:cNvCxnSpPr/>
          <p:nvPr/>
        </p:nvCxnSpPr>
        <p:spPr>
          <a:xfrm flipV="1">
            <a:off x="3219543" y="4297540"/>
            <a:ext cx="513255" cy="470403"/>
          </a:xfrm>
          <a:prstGeom prst="straightConnector1">
            <a:avLst/>
          </a:prstGeom>
          <a:ln w="508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95C9902-DA4C-4740-90BF-8064C68CD6A1}"/>
              </a:ext>
            </a:extLst>
          </p:cNvPr>
          <p:cNvCxnSpPr/>
          <p:nvPr/>
        </p:nvCxnSpPr>
        <p:spPr>
          <a:xfrm>
            <a:off x="4647271" y="4022347"/>
            <a:ext cx="1453151" cy="0"/>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4450702" y="3109653"/>
            <a:ext cx="576494" cy="542568"/>
          </a:xfrm>
          <a:prstGeom prst="straightConnector1">
            <a:avLst/>
          </a:prstGeom>
          <a:ln w="57150">
            <a:tailEnd type="triangle"/>
          </a:ln>
        </p:spPr>
        <p:style>
          <a:lnRef idx="3">
            <a:schemeClr val="accent1"/>
          </a:lnRef>
          <a:fillRef idx="0">
            <a:schemeClr val="accent1"/>
          </a:fillRef>
          <a:effectRef idx="2">
            <a:schemeClr val="accent1"/>
          </a:effectRef>
          <a:fontRef idx="minor">
            <a:schemeClr val="tx1"/>
          </a:fontRef>
        </p:style>
      </p:cxnSp>
      <p:cxnSp>
        <p:nvCxnSpPr>
          <p:cNvPr id="23" name="Straight Arrow Connector 22"/>
          <p:cNvCxnSpPr/>
          <p:nvPr/>
        </p:nvCxnSpPr>
        <p:spPr>
          <a:xfrm>
            <a:off x="5617029" y="3023118"/>
            <a:ext cx="587828" cy="629103"/>
          </a:xfrm>
          <a:prstGeom prst="straightConnector1">
            <a:avLst/>
          </a:prstGeom>
          <a:ln w="57150">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480671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96886-337D-405E-A226-55CBC070AC3D}"/>
              </a:ext>
            </a:extLst>
          </p:cNvPr>
          <p:cNvSpPr>
            <a:spLocks noGrp="1"/>
          </p:cNvSpPr>
          <p:nvPr>
            <p:ph type="title"/>
          </p:nvPr>
        </p:nvSpPr>
        <p:spPr/>
        <p:txBody>
          <a:bodyPr/>
          <a:lstStyle/>
          <a:p>
            <a:r>
              <a:rPr lang="en-US" dirty="0"/>
              <a:t>When does this work?</a:t>
            </a:r>
          </a:p>
        </p:txBody>
      </p:sp>
      <p:sp>
        <p:nvSpPr>
          <p:cNvPr id="3" name="Content Placeholder 2">
            <a:extLst>
              <a:ext uri="{FF2B5EF4-FFF2-40B4-BE49-F238E27FC236}">
                <a16:creationId xmlns:a16="http://schemas.microsoft.com/office/drawing/2014/main" id="{7D3B49DE-594D-4117-B6FF-E6D4C0CF3AA5}"/>
              </a:ext>
            </a:extLst>
          </p:cNvPr>
          <p:cNvSpPr>
            <a:spLocks noGrp="1"/>
          </p:cNvSpPr>
          <p:nvPr>
            <p:ph idx="1"/>
          </p:nvPr>
        </p:nvSpPr>
        <p:spPr>
          <a:xfrm>
            <a:off x="838200" y="1825624"/>
            <a:ext cx="10515600" cy="4753851"/>
          </a:xfrm>
        </p:spPr>
        <p:txBody>
          <a:bodyPr>
            <a:normAutofit fontScale="92500" lnSpcReduction="20000"/>
          </a:bodyPr>
          <a:lstStyle/>
          <a:p>
            <a:r>
              <a:rPr lang="en-US" dirty="0"/>
              <a:t>There are FOUR key requirements for IV inference</a:t>
            </a:r>
          </a:p>
          <a:p>
            <a:endParaRPr lang="en-US" dirty="0"/>
          </a:p>
          <a:p>
            <a:pPr marL="514350" indent="-514350">
              <a:buFont typeface="+mj-lt"/>
              <a:buAutoNum type="arabicPeriod"/>
            </a:pPr>
            <a:r>
              <a:rPr lang="en-US" b="1" dirty="0"/>
              <a:t>Relevance:</a:t>
            </a:r>
            <a:r>
              <a:rPr lang="en-US" dirty="0"/>
              <a:t> The instrument must be highly correlated with the variable of interest</a:t>
            </a:r>
          </a:p>
          <a:p>
            <a:pPr marL="514350" indent="-514350">
              <a:buFont typeface="+mj-lt"/>
              <a:buAutoNum type="arabicPeriod"/>
            </a:pPr>
            <a:r>
              <a:rPr lang="en-US" b="1" dirty="0"/>
              <a:t>Excludability:</a:t>
            </a:r>
            <a:r>
              <a:rPr lang="en-US" dirty="0"/>
              <a:t> The instrument must NOT have a direct causal effect on the outcome Y</a:t>
            </a:r>
          </a:p>
          <a:p>
            <a:pPr marL="514350" indent="-514350">
              <a:buFont typeface="+mj-lt"/>
              <a:buAutoNum type="arabicPeriod"/>
            </a:pPr>
            <a:r>
              <a:rPr lang="en-US" b="1" dirty="0"/>
              <a:t>Independence:</a:t>
            </a:r>
            <a:r>
              <a:rPr lang="en-US" dirty="0"/>
              <a:t> The instrument cannot be correlated with any other unobserved determinant of the outcome Y</a:t>
            </a:r>
          </a:p>
          <a:p>
            <a:pPr marL="514350" indent="-514350">
              <a:buFont typeface="+mj-lt"/>
              <a:buAutoNum type="arabicPeriod"/>
            </a:pPr>
            <a:r>
              <a:rPr lang="en-US" b="1" dirty="0"/>
              <a:t>Homogeneity:</a:t>
            </a:r>
            <a:r>
              <a:rPr lang="en-US" dirty="0"/>
              <a:t> The treatment effect is homogenous across all study subjects</a:t>
            </a:r>
          </a:p>
          <a:p>
            <a:pPr lvl="1"/>
            <a:r>
              <a:rPr lang="en-US" dirty="0"/>
              <a:t>If we think this isn’t plausible, we can still estimate </a:t>
            </a:r>
            <a:r>
              <a:rPr lang="en-US" u="sng" dirty="0"/>
              <a:t>LOCAL</a:t>
            </a:r>
            <a:r>
              <a:rPr lang="en-US" dirty="0"/>
              <a:t> average treatment effects relevant for those affected by the instrument if we assume monotonicity</a:t>
            </a:r>
          </a:p>
          <a:p>
            <a:pPr lvl="2"/>
            <a:r>
              <a:rPr lang="en-US" dirty="0"/>
              <a:t>Assignment to a treatment unit does not make anyone </a:t>
            </a:r>
            <a:r>
              <a:rPr lang="en-US" i="1" dirty="0"/>
              <a:t>less</a:t>
            </a:r>
            <a:r>
              <a:rPr lang="en-US" dirty="0"/>
              <a:t> likely to be a member of their treatment unit than they are supposed to be - when treatment is binary this means no </a:t>
            </a:r>
            <a:r>
              <a:rPr lang="en-US" dirty="0" err="1"/>
              <a:t>defiers</a:t>
            </a:r>
            <a:endParaRPr lang="en-US" dirty="0"/>
          </a:p>
        </p:txBody>
      </p:sp>
      <p:sp>
        <p:nvSpPr>
          <p:cNvPr id="4" name="Slide Number Placeholder 3">
            <a:extLst>
              <a:ext uri="{FF2B5EF4-FFF2-40B4-BE49-F238E27FC236}">
                <a16:creationId xmlns:a16="http://schemas.microsoft.com/office/drawing/2014/main" id="{400CE42B-F195-47E2-A948-B1916B6ED404}"/>
              </a:ext>
            </a:extLst>
          </p:cNvPr>
          <p:cNvSpPr>
            <a:spLocks noGrp="1"/>
          </p:cNvSpPr>
          <p:nvPr>
            <p:ph type="sldNum" sz="quarter" idx="12"/>
          </p:nvPr>
        </p:nvSpPr>
        <p:spPr/>
        <p:txBody>
          <a:bodyPr/>
          <a:lstStyle/>
          <a:p>
            <a:fld id="{4698AAF4-35A4-40F4-A7AE-C8E2C41B9252}" type="slidenum">
              <a:rPr lang="en-US" smtClean="0"/>
              <a:t>37</a:t>
            </a:fld>
            <a:endParaRPr lang="en-US"/>
          </a:p>
        </p:txBody>
      </p:sp>
    </p:spTree>
    <p:extLst>
      <p:ext uri="{BB962C8B-B14F-4D97-AF65-F5344CB8AC3E}">
        <p14:creationId xmlns:p14="http://schemas.microsoft.com/office/powerpoint/2010/main" val="15561148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5012C-09B1-43B0-A663-15DA23771851}"/>
              </a:ext>
            </a:extLst>
          </p:cNvPr>
          <p:cNvSpPr>
            <a:spLocks noGrp="1"/>
          </p:cNvSpPr>
          <p:nvPr>
            <p:ph type="title"/>
          </p:nvPr>
        </p:nvSpPr>
        <p:spPr/>
        <p:txBody>
          <a:bodyPr/>
          <a:lstStyle/>
          <a:p>
            <a:r>
              <a:rPr lang="en-US" dirty="0"/>
              <a:t>Condition 1: Relevance </a:t>
            </a:r>
          </a:p>
        </p:txBody>
      </p:sp>
      <p:sp>
        <p:nvSpPr>
          <p:cNvPr id="3" name="Content Placeholder 2">
            <a:extLst>
              <a:ext uri="{FF2B5EF4-FFF2-40B4-BE49-F238E27FC236}">
                <a16:creationId xmlns:a16="http://schemas.microsoft.com/office/drawing/2014/main" id="{0A66DA9E-70C2-4DB8-AB79-0DA500FCEA04}"/>
              </a:ext>
            </a:extLst>
          </p:cNvPr>
          <p:cNvSpPr>
            <a:spLocks noGrp="1"/>
          </p:cNvSpPr>
          <p:nvPr>
            <p:ph idx="1"/>
          </p:nvPr>
        </p:nvSpPr>
        <p:spPr/>
        <p:txBody>
          <a:bodyPr>
            <a:normAutofit lnSpcReduction="10000"/>
          </a:bodyPr>
          <a:lstStyle/>
          <a:p>
            <a:r>
              <a:rPr lang="en-US" dirty="0"/>
              <a:t>The relevance assumption is relatively easy to both satisfy and verify</a:t>
            </a:r>
            <a:br>
              <a:rPr lang="en-US" dirty="0"/>
            </a:br>
            <a:endParaRPr lang="en-US" dirty="0"/>
          </a:p>
          <a:p>
            <a:r>
              <a:rPr lang="en-US" dirty="0"/>
              <a:t>In most contexts, other factors are correlated with the variable of interest</a:t>
            </a:r>
            <a:br>
              <a:rPr lang="en-US" dirty="0"/>
            </a:br>
            <a:endParaRPr lang="en-US" dirty="0"/>
          </a:p>
          <a:p>
            <a:r>
              <a:rPr lang="en-US" dirty="0"/>
              <a:t>The “strength” of the instrument is determined by its predictive power in a multivariate setting</a:t>
            </a:r>
            <a:br>
              <a:rPr lang="en-US" dirty="0"/>
            </a:br>
            <a:endParaRPr lang="en-US" dirty="0"/>
          </a:p>
          <a:p>
            <a:r>
              <a:rPr lang="en-US" dirty="0"/>
              <a:t>A good instrument explains a significance part of the variation in the endogenous variable </a:t>
            </a:r>
            <a:r>
              <a:rPr lang="en-US" i="1" dirty="0"/>
              <a:t>once we control for all other factors in our empirical model</a:t>
            </a:r>
          </a:p>
        </p:txBody>
      </p:sp>
      <p:sp>
        <p:nvSpPr>
          <p:cNvPr id="4" name="Slide Number Placeholder 3">
            <a:extLst>
              <a:ext uri="{FF2B5EF4-FFF2-40B4-BE49-F238E27FC236}">
                <a16:creationId xmlns:a16="http://schemas.microsoft.com/office/drawing/2014/main" id="{0A9E1E36-8880-4231-93A5-93A10D22E8F8}"/>
              </a:ext>
            </a:extLst>
          </p:cNvPr>
          <p:cNvSpPr>
            <a:spLocks noGrp="1"/>
          </p:cNvSpPr>
          <p:nvPr>
            <p:ph type="sldNum" sz="quarter" idx="12"/>
          </p:nvPr>
        </p:nvSpPr>
        <p:spPr/>
        <p:txBody>
          <a:bodyPr/>
          <a:lstStyle/>
          <a:p>
            <a:fld id="{4698AAF4-35A4-40F4-A7AE-C8E2C41B9252}" type="slidenum">
              <a:rPr lang="en-US" smtClean="0"/>
              <a:t>38</a:t>
            </a:fld>
            <a:endParaRPr lang="en-US"/>
          </a:p>
        </p:txBody>
      </p:sp>
    </p:spTree>
    <p:extLst>
      <p:ext uri="{BB962C8B-B14F-4D97-AF65-F5344CB8AC3E}">
        <p14:creationId xmlns:p14="http://schemas.microsoft.com/office/powerpoint/2010/main" val="2955295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6BC47-AF11-4B3E-AAAE-615D5648A97E}"/>
              </a:ext>
            </a:extLst>
          </p:cNvPr>
          <p:cNvSpPr>
            <a:spLocks noGrp="1"/>
          </p:cNvSpPr>
          <p:nvPr>
            <p:ph type="title"/>
          </p:nvPr>
        </p:nvSpPr>
        <p:spPr/>
        <p:txBody>
          <a:bodyPr/>
          <a:lstStyle/>
          <a:p>
            <a:r>
              <a:rPr lang="en-US" dirty="0"/>
              <a:t>Conditions 2/3: Excludability/Independence</a:t>
            </a:r>
          </a:p>
        </p:txBody>
      </p:sp>
      <p:sp>
        <p:nvSpPr>
          <p:cNvPr id="3" name="Content Placeholder 2">
            <a:extLst>
              <a:ext uri="{FF2B5EF4-FFF2-40B4-BE49-F238E27FC236}">
                <a16:creationId xmlns:a16="http://schemas.microsoft.com/office/drawing/2014/main" id="{AC88364B-FBDE-4A65-B583-3D345987A32C}"/>
              </a:ext>
            </a:extLst>
          </p:cNvPr>
          <p:cNvSpPr>
            <a:spLocks noGrp="1"/>
          </p:cNvSpPr>
          <p:nvPr>
            <p:ph idx="1"/>
          </p:nvPr>
        </p:nvSpPr>
        <p:spPr/>
        <p:txBody>
          <a:bodyPr>
            <a:normAutofit fontScale="92500" lnSpcReduction="20000"/>
          </a:bodyPr>
          <a:lstStyle/>
          <a:p>
            <a:r>
              <a:rPr lang="en-US" dirty="0"/>
              <a:t>The excludability/independence conditions are more complex since orthogonality to (i.e., being uncorrelated with) the error requires that:</a:t>
            </a:r>
            <a:br>
              <a:rPr lang="en-US" dirty="0"/>
            </a:br>
            <a:endParaRPr lang="en-US" dirty="0"/>
          </a:p>
          <a:p>
            <a:pPr lvl="1"/>
            <a:r>
              <a:rPr lang="en-US" sz="2600" dirty="0"/>
              <a:t>The instrument does not have a direct effect on the dependent variable</a:t>
            </a:r>
            <a:br>
              <a:rPr lang="en-US" sz="2600" dirty="0"/>
            </a:br>
            <a:endParaRPr lang="en-US" sz="2600" dirty="0"/>
          </a:p>
          <a:p>
            <a:pPr lvl="1"/>
            <a:r>
              <a:rPr lang="en-US" sz="2600" dirty="0"/>
              <a:t>The instrument is not correlated with other omitted variables that have a direct effect</a:t>
            </a:r>
            <a:br>
              <a:rPr lang="en-US" sz="2600" dirty="0"/>
            </a:br>
            <a:endParaRPr lang="en-US" sz="2600" dirty="0"/>
          </a:p>
          <a:p>
            <a:pPr lvl="1"/>
            <a:r>
              <a:rPr lang="en-US" sz="2600" dirty="0"/>
              <a:t>The instrument is not correlated with measurement error</a:t>
            </a:r>
            <a:br>
              <a:rPr lang="en-US" sz="2600" dirty="0"/>
            </a:br>
            <a:endParaRPr lang="en-US" sz="2600" dirty="0"/>
          </a:p>
          <a:p>
            <a:pPr lvl="1"/>
            <a:r>
              <a:rPr lang="en-US" sz="2600" dirty="0"/>
              <a:t>The instrument is not “caused” by the dependent variable</a:t>
            </a:r>
          </a:p>
          <a:p>
            <a:pPr lvl="1"/>
            <a:endParaRPr lang="en-US" sz="2600" dirty="0"/>
          </a:p>
          <a:p>
            <a:pPr lvl="1"/>
            <a:r>
              <a:rPr lang="en-US" sz="2600" dirty="0"/>
              <a:t>This assumption is not testable</a:t>
            </a:r>
          </a:p>
          <a:p>
            <a:pPr lvl="2"/>
            <a:r>
              <a:rPr lang="en-US" sz="2200" dirty="0"/>
              <a:t>We can only discuss its conceptual plausibility</a:t>
            </a:r>
          </a:p>
        </p:txBody>
      </p:sp>
      <p:sp>
        <p:nvSpPr>
          <p:cNvPr id="4" name="Slide Number Placeholder 3">
            <a:extLst>
              <a:ext uri="{FF2B5EF4-FFF2-40B4-BE49-F238E27FC236}">
                <a16:creationId xmlns:a16="http://schemas.microsoft.com/office/drawing/2014/main" id="{941CF2F4-C366-4707-B153-4A61CB26FDFC}"/>
              </a:ext>
            </a:extLst>
          </p:cNvPr>
          <p:cNvSpPr>
            <a:spLocks noGrp="1"/>
          </p:cNvSpPr>
          <p:nvPr>
            <p:ph type="sldNum" sz="quarter" idx="12"/>
          </p:nvPr>
        </p:nvSpPr>
        <p:spPr/>
        <p:txBody>
          <a:bodyPr/>
          <a:lstStyle/>
          <a:p>
            <a:fld id="{4698AAF4-35A4-40F4-A7AE-C8E2C41B9252}" type="slidenum">
              <a:rPr lang="en-US" smtClean="0"/>
              <a:t>39</a:t>
            </a:fld>
            <a:endParaRPr lang="en-US"/>
          </a:p>
        </p:txBody>
      </p:sp>
    </p:spTree>
    <p:extLst>
      <p:ext uri="{BB962C8B-B14F-4D97-AF65-F5344CB8AC3E}">
        <p14:creationId xmlns:p14="http://schemas.microsoft.com/office/powerpoint/2010/main" val="87371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E4BF9-27B6-4AFB-B0B6-2A30453431AE}"/>
              </a:ext>
            </a:extLst>
          </p:cNvPr>
          <p:cNvSpPr>
            <a:spLocks noGrp="1"/>
          </p:cNvSpPr>
          <p:nvPr>
            <p:ph type="title"/>
          </p:nvPr>
        </p:nvSpPr>
        <p:spPr/>
        <p:txBody>
          <a:bodyPr/>
          <a:lstStyle/>
          <a:p>
            <a:r>
              <a:rPr lang="en-US" dirty="0"/>
              <a:t>Local Average Treatment Effect (LATE)</a:t>
            </a:r>
          </a:p>
        </p:txBody>
      </p:sp>
      <p:sp>
        <p:nvSpPr>
          <p:cNvPr id="3" name="Content Placeholder 2">
            <a:extLst>
              <a:ext uri="{FF2B5EF4-FFF2-40B4-BE49-F238E27FC236}">
                <a16:creationId xmlns:a16="http://schemas.microsoft.com/office/drawing/2014/main" id="{5BE62D02-B51E-4959-B2BA-069B9C91E251}"/>
              </a:ext>
            </a:extLst>
          </p:cNvPr>
          <p:cNvSpPr>
            <a:spLocks noGrp="1"/>
          </p:cNvSpPr>
          <p:nvPr>
            <p:ph idx="1"/>
          </p:nvPr>
        </p:nvSpPr>
        <p:spPr>
          <a:xfrm>
            <a:off x="838200" y="1825625"/>
            <a:ext cx="10515600" cy="4895850"/>
          </a:xfrm>
        </p:spPr>
        <p:txBody>
          <a:bodyPr>
            <a:normAutofit/>
          </a:bodyPr>
          <a:lstStyle/>
          <a:p>
            <a:r>
              <a:rPr lang="en-US" dirty="0"/>
              <a:t>Local average treatment effect:</a:t>
            </a:r>
          </a:p>
          <a:p>
            <a:pPr lvl="1"/>
            <a:r>
              <a:rPr lang="en-US" dirty="0"/>
              <a:t>Average causal effect of the treatment among a subset of individuals, known as compliers, who are induced to comply with the treatment assignment due to the instrument</a:t>
            </a:r>
          </a:p>
          <a:p>
            <a:pPr lvl="1"/>
            <a:r>
              <a:rPr lang="en-US" dirty="0"/>
              <a:t>LATE may be different from the Average Treatment Effect (ATE)</a:t>
            </a:r>
          </a:p>
          <a:p>
            <a:pPr lvl="2"/>
            <a:r>
              <a:rPr lang="en-US" dirty="0"/>
              <a:t>LATE will converge to ATE with very good adherence (i.e. when if the instrument is a randomized treatment assignment if all those assigned to treatment receive the intervention and all those assigned to control do not)</a:t>
            </a:r>
          </a:p>
        </p:txBody>
      </p:sp>
      <p:sp>
        <p:nvSpPr>
          <p:cNvPr id="4" name="Slide Number Placeholder 3">
            <a:extLst>
              <a:ext uri="{FF2B5EF4-FFF2-40B4-BE49-F238E27FC236}">
                <a16:creationId xmlns:a16="http://schemas.microsoft.com/office/drawing/2014/main" id="{7D24A1C4-5604-4415-A5B6-79E2E95DBA1E}"/>
              </a:ext>
            </a:extLst>
          </p:cNvPr>
          <p:cNvSpPr>
            <a:spLocks noGrp="1"/>
          </p:cNvSpPr>
          <p:nvPr>
            <p:ph type="sldNum" sz="quarter" idx="12"/>
          </p:nvPr>
        </p:nvSpPr>
        <p:spPr/>
        <p:txBody>
          <a:bodyPr/>
          <a:lstStyle/>
          <a:p>
            <a:fld id="{4698AAF4-35A4-40F4-A7AE-C8E2C41B9252}" type="slidenum">
              <a:rPr lang="en-US" smtClean="0"/>
              <a:t>40</a:t>
            </a:fld>
            <a:endParaRPr lang="en-US"/>
          </a:p>
        </p:txBody>
      </p:sp>
    </p:spTree>
    <p:extLst>
      <p:ext uri="{BB962C8B-B14F-4D97-AF65-F5344CB8AC3E}">
        <p14:creationId xmlns:p14="http://schemas.microsoft.com/office/powerpoint/2010/main" val="4112723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E4BF9-27B6-4AFB-B0B6-2A30453431AE}"/>
              </a:ext>
            </a:extLst>
          </p:cNvPr>
          <p:cNvSpPr>
            <a:spLocks noGrp="1"/>
          </p:cNvSpPr>
          <p:nvPr>
            <p:ph type="title"/>
          </p:nvPr>
        </p:nvSpPr>
        <p:spPr/>
        <p:txBody>
          <a:bodyPr/>
          <a:lstStyle/>
          <a:p>
            <a:r>
              <a:rPr lang="en-US" dirty="0"/>
              <a:t>Heterogeneity of effect and the </a:t>
            </a:r>
            <a:br>
              <a:rPr lang="en-US" dirty="0"/>
            </a:br>
            <a:r>
              <a:rPr lang="en-US" dirty="0"/>
              <a:t>Local Average Treatment Effect (LATE)</a:t>
            </a:r>
          </a:p>
        </p:txBody>
      </p:sp>
      <p:sp>
        <p:nvSpPr>
          <p:cNvPr id="3" name="Content Placeholder 2">
            <a:extLst>
              <a:ext uri="{FF2B5EF4-FFF2-40B4-BE49-F238E27FC236}">
                <a16:creationId xmlns:a16="http://schemas.microsoft.com/office/drawing/2014/main" id="{5BE62D02-B51E-4959-B2BA-069B9C91E251}"/>
              </a:ext>
            </a:extLst>
          </p:cNvPr>
          <p:cNvSpPr>
            <a:spLocks noGrp="1"/>
          </p:cNvSpPr>
          <p:nvPr>
            <p:ph idx="1"/>
          </p:nvPr>
        </p:nvSpPr>
        <p:spPr>
          <a:xfrm>
            <a:off x="838200" y="1825625"/>
            <a:ext cx="10515600" cy="4895850"/>
          </a:xfrm>
        </p:spPr>
        <p:txBody>
          <a:bodyPr>
            <a:normAutofit fontScale="77500" lnSpcReduction="20000"/>
          </a:bodyPr>
          <a:lstStyle/>
          <a:p>
            <a:r>
              <a:rPr lang="en-US" dirty="0">
                <a:latin typeface="Calibri" panose="020F0502020204030204" pitchFamily="34" charset="0"/>
                <a:cs typeface="Calibri" panose="020F0502020204030204" pitchFamily="34" charset="0"/>
              </a:rPr>
              <a:t>Relevant heterogeneity might be as follows:</a:t>
            </a:r>
          </a:p>
          <a:p>
            <a:pPr lvl="1"/>
            <a:r>
              <a:rPr lang="en-US" sz="2800" b="1" dirty="0">
                <a:solidFill>
                  <a:srgbClr val="333333"/>
                </a:solidFill>
                <a:latin typeface="Calibri" panose="020F0502020204030204" pitchFamily="34" charset="0"/>
                <a:cs typeface="Calibri" panose="020F0502020204030204" pitchFamily="34" charset="0"/>
              </a:rPr>
              <a:t>Compliers: </a:t>
            </a:r>
            <a:r>
              <a:rPr lang="en-US" sz="2800" dirty="0">
                <a:solidFill>
                  <a:srgbClr val="333333"/>
                </a:solidFill>
                <a:latin typeface="Calibri" panose="020F0502020204030204" pitchFamily="34" charset="0"/>
                <a:cs typeface="Calibri" panose="020F0502020204030204" pitchFamily="34" charset="0"/>
              </a:rPr>
              <a:t>only take the treatment if assigned to treatment group</a:t>
            </a:r>
            <a:endParaRPr lang="en-US" sz="2800" b="1" dirty="0">
              <a:solidFill>
                <a:srgbClr val="333333"/>
              </a:solidFill>
              <a:latin typeface="Calibri" panose="020F0502020204030204" pitchFamily="34" charset="0"/>
              <a:cs typeface="Calibri" panose="020F0502020204030204" pitchFamily="34" charset="0"/>
            </a:endParaRPr>
          </a:p>
          <a:p>
            <a:pPr lvl="1"/>
            <a:r>
              <a:rPr lang="en-US" sz="2800" b="1" i="0" dirty="0">
                <a:solidFill>
                  <a:srgbClr val="333333"/>
                </a:solidFill>
                <a:effectLst/>
                <a:latin typeface="Calibri" panose="020F0502020204030204" pitchFamily="34" charset="0"/>
                <a:cs typeface="Calibri" panose="020F0502020204030204" pitchFamily="34" charset="0"/>
              </a:rPr>
              <a:t>Always-takers:</a:t>
            </a:r>
            <a:r>
              <a:rPr lang="en-US" sz="2800" b="0" i="0" dirty="0">
                <a:solidFill>
                  <a:srgbClr val="333333"/>
                </a:solidFill>
                <a:effectLst/>
                <a:latin typeface="Calibri" panose="020F0502020204030204" pitchFamily="34" charset="0"/>
                <a:cs typeface="Calibri" panose="020F0502020204030204" pitchFamily="34" charset="0"/>
              </a:rPr>
              <a:t> always take the treatment even if assigned to the control group</a:t>
            </a:r>
          </a:p>
          <a:p>
            <a:pPr lvl="1"/>
            <a:r>
              <a:rPr lang="en-US" sz="2800" b="1" i="0" dirty="0">
                <a:solidFill>
                  <a:srgbClr val="333333"/>
                </a:solidFill>
                <a:effectLst/>
                <a:latin typeface="Calibri" panose="020F0502020204030204" pitchFamily="34" charset="0"/>
                <a:cs typeface="Calibri" panose="020F0502020204030204" pitchFamily="34" charset="0"/>
              </a:rPr>
              <a:t>Never-takers: </a:t>
            </a:r>
            <a:r>
              <a:rPr lang="en-US" sz="2800" b="0" i="0" dirty="0">
                <a:solidFill>
                  <a:srgbClr val="333333"/>
                </a:solidFill>
                <a:effectLst/>
                <a:latin typeface="Calibri" panose="020F0502020204030204" pitchFamily="34" charset="0"/>
                <a:cs typeface="Calibri" panose="020F0502020204030204" pitchFamily="34" charset="0"/>
              </a:rPr>
              <a:t>always refuse treatment, even if assigned to the treatment group</a:t>
            </a:r>
          </a:p>
          <a:p>
            <a:pPr lvl="1"/>
            <a:r>
              <a:rPr lang="en-US" sz="2800" b="1" i="0" dirty="0" err="1">
                <a:solidFill>
                  <a:srgbClr val="333333"/>
                </a:solidFill>
                <a:effectLst/>
                <a:latin typeface="Calibri" panose="020F0502020204030204" pitchFamily="34" charset="0"/>
                <a:cs typeface="Calibri" panose="020F0502020204030204" pitchFamily="34" charset="0"/>
              </a:rPr>
              <a:t>Defiers</a:t>
            </a:r>
            <a:r>
              <a:rPr lang="en-US" sz="2800" b="1" i="0" dirty="0">
                <a:solidFill>
                  <a:srgbClr val="333333"/>
                </a:solidFill>
                <a:effectLst/>
                <a:latin typeface="Calibri" panose="020F0502020204030204" pitchFamily="34" charset="0"/>
                <a:cs typeface="Calibri" panose="020F0502020204030204" pitchFamily="34" charset="0"/>
              </a:rPr>
              <a:t>:</a:t>
            </a:r>
            <a:r>
              <a:rPr lang="en-US" sz="2800" b="0" i="0" dirty="0">
                <a:solidFill>
                  <a:srgbClr val="333333"/>
                </a:solidFill>
                <a:effectLst/>
                <a:latin typeface="Calibri" panose="020F0502020204030204" pitchFamily="34" charset="0"/>
                <a:cs typeface="Calibri" panose="020F0502020204030204" pitchFamily="34" charset="0"/>
              </a:rPr>
              <a:t> do the opposite of their treatment assignment </a:t>
            </a:r>
          </a:p>
          <a:p>
            <a:pPr marL="0" indent="0">
              <a:buNone/>
            </a:pPr>
            <a:endParaRPr lang="en-US" dirty="0">
              <a:latin typeface="Calibri" panose="020F0502020204030204" pitchFamily="34" charset="0"/>
              <a:cs typeface="Calibri" panose="020F0502020204030204" pitchFamily="34" charset="0"/>
            </a:endParaRPr>
          </a:p>
          <a:p>
            <a:pPr marL="0" indent="0">
              <a:buNone/>
            </a:pPr>
            <a:r>
              <a:rPr lang="en-US" dirty="0">
                <a:latin typeface="Calibri" panose="020F0502020204030204" pitchFamily="34" charset="0"/>
                <a:cs typeface="Calibri" panose="020F0502020204030204" pitchFamily="34" charset="0"/>
              </a:rPr>
              <a:t>If any of the last 3 are meaningfully different from the compliers and they are populations of interest for policy-makers </a:t>
            </a:r>
            <a:r>
              <a:rPr lang="en-US" dirty="0">
                <a:latin typeface="Calibri" panose="020F0502020204030204" pitchFamily="34" charset="0"/>
                <a:cs typeface="Calibri" panose="020F0502020204030204" pitchFamily="34" charset="0"/>
                <a:sym typeface="Wingdings" pitchFamily="2" charset="2"/>
              </a:rPr>
              <a:t> LATE estimates not very helpful</a:t>
            </a:r>
          </a:p>
          <a:p>
            <a:pPr marL="0" indent="0">
              <a:buNone/>
            </a:pPr>
            <a:endParaRPr lang="en-US" dirty="0">
              <a:latin typeface="Calibri" panose="020F0502020204030204" pitchFamily="34" charset="0"/>
              <a:cs typeface="Calibri" panose="020F0502020204030204" pitchFamily="34" charset="0"/>
              <a:sym typeface="Wingdings" pitchFamily="2" charset="2"/>
            </a:endParaRPr>
          </a:p>
          <a:p>
            <a:pPr marL="0" indent="0">
              <a:buNone/>
            </a:pPr>
            <a:r>
              <a:rPr lang="en-US" dirty="0">
                <a:latin typeface="Calibri" panose="020F0502020204030204" pitchFamily="34" charset="0"/>
                <a:cs typeface="Calibri" panose="020F0502020204030204" pitchFamily="34" charset="0"/>
                <a:sym typeface="Wingdings" pitchFamily="2" charset="2"/>
              </a:rPr>
              <a:t>Can we observe </a:t>
            </a:r>
            <a:r>
              <a:rPr lang="en-US" i="1" dirty="0">
                <a:latin typeface="Calibri" panose="020F0502020204030204" pitchFamily="34" charset="0"/>
                <a:cs typeface="Calibri" panose="020F0502020204030204" pitchFamily="34" charset="0"/>
                <a:sym typeface="Wingdings" pitchFamily="2" charset="2"/>
              </a:rPr>
              <a:t>who</a:t>
            </a:r>
            <a:r>
              <a:rPr lang="en-US" dirty="0">
                <a:latin typeface="Calibri" panose="020F0502020204030204" pitchFamily="34" charset="0"/>
                <a:cs typeface="Calibri" panose="020F0502020204030204" pitchFamily="34" charset="0"/>
                <a:sym typeface="Wingdings" pitchFamily="2" charset="2"/>
              </a:rPr>
              <a:t> are always takers and </a:t>
            </a:r>
            <a:r>
              <a:rPr lang="en-US" i="1" dirty="0">
                <a:latin typeface="Calibri" panose="020F0502020204030204" pitchFamily="34" charset="0"/>
                <a:cs typeface="Calibri" panose="020F0502020204030204" pitchFamily="34" charset="0"/>
                <a:sym typeface="Wingdings" pitchFamily="2" charset="2"/>
              </a:rPr>
              <a:t>who</a:t>
            </a:r>
            <a:r>
              <a:rPr lang="en-US" dirty="0">
                <a:latin typeface="Calibri" panose="020F0502020204030204" pitchFamily="34" charset="0"/>
                <a:cs typeface="Calibri" panose="020F0502020204030204" pitchFamily="34" charset="0"/>
                <a:sym typeface="Wingdings" pitchFamily="2" charset="2"/>
              </a:rPr>
              <a:t> are compliers?</a:t>
            </a:r>
          </a:p>
          <a:p>
            <a:pPr marL="0" indent="0">
              <a:buNone/>
            </a:pPr>
            <a:endParaRPr lang="en-US" dirty="0">
              <a:latin typeface="Calibri" panose="020F0502020204030204" pitchFamily="34" charset="0"/>
              <a:cs typeface="Calibri" panose="020F0502020204030204" pitchFamily="34" charset="0"/>
              <a:sym typeface="Wingdings" pitchFamily="2" charset="2"/>
            </a:endParaRPr>
          </a:p>
          <a:p>
            <a:pPr marL="0" indent="0">
              <a:buNone/>
            </a:pPr>
            <a:r>
              <a:rPr lang="en-US" u="sng" dirty="0">
                <a:latin typeface="Calibri" panose="020F0502020204030204" pitchFamily="34" charset="0"/>
                <a:cs typeface="Calibri" panose="020F0502020204030204" pitchFamily="34" charset="0"/>
                <a:sym typeface="Wingdings" pitchFamily="2" charset="2"/>
              </a:rPr>
              <a:t>Note</a:t>
            </a:r>
            <a:r>
              <a:rPr lang="en-US" dirty="0">
                <a:latin typeface="Calibri" panose="020F0502020204030204" pitchFamily="34" charset="0"/>
                <a:cs typeface="Calibri" panose="020F0502020204030204" pitchFamily="34" charset="0"/>
                <a:sym typeface="Wingdings" pitchFamily="2" charset="2"/>
              </a:rPr>
              <a:t>: we are focused here on heterogeneity that is related to the likelihood of receiving the treatment there are OTHER kinds of heterogeneity that may be important (as with all designs identifying treatment effects)</a:t>
            </a:r>
          </a:p>
        </p:txBody>
      </p:sp>
      <p:sp>
        <p:nvSpPr>
          <p:cNvPr id="4" name="Slide Number Placeholder 3">
            <a:extLst>
              <a:ext uri="{FF2B5EF4-FFF2-40B4-BE49-F238E27FC236}">
                <a16:creationId xmlns:a16="http://schemas.microsoft.com/office/drawing/2014/main" id="{7D24A1C4-5604-4415-A5B6-79E2E95DBA1E}"/>
              </a:ext>
            </a:extLst>
          </p:cNvPr>
          <p:cNvSpPr>
            <a:spLocks noGrp="1"/>
          </p:cNvSpPr>
          <p:nvPr>
            <p:ph type="sldNum" sz="quarter" idx="12"/>
          </p:nvPr>
        </p:nvSpPr>
        <p:spPr/>
        <p:txBody>
          <a:bodyPr/>
          <a:lstStyle/>
          <a:p>
            <a:fld id="{4698AAF4-35A4-40F4-A7AE-C8E2C41B9252}" type="slidenum">
              <a:rPr lang="en-US" smtClean="0"/>
              <a:t>41</a:t>
            </a:fld>
            <a:endParaRPr lang="en-US"/>
          </a:p>
        </p:txBody>
      </p:sp>
    </p:spTree>
    <p:extLst>
      <p:ext uri="{BB962C8B-B14F-4D97-AF65-F5344CB8AC3E}">
        <p14:creationId xmlns:p14="http://schemas.microsoft.com/office/powerpoint/2010/main" val="941252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6BC47-AF11-4B3E-AAAE-615D5648A97E}"/>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AC88364B-FBDE-4A65-B583-3D345987A32C}"/>
              </a:ext>
            </a:extLst>
          </p:cNvPr>
          <p:cNvSpPr>
            <a:spLocks noGrp="1"/>
          </p:cNvSpPr>
          <p:nvPr>
            <p:ph idx="1"/>
          </p:nvPr>
        </p:nvSpPr>
        <p:spPr/>
        <p:txBody>
          <a:bodyPr>
            <a:normAutofit/>
          </a:bodyPr>
          <a:lstStyle/>
          <a:p>
            <a:r>
              <a:rPr lang="en-US" sz="2600" dirty="0"/>
              <a:t>Reduced form: effect of the instrument on the outcome</a:t>
            </a:r>
          </a:p>
          <a:p>
            <a:pPr lvl="1"/>
            <a:r>
              <a:rPr lang="en-US" sz="2200" dirty="0"/>
              <a:t>In some cases this is actually the policy relevant research question</a:t>
            </a:r>
          </a:p>
          <a:p>
            <a:endParaRPr lang="en-US" sz="2600" dirty="0"/>
          </a:p>
          <a:p>
            <a:r>
              <a:rPr lang="en-US" sz="2600" dirty="0"/>
              <a:t>First stage: effect of the instrument on the treatment</a:t>
            </a:r>
          </a:p>
          <a:p>
            <a:endParaRPr lang="en-US" sz="2600" dirty="0"/>
          </a:p>
          <a:p>
            <a:r>
              <a:rPr lang="en-US" sz="2600" dirty="0"/>
              <a:t>Weak instruments: when our first stage relationship isn’t very strong (we test this using F-statistics)</a:t>
            </a:r>
          </a:p>
        </p:txBody>
      </p:sp>
      <p:sp>
        <p:nvSpPr>
          <p:cNvPr id="4" name="Slide Number Placeholder 3">
            <a:extLst>
              <a:ext uri="{FF2B5EF4-FFF2-40B4-BE49-F238E27FC236}">
                <a16:creationId xmlns:a16="http://schemas.microsoft.com/office/drawing/2014/main" id="{941CF2F4-C366-4707-B153-4A61CB26FDFC}"/>
              </a:ext>
            </a:extLst>
          </p:cNvPr>
          <p:cNvSpPr>
            <a:spLocks noGrp="1"/>
          </p:cNvSpPr>
          <p:nvPr>
            <p:ph type="sldNum" sz="quarter" idx="12"/>
          </p:nvPr>
        </p:nvSpPr>
        <p:spPr/>
        <p:txBody>
          <a:bodyPr/>
          <a:lstStyle/>
          <a:p>
            <a:fld id="{4698AAF4-35A4-40F4-A7AE-C8E2C41B9252}" type="slidenum">
              <a:rPr lang="en-US" smtClean="0"/>
              <a:t>42</a:t>
            </a:fld>
            <a:endParaRPr lang="en-US"/>
          </a:p>
        </p:txBody>
      </p:sp>
    </p:spTree>
    <p:extLst>
      <p:ext uri="{BB962C8B-B14F-4D97-AF65-F5344CB8AC3E}">
        <p14:creationId xmlns:p14="http://schemas.microsoft.com/office/powerpoint/2010/main" val="698437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A35D1-CCCE-4492-8E81-55FD233F77AE}"/>
              </a:ext>
            </a:extLst>
          </p:cNvPr>
          <p:cNvSpPr>
            <a:spLocks noGrp="1"/>
          </p:cNvSpPr>
          <p:nvPr>
            <p:ph type="title"/>
          </p:nvPr>
        </p:nvSpPr>
        <p:spPr/>
        <p:txBody>
          <a:bodyPr/>
          <a:lstStyle/>
          <a:p>
            <a:r>
              <a:rPr lang="en-US" dirty="0"/>
              <a:t>Examples: instruments</a:t>
            </a:r>
          </a:p>
        </p:txBody>
      </p:sp>
      <p:sp>
        <p:nvSpPr>
          <p:cNvPr id="3" name="Content Placeholder 2">
            <a:extLst>
              <a:ext uri="{FF2B5EF4-FFF2-40B4-BE49-F238E27FC236}">
                <a16:creationId xmlns:a16="http://schemas.microsoft.com/office/drawing/2014/main" id="{24FBD245-2E95-4EE6-B206-889132F1F5FE}"/>
              </a:ext>
            </a:extLst>
          </p:cNvPr>
          <p:cNvSpPr>
            <a:spLocks noGrp="1"/>
          </p:cNvSpPr>
          <p:nvPr>
            <p:ph idx="1"/>
          </p:nvPr>
        </p:nvSpPr>
        <p:spPr>
          <a:xfrm>
            <a:off x="838200" y="1825624"/>
            <a:ext cx="10515600" cy="4895851"/>
          </a:xfrm>
        </p:spPr>
        <p:txBody>
          <a:bodyPr>
            <a:normAutofit fontScale="92500" lnSpcReduction="10000"/>
          </a:bodyPr>
          <a:lstStyle/>
          <a:p>
            <a:r>
              <a:rPr lang="en-US" dirty="0"/>
              <a:t>Research question: </a:t>
            </a:r>
            <a:r>
              <a:rPr lang="en-US" dirty="0">
                <a:hlinkClick r:id="rId2"/>
              </a:rPr>
              <a:t>What is the effect of placement in foster care on subsequent use of emergency department care?</a:t>
            </a:r>
            <a:endParaRPr lang="en-US" dirty="0"/>
          </a:p>
          <a:p>
            <a:pPr lvl="1"/>
            <a:r>
              <a:rPr lang="en-US" dirty="0">
                <a:solidFill>
                  <a:srgbClr val="FF0000"/>
                </a:solidFill>
              </a:rPr>
              <a:t>Instrument: </a:t>
            </a:r>
            <a:r>
              <a:rPr lang="en-US" dirty="0"/>
              <a:t>assignment of placement officer</a:t>
            </a:r>
          </a:p>
          <a:p>
            <a:pPr lvl="1"/>
            <a:endParaRPr lang="en-US" dirty="0"/>
          </a:p>
          <a:p>
            <a:r>
              <a:rPr lang="en-US" dirty="0"/>
              <a:t>Research question: </a:t>
            </a:r>
            <a:r>
              <a:rPr lang="en-US" dirty="0">
                <a:hlinkClick r:id="rId3"/>
              </a:rPr>
              <a:t>What is the relationship between the number of children a family has and the amount of education children receive</a:t>
            </a:r>
            <a:r>
              <a:rPr lang="en-US" dirty="0"/>
              <a:t>?</a:t>
            </a:r>
          </a:p>
          <a:p>
            <a:pPr lvl="1"/>
            <a:r>
              <a:rPr lang="en-US" dirty="0">
                <a:solidFill>
                  <a:srgbClr val="FF0000"/>
                </a:solidFill>
              </a:rPr>
              <a:t>Instrument: </a:t>
            </a:r>
            <a:r>
              <a:rPr lang="en-US" dirty="0"/>
              <a:t>indicator of whether first child is male in a context with strong son preference</a:t>
            </a:r>
          </a:p>
          <a:p>
            <a:endParaRPr lang="en-US" dirty="0"/>
          </a:p>
          <a:p>
            <a:r>
              <a:rPr lang="en-US" dirty="0"/>
              <a:t>Research question: </a:t>
            </a:r>
            <a:r>
              <a:rPr lang="en-US" dirty="0">
                <a:hlinkClick r:id="rId4"/>
              </a:rPr>
              <a:t>What is the impact of requiring workers to be physically present on COVID-19 death rates?</a:t>
            </a:r>
            <a:endParaRPr lang="en-US" dirty="0"/>
          </a:p>
          <a:p>
            <a:pPr lvl="1"/>
            <a:r>
              <a:rPr lang="en-US" dirty="0">
                <a:solidFill>
                  <a:srgbClr val="FF0000"/>
                </a:solidFill>
              </a:rPr>
              <a:t>Instrument: </a:t>
            </a:r>
            <a:r>
              <a:rPr lang="en-US" dirty="0"/>
              <a:t>index of how many local workers pre-pandemic can work from home, based on differences in county occupational mix</a:t>
            </a:r>
            <a:endParaRPr lang="en-US" dirty="0">
              <a:solidFill>
                <a:srgbClr val="FF0000"/>
              </a:solidFill>
            </a:endParaRPr>
          </a:p>
          <a:p>
            <a:pPr marL="0" indent="0">
              <a:buNone/>
            </a:pPr>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E5E3FB80-309B-414A-8FF6-CD02FF01155F}"/>
              </a:ext>
            </a:extLst>
          </p:cNvPr>
          <p:cNvSpPr>
            <a:spLocks noGrp="1"/>
          </p:cNvSpPr>
          <p:nvPr>
            <p:ph type="sldNum" sz="quarter" idx="12"/>
          </p:nvPr>
        </p:nvSpPr>
        <p:spPr/>
        <p:txBody>
          <a:bodyPr/>
          <a:lstStyle/>
          <a:p>
            <a:fld id="{4698AAF4-35A4-40F4-A7AE-C8E2C41B9252}" type="slidenum">
              <a:rPr lang="en-US" smtClean="0"/>
              <a:t>43</a:t>
            </a:fld>
            <a:endParaRPr lang="en-US"/>
          </a:p>
        </p:txBody>
      </p:sp>
    </p:spTree>
    <p:extLst>
      <p:ext uri="{BB962C8B-B14F-4D97-AF65-F5344CB8AC3E}">
        <p14:creationId xmlns:p14="http://schemas.microsoft.com/office/powerpoint/2010/main" val="624678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509162-5F57-45C1-9B79-79AEE0ABEA6E}"/>
              </a:ext>
            </a:extLst>
          </p:cNvPr>
          <p:cNvSpPr>
            <a:spLocks noGrp="1"/>
          </p:cNvSpPr>
          <p:nvPr>
            <p:ph type="title"/>
          </p:nvPr>
        </p:nvSpPr>
        <p:spPr/>
        <p:txBody>
          <a:bodyPr/>
          <a:lstStyle/>
          <a:p>
            <a:r>
              <a:rPr lang="en-US" dirty="0"/>
              <a:t>Regression Discontinuity</a:t>
            </a:r>
          </a:p>
        </p:txBody>
      </p:sp>
      <p:sp>
        <p:nvSpPr>
          <p:cNvPr id="5" name="Text Placeholder 4">
            <a:extLst>
              <a:ext uri="{FF2B5EF4-FFF2-40B4-BE49-F238E27FC236}">
                <a16:creationId xmlns:a16="http://schemas.microsoft.com/office/drawing/2014/main" id="{D8B151D9-8C05-4DDA-B1E2-6740ACEDB79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425780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EE257-0556-4B25-A890-8785F94BE450}"/>
              </a:ext>
            </a:extLst>
          </p:cNvPr>
          <p:cNvSpPr>
            <a:spLocks noGrp="1"/>
          </p:cNvSpPr>
          <p:nvPr>
            <p:ph type="title"/>
          </p:nvPr>
        </p:nvSpPr>
        <p:spPr/>
        <p:txBody>
          <a:bodyPr/>
          <a:lstStyle/>
          <a:p>
            <a:r>
              <a:rPr lang="en-US" dirty="0"/>
              <a:t>Under what conditions can we estimate RDD?</a:t>
            </a:r>
          </a:p>
        </p:txBody>
      </p:sp>
      <p:sp>
        <p:nvSpPr>
          <p:cNvPr id="3" name="Content Placeholder 2">
            <a:extLst>
              <a:ext uri="{FF2B5EF4-FFF2-40B4-BE49-F238E27FC236}">
                <a16:creationId xmlns:a16="http://schemas.microsoft.com/office/drawing/2014/main" id="{F601E84A-C307-4F51-8BE9-A97D58903448}"/>
              </a:ext>
            </a:extLst>
          </p:cNvPr>
          <p:cNvSpPr>
            <a:spLocks noGrp="1"/>
          </p:cNvSpPr>
          <p:nvPr>
            <p:ph idx="1"/>
          </p:nvPr>
        </p:nvSpPr>
        <p:spPr/>
        <p:txBody>
          <a:bodyPr>
            <a:normAutofit/>
          </a:bodyPr>
          <a:lstStyle/>
          <a:p>
            <a:pPr marL="0" indent="0">
              <a:buNone/>
            </a:pPr>
            <a:r>
              <a:rPr lang="en-US" altLang="en-US" b="1" dirty="0"/>
              <a:t>Conditions</a:t>
            </a:r>
          </a:p>
          <a:p>
            <a:pPr algn="l">
              <a:buFontTx/>
              <a:buChar char="-"/>
            </a:pPr>
            <a:r>
              <a:rPr lang="en-US" b="0" i="0" dirty="0">
                <a:effectLst/>
                <a:latin typeface="Andes"/>
              </a:rPr>
              <a:t>A continuous eligibility index: a continuous measure on which the population of interest is ranked (i.e. test score, health indicator, age, vote share)</a:t>
            </a:r>
          </a:p>
          <a:p>
            <a:pPr lvl="1">
              <a:buFontTx/>
              <a:buChar char="-"/>
            </a:pPr>
            <a:r>
              <a:rPr lang="en-US" dirty="0">
                <a:latin typeface="Andes"/>
              </a:rPr>
              <a:t>Often called “running variable”</a:t>
            </a:r>
            <a:endParaRPr lang="en-US" b="0" i="0" dirty="0">
              <a:effectLst/>
              <a:latin typeface="Andes"/>
            </a:endParaRPr>
          </a:p>
          <a:p>
            <a:pPr algn="l">
              <a:buFontTx/>
              <a:buChar char="-"/>
            </a:pPr>
            <a:endParaRPr lang="en-US" b="0" i="0" dirty="0">
              <a:effectLst/>
              <a:latin typeface="Andes"/>
            </a:endParaRPr>
          </a:p>
          <a:p>
            <a:pPr algn="l">
              <a:buFontTx/>
              <a:buChar char="-"/>
            </a:pPr>
            <a:r>
              <a:rPr lang="en-US" b="0" i="0" dirty="0">
                <a:effectLst/>
                <a:latin typeface="Andes"/>
              </a:rPr>
              <a:t>A clearly defined cutoff point: a point on the index above or below which the population is determined to be eligible for the program</a:t>
            </a:r>
          </a:p>
          <a:p>
            <a:pPr lvl="1">
              <a:buFontTx/>
              <a:buChar char="-"/>
            </a:pPr>
            <a:r>
              <a:rPr lang="en-US" dirty="0">
                <a:latin typeface="Andes"/>
              </a:rPr>
              <a:t>Sometimes referred to as the “threshold”</a:t>
            </a:r>
            <a:endParaRPr lang="en-US" b="0" i="0" dirty="0">
              <a:effectLst/>
              <a:latin typeface="Andes"/>
            </a:endParaRPr>
          </a:p>
        </p:txBody>
      </p:sp>
      <p:sp>
        <p:nvSpPr>
          <p:cNvPr id="4" name="Slide Number Placeholder 3">
            <a:extLst>
              <a:ext uri="{FF2B5EF4-FFF2-40B4-BE49-F238E27FC236}">
                <a16:creationId xmlns:a16="http://schemas.microsoft.com/office/drawing/2014/main" id="{EA85B652-8AD1-4B54-AF42-CE50B0F8C5EA}"/>
              </a:ext>
            </a:extLst>
          </p:cNvPr>
          <p:cNvSpPr>
            <a:spLocks noGrp="1"/>
          </p:cNvSpPr>
          <p:nvPr>
            <p:ph type="sldNum" sz="quarter" idx="12"/>
          </p:nvPr>
        </p:nvSpPr>
        <p:spPr/>
        <p:txBody>
          <a:bodyPr/>
          <a:lstStyle/>
          <a:p>
            <a:fld id="{4698AAF4-35A4-40F4-A7AE-C8E2C41B9252}" type="slidenum">
              <a:rPr lang="en-US" smtClean="0"/>
              <a:t>45</a:t>
            </a:fld>
            <a:endParaRPr lang="en-US"/>
          </a:p>
        </p:txBody>
      </p:sp>
    </p:spTree>
    <p:extLst>
      <p:ext uri="{BB962C8B-B14F-4D97-AF65-F5344CB8AC3E}">
        <p14:creationId xmlns:p14="http://schemas.microsoft.com/office/powerpoint/2010/main" val="14252074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EE257-0556-4B25-A890-8785F94BE450}"/>
              </a:ext>
            </a:extLst>
          </p:cNvPr>
          <p:cNvSpPr>
            <a:spLocks noGrp="1"/>
          </p:cNvSpPr>
          <p:nvPr>
            <p:ph type="title"/>
          </p:nvPr>
        </p:nvSpPr>
        <p:spPr/>
        <p:txBody>
          <a:bodyPr/>
          <a:lstStyle/>
          <a:p>
            <a:r>
              <a:rPr lang="en-US" dirty="0"/>
              <a:t>What assumptions required for RDD to be valid? </a:t>
            </a:r>
          </a:p>
        </p:txBody>
      </p:sp>
      <p:sp>
        <p:nvSpPr>
          <p:cNvPr id="3" name="Content Placeholder 2">
            <a:extLst>
              <a:ext uri="{FF2B5EF4-FFF2-40B4-BE49-F238E27FC236}">
                <a16:creationId xmlns:a16="http://schemas.microsoft.com/office/drawing/2014/main" id="{F601E84A-C307-4F51-8BE9-A97D58903448}"/>
              </a:ext>
            </a:extLst>
          </p:cNvPr>
          <p:cNvSpPr>
            <a:spLocks noGrp="1"/>
          </p:cNvSpPr>
          <p:nvPr>
            <p:ph idx="1"/>
          </p:nvPr>
        </p:nvSpPr>
        <p:spPr/>
        <p:txBody>
          <a:bodyPr>
            <a:normAutofit fontScale="92500" lnSpcReduction="10000"/>
          </a:bodyPr>
          <a:lstStyle/>
          <a:p>
            <a:pPr marL="0" indent="0">
              <a:buNone/>
            </a:pPr>
            <a:r>
              <a:rPr lang="en-US" altLang="en-US" b="1" dirty="0">
                <a:latin typeface="Calibri" panose="020F0502020204030204" pitchFamily="34" charset="0"/>
                <a:cs typeface="Calibri" panose="020F0502020204030204" pitchFamily="34" charset="0"/>
              </a:rPr>
              <a:t>Key assumption</a:t>
            </a:r>
            <a:endParaRPr lang="en-US" altLang="en-US" dirty="0">
              <a:latin typeface="Calibri" panose="020F0502020204030204" pitchFamily="34" charset="0"/>
              <a:cs typeface="Calibri" panose="020F0502020204030204" pitchFamily="34" charset="0"/>
            </a:endParaRPr>
          </a:p>
          <a:p>
            <a:pPr marL="0" indent="0">
              <a:buNone/>
            </a:pPr>
            <a:r>
              <a:rPr lang="en-US" b="0" i="0" u="sng" dirty="0">
                <a:effectLst/>
                <a:latin typeface="Calibri" panose="020F0502020204030204" pitchFamily="34" charset="0"/>
                <a:cs typeface="Calibri" panose="020F0502020204030204" pitchFamily="34" charset="0"/>
              </a:rPr>
              <a:t>Continuity assumption</a:t>
            </a:r>
            <a:r>
              <a:rPr lang="en-US" b="0" i="0" dirty="0">
                <a:effectLst/>
                <a:latin typeface="Calibri" panose="020F0502020204030204" pitchFamily="34" charset="0"/>
                <a:cs typeface="Calibri" panose="020F0502020204030204" pitchFamily="34" charset="0"/>
              </a:rPr>
              <a:t>: The only thing that causes a discontinuity above and below the threshold is the likelihood of program participation/eligibility</a:t>
            </a:r>
          </a:p>
          <a:p>
            <a:pPr>
              <a:buFont typeface="+mj-lt"/>
              <a:buAutoNum type="arabicPeriod"/>
            </a:pPr>
            <a:endParaRPr lang="en-US" sz="1800" dirty="0">
              <a:effectLst/>
              <a:latin typeface="Calibri" panose="020F0502020204030204" pitchFamily="34" charset="0"/>
              <a:cs typeface="Calibri" panose="020F0502020204030204" pitchFamily="34" charset="0"/>
            </a:endParaRPr>
          </a:p>
          <a:p>
            <a:pPr marL="0" indent="0">
              <a:buNone/>
            </a:pPr>
            <a:r>
              <a:rPr lang="en-US" b="1" dirty="0">
                <a:effectLst/>
                <a:latin typeface="Calibri" panose="020F0502020204030204" pitchFamily="34" charset="0"/>
                <a:cs typeface="Calibri" panose="020F0502020204030204" pitchFamily="34" charset="0"/>
              </a:rPr>
              <a:t>Implications of this assumption</a:t>
            </a:r>
          </a:p>
          <a:p>
            <a:pPr lvl="1">
              <a:buFontTx/>
              <a:buChar char="-"/>
            </a:pPr>
            <a:r>
              <a:rPr lang="en-US" sz="2800" b="0" i="0" dirty="0">
                <a:effectLst/>
                <a:latin typeface="Calibri" panose="020F0502020204030204" pitchFamily="34" charset="0"/>
                <a:cs typeface="Calibri" panose="020F0502020204030204" pitchFamily="34" charset="0"/>
              </a:rPr>
              <a:t>Individuals can’t be able to manipulate the running variable in order to increase the chances of being included / excluded</a:t>
            </a:r>
          </a:p>
          <a:p>
            <a:pPr lvl="1">
              <a:buFontTx/>
              <a:buChar char="-"/>
            </a:pPr>
            <a:r>
              <a:rPr lang="en-US" sz="2800" b="0" i="0" dirty="0">
                <a:effectLst/>
                <a:latin typeface="Calibri" panose="020F0502020204030204" pitchFamily="34" charset="0"/>
                <a:cs typeface="Calibri" panose="020F0502020204030204" pitchFamily="34" charset="0"/>
              </a:rPr>
              <a:t>Individuals close to the threshold should be very similar, on average, in observed and unobserved characteristics</a:t>
            </a:r>
          </a:p>
          <a:p>
            <a:pPr lvl="1">
              <a:buFontTx/>
              <a:buChar char="-"/>
            </a:pPr>
            <a:r>
              <a:rPr lang="en-US" sz="2800" b="0" i="0" dirty="0">
                <a:effectLst/>
                <a:latin typeface="Calibri" panose="020F0502020204030204" pitchFamily="34" charset="0"/>
                <a:cs typeface="Calibri" panose="020F0502020204030204" pitchFamily="34" charset="0"/>
              </a:rPr>
              <a:t>There’s no other competing intervention or policy change occurring around the threshold</a:t>
            </a:r>
          </a:p>
          <a:p>
            <a:pPr marL="457200" lvl="1" indent="0">
              <a:buNone/>
            </a:pPr>
            <a:endParaRPr lang="en-US" altLang="en-US" dirty="0"/>
          </a:p>
        </p:txBody>
      </p:sp>
      <p:sp>
        <p:nvSpPr>
          <p:cNvPr id="4" name="Slide Number Placeholder 3">
            <a:extLst>
              <a:ext uri="{FF2B5EF4-FFF2-40B4-BE49-F238E27FC236}">
                <a16:creationId xmlns:a16="http://schemas.microsoft.com/office/drawing/2014/main" id="{EA85B652-8AD1-4B54-AF42-CE50B0F8C5EA}"/>
              </a:ext>
            </a:extLst>
          </p:cNvPr>
          <p:cNvSpPr>
            <a:spLocks noGrp="1"/>
          </p:cNvSpPr>
          <p:nvPr>
            <p:ph type="sldNum" sz="quarter" idx="12"/>
          </p:nvPr>
        </p:nvSpPr>
        <p:spPr/>
        <p:txBody>
          <a:bodyPr/>
          <a:lstStyle/>
          <a:p>
            <a:fld id="{4698AAF4-35A4-40F4-A7AE-C8E2C41B9252}" type="slidenum">
              <a:rPr lang="en-US" smtClean="0"/>
              <a:t>46</a:t>
            </a:fld>
            <a:endParaRPr lang="en-US"/>
          </a:p>
        </p:txBody>
      </p:sp>
    </p:spTree>
    <p:extLst>
      <p:ext uri="{BB962C8B-B14F-4D97-AF65-F5344CB8AC3E}">
        <p14:creationId xmlns:p14="http://schemas.microsoft.com/office/powerpoint/2010/main" val="3227184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5DF6D-B4CB-4C20-B90E-DA38E34C3FDC}"/>
              </a:ext>
            </a:extLst>
          </p:cNvPr>
          <p:cNvSpPr>
            <a:spLocks noGrp="1"/>
          </p:cNvSpPr>
          <p:nvPr>
            <p:ph type="title"/>
          </p:nvPr>
        </p:nvSpPr>
        <p:spPr/>
        <p:txBody>
          <a:bodyPr/>
          <a:lstStyle/>
          <a:p>
            <a:r>
              <a:rPr lang="en-US" dirty="0"/>
              <a:t>RDD, RCTs, and IV estimation</a:t>
            </a:r>
          </a:p>
        </p:txBody>
      </p:sp>
      <p:sp>
        <p:nvSpPr>
          <p:cNvPr id="3" name="Content Placeholder 2">
            <a:extLst>
              <a:ext uri="{FF2B5EF4-FFF2-40B4-BE49-F238E27FC236}">
                <a16:creationId xmlns:a16="http://schemas.microsoft.com/office/drawing/2014/main" id="{38687E0E-7ECC-4A86-816E-13755EBBEACE}"/>
              </a:ext>
            </a:extLst>
          </p:cNvPr>
          <p:cNvSpPr>
            <a:spLocks noGrp="1"/>
          </p:cNvSpPr>
          <p:nvPr>
            <p:ph idx="1"/>
          </p:nvPr>
        </p:nvSpPr>
        <p:spPr/>
        <p:txBody>
          <a:bodyPr>
            <a:normAutofit fontScale="92500" lnSpcReduction="10000"/>
          </a:bodyPr>
          <a:lstStyle/>
          <a:p>
            <a:r>
              <a:rPr lang="en-US" dirty="0"/>
              <a:t>Under ideal conditions, RDDs are very similar conceptually to RCTs: if it is true that treatment assignment is close to “random” within the analyzed range, then RDDs become a quasi-experiment</a:t>
            </a:r>
          </a:p>
          <a:p>
            <a:endParaRPr lang="en-US" dirty="0"/>
          </a:p>
          <a:p>
            <a:r>
              <a:rPr lang="en-US" dirty="0"/>
              <a:t>RDDs can also be seen as a special case of IV estimation</a:t>
            </a:r>
          </a:p>
          <a:p>
            <a:pPr lvl="1"/>
            <a:r>
              <a:rPr lang="en-US" dirty="0"/>
              <a:t>Under the RDD assumption, we know that there is an increase in the treatment at the cutoff, and we explore this exogenous variation in the treatment to identify the causal effect of interest</a:t>
            </a:r>
          </a:p>
          <a:p>
            <a:endParaRPr lang="en-US" dirty="0"/>
          </a:p>
          <a:p>
            <a:r>
              <a:rPr lang="en-US" b="1" dirty="0"/>
              <a:t>Key question:</a:t>
            </a:r>
            <a:r>
              <a:rPr lang="en-US" dirty="0"/>
              <a:t> How plausible is it that the cutoff affects the outcome only through treatment? </a:t>
            </a:r>
          </a:p>
          <a:p>
            <a:pPr lvl="1"/>
            <a:r>
              <a:rPr lang="en-US" dirty="0"/>
              <a:t>Recall, this is the similar to the exclusion assumption in an IV setting</a:t>
            </a:r>
          </a:p>
        </p:txBody>
      </p:sp>
      <p:sp>
        <p:nvSpPr>
          <p:cNvPr id="4" name="Slide Number Placeholder 3">
            <a:extLst>
              <a:ext uri="{FF2B5EF4-FFF2-40B4-BE49-F238E27FC236}">
                <a16:creationId xmlns:a16="http://schemas.microsoft.com/office/drawing/2014/main" id="{6B731E43-B693-4A03-BED3-34FFB830EA6B}"/>
              </a:ext>
            </a:extLst>
          </p:cNvPr>
          <p:cNvSpPr>
            <a:spLocks noGrp="1"/>
          </p:cNvSpPr>
          <p:nvPr>
            <p:ph type="sldNum" sz="quarter" idx="12"/>
          </p:nvPr>
        </p:nvSpPr>
        <p:spPr/>
        <p:txBody>
          <a:bodyPr/>
          <a:lstStyle/>
          <a:p>
            <a:fld id="{4698AAF4-35A4-40F4-A7AE-C8E2C41B9252}" type="slidenum">
              <a:rPr lang="en-US" smtClean="0"/>
              <a:t>47</a:t>
            </a:fld>
            <a:endParaRPr lang="en-US"/>
          </a:p>
        </p:txBody>
      </p:sp>
    </p:spTree>
    <p:extLst>
      <p:ext uri="{BB962C8B-B14F-4D97-AF65-F5344CB8AC3E}">
        <p14:creationId xmlns:p14="http://schemas.microsoft.com/office/powerpoint/2010/main" val="409136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A3C6B-14DD-49A1-BADE-3D38A3E0BC66}"/>
              </a:ext>
            </a:extLst>
          </p:cNvPr>
          <p:cNvSpPr>
            <a:spLocks noGrp="1"/>
          </p:cNvSpPr>
          <p:nvPr>
            <p:ph type="title"/>
          </p:nvPr>
        </p:nvSpPr>
        <p:spPr/>
        <p:txBody>
          <a:bodyPr/>
          <a:lstStyle/>
          <a:p>
            <a:r>
              <a:rPr lang="en-US" dirty="0"/>
              <a:t>The critical threshold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DE61C9-F303-4456-91AC-4D99B163F756}"/>
                  </a:ext>
                </a:extLst>
              </p:cNvPr>
              <p:cNvSpPr>
                <a:spLocks noGrp="1"/>
              </p:cNvSpPr>
              <p:nvPr>
                <p:ph idx="1"/>
              </p:nvPr>
            </p:nvSpPr>
            <p:spPr/>
            <p:txBody>
              <a:bodyPr/>
              <a:lstStyle/>
              <a:p>
                <a:r>
                  <a:rPr lang="en-US" dirty="0"/>
                  <a:t>Assume that there is a continuous variable z which determines eligibility for treatment discontinuously at some cutoff (</a:t>
                </a:r>
                <a14:m>
                  <m:oMath xmlns:m="http://schemas.openxmlformats.org/officeDocument/2006/math">
                    <m:r>
                      <a:rPr lang="en-US" i="1" dirty="0" smtClean="0">
                        <a:latin typeface="Cambria Math" panose="02040503050406030204" pitchFamily="18" charset="0"/>
                      </a:rPr>
                      <m:t>𝑐</m:t>
                    </m:r>
                  </m:oMath>
                </a14:m>
                <a:r>
                  <a:rPr lang="en-US" dirty="0"/>
                  <a: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lim>
                      </m:limLow>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d>
                        </m:e>
                      </m:func>
                      <m:r>
                        <a:rPr lang="en-US" b="0" i="1" smtClean="0">
                          <a:latin typeface="Cambria Math" panose="02040503050406030204" pitchFamily="18" charset="0"/>
                        </a:rPr>
                        <m:t>≠</m:t>
                      </m:r>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lim>
                      </m:limLow>
                      <m:r>
                        <a:rPr lang="en-US" b="0" i="1" smtClean="0">
                          <a:latin typeface="Cambria Math" panose="02040503050406030204" pitchFamily="18" charset="0"/>
                        </a:rPr>
                        <m:t> </m:t>
                      </m:r>
                      <m:r>
                        <m:rPr>
                          <m:sty m:val="p"/>
                        </m:rPr>
                        <a:rPr lang="en-US" b="0" i="0" smtClean="0">
                          <a:latin typeface="Cambria Math" panose="02040503050406030204" pitchFamily="18" charset="0"/>
                        </a:rPr>
                        <m:t>Pr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r>
                        <a:rPr lang="en-US" b="0" i="1" smtClean="0">
                          <a:latin typeface="Cambria Math" panose="02040503050406030204" pitchFamily="18" charset="0"/>
                        </a:rPr>
                        <m:t>=1)</m:t>
                      </m:r>
                    </m:oMath>
                  </m:oMathPara>
                </a14:m>
                <a:endParaRPr lang="en-US" dirty="0"/>
              </a:p>
            </p:txBody>
          </p:sp>
        </mc:Choice>
        <mc:Fallback xmlns="">
          <p:sp>
            <p:nvSpPr>
              <p:cNvPr id="3" name="Content Placeholder 2">
                <a:extLst>
                  <a:ext uri="{FF2B5EF4-FFF2-40B4-BE49-F238E27FC236}">
                    <a16:creationId xmlns:a16="http://schemas.microsoft.com/office/drawing/2014/main" id="{A0DE61C9-F303-4456-91AC-4D99B163F75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72AF2D5-DD0F-4CA3-A96B-EB0912ECBE19}"/>
              </a:ext>
            </a:extLst>
          </p:cNvPr>
          <p:cNvSpPr>
            <a:spLocks noGrp="1"/>
          </p:cNvSpPr>
          <p:nvPr>
            <p:ph type="sldNum" sz="quarter" idx="12"/>
          </p:nvPr>
        </p:nvSpPr>
        <p:spPr/>
        <p:txBody>
          <a:bodyPr/>
          <a:lstStyle/>
          <a:p>
            <a:fld id="{4698AAF4-35A4-40F4-A7AE-C8E2C41B9252}" type="slidenum">
              <a:rPr lang="en-US" smtClean="0"/>
              <a:t>48</a:t>
            </a:fld>
            <a:endParaRPr lang="en-US"/>
          </a:p>
        </p:txBody>
      </p:sp>
      <p:pic>
        <p:nvPicPr>
          <p:cNvPr id="5" name="Picture 4">
            <a:extLst>
              <a:ext uri="{FF2B5EF4-FFF2-40B4-BE49-F238E27FC236}">
                <a16:creationId xmlns:a16="http://schemas.microsoft.com/office/drawing/2014/main" id="{B20FF7FF-4F94-4BD2-8B52-E77B62A855DE}"/>
              </a:ext>
            </a:extLst>
          </p:cNvPr>
          <p:cNvPicPr>
            <a:picLocks noChangeAspect="1"/>
          </p:cNvPicPr>
          <p:nvPr/>
        </p:nvPicPr>
        <p:blipFill>
          <a:blip r:embed="rId3"/>
          <a:stretch>
            <a:fillRect/>
          </a:stretch>
        </p:blipFill>
        <p:spPr>
          <a:xfrm>
            <a:off x="2809882" y="3867151"/>
            <a:ext cx="6572236" cy="2935287"/>
          </a:xfrm>
          <a:prstGeom prst="rect">
            <a:avLst/>
          </a:prstGeom>
        </p:spPr>
      </p:pic>
    </p:spTree>
    <p:extLst>
      <p:ext uri="{BB962C8B-B14F-4D97-AF65-F5344CB8AC3E}">
        <p14:creationId xmlns:p14="http://schemas.microsoft.com/office/powerpoint/2010/main" val="33836477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9E1CB-8B5D-4E1D-B960-E87CF65D88F5}"/>
              </a:ext>
            </a:extLst>
          </p:cNvPr>
          <p:cNvSpPr>
            <a:spLocks noGrp="1"/>
          </p:cNvSpPr>
          <p:nvPr>
            <p:ph type="title"/>
          </p:nvPr>
        </p:nvSpPr>
        <p:spPr/>
        <p:txBody>
          <a:bodyPr/>
          <a:lstStyle/>
          <a:p>
            <a:r>
              <a:rPr lang="en-US" dirty="0"/>
              <a:t>Sharp discontinuities vs. fuzzy discontinuities</a:t>
            </a:r>
          </a:p>
        </p:txBody>
      </p:sp>
      <p:sp>
        <p:nvSpPr>
          <p:cNvPr id="3" name="Content Placeholder 2">
            <a:extLst>
              <a:ext uri="{FF2B5EF4-FFF2-40B4-BE49-F238E27FC236}">
                <a16:creationId xmlns:a16="http://schemas.microsoft.com/office/drawing/2014/main" id="{E8C6C6F5-C074-4F45-ABFE-16AC5C2FB310}"/>
              </a:ext>
            </a:extLst>
          </p:cNvPr>
          <p:cNvSpPr>
            <a:spLocks noGrp="1"/>
          </p:cNvSpPr>
          <p:nvPr>
            <p:ph idx="1"/>
          </p:nvPr>
        </p:nvSpPr>
        <p:spPr/>
        <p:txBody>
          <a:bodyPr/>
          <a:lstStyle/>
          <a:p>
            <a:r>
              <a:rPr lang="en-US" dirty="0"/>
              <a:t>With sharp discontinuities, the probability of receiving treatment at the cutoff goes from 0 to 1</a:t>
            </a:r>
          </a:p>
          <a:p>
            <a:r>
              <a:rPr lang="en-US" dirty="0"/>
              <a:t>With fuzzy discontinuities, the change in probability of receiving treatment at the cutoff is less than 1</a:t>
            </a:r>
          </a:p>
        </p:txBody>
      </p:sp>
      <p:sp>
        <p:nvSpPr>
          <p:cNvPr id="4" name="Slide Number Placeholder 3">
            <a:extLst>
              <a:ext uri="{FF2B5EF4-FFF2-40B4-BE49-F238E27FC236}">
                <a16:creationId xmlns:a16="http://schemas.microsoft.com/office/drawing/2014/main" id="{561455BE-DC3A-4710-A5AB-702A4E43A443}"/>
              </a:ext>
            </a:extLst>
          </p:cNvPr>
          <p:cNvSpPr>
            <a:spLocks noGrp="1"/>
          </p:cNvSpPr>
          <p:nvPr>
            <p:ph type="sldNum" sz="quarter" idx="12"/>
          </p:nvPr>
        </p:nvSpPr>
        <p:spPr/>
        <p:txBody>
          <a:bodyPr/>
          <a:lstStyle/>
          <a:p>
            <a:fld id="{4698AAF4-35A4-40F4-A7AE-C8E2C41B9252}" type="slidenum">
              <a:rPr lang="en-US" smtClean="0"/>
              <a:t>49</a:t>
            </a:fld>
            <a:endParaRPr lang="en-US"/>
          </a:p>
        </p:txBody>
      </p:sp>
      <p:pic>
        <p:nvPicPr>
          <p:cNvPr id="5" name="Picture 4">
            <a:extLst>
              <a:ext uri="{FF2B5EF4-FFF2-40B4-BE49-F238E27FC236}">
                <a16:creationId xmlns:a16="http://schemas.microsoft.com/office/drawing/2014/main" id="{E844A7E4-261A-405B-808D-39B206259775}"/>
              </a:ext>
            </a:extLst>
          </p:cNvPr>
          <p:cNvPicPr>
            <a:picLocks noChangeAspect="1"/>
          </p:cNvPicPr>
          <p:nvPr/>
        </p:nvPicPr>
        <p:blipFill>
          <a:blip r:embed="rId2"/>
          <a:stretch>
            <a:fillRect/>
          </a:stretch>
        </p:blipFill>
        <p:spPr>
          <a:xfrm>
            <a:off x="838200" y="3671496"/>
            <a:ext cx="4381500" cy="3049979"/>
          </a:xfrm>
          <a:prstGeom prst="rect">
            <a:avLst/>
          </a:prstGeom>
        </p:spPr>
      </p:pic>
      <p:pic>
        <p:nvPicPr>
          <p:cNvPr id="6" name="Picture 5">
            <a:extLst>
              <a:ext uri="{FF2B5EF4-FFF2-40B4-BE49-F238E27FC236}">
                <a16:creationId xmlns:a16="http://schemas.microsoft.com/office/drawing/2014/main" id="{1F9E44A8-5512-48E4-8FBD-0AC88CF3574A}"/>
              </a:ext>
            </a:extLst>
          </p:cNvPr>
          <p:cNvPicPr>
            <a:picLocks noChangeAspect="1"/>
          </p:cNvPicPr>
          <p:nvPr/>
        </p:nvPicPr>
        <p:blipFill>
          <a:blip r:embed="rId3"/>
          <a:stretch>
            <a:fillRect/>
          </a:stretch>
        </p:blipFill>
        <p:spPr>
          <a:xfrm>
            <a:off x="6475073" y="3671496"/>
            <a:ext cx="4271054" cy="3054096"/>
          </a:xfrm>
          <a:prstGeom prst="rect">
            <a:avLst/>
          </a:prstGeom>
        </p:spPr>
      </p:pic>
    </p:spTree>
    <p:extLst>
      <p:ext uri="{BB962C8B-B14F-4D97-AF65-F5344CB8AC3E}">
        <p14:creationId xmlns:p14="http://schemas.microsoft.com/office/powerpoint/2010/main" val="38640322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EE257-0556-4B25-A890-8785F94BE450}"/>
              </a:ext>
            </a:extLst>
          </p:cNvPr>
          <p:cNvSpPr>
            <a:spLocks noGrp="1"/>
          </p:cNvSpPr>
          <p:nvPr>
            <p:ph type="title"/>
          </p:nvPr>
        </p:nvSpPr>
        <p:spPr/>
        <p:txBody>
          <a:bodyPr/>
          <a:lstStyle/>
          <a:p>
            <a:r>
              <a:rPr lang="en-US" dirty="0"/>
              <a:t>Assessment of Validity of RDD</a:t>
            </a:r>
          </a:p>
        </p:txBody>
      </p:sp>
      <p:sp>
        <p:nvSpPr>
          <p:cNvPr id="3" name="Content Placeholder 2">
            <a:extLst>
              <a:ext uri="{FF2B5EF4-FFF2-40B4-BE49-F238E27FC236}">
                <a16:creationId xmlns:a16="http://schemas.microsoft.com/office/drawing/2014/main" id="{F601E84A-C307-4F51-8BE9-A97D58903448}"/>
              </a:ext>
            </a:extLst>
          </p:cNvPr>
          <p:cNvSpPr>
            <a:spLocks noGrp="1"/>
          </p:cNvSpPr>
          <p:nvPr>
            <p:ph idx="1"/>
          </p:nvPr>
        </p:nvSpPr>
        <p:spPr/>
        <p:txBody>
          <a:bodyPr>
            <a:normAutofit fontScale="92500" lnSpcReduction="10000"/>
          </a:bodyPr>
          <a:lstStyle/>
          <a:p>
            <a:r>
              <a:rPr lang="en-US" dirty="0"/>
              <a:t>We want the distribution of the running variable to be smooth around the threshold</a:t>
            </a:r>
          </a:p>
          <a:p>
            <a:pPr lvl="1"/>
            <a:r>
              <a:rPr lang="en-US" dirty="0"/>
              <a:t>No bunching (i.e. no signs of manipulation)</a:t>
            </a:r>
          </a:p>
          <a:p>
            <a:endParaRPr lang="en-US" dirty="0"/>
          </a:p>
          <a:p>
            <a:r>
              <a:rPr lang="en-US" dirty="0"/>
              <a:t>We want to see a jump in the probability of receiving treatment at the threshold</a:t>
            </a:r>
          </a:p>
          <a:p>
            <a:pPr lvl="1"/>
            <a:r>
              <a:rPr lang="en-US" dirty="0"/>
              <a:t>For sharp RD this jump goes from 0 to 1</a:t>
            </a:r>
          </a:p>
          <a:p>
            <a:pPr lvl="1"/>
            <a:r>
              <a:rPr lang="en-US" dirty="0"/>
              <a:t>For fuzzy RDD this jump is somewhere in the range 0&lt;p&lt;1</a:t>
            </a:r>
          </a:p>
          <a:p>
            <a:endParaRPr lang="en-US" dirty="0"/>
          </a:p>
          <a:p>
            <a:r>
              <a:rPr lang="en-US" dirty="0"/>
              <a:t>We want the characteristics of those just above and below the threshold to be similar</a:t>
            </a:r>
          </a:p>
          <a:p>
            <a:endParaRPr lang="en-US" dirty="0"/>
          </a:p>
          <a:p>
            <a:endParaRPr lang="en-US" dirty="0"/>
          </a:p>
          <a:p>
            <a:endParaRPr lang="en-US" dirty="0"/>
          </a:p>
          <a:p>
            <a:pPr marL="0" indent="0">
              <a:buNone/>
            </a:pPr>
            <a:endParaRPr lang="en-US" sz="1800" dirty="0">
              <a:effectLst/>
              <a:latin typeface="Calibri" panose="020F0502020204030204" pitchFamily="34" charset="0"/>
              <a:cs typeface="Calibri" panose="020F0502020204030204" pitchFamily="34" charset="0"/>
            </a:endParaRPr>
          </a:p>
          <a:p>
            <a:pPr>
              <a:buFont typeface="+mj-lt"/>
              <a:buAutoNum type="arabicPeriod"/>
            </a:pPr>
            <a:endParaRPr lang="en-US" sz="1800" dirty="0">
              <a:latin typeface="Calibri" panose="020F0502020204030204" pitchFamily="34" charset="0"/>
              <a:cs typeface="Calibri" panose="020F0502020204030204" pitchFamily="34" charset="0"/>
            </a:endParaRPr>
          </a:p>
          <a:p>
            <a:pPr>
              <a:buFont typeface="+mj-lt"/>
              <a:buAutoNum type="arabicPeriod"/>
            </a:pPr>
            <a:endParaRPr lang="en-US" sz="1800" dirty="0">
              <a:effectLst/>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A85B652-8AD1-4B54-AF42-CE50B0F8C5EA}"/>
              </a:ext>
            </a:extLst>
          </p:cNvPr>
          <p:cNvSpPr>
            <a:spLocks noGrp="1"/>
          </p:cNvSpPr>
          <p:nvPr>
            <p:ph type="sldNum" sz="quarter" idx="12"/>
          </p:nvPr>
        </p:nvSpPr>
        <p:spPr/>
        <p:txBody>
          <a:bodyPr/>
          <a:lstStyle/>
          <a:p>
            <a:fld id="{4698AAF4-35A4-40F4-A7AE-C8E2C41B9252}" type="slidenum">
              <a:rPr lang="en-US" smtClean="0"/>
              <a:t>50</a:t>
            </a:fld>
            <a:endParaRPr lang="en-US"/>
          </a:p>
        </p:txBody>
      </p:sp>
    </p:spTree>
    <p:extLst>
      <p:ext uri="{BB962C8B-B14F-4D97-AF65-F5344CB8AC3E}">
        <p14:creationId xmlns:p14="http://schemas.microsoft.com/office/powerpoint/2010/main" val="200520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4B552-395A-5131-CDC5-7B9AB0027163}"/>
              </a:ext>
            </a:extLst>
          </p:cNvPr>
          <p:cNvSpPr>
            <a:spLocks noGrp="1"/>
          </p:cNvSpPr>
          <p:nvPr>
            <p:ph type="title"/>
          </p:nvPr>
        </p:nvSpPr>
        <p:spPr/>
        <p:txBody>
          <a:bodyPr/>
          <a:lstStyle/>
          <a:p>
            <a:r>
              <a:rPr lang="en-US" dirty="0"/>
              <a:t>Practical Tips: Assessing the Validity of RDD</a:t>
            </a:r>
          </a:p>
        </p:txBody>
      </p:sp>
      <p:sp>
        <p:nvSpPr>
          <p:cNvPr id="3" name="Content Placeholder 2">
            <a:extLst>
              <a:ext uri="{FF2B5EF4-FFF2-40B4-BE49-F238E27FC236}">
                <a16:creationId xmlns:a16="http://schemas.microsoft.com/office/drawing/2014/main" id="{99FC732E-01C2-FA2F-55D1-50E54E4FD80C}"/>
              </a:ext>
            </a:extLst>
          </p:cNvPr>
          <p:cNvSpPr>
            <a:spLocks noGrp="1"/>
          </p:cNvSpPr>
          <p:nvPr>
            <p:ph idx="1"/>
          </p:nvPr>
        </p:nvSpPr>
        <p:spPr/>
        <p:txBody>
          <a:bodyPr>
            <a:noAutofit/>
          </a:bodyPr>
          <a:lstStyle/>
          <a:p>
            <a:pPr marL="457200" indent="-457200">
              <a:buAutoNum type="arabicParenR"/>
            </a:pPr>
            <a:r>
              <a:rPr lang="en-US" sz="2400" dirty="0">
                <a:effectLst/>
                <a:latin typeface="Calibri" panose="020F0502020204030204" pitchFamily="34" charset="0"/>
                <a:cs typeface="Calibri" panose="020F0502020204030204" pitchFamily="34" charset="0"/>
              </a:rPr>
              <a:t>Show characteristics (SES, age...) are balanced around cutoff. </a:t>
            </a:r>
          </a:p>
          <a:p>
            <a:pPr lvl="1"/>
            <a:r>
              <a:rPr lang="en-US" sz="2000" dirty="0">
                <a:effectLst/>
                <a:latin typeface="Calibri" panose="020F0502020204030204" pitchFamily="34" charset="0"/>
                <a:cs typeface="Calibri" panose="020F0502020204030204" pitchFamily="34" charset="0"/>
              </a:rPr>
              <a:t>One way to do this is to estimate the same main regression as RD but your “outcomes” are the covariates. Look for jumps near the cutoff. </a:t>
            </a:r>
          </a:p>
          <a:p>
            <a:pPr lvl="1"/>
            <a:r>
              <a:rPr lang="en-US" sz="2000" dirty="0">
                <a:effectLst/>
                <a:latin typeface="Calibri" panose="020F0502020204030204" pitchFamily="34" charset="0"/>
                <a:cs typeface="Calibri" panose="020F0502020204030204" pitchFamily="34" charset="0"/>
              </a:rPr>
              <a:t>Similar to balance tables in RCTs</a:t>
            </a:r>
          </a:p>
          <a:p>
            <a:pPr marL="0" indent="0">
              <a:buNone/>
            </a:pPr>
            <a:r>
              <a:rPr lang="en-US" sz="2400" dirty="0">
                <a:latin typeface="Calibri" panose="020F0502020204030204" pitchFamily="34" charset="0"/>
                <a:cs typeface="Calibri" panose="020F0502020204030204" pitchFamily="34" charset="0"/>
              </a:rPr>
              <a:t>2)  </a:t>
            </a:r>
            <a:r>
              <a:rPr lang="en-US" sz="2400" dirty="0">
                <a:effectLst/>
                <a:latin typeface="Calibri" panose="020F0502020204030204" pitchFamily="34" charset="0"/>
                <a:cs typeface="Calibri" panose="020F0502020204030204" pitchFamily="34" charset="0"/>
              </a:rPr>
              <a:t>Look for “bunching” in the running variable around cutoff </a:t>
            </a:r>
          </a:p>
          <a:p>
            <a:pPr lvl="1"/>
            <a:r>
              <a:rPr lang="en-US" sz="2000" dirty="0">
                <a:effectLst/>
                <a:latin typeface="Calibri" panose="020F0502020204030204" pitchFamily="34" charset="0"/>
                <a:cs typeface="Calibri" panose="020F0502020204030204" pitchFamily="34" charset="0"/>
              </a:rPr>
              <a:t>Should not be extra mass in distribution near cutoff</a:t>
            </a:r>
            <a:endParaRPr lang="en-US" sz="2000" dirty="0">
              <a:latin typeface="Calibri" panose="020F0502020204030204" pitchFamily="34" charset="0"/>
              <a:cs typeface="Calibri" panose="020F0502020204030204" pitchFamily="34" charset="0"/>
            </a:endParaRPr>
          </a:p>
          <a:p>
            <a:pPr lvl="1"/>
            <a:r>
              <a:rPr lang="en-US" sz="2000" dirty="0">
                <a:latin typeface="Calibri" panose="020F0502020204030204" pitchFamily="34" charset="0"/>
                <a:cs typeface="Calibri" panose="020F0502020204030204" pitchFamily="34" charset="0"/>
              </a:rPr>
              <a:t>Can use </a:t>
            </a:r>
            <a:r>
              <a:rPr lang="en-US" sz="2000" dirty="0">
                <a:latin typeface="Calibri" panose="020F0502020204030204" pitchFamily="34" charset="0"/>
                <a:cs typeface="Calibri" panose="020F0502020204030204" pitchFamily="34" charset="0"/>
                <a:hlinkClick r:id="rId2"/>
              </a:rPr>
              <a:t>McCrary 2008 </a:t>
            </a:r>
            <a:r>
              <a:rPr lang="en-US" sz="2000" dirty="0">
                <a:latin typeface="Calibri" panose="020F0502020204030204" pitchFamily="34" charset="0"/>
                <a:cs typeface="Calibri" panose="020F0502020204030204" pitchFamily="34" charset="0"/>
              </a:rPr>
              <a:t>density test to test this formally</a:t>
            </a:r>
          </a:p>
          <a:p>
            <a:pPr marL="0" indent="0">
              <a:buNone/>
            </a:pPr>
            <a:r>
              <a:rPr lang="en-US" sz="2400" dirty="0">
                <a:latin typeface="Calibri" panose="020F0502020204030204" pitchFamily="34" charset="0"/>
                <a:cs typeface="Calibri" panose="020F0502020204030204" pitchFamily="34" charset="0"/>
              </a:rPr>
              <a:t>3) Estimate causal effect using different bandwidths and check stability of estimates — instability suggests wrong functional form</a:t>
            </a:r>
          </a:p>
          <a:p>
            <a:pPr lvl="1"/>
            <a:r>
              <a:rPr lang="en-US" sz="2000" dirty="0">
                <a:effectLst/>
                <a:latin typeface="Calibri" panose="020F0502020204030204" pitchFamily="34" charset="0"/>
                <a:cs typeface="Calibri" panose="020F0502020204030204" pitchFamily="34" charset="0"/>
              </a:rPr>
              <a:t>can use formal procedures to choose “optimal” bandwidth (</a:t>
            </a:r>
            <a:r>
              <a:rPr lang="en-US" sz="2000" dirty="0" err="1"/>
              <a:t>Imbens</a:t>
            </a:r>
            <a:r>
              <a:rPr lang="en-US" sz="2000" dirty="0"/>
              <a:t> and </a:t>
            </a:r>
            <a:r>
              <a:rPr lang="en-US" sz="2000" dirty="0" err="1"/>
              <a:t>Kalyanaraman</a:t>
            </a:r>
            <a:r>
              <a:rPr lang="en-US" sz="2000" dirty="0"/>
              <a:t> 2009)</a:t>
            </a:r>
            <a:endParaRPr lang="en-US" sz="2400" dirty="0">
              <a:effectLst/>
              <a:latin typeface="Calibri" panose="020F0502020204030204" pitchFamily="34" charset="0"/>
              <a:cs typeface="Calibri" panose="020F0502020204030204" pitchFamily="34" charset="0"/>
            </a:endParaRPr>
          </a:p>
          <a:p>
            <a:pPr marL="0" indent="0">
              <a:buNone/>
            </a:pPr>
            <a:r>
              <a:rPr lang="en-US" sz="2400" dirty="0">
                <a:effectLst/>
                <a:latin typeface="Calibri" panose="020F0502020204030204" pitchFamily="34" charset="0"/>
                <a:cs typeface="Calibri" panose="020F0502020204030204" pitchFamily="34" charset="0"/>
              </a:rPr>
              <a:t>4) </a:t>
            </a:r>
            <a:r>
              <a:rPr lang="en-US" sz="2400" dirty="0">
                <a:latin typeface="Calibri" panose="020F0502020204030204" pitchFamily="34" charset="0"/>
                <a:cs typeface="Calibri" panose="020F0502020204030204" pitchFamily="34" charset="0"/>
              </a:rPr>
              <a:t>    </a:t>
            </a:r>
            <a:r>
              <a:rPr lang="en-US" sz="2400" dirty="0">
                <a:effectLst/>
                <a:latin typeface="Calibri" panose="020F0502020204030204" pitchFamily="34" charset="0"/>
                <a:cs typeface="Calibri" panose="020F0502020204030204" pitchFamily="34" charset="0"/>
              </a:rPr>
              <a:t>Estimate “false threshold” </a:t>
            </a:r>
          </a:p>
          <a:p>
            <a:pPr lvl="1"/>
            <a:r>
              <a:rPr lang="en-US" sz="2000" dirty="0">
                <a:effectLst/>
                <a:latin typeface="Calibri" panose="020F0502020204030204" pitchFamily="34" charset="0"/>
                <a:cs typeface="Calibri" panose="020F0502020204030204" pitchFamily="34" charset="0"/>
              </a:rPr>
              <a:t>Should not find significant effects at the wrong threshold </a:t>
            </a:r>
          </a:p>
          <a:p>
            <a:pPr lvl="1"/>
            <a:endParaRPr lang="en-US" sz="2000" dirty="0">
              <a:latin typeface="Calibri" panose="020F0502020204030204" pitchFamily="34" charset="0"/>
              <a:cs typeface="Calibri" panose="020F0502020204030204" pitchFamily="34" charset="0"/>
            </a:endParaRPr>
          </a:p>
          <a:p>
            <a:pPr lvl="1"/>
            <a:endParaRPr lang="en-US" sz="2000" dirty="0">
              <a:effectLst/>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07BCA1A-13DA-995A-4606-0F170A89866B}"/>
              </a:ext>
            </a:extLst>
          </p:cNvPr>
          <p:cNvSpPr>
            <a:spLocks noGrp="1"/>
          </p:cNvSpPr>
          <p:nvPr>
            <p:ph type="sldNum" sz="quarter" idx="12"/>
          </p:nvPr>
        </p:nvSpPr>
        <p:spPr/>
        <p:txBody>
          <a:bodyPr/>
          <a:lstStyle/>
          <a:p>
            <a:fld id="{4698AAF4-35A4-40F4-A7AE-C8E2C41B9252}" type="slidenum">
              <a:rPr lang="en-US" smtClean="0"/>
              <a:t>51</a:t>
            </a:fld>
            <a:endParaRPr lang="en-US"/>
          </a:p>
        </p:txBody>
      </p:sp>
    </p:spTree>
    <p:extLst>
      <p:ext uri="{BB962C8B-B14F-4D97-AF65-F5344CB8AC3E}">
        <p14:creationId xmlns:p14="http://schemas.microsoft.com/office/powerpoint/2010/main" val="2077906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2A613-439B-4CD9-9892-B2D7A0C744DE}"/>
              </a:ext>
            </a:extLst>
          </p:cNvPr>
          <p:cNvSpPr>
            <a:spLocks noGrp="1"/>
          </p:cNvSpPr>
          <p:nvPr>
            <p:ph type="title"/>
          </p:nvPr>
        </p:nvSpPr>
        <p:spPr/>
        <p:txBody>
          <a:bodyPr/>
          <a:lstStyle/>
          <a:p>
            <a:r>
              <a:rPr lang="en-US" dirty="0"/>
              <a:t>IV vs. RDD</a:t>
            </a:r>
          </a:p>
        </p:txBody>
      </p:sp>
      <p:sp>
        <p:nvSpPr>
          <p:cNvPr id="3" name="Content Placeholder 2">
            <a:extLst>
              <a:ext uri="{FF2B5EF4-FFF2-40B4-BE49-F238E27FC236}">
                <a16:creationId xmlns:a16="http://schemas.microsoft.com/office/drawing/2014/main" id="{C93AC98A-F6D4-416B-BF82-D84C46B54922}"/>
              </a:ext>
            </a:extLst>
          </p:cNvPr>
          <p:cNvSpPr>
            <a:spLocks noGrp="1"/>
          </p:cNvSpPr>
          <p:nvPr>
            <p:ph idx="1"/>
          </p:nvPr>
        </p:nvSpPr>
        <p:spPr>
          <a:xfrm>
            <a:off x="838200" y="1825625"/>
            <a:ext cx="10515600" cy="4895850"/>
          </a:xfrm>
        </p:spPr>
        <p:txBody>
          <a:bodyPr>
            <a:normAutofit fontScale="92500" lnSpcReduction="20000"/>
          </a:bodyPr>
          <a:lstStyle/>
          <a:p>
            <a:r>
              <a:rPr lang="en-US" altLang="en-US" dirty="0"/>
              <a:t>Both IV and RDD strategies explore random variations generated by specific programs or thresholds</a:t>
            </a:r>
          </a:p>
          <a:p>
            <a:endParaRPr lang="en-US" altLang="en-US" dirty="0"/>
          </a:p>
          <a:p>
            <a:r>
              <a:rPr lang="en-US" altLang="en-US" dirty="0"/>
              <a:t>While this variation could be randomly distributed across the entire population (like the variation in exposure generated by an RCT), most IVs and RDD explore variations generated by government laws or other quasi-random rules</a:t>
            </a:r>
          </a:p>
          <a:p>
            <a:endParaRPr lang="en-US" altLang="en-US" dirty="0"/>
          </a:p>
          <a:p>
            <a:r>
              <a:rPr lang="en-US" altLang="en-US" dirty="0"/>
              <a:t>If treatment impact is heterogeneous, the estimates are not necessarily the average treatment effects for the population. </a:t>
            </a:r>
          </a:p>
          <a:p>
            <a:pPr lvl="1"/>
            <a:r>
              <a:rPr lang="en-US" altLang="en-US" dirty="0"/>
              <a:t>We refer to RDD estimates as ACE or CACE, and to IV estimates as LATE.</a:t>
            </a:r>
          </a:p>
          <a:p>
            <a:pPr marL="0" indent="0">
              <a:buNone/>
            </a:pPr>
            <a:r>
              <a:rPr lang="en-US" altLang="en-US" dirty="0"/>
              <a:t> </a:t>
            </a:r>
          </a:p>
          <a:p>
            <a:r>
              <a:rPr lang="en-US" altLang="en-US" dirty="0"/>
              <a:t>Big advantage of RDD – relies on </a:t>
            </a:r>
            <a:r>
              <a:rPr lang="en-US" altLang="en-US" dirty="0">
                <a:solidFill>
                  <a:srgbClr val="FF0000"/>
                </a:solidFill>
              </a:rPr>
              <a:t>continuity</a:t>
            </a:r>
            <a:r>
              <a:rPr lang="en-US" altLang="en-US" dirty="0"/>
              <a:t> of missing covariates with z, not on </a:t>
            </a:r>
            <a:r>
              <a:rPr lang="en-US" altLang="en-US" dirty="0">
                <a:solidFill>
                  <a:srgbClr val="FF0000"/>
                </a:solidFill>
              </a:rPr>
              <a:t>no correlation </a:t>
            </a:r>
            <a:r>
              <a:rPr lang="en-US" altLang="en-US" dirty="0"/>
              <a:t>between covariates and z.</a:t>
            </a:r>
          </a:p>
        </p:txBody>
      </p:sp>
      <p:sp>
        <p:nvSpPr>
          <p:cNvPr id="4" name="Slide Number Placeholder 3">
            <a:extLst>
              <a:ext uri="{FF2B5EF4-FFF2-40B4-BE49-F238E27FC236}">
                <a16:creationId xmlns:a16="http://schemas.microsoft.com/office/drawing/2014/main" id="{7ED075DF-EC8F-456A-B9A1-BFFF4ED85AAF}"/>
              </a:ext>
            </a:extLst>
          </p:cNvPr>
          <p:cNvSpPr>
            <a:spLocks noGrp="1"/>
          </p:cNvSpPr>
          <p:nvPr>
            <p:ph type="sldNum" sz="quarter" idx="12"/>
          </p:nvPr>
        </p:nvSpPr>
        <p:spPr/>
        <p:txBody>
          <a:bodyPr/>
          <a:lstStyle/>
          <a:p>
            <a:fld id="{4698AAF4-35A4-40F4-A7AE-C8E2C41B9252}" type="slidenum">
              <a:rPr lang="en-US" smtClean="0"/>
              <a:t>52</a:t>
            </a:fld>
            <a:endParaRPr lang="en-US"/>
          </a:p>
        </p:txBody>
      </p:sp>
    </p:spTree>
    <p:extLst>
      <p:ext uri="{BB962C8B-B14F-4D97-AF65-F5344CB8AC3E}">
        <p14:creationId xmlns:p14="http://schemas.microsoft.com/office/powerpoint/2010/main" val="197836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A5BCD-A151-4EE4-87FB-C847D43D637D}"/>
              </a:ext>
            </a:extLst>
          </p:cNvPr>
          <p:cNvSpPr>
            <a:spLocks noGrp="1"/>
          </p:cNvSpPr>
          <p:nvPr>
            <p:ph type="title"/>
          </p:nvPr>
        </p:nvSpPr>
        <p:spPr/>
        <p:txBody>
          <a:bodyPr/>
          <a:lstStyle/>
          <a:p>
            <a:r>
              <a:rPr lang="en-US" dirty="0"/>
              <a:t>Strength of RDDs</a:t>
            </a:r>
          </a:p>
        </p:txBody>
      </p:sp>
      <p:sp>
        <p:nvSpPr>
          <p:cNvPr id="3" name="Content Placeholder 2">
            <a:extLst>
              <a:ext uri="{FF2B5EF4-FFF2-40B4-BE49-F238E27FC236}">
                <a16:creationId xmlns:a16="http://schemas.microsoft.com/office/drawing/2014/main" id="{36DB2FE9-58AD-49D9-9677-52A7F1C49B51}"/>
              </a:ext>
            </a:extLst>
          </p:cNvPr>
          <p:cNvSpPr>
            <a:spLocks noGrp="1"/>
          </p:cNvSpPr>
          <p:nvPr>
            <p:ph idx="1"/>
          </p:nvPr>
        </p:nvSpPr>
        <p:spPr/>
        <p:txBody>
          <a:bodyPr>
            <a:normAutofit fontScale="77500" lnSpcReduction="20000"/>
          </a:bodyPr>
          <a:lstStyle/>
          <a:p>
            <a:r>
              <a:rPr lang="en-US" altLang="en-US" dirty="0"/>
              <a:t>RDD models have many potential applications</a:t>
            </a:r>
          </a:p>
          <a:p>
            <a:endParaRPr lang="en-US" altLang="en-US" dirty="0"/>
          </a:p>
          <a:p>
            <a:r>
              <a:rPr lang="en-US" altLang="en-US" dirty="0"/>
              <a:t>The assumption that treatment assignment is discontinuous around a very specific threshold is plausible in many settings and can be tested</a:t>
            </a:r>
          </a:p>
          <a:p>
            <a:endParaRPr lang="en-US" altLang="en-US" dirty="0"/>
          </a:p>
          <a:p>
            <a:r>
              <a:rPr lang="en-US" altLang="en-US" dirty="0"/>
              <a:t>The degree to which populations are the same to the “left” and “right” of the threshold can be tested empirically – test balance of observables</a:t>
            </a:r>
          </a:p>
          <a:p>
            <a:endParaRPr lang="en-US" altLang="en-US" dirty="0"/>
          </a:p>
          <a:p>
            <a:r>
              <a:rPr lang="en-US" altLang="en-US" dirty="0"/>
              <a:t>The plausibility of RDD is possible to assess visually – can lend strength to conclusions</a:t>
            </a:r>
          </a:p>
          <a:p>
            <a:endParaRPr lang="en-US" altLang="en-US" dirty="0"/>
          </a:p>
          <a:p>
            <a:r>
              <a:rPr lang="en-US" altLang="en-US" dirty="0"/>
              <a:t>RDD estimate the causal effect of treatments in practice, which may be very different from the controlled environments generated for RCTs</a:t>
            </a:r>
          </a:p>
        </p:txBody>
      </p:sp>
      <p:sp>
        <p:nvSpPr>
          <p:cNvPr id="4" name="Slide Number Placeholder 3">
            <a:extLst>
              <a:ext uri="{FF2B5EF4-FFF2-40B4-BE49-F238E27FC236}">
                <a16:creationId xmlns:a16="http://schemas.microsoft.com/office/drawing/2014/main" id="{D8B73314-A351-48DA-8E12-22B720397BC6}"/>
              </a:ext>
            </a:extLst>
          </p:cNvPr>
          <p:cNvSpPr>
            <a:spLocks noGrp="1"/>
          </p:cNvSpPr>
          <p:nvPr>
            <p:ph type="sldNum" sz="quarter" idx="12"/>
          </p:nvPr>
        </p:nvSpPr>
        <p:spPr/>
        <p:txBody>
          <a:bodyPr/>
          <a:lstStyle/>
          <a:p>
            <a:fld id="{4698AAF4-35A4-40F4-A7AE-C8E2C41B9252}" type="slidenum">
              <a:rPr lang="en-US" smtClean="0"/>
              <a:t>53</a:t>
            </a:fld>
            <a:endParaRPr lang="en-US"/>
          </a:p>
        </p:txBody>
      </p:sp>
    </p:spTree>
    <p:extLst>
      <p:ext uri="{BB962C8B-B14F-4D97-AF65-F5344CB8AC3E}">
        <p14:creationId xmlns:p14="http://schemas.microsoft.com/office/powerpoint/2010/main" val="382653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509162-5F57-45C1-9B79-79AEE0ABEA6E}"/>
              </a:ext>
            </a:extLst>
          </p:cNvPr>
          <p:cNvSpPr>
            <a:spLocks noGrp="1"/>
          </p:cNvSpPr>
          <p:nvPr>
            <p:ph type="title"/>
          </p:nvPr>
        </p:nvSpPr>
        <p:spPr/>
        <p:txBody>
          <a:bodyPr/>
          <a:lstStyle/>
          <a:p>
            <a:r>
              <a:rPr lang="en-US" dirty="0"/>
              <a:t>Interrupted Time Series</a:t>
            </a:r>
          </a:p>
        </p:txBody>
      </p:sp>
      <p:sp>
        <p:nvSpPr>
          <p:cNvPr id="5" name="Text Placeholder 4">
            <a:extLst>
              <a:ext uri="{FF2B5EF4-FFF2-40B4-BE49-F238E27FC236}">
                <a16:creationId xmlns:a16="http://schemas.microsoft.com/office/drawing/2014/main" id="{D8B151D9-8C05-4DDA-B1E2-6740ACEDB79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526451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13667-758F-417A-B489-74E626568380}"/>
              </a:ext>
            </a:extLst>
          </p:cNvPr>
          <p:cNvSpPr>
            <a:spLocks noGrp="1"/>
          </p:cNvSpPr>
          <p:nvPr>
            <p:ph type="title"/>
          </p:nvPr>
        </p:nvSpPr>
        <p:spPr/>
        <p:txBody>
          <a:bodyPr/>
          <a:lstStyle/>
          <a:p>
            <a:r>
              <a:rPr lang="en-US" dirty="0"/>
              <a:t>Logic of interrupted time series analysis</a:t>
            </a:r>
          </a:p>
        </p:txBody>
      </p:sp>
      <p:sp>
        <p:nvSpPr>
          <p:cNvPr id="3" name="Content Placeholder 2">
            <a:extLst>
              <a:ext uri="{FF2B5EF4-FFF2-40B4-BE49-F238E27FC236}">
                <a16:creationId xmlns:a16="http://schemas.microsoft.com/office/drawing/2014/main" id="{FEBE2314-D1C2-43C0-A56A-D2F0174CFFAE}"/>
              </a:ext>
            </a:extLst>
          </p:cNvPr>
          <p:cNvSpPr>
            <a:spLocks noGrp="1"/>
          </p:cNvSpPr>
          <p:nvPr>
            <p:ph idx="1"/>
          </p:nvPr>
        </p:nvSpPr>
        <p:spPr/>
        <p:txBody>
          <a:bodyPr>
            <a:normAutofit lnSpcReduction="10000"/>
          </a:bodyPr>
          <a:lstStyle/>
          <a:p>
            <a:r>
              <a:rPr lang="en-US" dirty="0"/>
              <a:t>Time series data allows us to carefully model the general trends in our outcome of interest</a:t>
            </a:r>
          </a:p>
          <a:p>
            <a:endParaRPr lang="en-US" dirty="0"/>
          </a:p>
          <a:p>
            <a:r>
              <a:rPr lang="en-US" dirty="0"/>
              <a:t>Most programs/treatments are introduced at a very specific time point: if the program worked, we should observe that the outcome shifts onto a different trajectory after the policy change happened</a:t>
            </a:r>
          </a:p>
          <a:p>
            <a:endParaRPr lang="en-US" dirty="0"/>
          </a:p>
          <a:p>
            <a:r>
              <a:rPr lang="en-US" dirty="0"/>
              <a:t>The main assumption of this interrupted time series (ITS) approach is that the pre-intervention trend can be continued after the intervention as the counterfactual</a:t>
            </a:r>
          </a:p>
        </p:txBody>
      </p:sp>
      <p:sp>
        <p:nvSpPr>
          <p:cNvPr id="4" name="Slide Number Placeholder 3">
            <a:extLst>
              <a:ext uri="{FF2B5EF4-FFF2-40B4-BE49-F238E27FC236}">
                <a16:creationId xmlns:a16="http://schemas.microsoft.com/office/drawing/2014/main" id="{5BCBA0CF-EAAA-45EE-B12D-4633FA48682A}"/>
              </a:ext>
            </a:extLst>
          </p:cNvPr>
          <p:cNvSpPr>
            <a:spLocks noGrp="1"/>
          </p:cNvSpPr>
          <p:nvPr>
            <p:ph type="sldNum" sz="quarter" idx="12"/>
          </p:nvPr>
        </p:nvSpPr>
        <p:spPr/>
        <p:txBody>
          <a:bodyPr/>
          <a:lstStyle/>
          <a:p>
            <a:fld id="{4698AAF4-35A4-40F4-A7AE-C8E2C41B9252}" type="slidenum">
              <a:rPr lang="en-US" smtClean="0"/>
              <a:t>55</a:t>
            </a:fld>
            <a:endParaRPr lang="en-US"/>
          </a:p>
        </p:txBody>
      </p:sp>
    </p:spTree>
    <p:extLst>
      <p:ext uri="{BB962C8B-B14F-4D97-AF65-F5344CB8AC3E}">
        <p14:creationId xmlns:p14="http://schemas.microsoft.com/office/powerpoint/2010/main" val="248664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ITS counterfactual </a:t>
            </a:r>
          </a:p>
        </p:txBody>
      </p:sp>
      <p:sp>
        <p:nvSpPr>
          <p:cNvPr id="3" name="Content Placeholder 2"/>
          <p:cNvSpPr>
            <a:spLocks noGrp="1"/>
          </p:cNvSpPr>
          <p:nvPr>
            <p:ph idx="1"/>
          </p:nvPr>
        </p:nvSpPr>
        <p:spPr/>
        <p:txBody>
          <a:bodyPr>
            <a:normAutofit/>
          </a:bodyPr>
          <a:lstStyle/>
          <a:p>
            <a:r>
              <a:rPr lang="en-US" dirty="0"/>
              <a:t>In a randomized trial the counterfactual is what happens in the control group – we think this is what would have happened without the treatment</a:t>
            </a:r>
          </a:p>
          <a:p>
            <a:r>
              <a:rPr lang="en-US" dirty="0"/>
              <a:t>In ITS we fit a trend to the data in the pre intervention period – the counterfactual is that the data would have follows this trend in the post intervention period without the trend</a:t>
            </a:r>
          </a:p>
          <a:p>
            <a:r>
              <a:rPr lang="en-US" dirty="0"/>
              <a:t>Requires that no other new interventions happening in the post intervention period that could affect the outcome </a:t>
            </a:r>
          </a:p>
          <a:p>
            <a:pPr lvl="1"/>
            <a:r>
              <a:rPr lang="en-US" dirty="0"/>
              <a:t>This is a big assumption – not likely to be true when we know the policy landscape changing at the same time</a:t>
            </a:r>
          </a:p>
        </p:txBody>
      </p:sp>
      <p:sp>
        <p:nvSpPr>
          <p:cNvPr id="4" name="Slide Number Placeholder 3"/>
          <p:cNvSpPr>
            <a:spLocks noGrp="1"/>
          </p:cNvSpPr>
          <p:nvPr>
            <p:ph type="sldNum" sz="quarter" idx="12"/>
          </p:nvPr>
        </p:nvSpPr>
        <p:spPr/>
        <p:txBody>
          <a:bodyPr/>
          <a:lstStyle/>
          <a:p>
            <a:fld id="{4698AAF4-35A4-40F4-A7AE-C8E2C41B9252}" type="slidenum">
              <a:rPr lang="en-US" smtClean="0"/>
              <a:t>56</a:t>
            </a:fld>
            <a:endParaRPr lang="en-US"/>
          </a:p>
        </p:txBody>
      </p:sp>
    </p:spTree>
    <p:extLst>
      <p:ext uri="{BB962C8B-B14F-4D97-AF65-F5344CB8AC3E}">
        <p14:creationId xmlns:p14="http://schemas.microsoft.com/office/powerpoint/2010/main" val="871502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56CC1-CBFC-4F23-A44B-BEE0457D0190}"/>
              </a:ext>
            </a:extLst>
          </p:cNvPr>
          <p:cNvSpPr>
            <a:spLocks noGrp="1"/>
          </p:cNvSpPr>
          <p:nvPr>
            <p:ph type="title"/>
          </p:nvPr>
        </p:nvSpPr>
        <p:spPr/>
        <p:txBody>
          <a:bodyPr/>
          <a:lstStyle/>
          <a:p>
            <a:r>
              <a:rPr lang="en-US" dirty="0"/>
              <a:t>ITS specification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E9F43C-D348-494F-8AB2-487E19883D20}"/>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𝛼</m:t>
                      </m:r>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𝑡𝑖𝑚𝑒</m:t>
                      </m:r>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𝑃𝑜𝑠𝑡</m:t>
                      </m:r>
                      <m:r>
                        <a:rPr lang="en-US" b="0" i="1" smtClean="0">
                          <a:latin typeface="Cambria Math" panose="02040503050406030204" pitchFamily="18" charset="0"/>
                        </a:rPr>
                        <m:t>+</m:t>
                      </m:r>
                      <m:r>
                        <a:rPr lang="en-US" b="0" i="1" smtClean="0">
                          <a:latin typeface="Cambria Math" panose="02040503050406030204" pitchFamily="18" charset="0"/>
                        </a:rPr>
                        <m:t>𝛿</m:t>
                      </m:r>
                      <m:r>
                        <a:rPr lang="en-US" b="0" i="1" smtClean="0">
                          <a:latin typeface="Cambria Math" panose="02040503050406030204" pitchFamily="18" charset="0"/>
                        </a:rPr>
                        <m:t>𝑃𝑜𝑠𝑡</m:t>
                      </m:r>
                      <m:r>
                        <a:rPr lang="en-US" b="0" i="1" smtClean="0">
                          <a:latin typeface="Cambria Math" panose="02040503050406030204" pitchFamily="18" charset="0"/>
                        </a:rPr>
                        <m:t>∗</m:t>
                      </m:r>
                      <m:r>
                        <a:rPr lang="en-US" b="0" i="1" smtClean="0">
                          <a:latin typeface="Cambria Math" panose="02040503050406030204" pitchFamily="18" charset="0"/>
                        </a:rPr>
                        <m:t>𝑡𝑖𝑚𝑒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oMath>
                  </m:oMathPara>
                </a14:m>
                <a:endParaRPr lang="en-US" dirty="0"/>
              </a:p>
              <a:p>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oMath>
                </a14:m>
                <a:r>
                  <a:rPr lang="en-US" dirty="0"/>
                  <a:t>: Outcome of interest at time </a:t>
                </a:r>
                <a14:m>
                  <m:oMath xmlns:m="http://schemas.openxmlformats.org/officeDocument/2006/math">
                    <m:r>
                      <a:rPr lang="en-US" b="0" i="1" smtClean="0">
                        <a:latin typeface="Cambria Math" panose="02040503050406030204" pitchFamily="18" charset="0"/>
                      </a:rPr>
                      <m:t>𝑡</m:t>
                    </m:r>
                  </m:oMath>
                </a14:m>
                <a:endParaRPr lang="en-US" b="0" dirty="0"/>
              </a:p>
              <a:p>
                <a14:m>
                  <m:oMath xmlns:m="http://schemas.openxmlformats.org/officeDocument/2006/math">
                    <m:r>
                      <a:rPr lang="en-US" b="0" i="1" smtClean="0">
                        <a:latin typeface="Cambria Math" panose="02040503050406030204" pitchFamily="18" charset="0"/>
                      </a:rPr>
                      <m:t>𝑃𝑜𝑠𝑡</m:t>
                    </m:r>
                  </m:oMath>
                </a14:m>
                <a:r>
                  <a:rPr lang="en-US" dirty="0"/>
                  <a:t>: an indicator for the “post-reform” period</a:t>
                </a:r>
              </a:p>
              <a:p>
                <a14:m>
                  <m:oMath xmlns:m="http://schemas.openxmlformats.org/officeDocument/2006/math">
                    <m:r>
                      <a:rPr lang="en-US" b="0" i="1" smtClean="0">
                        <a:latin typeface="Cambria Math" panose="02040503050406030204" pitchFamily="18" charset="0"/>
                      </a:rPr>
                      <m:t>𝛼</m:t>
                    </m:r>
                  </m:oMath>
                </a14:m>
                <a:r>
                  <a:rPr lang="en-US" dirty="0"/>
                  <a:t>: level of the outcome </a:t>
                </a:r>
                <a14:m>
                  <m:oMath xmlns:m="http://schemas.openxmlformats.org/officeDocument/2006/math">
                    <m:r>
                      <a:rPr lang="en-US" b="0" i="1" smtClean="0">
                        <a:latin typeface="Cambria Math" panose="02040503050406030204" pitchFamily="18" charset="0"/>
                      </a:rPr>
                      <m:t>𝑌</m:t>
                    </m:r>
                  </m:oMath>
                </a14:m>
                <a:r>
                  <a:rPr lang="en-US" dirty="0"/>
                  <a:t> at time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=0</m:t>
                    </m:r>
                  </m:oMath>
                </a14:m>
                <a:endParaRPr lang="en-US" dirty="0"/>
              </a:p>
              <a:p>
                <a14:m>
                  <m:oMath xmlns:m="http://schemas.openxmlformats.org/officeDocument/2006/math">
                    <m:r>
                      <a:rPr lang="en-US" b="0" i="1" smtClean="0">
                        <a:latin typeface="Cambria Math" panose="02040503050406030204" pitchFamily="18" charset="0"/>
                      </a:rPr>
                      <m:t>𝛽</m:t>
                    </m:r>
                  </m:oMath>
                </a14:m>
                <a:r>
                  <a:rPr lang="en-US" dirty="0"/>
                  <a:t>: linear time trend</a:t>
                </a:r>
              </a:p>
              <a:p>
                <a14:m>
                  <m:oMath xmlns:m="http://schemas.openxmlformats.org/officeDocument/2006/math">
                    <m:r>
                      <a:rPr lang="en-US" b="0" i="1" smtClean="0">
                        <a:latin typeface="Cambria Math" panose="02040503050406030204" pitchFamily="18" charset="0"/>
                      </a:rPr>
                      <m:t>𝛾</m:t>
                    </m:r>
                  </m:oMath>
                </a14:m>
                <a:r>
                  <a:rPr lang="en-US" dirty="0"/>
                  <a:t>: level shift post-reform</a:t>
                </a:r>
              </a:p>
              <a:p>
                <a14:m>
                  <m:oMath xmlns:m="http://schemas.openxmlformats.org/officeDocument/2006/math">
                    <m:r>
                      <a:rPr lang="en-US" b="0" i="1" smtClean="0">
                        <a:latin typeface="Cambria Math" panose="02040503050406030204" pitchFamily="18" charset="0"/>
                      </a:rPr>
                      <m:t>𝛿</m:t>
                    </m:r>
                  </m:oMath>
                </a14:m>
                <a:r>
                  <a:rPr lang="en-US" dirty="0"/>
                  <a:t>: gradient shift post-reform</a:t>
                </a:r>
              </a:p>
            </p:txBody>
          </p:sp>
        </mc:Choice>
        <mc:Fallback xmlns="">
          <p:sp>
            <p:nvSpPr>
              <p:cNvPr id="3" name="Content Placeholder 2">
                <a:extLst>
                  <a:ext uri="{FF2B5EF4-FFF2-40B4-BE49-F238E27FC236}">
                    <a16:creationId xmlns:a16="http://schemas.microsoft.com/office/drawing/2014/main" id="{DBE9F43C-D348-494F-8AB2-487E19883D20}"/>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A56E4CF-3EC9-471D-A40A-9AAFF238E375}"/>
              </a:ext>
            </a:extLst>
          </p:cNvPr>
          <p:cNvSpPr>
            <a:spLocks noGrp="1"/>
          </p:cNvSpPr>
          <p:nvPr>
            <p:ph type="sldNum" sz="quarter" idx="12"/>
          </p:nvPr>
        </p:nvSpPr>
        <p:spPr/>
        <p:txBody>
          <a:bodyPr/>
          <a:lstStyle/>
          <a:p>
            <a:fld id="{4698AAF4-35A4-40F4-A7AE-C8E2C41B9252}" type="slidenum">
              <a:rPr lang="en-US" smtClean="0"/>
              <a:t>57</a:t>
            </a:fld>
            <a:endParaRPr lang="en-US"/>
          </a:p>
        </p:txBody>
      </p:sp>
    </p:spTree>
    <p:extLst>
      <p:ext uri="{BB962C8B-B14F-4D97-AF65-F5344CB8AC3E}">
        <p14:creationId xmlns:p14="http://schemas.microsoft.com/office/powerpoint/2010/main" val="34592462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C812E-ABEF-472E-B5D2-E53FD3A815C5}"/>
              </a:ext>
            </a:extLst>
          </p:cNvPr>
          <p:cNvSpPr>
            <a:spLocks noGrp="1"/>
          </p:cNvSpPr>
          <p:nvPr>
            <p:ph type="title"/>
          </p:nvPr>
        </p:nvSpPr>
        <p:spPr/>
        <p:txBody>
          <a:bodyPr/>
          <a:lstStyle/>
          <a:p>
            <a:r>
              <a:rPr lang="en-US" dirty="0"/>
              <a:t>Interpretation of coefficients</a:t>
            </a:r>
          </a:p>
        </p:txBody>
      </p:sp>
      <p:sp>
        <p:nvSpPr>
          <p:cNvPr id="4" name="Slide Number Placeholder 3">
            <a:extLst>
              <a:ext uri="{FF2B5EF4-FFF2-40B4-BE49-F238E27FC236}">
                <a16:creationId xmlns:a16="http://schemas.microsoft.com/office/drawing/2014/main" id="{31510EF0-C2FE-41AF-A686-2A4E1CA3D2A0}"/>
              </a:ext>
            </a:extLst>
          </p:cNvPr>
          <p:cNvSpPr>
            <a:spLocks noGrp="1"/>
          </p:cNvSpPr>
          <p:nvPr>
            <p:ph type="sldNum" sz="quarter" idx="12"/>
          </p:nvPr>
        </p:nvSpPr>
        <p:spPr/>
        <p:txBody>
          <a:bodyPr/>
          <a:lstStyle/>
          <a:p>
            <a:fld id="{4698AAF4-35A4-40F4-A7AE-C8E2C41B9252}" type="slidenum">
              <a:rPr lang="en-US" smtClean="0"/>
              <a:t>58</a:t>
            </a:fld>
            <a:endParaRPr lang="en-US"/>
          </a:p>
        </p:txBody>
      </p:sp>
      <p:pic>
        <p:nvPicPr>
          <p:cNvPr id="5" name="Picture 4">
            <a:extLst>
              <a:ext uri="{FF2B5EF4-FFF2-40B4-BE49-F238E27FC236}">
                <a16:creationId xmlns:a16="http://schemas.microsoft.com/office/drawing/2014/main" id="{71CFF5F9-3E23-426E-B08C-B6EA2D11E62D}"/>
              </a:ext>
            </a:extLst>
          </p:cNvPr>
          <p:cNvPicPr>
            <a:picLocks noChangeAspect="1"/>
          </p:cNvPicPr>
          <p:nvPr/>
        </p:nvPicPr>
        <p:blipFill>
          <a:blip r:embed="rId2"/>
          <a:stretch>
            <a:fillRect/>
          </a:stretch>
        </p:blipFill>
        <p:spPr>
          <a:xfrm>
            <a:off x="2700337" y="1581150"/>
            <a:ext cx="6791325" cy="5242854"/>
          </a:xfrm>
          <a:prstGeom prst="rect">
            <a:avLst/>
          </a:prstGeom>
        </p:spPr>
      </p:pic>
    </p:spTree>
    <p:extLst>
      <p:ext uri="{BB962C8B-B14F-4D97-AF65-F5344CB8AC3E}">
        <p14:creationId xmlns:p14="http://schemas.microsoft.com/office/powerpoint/2010/main" val="18316012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121A8-61B5-428A-B116-E842773E4F6A}"/>
              </a:ext>
            </a:extLst>
          </p:cNvPr>
          <p:cNvSpPr>
            <a:spLocks noGrp="1"/>
          </p:cNvSpPr>
          <p:nvPr>
            <p:ph type="title"/>
          </p:nvPr>
        </p:nvSpPr>
        <p:spPr/>
        <p:txBody>
          <a:bodyPr/>
          <a:lstStyle/>
          <a:p>
            <a:r>
              <a:rPr lang="en-US" dirty="0"/>
              <a:t>Challenge: Getting the timing right</a:t>
            </a:r>
          </a:p>
        </p:txBody>
      </p:sp>
      <p:sp>
        <p:nvSpPr>
          <p:cNvPr id="3" name="Content Placeholder 2">
            <a:extLst>
              <a:ext uri="{FF2B5EF4-FFF2-40B4-BE49-F238E27FC236}">
                <a16:creationId xmlns:a16="http://schemas.microsoft.com/office/drawing/2014/main" id="{63993DB9-1F02-4029-B588-5A87E5B4C469}"/>
              </a:ext>
            </a:extLst>
          </p:cNvPr>
          <p:cNvSpPr>
            <a:spLocks noGrp="1"/>
          </p:cNvSpPr>
          <p:nvPr>
            <p:ph idx="1"/>
          </p:nvPr>
        </p:nvSpPr>
        <p:spPr>
          <a:xfrm>
            <a:off x="838200" y="1825625"/>
            <a:ext cx="10515600" cy="4667250"/>
          </a:xfrm>
        </p:spPr>
        <p:txBody>
          <a:bodyPr>
            <a:normAutofit fontScale="77500" lnSpcReduction="20000"/>
          </a:bodyPr>
          <a:lstStyle/>
          <a:p>
            <a:r>
              <a:rPr lang="en-US" dirty="0"/>
              <a:t>In some instances, the impact of the policy change should be immediate conditional on the policy being effectively implemented</a:t>
            </a:r>
          </a:p>
          <a:p>
            <a:pPr lvl="1"/>
            <a:r>
              <a:rPr lang="en-US" dirty="0"/>
              <a:t>For example: handwashing on diarrhea, or speeding laws on traffic accidents</a:t>
            </a:r>
          </a:p>
          <a:p>
            <a:endParaRPr lang="en-US" dirty="0"/>
          </a:p>
          <a:p>
            <a:r>
              <a:rPr lang="en-US" dirty="0"/>
              <a:t>In many other cases, it is not clear how soon we should expect an impact on outcomes </a:t>
            </a:r>
          </a:p>
          <a:p>
            <a:pPr lvl="1"/>
            <a:r>
              <a:rPr lang="en-US" dirty="0"/>
              <a:t>Particularly challenging for outcomes like cancer or children’s height which are the result of longer-term processes</a:t>
            </a:r>
          </a:p>
          <a:p>
            <a:endParaRPr lang="en-US" dirty="0"/>
          </a:p>
          <a:p>
            <a:r>
              <a:rPr lang="en-US" dirty="0"/>
              <a:t>There may possibly be anticipation effects as well</a:t>
            </a:r>
          </a:p>
          <a:p>
            <a:pPr lvl="1"/>
            <a:r>
              <a:rPr lang="en-US" dirty="0"/>
              <a:t>For example, if there’s an announced change in billing policies around the insertion of long-acting contraceptive methods, hospital practices may start to alter before the billing change goes into effect</a:t>
            </a:r>
          </a:p>
          <a:p>
            <a:endParaRPr lang="en-US" dirty="0"/>
          </a:p>
          <a:p>
            <a:r>
              <a:rPr lang="en-US" dirty="0"/>
              <a:t>We need to have a clear conceptual framework for when we would expect impact relative to the timing of the reform</a:t>
            </a:r>
          </a:p>
        </p:txBody>
      </p:sp>
      <p:sp>
        <p:nvSpPr>
          <p:cNvPr id="4" name="Slide Number Placeholder 3">
            <a:extLst>
              <a:ext uri="{FF2B5EF4-FFF2-40B4-BE49-F238E27FC236}">
                <a16:creationId xmlns:a16="http://schemas.microsoft.com/office/drawing/2014/main" id="{B60B2E0E-045E-40C1-A447-BDA1634D4C90}"/>
              </a:ext>
            </a:extLst>
          </p:cNvPr>
          <p:cNvSpPr>
            <a:spLocks noGrp="1"/>
          </p:cNvSpPr>
          <p:nvPr>
            <p:ph type="sldNum" sz="quarter" idx="12"/>
          </p:nvPr>
        </p:nvSpPr>
        <p:spPr/>
        <p:txBody>
          <a:bodyPr/>
          <a:lstStyle/>
          <a:p>
            <a:fld id="{4698AAF4-35A4-40F4-A7AE-C8E2C41B9252}" type="slidenum">
              <a:rPr lang="en-US" smtClean="0"/>
              <a:t>59</a:t>
            </a:fld>
            <a:endParaRPr lang="en-US"/>
          </a:p>
        </p:txBody>
      </p:sp>
    </p:spTree>
    <p:extLst>
      <p:ext uri="{BB962C8B-B14F-4D97-AF65-F5344CB8AC3E}">
        <p14:creationId xmlns:p14="http://schemas.microsoft.com/office/powerpoint/2010/main" val="2720103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2FC8F-7944-4456-A385-53A924646315}"/>
              </a:ext>
            </a:extLst>
          </p:cNvPr>
          <p:cNvSpPr>
            <a:spLocks noGrp="1"/>
          </p:cNvSpPr>
          <p:nvPr>
            <p:ph type="title"/>
          </p:nvPr>
        </p:nvSpPr>
        <p:spPr/>
        <p:txBody>
          <a:bodyPr/>
          <a:lstStyle/>
          <a:p>
            <a:r>
              <a:rPr lang="en-US" dirty="0"/>
              <a:t>Specifying the impact model</a:t>
            </a:r>
          </a:p>
        </p:txBody>
      </p:sp>
      <p:sp>
        <p:nvSpPr>
          <p:cNvPr id="3" name="Content Placeholder 2">
            <a:extLst>
              <a:ext uri="{FF2B5EF4-FFF2-40B4-BE49-F238E27FC236}">
                <a16:creationId xmlns:a16="http://schemas.microsoft.com/office/drawing/2014/main" id="{808BFAC3-FDA9-4186-AFCE-82ECF57BF27C}"/>
              </a:ext>
            </a:extLst>
          </p:cNvPr>
          <p:cNvSpPr>
            <a:spLocks noGrp="1"/>
          </p:cNvSpPr>
          <p:nvPr>
            <p:ph idx="1"/>
          </p:nvPr>
        </p:nvSpPr>
        <p:spPr/>
        <p:txBody>
          <a:bodyPr>
            <a:normAutofit lnSpcReduction="10000"/>
          </a:bodyPr>
          <a:lstStyle/>
          <a:p>
            <a:r>
              <a:rPr lang="en-US" dirty="0"/>
              <a:t>Before running actual regressions, we need to be clear regarding our hypotheses on how the policy change affected the outcomes of interest</a:t>
            </a:r>
          </a:p>
          <a:p>
            <a:endParaRPr lang="en-US" dirty="0"/>
          </a:p>
          <a:p>
            <a:r>
              <a:rPr lang="en-US" b="1" dirty="0"/>
              <a:t>Intercept shift: </a:t>
            </a:r>
            <a:r>
              <a:rPr lang="en-US" dirty="0"/>
              <a:t>are we expecting an immediate shift in the outcome?</a:t>
            </a:r>
          </a:p>
          <a:p>
            <a:endParaRPr lang="en-US" dirty="0"/>
          </a:p>
          <a:p>
            <a:r>
              <a:rPr lang="en-US" b="1" dirty="0"/>
              <a:t>Slope shift:</a:t>
            </a:r>
            <a:r>
              <a:rPr lang="en-US" dirty="0"/>
              <a:t> are we expecting outcome trajectories to change?</a:t>
            </a:r>
          </a:p>
          <a:p>
            <a:endParaRPr lang="en-US" dirty="0"/>
          </a:p>
          <a:p>
            <a:r>
              <a:rPr lang="en-US" b="1" dirty="0"/>
              <a:t>Timing and duration change:</a:t>
            </a:r>
            <a:r>
              <a:rPr lang="en-US" dirty="0"/>
              <a:t> are we expecting changes to start immediately or to start with a lag? To last, or to fade out?</a:t>
            </a:r>
          </a:p>
        </p:txBody>
      </p:sp>
      <p:sp>
        <p:nvSpPr>
          <p:cNvPr id="4" name="Slide Number Placeholder 3">
            <a:extLst>
              <a:ext uri="{FF2B5EF4-FFF2-40B4-BE49-F238E27FC236}">
                <a16:creationId xmlns:a16="http://schemas.microsoft.com/office/drawing/2014/main" id="{1CDF9F1D-9FC9-4892-96E9-9C048E7ECA31}"/>
              </a:ext>
            </a:extLst>
          </p:cNvPr>
          <p:cNvSpPr>
            <a:spLocks noGrp="1"/>
          </p:cNvSpPr>
          <p:nvPr>
            <p:ph type="sldNum" sz="quarter" idx="12"/>
          </p:nvPr>
        </p:nvSpPr>
        <p:spPr/>
        <p:txBody>
          <a:bodyPr/>
          <a:lstStyle/>
          <a:p>
            <a:fld id="{4698AAF4-35A4-40F4-A7AE-C8E2C41B9252}" type="slidenum">
              <a:rPr lang="en-US" smtClean="0"/>
              <a:t>60</a:t>
            </a:fld>
            <a:endParaRPr lang="en-US"/>
          </a:p>
        </p:txBody>
      </p:sp>
    </p:spTree>
    <p:extLst>
      <p:ext uri="{BB962C8B-B14F-4D97-AF65-F5344CB8AC3E}">
        <p14:creationId xmlns:p14="http://schemas.microsoft.com/office/powerpoint/2010/main" val="17465321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509162-5F57-45C1-9B79-79AEE0ABEA6E}"/>
              </a:ext>
            </a:extLst>
          </p:cNvPr>
          <p:cNvSpPr>
            <a:spLocks noGrp="1"/>
          </p:cNvSpPr>
          <p:nvPr>
            <p:ph type="title"/>
          </p:nvPr>
        </p:nvSpPr>
        <p:spPr/>
        <p:txBody>
          <a:bodyPr/>
          <a:lstStyle/>
          <a:p>
            <a:r>
              <a:rPr lang="en-US" dirty="0"/>
              <a:t>Difference in Differences</a:t>
            </a:r>
          </a:p>
        </p:txBody>
      </p:sp>
      <p:sp>
        <p:nvSpPr>
          <p:cNvPr id="5" name="Text Placeholder 4">
            <a:extLst>
              <a:ext uri="{FF2B5EF4-FFF2-40B4-BE49-F238E27FC236}">
                <a16:creationId xmlns:a16="http://schemas.microsoft.com/office/drawing/2014/main" id="{D8B151D9-8C05-4DDA-B1E2-6740ACEDB79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148370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BA4B2-CDA0-4C4E-8668-DD99EEEA9388}"/>
              </a:ext>
            </a:extLst>
          </p:cNvPr>
          <p:cNvSpPr>
            <a:spLocks noGrp="1"/>
          </p:cNvSpPr>
          <p:nvPr>
            <p:ph type="title"/>
          </p:nvPr>
        </p:nvSpPr>
        <p:spPr/>
        <p:txBody>
          <a:bodyPr/>
          <a:lstStyle/>
          <a:p>
            <a:r>
              <a:rPr lang="en-US" dirty="0"/>
              <a:t>Difference-in-Differences logic</a:t>
            </a:r>
          </a:p>
        </p:txBody>
      </p:sp>
      <p:sp>
        <p:nvSpPr>
          <p:cNvPr id="3" name="Content Placeholder 2">
            <a:extLst>
              <a:ext uri="{FF2B5EF4-FFF2-40B4-BE49-F238E27FC236}">
                <a16:creationId xmlns:a16="http://schemas.microsoft.com/office/drawing/2014/main" id="{34A3A9D8-5373-40A7-924E-675E20B6272E}"/>
              </a:ext>
            </a:extLst>
          </p:cNvPr>
          <p:cNvSpPr>
            <a:spLocks noGrp="1"/>
          </p:cNvSpPr>
          <p:nvPr>
            <p:ph idx="1"/>
          </p:nvPr>
        </p:nvSpPr>
        <p:spPr>
          <a:xfrm>
            <a:off x="838200" y="1825625"/>
            <a:ext cx="10515600" cy="4895850"/>
          </a:xfrm>
        </p:spPr>
        <p:txBody>
          <a:bodyPr>
            <a:normAutofit/>
          </a:bodyPr>
          <a:lstStyle/>
          <a:p>
            <a:r>
              <a:rPr lang="en-US" dirty="0"/>
              <a:t>The real causal question is: How would the “treated” have done without the treatment? </a:t>
            </a:r>
          </a:p>
          <a:p>
            <a:r>
              <a:rPr lang="en-US" dirty="0"/>
              <a:t>Differences in differences assumes the control group can tell us </a:t>
            </a:r>
            <a:r>
              <a:rPr lang="en-US" i="1" dirty="0"/>
              <a:t>what would have </a:t>
            </a:r>
            <a:r>
              <a:rPr lang="en-US" dirty="0"/>
              <a:t>happened in the post intervention period in the treatment group with no intervention</a:t>
            </a:r>
          </a:p>
          <a:p>
            <a:endParaRPr lang="en-US" dirty="0"/>
          </a:p>
          <a:p>
            <a:r>
              <a:rPr lang="en-US" dirty="0"/>
              <a:t>The counterfactual is that if the treatment group had not got the treatment, the </a:t>
            </a:r>
            <a:r>
              <a:rPr lang="en-US" i="1" dirty="0"/>
              <a:t>change</a:t>
            </a:r>
            <a:r>
              <a:rPr lang="en-US" dirty="0"/>
              <a:t> we would have seen is the </a:t>
            </a:r>
            <a:r>
              <a:rPr lang="en-US" i="1" dirty="0"/>
              <a:t>change</a:t>
            </a:r>
            <a:r>
              <a:rPr lang="en-US" dirty="0"/>
              <a:t> observed in the control group over the same period</a:t>
            </a:r>
          </a:p>
          <a:p>
            <a:endParaRPr lang="en-US" dirty="0"/>
          </a:p>
        </p:txBody>
      </p:sp>
      <p:sp>
        <p:nvSpPr>
          <p:cNvPr id="4" name="Slide Number Placeholder 3">
            <a:extLst>
              <a:ext uri="{FF2B5EF4-FFF2-40B4-BE49-F238E27FC236}">
                <a16:creationId xmlns:a16="http://schemas.microsoft.com/office/drawing/2014/main" id="{BAA7A1C8-AC8C-463C-9FA7-1C8BD3A6CD3C}"/>
              </a:ext>
            </a:extLst>
          </p:cNvPr>
          <p:cNvSpPr>
            <a:spLocks noGrp="1"/>
          </p:cNvSpPr>
          <p:nvPr>
            <p:ph type="sldNum" sz="quarter" idx="12"/>
          </p:nvPr>
        </p:nvSpPr>
        <p:spPr/>
        <p:txBody>
          <a:bodyPr/>
          <a:lstStyle/>
          <a:p>
            <a:fld id="{4698AAF4-35A4-40F4-A7AE-C8E2C41B9252}" type="slidenum">
              <a:rPr lang="en-US" smtClean="0"/>
              <a:t>62</a:t>
            </a:fld>
            <a:endParaRPr lang="en-US"/>
          </a:p>
        </p:txBody>
      </p:sp>
    </p:spTree>
    <p:extLst>
      <p:ext uri="{BB962C8B-B14F-4D97-AF65-F5344CB8AC3E}">
        <p14:creationId xmlns:p14="http://schemas.microsoft.com/office/powerpoint/2010/main" val="292506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in difference</a:t>
            </a:r>
          </a:p>
        </p:txBody>
      </p:sp>
      <p:graphicFrame>
        <p:nvGraphicFramePr>
          <p:cNvPr id="4" name="Content Placeholder 3"/>
          <p:cNvGraphicFramePr>
            <a:graphicFrameLocks noGrp="1"/>
          </p:cNvGraphicFramePr>
          <p:nvPr>
            <p:ph idx="1"/>
          </p:nvPr>
        </p:nvGraphicFramePr>
        <p:xfrm>
          <a:off x="793966" y="2551018"/>
          <a:ext cx="4028373" cy="1854200"/>
        </p:xfrm>
        <a:graphic>
          <a:graphicData uri="http://schemas.openxmlformats.org/drawingml/2006/table">
            <a:tbl>
              <a:tblPr firstRow="1" bandRow="1">
                <a:tableStyleId>{5940675A-B579-460E-94D1-54222C63F5DA}</a:tableStyleId>
              </a:tblPr>
              <a:tblGrid>
                <a:gridCol w="1342791">
                  <a:extLst>
                    <a:ext uri="{9D8B030D-6E8A-4147-A177-3AD203B41FA5}">
                      <a16:colId xmlns:a16="http://schemas.microsoft.com/office/drawing/2014/main" val="788954117"/>
                    </a:ext>
                  </a:extLst>
                </a:gridCol>
                <a:gridCol w="1342791">
                  <a:extLst>
                    <a:ext uri="{9D8B030D-6E8A-4147-A177-3AD203B41FA5}">
                      <a16:colId xmlns:a16="http://schemas.microsoft.com/office/drawing/2014/main" val="1160174753"/>
                    </a:ext>
                  </a:extLst>
                </a:gridCol>
                <a:gridCol w="1342791">
                  <a:extLst>
                    <a:ext uri="{9D8B030D-6E8A-4147-A177-3AD203B41FA5}">
                      <a16:colId xmlns:a16="http://schemas.microsoft.com/office/drawing/2014/main" val="2538357744"/>
                    </a:ext>
                  </a:extLst>
                </a:gridCol>
              </a:tblGrid>
              <a:tr h="370840">
                <a:tc>
                  <a:txBody>
                    <a:bodyPr/>
                    <a:lstStyle/>
                    <a:p>
                      <a:endParaRPr lang="en-US" dirty="0"/>
                    </a:p>
                  </a:txBody>
                  <a:tcPr/>
                </a:tc>
                <a:tc>
                  <a:txBody>
                    <a:bodyPr/>
                    <a:lstStyle/>
                    <a:p>
                      <a:r>
                        <a:rPr lang="en-US" b="1" dirty="0"/>
                        <a:t>Treatment</a:t>
                      </a:r>
                    </a:p>
                  </a:txBody>
                  <a:tcPr>
                    <a:solidFill>
                      <a:srgbClr val="FFC000"/>
                    </a:solidFill>
                  </a:tcPr>
                </a:tc>
                <a:tc>
                  <a:txBody>
                    <a:bodyPr/>
                    <a:lstStyle/>
                    <a:p>
                      <a:r>
                        <a:rPr lang="en-US" b="1" dirty="0"/>
                        <a:t>Control</a:t>
                      </a:r>
                    </a:p>
                  </a:txBody>
                  <a:tcPr>
                    <a:solidFill>
                      <a:srgbClr val="92D050"/>
                    </a:solidFill>
                  </a:tcPr>
                </a:tc>
                <a:extLst>
                  <a:ext uri="{0D108BD9-81ED-4DB2-BD59-A6C34878D82A}">
                    <a16:rowId xmlns:a16="http://schemas.microsoft.com/office/drawing/2014/main" val="1110327387"/>
                  </a:ext>
                </a:extLst>
              </a:tr>
              <a:tr h="370840">
                <a:tc>
                  <a:txBody>
                    <a:bodyPr/>
                    <a:lstStyle/>
                    <a:p>
                      <a:r>
                        <a:rPr lang="en-US" b="1" dirty="0"/>
                        <a:t>Before</a:t>
                      </a:r>
                    </a:p>
                  </a:txBody>
                  <a:tcPr/>
                </a:tc>
                <a:tc>
                  <a:txBody>
                    <a:bodyPr/>
                    <a:lstStyle/>
                    <a:p>
                      <a:r>
                        <a:rPr lang="en-US" dirty="0"/>
                        <a:t>A</a:t>
                      </a:r>
                    </a:p>
                  </a:txBody>
                  <a:tcPr>
                    <a:solidFill>
                      <a:srgbClr val="FFC000"/>
                    </a:solidFill>
                  </a:tcPr>
                </a:tc>
                <a:tc>
                  <a:txBody>
                    <a:bodyPr/>
                    <a:lstStyle/>
                    <a:p>
                      <a:r>
                        <a:rPr lang="en-US" dirty="0"/>
                        <a:t>C</a:t>
                      </a:r>
                    </a:p>
                  </a:txBody>
                  <a:tcPr>
                    <a:solidFill>
                      <a:srgbClr val="92D050"/>
                    </a:solidFill>
                  </a:tcPr>
                </a:tc>
                <a:extLst>
                  <a:ext uri="{0D108BD9-81ED-4DB2-BD59-A6C34878D82A}">
                    <a16:rowId xmlns:a16="http://schemas.microsoft.com/office/drawing/2014/main" val="1787357134"/>
                  </a:ext>
                </a:extLst>
              </a:tr>
              <a:tr h="370840">
                <a:tc>
                  <a:txBody>
                    <a:bodyPr/>
                    <a:lstStyle/>
                    <a:p>
                      <a:r>
                        <a:rPr lang="en-US" b="1" dirty="0"/>
                        <a:t>After</a:t>
                      </a:r>
                    </a:p>
                  </a:txBody>
                  <a:tcPr/>
                </a:tc>
                <a:tc>
                  <a:txBody>
                    <a:bodyPr/>
                    <a:lstStyle/>
                    <a:p>
                      <a:r>
                        <a:rPr lang="en-US" dirty="0"/>
                        <a:t>B</a:t>
                      </a:r>
                    </a:p>
                  </a:txBody>
                  <a:tcPr>
                    <a:solidFill>
                      <a:srgbClr val="FFC000"/>
                    </a:solidFill>
                  </a:tcPr>
                </a:tc>
                <a:tc>
                  <a:txBody>
                    <a:bodyPr/>
                    <a:lstStyle/>
                    <a:p>
                      <a:r>
                        <a:rPr lang="en-US" dirty="0"/>
                        <a:t>D</a:t>
                      </a:r>
                    </a:p>
                  </a:txBody>
                  <a:tcPr>
                    <a:solidFill>
                      <a:srgbClr val="92D050"/>
                    </a:solidFill>
                  </a:tcPr>
                </a:tc>
                <a:extLst>
                  <a:ext uri="{0D108BD9-81ED-4DB2-BD59-A6C34878D82A}">
                    <a16:rowId xmlns:a16="http://schemas.microsoft.com/office/drawing/2014/main" val="932169063"/>
                  </a:ext>
                </a:extLst>
              </a:tr>
              <a:tr h="370840">
                <a:tc>
                  <a:txBody>
                    <a:bodyPr/>
                    <a:lstStyle/>
                    <a:p>
                      <a:r>
                        <a:rPr lang="en-US" b="1" dirty="0"/>
                        <a:t>Change</a:t>
                      </a:r>
                    </a:p>
                  </a:txBody>
                  <a:tcPr/>
                </a:tc>
                <a:tc>
                  <a:txBody>
                    <a:bodyPr/>
                    <a:lstStyle/>
                    <a:p>
                      <a:r>
                        <a:rPr lang="en-US" dirty="0"/>
                        <a:t>B-A</a:t>
                      </a:r>
                    </a:p>
                  </a:txBody>
                  <a:tcPr>
                    <a:solidFill>
                      <a:srgbClr val="FFC000"/>
                    </a:solidFill>
                  </a:tcPr>
                </a:tc>
                <a:tc>
                  <a:txBody>
                    <a:bodyPr/>
                    <a:lstStyle/>
                    <a:p>
                      <a:r>
                        <a:rPr lang="en-US" dirty="0"/>
                        <a:t>D-C</a:t>
                      </a:r>
                    </a:p>
                  </a:txBody>
                  <a:tcPr>
                    <a:solidFill>
                      <a:srgbClr val="92D050"/>
                    </a:solidFill>
                  </a:tcPr>
                </a:tc>
                <a:extLst>
                  <a:ext uri="{0D108BD9-81ED-4DB2-BD59-A6C34878D82A}">
                    <a16:rowId xmlns:a16="http://schemas.microsoft.com/office/drawing/2014/main" val="1968576149"/>
                  </a:ext>
                </a:extLst>
              </a:tr>
              <a:tr h="370840">
                <a:tc>
                  <a:txBody>
                    <a:bodyPr/>
                    <a:lstStyle/>
                    <a:p>
                      <a:r>
                        <a:rPr lang="en-US" b="1" dirty="0"/>
                        <a:t>DD</a:t>
                      </a:r>
                    </a:p>
                  </a:txBody>
                  <a:tcPr/>
                </a:tc>
                <a:tc gridSpan="2">
                  <a:txBody>
                    <a:bodyPr/>
                    <a:lstStyle/>
                    <a:p>
                      <a:pPr algn="ctr"/>
                      <a:r>
                        <a:rPr lang="en-US" dirty="0"/>
                        <a:t>( B-A ) – ( D-C )</a:t>
                      </a:r>
                    </a:p>
                  </a:txBody>
                  <a:tcPr>
                    <a:noFill/>
                  </a:tcPr>
                </a:tc>
                <a:tc hMerge="1">
                  <a:txBody>
                    <a:bodyPr/>
                    <a:lstStyle/>
                    <a:p>
                      <a:endParaRPr lang="en-US" dirty="0"/>
                    </a:p>
                  </a:txBody>
                  <a:tcPr>
                    <a:solidFill>
                      <a:srgbClr val="92D050"/>
                    </a:solidFill>
                  </a:tcPr>
                </a:tc>
                <a:extLst>
                  <a:ext uri="{0D108BD9-81ED-4DB2-BD59-A6C34878D82A}">
                    <a16:rowId xmlns:a16="http://schemas.microsoft.com/office/drawing/2014/main" val="2335676235"/>
                  </a:ext>
                </a:extLst>
              </a:tr>
            </a:tbl>
          </a:graphicData>
        </a:graphic>
      </p:graphicFrame>
      <p:sp>
        <p:nvSpPr>
          <p:cNvPr id="5" name="Rectangle 4"/>
          <p:cNvSpPr/>
          <p:nvPr/>
        </p:nvSpPr>
        <p:spPr>
          <a:xfrm>
            <a:off x="563236" y="5275022"/>
            <a:ext cx="9551461" cy="923330"/>
          </a:xfrm>
          <a:prstGeom prst="rect">
            <a:avLst/>
          </a:prstGeom>
        </p:spPr>
        <p:txBody>
          <a:bodyPr wrap="none">
            <a:spAutoFit/>
          </a:bodyPr>
          <a:lstStyle/>
          <a:p>
            <a:r>
              <a:rPr lang="en-US" dirty="0"/>
              <a:t>Did the outcomes in the treated areas improve by more than in the control areas?</a:t>
            </a:r>
          </a:p>
          <a:p>
            <a:endParaRPr lang="en-US" dirty="0"/>
          </a:p>
          <a:p>
            <a:r>
              <a:rPr lang="en-US" dirty="0"/>
              <a:t>DD = ( c</a:t>
            </a:r>
            <a:r>
              <a:rPr lang="en-US" altLang="en-US" dirty="0"/>
              <a:t>hange in treatment ) –  ( change in control )  </a:t>
            </a:r>
            <a:r>
              <a:rPr lang="en-US" dirty="0"/>
              <a:t>= ( </a:t>
            </a:r>
            <a:r>
              <a:rPr lang="en-US" dirty="0" err="1"/>
              <a:t>Treat</a:t>
            </a:r>
            <a:r>
              <a:rPr lang="en-US" baseline="30000" dirty="0" err="1"/>
              <a:t>post</a:t>
            </a:r>
            <a:r>
              <a:rPr lang="en-US" dirty="0"/>
              <a:t> - </a:t>
            </a:r>
            <a:r>
              <a:rPr lang="en-US" dirty="0" err="1"/>
              <a:t>Treat</a:t>
            </a:r>
            <a:r>
              <a:rPr lang="en-US" baseline="30000" dirty="0" err="1"/>
              <a:t>pre</a:t>
            </a:r>
            <a:r>
              <a:rPr lang="en-US" dirty="0"/>
              <a:t> ) – (</a:t>
            </a:r>
            <a:r>
              <a:rPr lang="en-US" dirty="0" err="1"/>
              <a:t>Control</a:t>
            </a:r>
            <a:r>
              <a:rPr lang="en-US" baseline="30000" dirty="0" err="1"/>
              <a:t>post</a:t>
            </a:r>
            <a:r>
              <a:rPr lang="en-US" dirty="0"/>
              <a:t> - </a:t>
            </a:r>
            <a:r>
              <a:rPr lang="en-US" dirty="0" err="1"/>
              <a:t>Control</a:t>
            </a:r>
            <a:r>
              <a:rPr lang="en-US" baseline="30000" dirty="0" err="1"/>
              <a:t>pre</a:t>
            </a:r>
            <a:r>
              <a:rPr lang="en-US" dirty="0"/>
              <a:t> ) </a:t>
            </a:r>
          </a:p>
        </p:txBody>
      </p:sp>
      <p:grpSp>
        <p:nvGrpSpPr>
          <p:cNvPr id="10" name="Group 9"/>
          <p:cNvGrpSpPr/>
          <p:nvPr/>
        </p:nvGrpSpPr>
        <p:grpSpPr>
          <a:xfrm>
            <a:off x="5964045" y="1635562"/>
            <a:ext cx="3254029" cy="2700953"/>
            <a:chOff x="891251" y="1840375"/>
            <a:chExt cx="4791919" cy="3923817"/>
          </a:xfrm>
        </p:grpSpPr>
        <p:cxnSp>
          <p:nvCxnSpPr>
            <p:cNvPr id="7" name="Straight Connector 6"/>
            <p:cNvCxnSpPr/>
            <p:nvPr/>
          </p:nvCxnSpPr>
          <p:spPr bwMode="auto">
            <a:xfrm>
              <a:off x="891251" y="1840375"/>
              <a:ext cx="0" cy="392381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p:cNvCxnSpPr/>
            <p:nvPr/>
          </p:nvCxnSpPr>
          <p:spPr bwMode="auto">
            <a:xfrm>
              <a:off x="891251" y="5764192"/>
              <a:ext cx="479191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16" name="Group 15"/>
          <p:cNvGrpSpPr/>
          <p:nvPr/>
        </p:nvGrpSpPr>
        <p:grpSpPr>
          <a:xfrm>
            <a:off x="6424039" y="3170987"/>
            <a:ext cx="5263476" cy="656872"/>
            <a:chOff x="6424039" y="3170987"/>
            <a:chExt cx="5263476" cy="656872"/>
          </a:xfrm>
        </p:grpSpPr>
        <p:cxnSp>
          <p:nvCxnSpPr>
            <p:cNvPr id="14" name="Straight Connector 13"/>
            <p:cNvCxnSpPr>
              <a:stCxn id="31" idx="3"/>
              <a:endCxn id="36" idx="6"/>
            </p:cNvCxnSpPr>
            <p:nvPr/>
          </p:nvCxnSpPr>
          <p:spPr bwMode="auto">
            <a:xfrm flipV="1">
              <a:off x="6756181" y="3340264"/>
              <a:ext cx="1802786" cy="318318"/>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nvGrpSpPr>
            <p:cNvPr id="29" name="Group 28"/>
            <p:cNvGrpSpPr/>
            <p:nvPr/>
          </p:nvGrpSpPr>
          <p:grpSpPr>
            <a:xfrm>
              <a:off x="6424039" y="3489305"/>
              <a:ext cx="332142" cy="338554"/>
              <a:chOff x="1752599" y="3777734"/>
              <a:chExt cx="332142" cy="338554"/>
            </a:xfrm>
          </p:grpSpPr>
          <p:sp>
            <p:nvSpPr>
              <p:cNvPr id="30" name="Oval 29"/>
              <p:cNvSpPr/>
              <p:nvPr/>
            </p:nvSpPr>
            <p:spPr bwMode="auto">
              <a:xfrm>
                <a:off x="1758826" y="3804136"/>
                <a:ext cx="308468" cy="285750"/>
              </a:xfrm>
              <a:prstGeom prst="ellipse">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i="0" u="none" strike="noStrike" cap="none" normalizeH="0" baseline="0" dirty="0">
                  <a:ln>
                    <a:noFill/>
                  </a:ln>
                  <a:solidFill>
                    <a:schemeClr val="tx1"/>
                  </a:solidFill>
                  <a:effectLst/>
                  <a:latin typeface="Arial" charset="0"/>
                </a:endParaRPr>
              </a:p>
            </p:txBody>
          </p:sp>
          <p:sp>
            <p:nvSpPr>
              <p:cNvPr id="31" name="Rectangle 30"/>
              <p:cNvSpPr/>
              <p:nvPr/>
            </p:nvSpPr>
            <p:spPr>
              <a:xfrm>
                <a:off x="1752599" y="3777734"/>
                <a:ext cx="332142" cy="338554"/>
              </a:xfrm>
              <a:prstGeom prst="rect">
                <a:avLst/>
              </a:prstGeom>
            </p:spPr>
            <p:txBody>
              <a:bodyPr wrap="none">
                <a:spAutoFit/>
              </a:bodyPr>
              <a:lstStyle/>
              <a:p>
                <a:pPr fontAlgn="base">
                  <a:spcBef>
                    <a:spcPct val="0"/>
                  </a:spcBef>
                  <a:spcAft>
                    <a:spcPct val="0"/>
                  </a:spcAft>
                </a:pPr>
                <a:r>
                  <a:rPr lang="en-US" sz="1600" dirty="0">
                    <a:latin typeface="Arial" charset="0"/>
                  </a:rPr>
                  <a:t>C</a:t>
                </a:r>
              </a:p>
            </p:txBody>
          </p:sp>
        </p:grpSp>
        <p:grpSp>
          <p:nvGrpSpPr>
            <p:cNvPr id="35" name="Group 34"/>
            <p:cNvGrpSpPr/>
            <p:nvPr/>
          </p:nvGrpSpPr>
          <p:grpSpPr>
            <a:xfrm>
              <a:off x="8244272" y="3170987"/>
              <a:ext cx="332142" cy="338554"/>
              <a:chOff x="1752599" y="3777734"/>
              <a:chExt cx="332142" cy="338554"/>
            </a:xfrm>
          </p:grpSpPr>
          <p:sp>
            <p:nvSpPr>
              <p:cNvPr id="36" name="Oval 35"/>
              <p:cNvSpPr/>
              <p:nvPr/>
            </p:nvSpPr>
            <p:spPr bwMode="auto">
              <a:xfrm>
                <a:off x="1758826" y="3804136"/>
                <a:ext cx="308468" cy="285750"/>
              </a:xfrm>
              <a:prstGeom prst="ellipse">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i="0" u="none" strike="noStrike" cap="none" normalizeH="0" baseline="0" dirty="0">
                  <a:ln>
                    <a:noFill/>
                  </a:ln>
                  <a:solidFill>
                    <a:schemeClr val="tx1"/>
                  </a:solidFill>
                  <a:effectLst/>
                  <a:latin typeface="Arial" charset="0"/>
                </a:endParaRPr>
              </a:p>
            </p:txBody>
          </p:sp>
          <p:sp>
            <p:nvSpPr>
              <p:cNvPr id="37" name="Rectangle 36"/>
              <p:cNvSpPr/>
              <p:nvPr/>
            </p:nvSpPr>
            <p:spPr>
              <a:xfrm>
                <a:off x="1752599" y="3777734"/>
                <a:ext cx="332142" cy="338554"/>
              </a:xfrm>
              <a:prstGeom prst="rect">
                <a:avLst/>
              </a:prstGeom>
            </p:spPr>
            <p:txBody>
              <a:bodyPr wrap="none">
                <a:spAutoFit/>
              </a:bodyPr>
              <a:lstStyle/>
              <a:p>
                <a:pPr fontAlgn="base">
                  <a:spcBef>
                    <a:spcPct val="0"/>
                  </a:spcBef>
                  <a:spcAft>
                    <a:spcPct val="0"/>
                  </a:spcAft>
                </a:pPr>
                <a:r>
                  <a:rPr lang="en-US" sz="1600" dirty="0">
                    <a:latin typeface="Arial" charset="0"/>
                  </a:rPr>
                  <a:t>D</a:t>
                </a:r>
              </a:p>
            </p:txBody>
          </p:sp>
        </p:grpSp>
        <p:sp>
          <p:nvSpPr>
            <p:cNvPr id="46" name="Right Brace 45"/>
            <p:cNvSpPr/>
            <p:nvPr/>
          </p:nvSpPr>
          <p:spPr bwMode="auto">
            <a:xfrm>
              <a:off x="8651709" y="3352336"/>
              <a:ext cx="182249" cy="286214"/>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48" name="Rectangle 47"/>
            <p:cNvSpPr/>
            <p:nvPr/>
          </p:nvSpPr>
          <p:spPr>
            <a:xfrm>
              <a:off x="8880336" y="3331798"/>
              <a:ext cx="2807179" cy="338554"/>
            </a:xfrm>
            <a:prstGeom prst="rect">
              <a:avLst/>
            </a:prstGeom>
          </p:spPr>
          <p:txBody>
            <a:bodyPr wrap="none">
              <a:spAutoFit/>
            </a:bodyPr>
            <a:lstStyle/>
            <a:p>
              <a:r>
                <a:rPr lang="en-US" sz="1600" dirty="0"/>
                <a:t>D-C: change in control group</a:t>
              </a:r>
            </a:p>
          </p:txBody>
        </p:sp>
      </p:grpSp>
      <p:grpSp>
        <p:nvGrpSpPr>
          <p:cNvPr id="15" name="Group 14"/>
          <p:cNvGrpSpPr/>
          <p:nvPr/>
        </p:nvGrpSpPr>
        <p:grpSpPr>
          <a:xfrm>
            <a:off x="6417316" y="1721473"/>
            <a:ext cx="5282575" cy="1570326"/>
            <a:chOff x="6417316" y="1721473"/>
            <a:chExt cx="5282575" cy="1570326"/>
          </a:xfrm>
        </p:grpSpPr>
        <p:cxnSp>
          <p:nvCxnSpPr>
            <p:cNvPr id="41" name="Straight Connector 40"/>
            <p:cNvCxnSpPr>
              <a:stCxn id="3" idx="6"/>
              <a:endCxn id="33" idx="2"/>
            </p:cNvCxnSpPr>
            <p:nvPr/>
          </p:nvCxnSpPr>
          <p:spPr bwMode="auto">
            <a:xfrm flipV="1">
              <a:off x="6732011" y="1890750"/>
              <a:ext cx="1529708" cy="1231772"/>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nvGrpSpPr>
            <p:cNvPr id="8" name="Group 7"/>
            <p:cNvGrpSpPr/>
            <p:nvPr/>
          </p:nvGrpSpPr>
          <p:grpSpPr>
            <a:xfrm>
              <a:off x="6417316" y="2953245"/>
              <a:ext cx="320922" cy="338554"/>
              <a:chOff x="1752599" y="3777734"/>
              <a:chExt cx="320922" cy="338554"/>
            </a:xfrm>
          </p:grpSpPr>
          <p:sp>
            <p:nvSpPr>
              <p:cNvPr id="3" name="Oval 2"/>
              <p:cNvSpPr/>
              <p:nvPr/>
            </p:nvSpPr>
            <p:spPr bwMode="auto">
              <a:xfrm>
                <a:off x="1758826" y="3804136"/>
                <a:ext cx="308468" cy="285750"/>
              </a:xfrm>
              <a:prstGeom prst="ellipse">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i="0" u="none" strike="noStrike" cap="none" normalizeH="0" baseline="0" dirty="0">
                  <a:ln>
                    <a:noFill/>
                  </a:ln>
                  <a:solidFill>
                    <a:schemeClr val="tx1"/>
                  </a:solidFill>
                  <a:effectLst/>
                  <a:latin typeface="Arial" charset="0"/>
                </a:endParaRPr>
              </a:p>
            </p:txBody>
          </p:sp>
          <p:sp>
            <p:nvSpPr>
              <p:cNvPr id="6" name="Rectangle 5"/>
              <p:cNvSpPr/>
              <p:nvPr/>
            </p:nvSpPr>
            <p:spPr>
              <a:xfrm>
                <a:off x="1752599" y="3777734"/>
                <a:ext cx="320922" cy="338554"/>
              </a:xfrm>
              <a:prstGeom prst="rect">
                <a:avLst/>
              </a:prstGeom>
            </p:spPr>
            <p:txBody>
              <a:bodyPr wrap="none">
                <a:spAutoFit/>
              </a:bodyPr>
              <a:lstStyle/>
              <a:p>
                <a:pPr fontAlgn="base">
                  <a:spcBef>
                    <a:spcPct val="0"/>
                  </a:spcBef>
                  <a:spcAft>
                    <a:spcPct val="0"/>
                  </a:spcAft>
                </a:pPr>
                <a:r>
                  <a:rPr lang="en-US" sz="1600" dirty="0">
                    <a:latin typeface="Arial" charset="0"/>
                  </a:rPr>
                  <a:t>A</a:t>
                </a:r>
              </a:p>
            </p:txBody>
          </p:sp>
        </p:grpSp>
        <p:grpSp>
          <p:nvGrpSpPr>
            <p:cNvPr id="32" name="Group 31"/>
            <p:cNvGrpSpPr/>
            <p:nvPr/>
          </p:nvGrpSpPr>
          <p:grpSpPr>
            <a:xfrm>
              <a:off x="8255492" y="1721473"/>
              <a:ext cx="320922" cy="338554"/>
              <a:chOff x="1752599" y="3777734"/>
              <a:chExt cx="320922" cy="338554"/>
            </a:xfrm>
          </p:grpSpPr>
          <p:sp>
            <p:nvSpPr>
              <p:cNvPr id="33" name="Oval 32"/>
              <p:cNvSpPr/>
              <p:nvPr/>
            </p:nvSpPr>
            <p:spPr bwMode="auto">
              <a:xfrm>
                <a:off x="1758826" y="3804136"/>
                <a:ext cx="308468" cy="285750"/>
              </a:xfrm>
              <a:prstGeom prst="ellipse">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i="0" u="none" strike="noStrike" cap="none" normalizeH="0" baseline="0" dirty="0">
                  <a:ln>
                    <a:noFill/>
                  </a:ln>
                  <a:solidFill>
                    <a:schemeClr val="tx1"/>
                  </a:solidFill>
                  <a:effectLst/>
                  <a:latin typeface="Arial" charset="0"/>
                </a:endParaRPr>
              </a:p>
            </p:txBody>
          </p:sp>
          <p:sp>
            <p:nvSpPr>
              <p:cNvPr id="34" name="Rectangle 33"/>
              <p:cNvSpPr/>
              <p:nvPr/>
            </p:nvSpPr>
            <p:spPr>
              <a:xfrm>
                <a:off x="1752599" y="3777734"/>
                <a:ext cx="320922" cy="338554"/>
              </a:xfrm>
              <a:prstGeom prst="rect">
                <a:avLst/>
              </a:prstGeom>
            </p:spPr>
            <p:txBody>
              <a:bodyPr wrap="none">
                <a:spAutoFit/>
              </a:bodyPr>
              <a:lstStyle/>
              <a:p>
                <a:pPr fontAlgn="base">
                  <a:spcBef>
                    <a:spcPct val="0"/>
                  </a:spcBef>
                  <a:spcAft>
                    <a:spcPct val="0"/>
                  </a:spcAft>
                </a:pPr>
                <a:r>
                  <a:rPr lang="en-US" sz="1600" dirty="0">
                    <a:latin typeface="Arial" charset="0"/>
                  </a:rPr>
                  <a:t>B</a:t>
                </a:r>
              </a:p>
            </p:txBody>
          </p:sp>
        </p:grpSp>
        <p:sp>
          <p:nvSpPr>
            <p:cNvPr id="49" name="Right Brace 48"/>
            <p:cNvSpPr/>
            <p:nvPr/>
          </p:nvSpPr>
          <p:spPr bwMode="auto">
            <a:xfrm>
              <a:off x="8638955" y="1890750"/>
              <a:ext cx="195004" cy="1231772"/>
            </a:xfrm>
            <a:prstGeom prst="rightBrace">
              <a:avLst>
                <a:gd name="adj1" fmla="val 8333"/>
                <a:gd name="adj2" fmla="val 87537"/>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50" name="Rectangle 49"/>
            <p:cNvSpPr/>
            <p:nvPr/>
          </p:nvSpPr>
          <p:spPr>
            <a:xfrm>
              <a:off x="8891109" y="2805346"/>
              <a:ext cx="2808782" cy="338554"/>
            </a:xfrm>
            <a:prstGeom prst="rect">
              <a:avLst/>
            </a:prstGeom>
          </p:spPr>
          <p:txBody>
            <a:bodyPr wrap="none">
              <a:spAutoFit/>
            </a:bodyPr>
            <a:lstStyle/>
            <a:p>
              <a:r>
                <a:rPr lang="en-US" sz="1600" dirty="0"/>
                <a:t>B-A: change in treated group</a:t>
              </a:r>
            </a:p>
          </p:txBody>
        </p:sp>
      </p:grpSp>
      <p:sp>
        <p:nvSpPr>
          <p:cNvPr id="58" name="Rectangle 57"/>
          <p:cNvSpPr/>
          <p:nvPr/>
        </p:nvSpPr>
        <p:spPr>
          <a:xfrm>
            <a:off x="6120270" y="4362917"/>
            <a:ext cx="462499" cy="338554"/>
          </a:xfrm>
          <a:prstGeom prst="rect">
            <a:avLst/>
          </a:prstGeom>
        </p:spPr>
        <p:txBody>
          <a:bodyPr wrap="none">
            <a:spAutoFit/>
          </a:bodyPr>
          <a:lstStyle/>
          <a:p>
            <a:r>
              <a:rPr lang="en-US" sz="1600" dirty="0"/>
              <a:t>Pre</a:t>
            </a:r>
          </a:p>
        </p:txBody>
      </p:sp>
      <p:sp>
        <p:nvSpPr>
          <p:cNvPr id="59" name="Rectangle 58"/>
          <p:cNvSpPr/>
          <p:nvPr/>
        </p:nvSpPr>
        <p:spPr>
          <a:xfrm>
            <a:off x="8079963" y="4364788"/>
            <a:ext cx="542136" cy="338554"/>
          </a:xfrm>
          <a:prstGeom prst="rect">
            <a:avLst/>
          </a:prstGeom>
        </p:spPr>
        <p:txBody>
          <a:bodyPr wrap="none">
            <a:spAutoFit/>
          </a:bodyPr>
          <a:lstStyle/>
          <a:p>
            <a:r>
              <a:rPr lang="en-US" sz="1600" dirty="0"/>
              <a:t>Post</a:t>
            </a:r>
          </a:p>
        </p:txBody>
      </p:sp>
      <p:sp>
        <p:nvSpPr>
          <p:cNvPr id="11" name="Rectangle 10"/>
          <p:cNvSpPr/>
          <p:nvPr/>
        </p:nvSpPr>
        <p:spPr bwMode="auto">
          <a:xfrm>
            <a:off x="3483770" y="2454033"/>
            <a:ext cx="1512290" cy="20322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38" name="Rectangle 37"/>
          <p:cNvSpPr/>
          <p:nvPr/>
        </p:nvSpPr>
        <p:spPr bwMode="auto">
          <a:xfrm>
            <a:off x="651153" y="4045273"/>
            <a:ext cx="4562309" cy="628649"/>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grpSp>
        <p:nvGrpSpPr>
          <p:cNvPr id="19" name="Group 18"/>
          <p:cNvGrpSpPr/>
          <p:nvPr/>
        </p:nvGrpSpPr>
        <p:grpSpPr>
          <a:xfrm>
            <a:off x="6732011" y="1890750"/>
            <a:ext cx="5155096" cy="1234855"/>
            <a:chOff x="6732011" y="1890750"/>
            <a:chExt cx="5155096" cy="1234855"/>
          </a:xfrm>
        </p:grpSpPr>
        <p:grpSp>
          <p:nvGrpSpPr>
            <p:cNvPr id="17" name="Group 16"/>
            <p:cNvGrpSpPr/>
            <p:nvPr/>
          </p:nvGrpSpPr>
          <p:grpSpPr>
            <a:xfrm>
              <a:off x="6732011" y="1890750"/>
              <a:ext cx="5155096" cy="1234855"/>
              <a:chOff x="6732011" y="1890750"/>
              <a:chExt cx="5155096" cy="1234855"/>
            </a:xfrm>
          </p:grpSpPr>
          <p:cxnSp>
            <p:nvCxnSpPr>
              <p:cNvPr id="52" name="Straight Connector 51"/>
              <p:cNvCxnSpPr/>
              <p:nvPr/>
            </p:nvCxnSpPr>
            <p:spPr bwMode="auto">
              <a:xfrm flipV="1">
                <a:off x="6732011" y="2807287"/>
                <a:ext cx="1803282" cy="318318"/>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53" name="Right Brace 52"/>
              <p:cNvSpPr/>
              <p:nvPr/>
            </p:nvSpPr>
            <p:spPr bwMode="auto">
              <a:xfrm>
                <a:off x="8951092" y="1890750"/>
                <a:ext cx="195004" cy="904348"/>
              </a:xfrm>
              <a:prstGeom prst="rightBrace">
                <a:avLst>
                  <a:gd name="adj1" fmla="val 8333"/>
                  <a:gd name="adj2" fmla="val 39865"/>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54" name="Rectangle 53"/>
              <p:cNvSpPr/>
              <p:nvPr/>
            </p:nvSpPr>
            <p:spPr>
              <a:xfrm>
                <a:off x="9124812" y="1966243"/>
                <a:ext cx="2762295" cy="584775"/>
              </a:xfrm>
              <a:prstGeom prst="rect">
                <a:avLst/>
              </a:prstGeom>
            </p:spPr>
            <p:txBody>
              <a:bodyPr wrap="none">
                <a:spAutoFit/>
              </a:bodyPr>
              <a:lstStyle/>
              <a:p>
                <a:r>
                  <a:rPr lang="en-US" sz="1600" dirty="0"/>
                  <a:t>DD: change in treated group</a:t>
                </a:r>
                <a:br>
                  <a:rPr lang="en-US" sz="1600" dirty="0"/>
                </a:br>
                <a:r>
                  <a:rPr lang="en-US" sz="1600" dirty="0"/>
                  <a:t>relative to change in control</a:t>
                </a:r>
              </a:p>
            </p:txBody>
          </p:sp>
          <p:sp>
            <p:nvSpPr>
              <p:cNvPr id="56" name="Oval 55"/>
              <p:cNvSpPr/>
              <p:nvPr/>
            </p:nvSpPr>
            <p:spPr bwMode="auto">
              <a:xfrm>
                <a:off x="8259849" y="2680696"/>
                <a:ext cx="308468" cy="285750"/>
              </a:xfrm>
              <a:prstGeom prst="ellipse">
                <a:avLst/>
              </a:prstGeom>
              <a:solidFill>
                <a:schemeClr val="bg1"/>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i="0" u="none" strike="noStrike" cap="none" normalizeH="0" baseline="0" dirty="0">
                  <a:ln>
                    <a:noFill/>
                  </a:ln>
                  <a:solidFill>
                    <a:schemeClr val="tx1"/>
                  </a:solidFill>
                  <a:effectLst/>
                  <a:latin typeface="Arial" charset="0"/>
                </a:endParaRPr>
              </a:p>
            </p:txBody>
          </p:sp>
        </p:grpSp>
        <p:sp>
          <p:nvSpPr>
            <p:cNvPr id="18" name="Rectangle 17"/>
            <p:cNvSpPr/>
            <p:nvPr/>
          </p:nvSpPr>
          <p:spPr>
            <a:xfrm>
              <a:off x="8253622" y="2641093"/>
              <a:ext cx="184731" cy="369332"/>
            </a:xfrm>
            <a:prstGeom prst="rect">
              <a:avLst/>
            </a:prstGeom>
          </p:spPr>
          <p:txBody>
            <a:bodyPr wrap="none">
              <a:spAutoFit/>
            </a:bodyPr>
            <a:lstStyle/>
            <a:p>
              <a:pPr fontAlgn="base">
                <a:spcBef>
                  <a:spcPct val="0"/>
                </a:spcBef>
                <a:spcAft>
                  <a:spcPct val="0"/>
                </a:spcAft>
              </a:pPr>
              <a:endParaRPr lang="en-US" dirty="0">
                <a:latin typeface="Arial" charset="0"/>
              </a:endParaRPr>
            </a:p>
          </p:txBody>
        </p:sp>
      </p:grpSp>
      <p:sp>
        <p:nvSpPr>
          <p:cNvPr id="12" name="Slide Number Placeholder 11"/>
          <p:cNvSpPr>
            <a:spLocks noGrp="1"/>
          </p:cNvSpPr>
          <p:nvPr>
            <p:ph type="sldNum" sz="quarter" idx="12"/>
          </p:nvPr>
        </p:nvSpPr>
        <p:spPr/>
        <p:txBody>
          <a:bodyPr/>
          <a:lstStyle/>
          <a:p>
            <a:fld id="{C2E33B48-9DB3-4522-8ABC-1F69633D0FAE}" type="slidenum">
              <a:rPr lang="en-US" smtClean="0"/>
              <a:t>63</a:t>
            </a:fld>
            <a:endParaRPr lang="en-US"/>
          </a:p>
        </p:txBody>
      </p:sp>
    </p:spTree>
    <p:extLst>
      <p:ext uri="{BB962C8B-B14F-4D97-AF65-F5344CB8AC3E}">
        <p14:creationId xmlns:p14="http://schemas.microsoft.com/office/powerpoint/2010/main" val="70313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xit"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P spid="3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2004-9649-45AB-A212-64DAA7F4121F}"/>
              </a:ext>
            </a:extLst>
          </p:cNvPr>
          <p:cNvSpPr>
            <a:spLocks noGrp="1"/>
          </p:cNvSpPr>
          <p:nvPr>
            <p:ph type="title"/>
          </p:nvPr>
        </p:nvSpPr>
        <p:spPr/>
        <p:txBody>
          <a:bodyPr/>
          <a:lstStyle/>
          <a:p>
            <a:r>
              <a:rPr lang="en-US" dirty="0"/>
              <a:t>Key assumptions: Counterfactual</a:t>
            </a:r>
          </a:p>
        </p:txBody>
      </p:sp>
      <p:sp>
        <p:nvSpPr>
          <p:cNvPr id="3" name="Content Placeholder 2">
            <a:extLst>
              <a:ext uri="{FF2B5EF4-FFF2-40B4-BE49-F238E27FC236}">
                <a16:creationId xmlns:a16="http://schemas.microsoft.com/office/drawing/2014/main" id="{DC59C128-131F-433F-9EFC-AC17CD0A0DEE}"/>
              </a:ext>
            </a:extLst>
          </p:cNvPr>
          <p:cNvSpPr>
            <a:spLocks noGrp="1"/>
          </p:cNvSpPr>
          <p:nvPr>
            <p:ph idx="1"/>
          </p:nvPr>
        </p:nvSpPr>
        <p:spPr>
          <a:xfrm>
            <a:off x="838199" y="1825625"/>
            <a:ext cx="11063991" cy="4351338"/>
          </a:xfrm>
        </p:spPr>
        <p:txBody>
          <a:bodyPr>
            <a:normAutofit/>
          </a:bodyPr>
          <a:lstStyle/>
          <a:p>
            <a:r>
              <a:rPr lang="en-US" dirty="0"/>
              <a:t>Key assumption in Difference-in-Differences </a:t>
            </a:r>
          </a:p>
          <a:p>
            <a:pPr lvl="1"/>
            <a:r>
              <a:rPr lang="en-US" dirty="0"/>
              <a:t>Treatment group would have followed the same trajectory as the control group in the post-intervention period if the intervention had not occurred</a:t>
            </a:r>
          </a:p>
          <a:p>
            <a:endParaRPr lang="en-US" dirty="0"/>
          </a:p>
          <a:p>
            <a:r>
              <a:rPr lang="en-US" dirty="0"/>
              <a:t>This counterfactual is </a:t>
            </a:r>
            <a:r>
              <a:rPr lang="en-US" b="1" dirty="0"/>
              <a:t>not</a:t>
            </a:r>
            <a:r>
              <a:rPr lang="en-US" dirty="0"/>
              <a:t> testable</a:t>
            </a:r>
          </a:p>
          <a:p>
            <a:pPr lvl="1"/>
            <a:r>
              <a:rPr lang="en-US" dirty="0"/>
              <a:t>This counterfactual may feel more believable if </a:t>
            </a:r>
          </a:p>
          <a:p>
            <a:pPr lvl="2"/>
            <a:r>
              <a:rPr lang="en-US" dirty="0"/>
              <a:t>Control and treatment areas are qualitatively similar before the intervention</a:t>
            </a:r>
          </a:p>
          <a:p>
            <a:pPr lvl="2"/>
            <a:r>
              <a:rPr lang="en-US" dirty="0"/>
              <a:t>The composition of control and treatment groups are not changing over time in different ways</a:t>
            </a:r>
          </a:p>
          <a:p>
            <a:pPr lvl="2"/>
            <a:r>
              <a:rPr lang="en-US" dirty="0"/>
              <a:t>The control and treatment group are on a similar trajectory before the intervention</a:t>
            </a:r>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B8E92EC7-B794-4399-8687-C49F5A9668F4}"/>
              </a:ext>
            </a:extLst>
          </p:cNvPr>
          <p:cNvSpPr>
            <a:spLocks noGrp="1"/>
          </p:cNvSpPr>
          <p:nvPr>
            <p:ph type="sldNum" sz="quarter" idx="12"/>
          </p:nvPr>
        </p:nvSpPr>
        <p:spPr/>
        <p:txBody>
          <a:bodyPr/>
          <a:lstStyle/>
          <a:p>
            <a:fld id="{4698AAF4-35A4-40F4-A7AE-C8E2C41B9252}" type="slidenum">
              <a:rPr lang="en-US" smtClean="0"/>
              <a:t>64</a:t>
            </a:fld>
            <a:endParaRPr lang="en-US"/>
          </a:p>
        </p:txBody>
      </p:sp>
    </p:spTree>
    <p:extLst>
      <p:ext uri="{BB962C8B-B14F-4D97-AF65-F5344CB8AC3E}">
        <p14:creationId xmlns:p14="http://schemas.microsoft.com/office/powerpoint/2010/main" val="186515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9EBD5-4B64-4C15-991C-45266FAB5FB3}"/>
              </a:ext>
            </a:extLst>
          </p:cNvPr>
          <p:cNvSpPr>
            <a:spLocks noGrp="1"/>
          </p:cNvSpPr>
          <p:nvPr>
            <p:ph type="title"/>
          </p:nvPr>
        </p:nvSpPr>
        <p:spPr/>
        <p:txBody>
          <a:bodyPr/>
          <a:lstStyle/>
          <a:p>
            <a:r>
              <a:rPr lang="en-US" dirty="0"/>
              <a:t>Multiple groups and time periods</a:t>
            </a:r>
          </a:p>
        </p:txBody>
      </p:sp>
      <p:sp>
        <p:nvSpPr>
          <p:cNvPr id="3" name="Content Placeholder 2">
            <a:extLst>
              <a:ext uri="{FF2B5EF4-FFF2-40B4-BE49-F238E27FC236}">
                <a16:creationId xmlns:a16="http://schemas.microsoft.com/office/drawing/2014/main" id="{7D0F7F05-D0B9-41C5-945B-266EA8B7C3F4}"/>
              </a:ext>
            </a:extLst>
          </p:cNvPr>
          <p:cNvSpPr>
            <a:spLocks noGrp="1"/>
          </p:cNvSpPr>
          <p:nvPr>
            <p:ph idx="1"/>
          </p:nvPr>
        </p:nvSpPr>
        <p:spPr>
          <a:xfrm>
            <a:off x="838200" y="1825625"/>
            <a:ext cx="10515600" cy="4667250"/>
          </a:xfrm>
        </p:spPr>
        <p:txBody>
          <a:bodyPr>
            <a:normAutofit fontScale="92500" lnSpcReduction="10000"/>
          </a:bodyPr>
          <a:lstStyle/>
          <a:p>
            <a:r>
              <a:rPr lang="en-US" dirty="0"/>
              <a:t>We need at least two groups – treatment and control – and two time periods – pre and post – to get a difference-in-differences estimator</a:t>
            </a:r>
          </a:p>
          <a:p>
            <a:pPr lvl="1"/>
            <a:r>
              <a:rPr lang="en-US" dirty="0"/>
              <a:t>Essentially at least four observations</a:t>
            </a:r>
          </a:p>
          <a:p>
            <a:pPr lvl="1"/>
            <a:r>
              <a:rPr lang="en-US" dirty="0"/>
              <a:t>However -- need more data for inference</a:t>
            </a:r>
          </a:p>
          <a:p>
            <a:pPr lvl="1"/>
            <a:r>
              <a:rPr lang="en-US" dirty="0"/>
              <a:t>With more data we can strengthen our belief in the assumptions that make </a:t>
            </a:r>
            <a:r>
              <a:rPr lang="en-US" dirty="0" err="1"/>
              <a:t>DiD</a:t>
            </a:r>
            <a:r>
              <a:rPr lang="en-US" dirty="0"/>
              <a:t> valid</a:t>
            </a:r>
          </a:p>
          <a:p>
            <a:pPr lvl="2"/>
            <a:r>
              <a:rPr lang="en-US" dirty="0"/>
              <a:t>Hard for one district to make a convincing control group </a:t>
            </a:r>
            <a:r>
              <a:rPr lang="en-US" dirty="0">
                <a:sym typeface="Wingdings" pitchFamily="2" charset="2"/>
              </a:rPr>
              <a:t></a:t>
            </a:r>
            <a:r>
              <a:rPr lang="en-US" dirty="0"/>
              <a:t> averaging across many districts together means the counterfactual assumption is more plausible</a:t>
            </a:r>
          </a:p>
          <a:p>
            <a:pPr lvl="2"/>
            <a:r>
              <a:rPr lang="en-US" dirty="0"/>
              <a:t>With just one observation from the pre-period, harder to know that we haven’t gotten noise </a:t>
            </a:r>
            <a:r>
              <a:rPr lang="en-US" dirty="0">
                <a:sym typeface="Wingdings" pitchFamily="2" charset="2"/>
              </a:rPr>
              <a:t> more pre-period data allows better modeling of trends and changes over time</a:t>
            </a:r>
            <a:endParaRPr lang="en-US" dirty="0"/>
          </a:p>
          <a:p>
            <a:r>
              <a:rPr lang="en-US" dirty="0"/>
              <a:t>DID is a flexible methodology we can extend in many ways</a:t>
            </a:r>
          </a:p>
          <a:p>
            <a:pPr lvl="1"/>
            <a:r>
              <a:rPr lang="en-US" dirty="0"/>
              <a:t>For example, we can include two post periods – an initial period of “transition” and a period where policy is fully implemented</a:t>
            </a:r>
          </a:p>
          <a:p>
            <a:pPr lvl="1"/>
            <a:r>
              <a:rPr lang="en-US" dirty="0"/>
              <a:t>We can use </a:t>
            </a:r>
            <a:r>
              <a:rPr lang="en-US" dirty="0" err="1"/>
              <a:t>DiD</a:t>
            </a:r>
            <a:r>
              <a:rPr lang="en-US" dirty="0"/>
              <a:t> strategies in settings where multiple groups implement at multiple times</a:t>
            </a:r>
          </a:p>
        </p:txBody>
      </p:sp>
      <p:sp>
        <p:nvSpPr>
          <p:cNvPr id="4" name="Slide Number Placeholder 3">
            <a:extLst>
              <a:ext uri="{FF2B5EF4-FFF2-40B4-BE49-F238E27FC236}">
                <a16:creationId xmlns:a16="http://schemas.microsoft.com/office/drawing/2014/main" id="{BA317777-F89F-4D8A-8F64-0E8E08BCCD49}"/>
              </a:ext>
            </a:extLst>
          </p:cNvPr>
          <p:cNvSpPr>
            <a:spLocks noGrp="1"/>
          </p:cNvSpPr>
          <p:nvPr>
            <p:ph type="sldNum" sz="quarter" idx="12"/>
          </p:nvPr>
        </p:nvSpPr>
        <p:spPr/>
        <p:txBody>
          <a:bodyPr/>
          <a:lstStyle/>
          <a:p>
            <a:fld id="{4698AAF4-35A4-40F4-A7AE-C8E2C41B9252}" type="slidenum">
              <a:rPr lang="en-US" smtClean="0"/>
              <a:t>65</a:t>
            </a:fld>
            <a:endParaRPr lang="en-US"/>
          </a:p>
        </p:txBody>
      </p:sp>
    </p:spTree>
    <p:extLst>
      <p:ext uri="{BB962C8B-B14F-4D97-AF65-F5344CB8AC3E}">
        <p14:creationId xmlns:p14="http://schemas.microsoft.com/office/powerpoint/2010/main" val="32711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9EBD5-4B64-4C15-991C-45266FAB5FB3}"/>
              </a:ext>
            </a:extLst>
          </p:cNvPr>
          <p:cNvSpPr>
            <a:spLocks noGrp="1"/>
          </p:cNvSpPr>
          <p:nvPr>
            <p:ph type="title"/>
          </p:nvPr>
        </p:nvSpPr>
        <p:spPr/>
        <p:txBody>
          <a:bodyPr/>
          <a:lstStyle/>
          <a:p>
            <a:r>
              <a:rPr lang="en-US" dirty="0"/>
              <a:t>Multiple groups and time periods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0F7F05-D0B9-41C5-945B-266EA8B7C3F4}"/>
                  </a:ext>
                </a:extLst>
              </p:cNvPr>
              <p:cNvSpPr>
                <a:spLocks noGrp="1"/>
              </p:cNvSpPr>
              <p:nvPr>
                <p:ph idx="1"/>
              </p:nvPr>
            </p:nvSpPr>
            <p:spPr>
              <a:xfrm>
                <a:off x="838200" y="1825624"/>
                <a:ext cx="10515600" cy="4667251"/>
              </a:xfrm>
            </p:spPr>
            <p:txBody>
              <a:bodyPr>
                <a:normAutofit fontScale="85000" lnSpcReduction="20000"/>
              </a:bodyPr>
              <a:lstStyle/>
              <a:p>
                <a:r>
                  <a:rPr lang="en-US" dirty="0"/>
                  <a:t>Typical </a:t>
                </a:r>
                <a:r>
                  <a:rPr lang="en-US" dirty="0" err="1"/>
                  <a:t>DiD</a:t>
                </a:r>
                <a:r>
                  <a:rPr lang="en-US" dirty="0"/>
                  <a:t> specification</a:t>
                </a:r>
              </a:p>
              <a:p>
                <a:pPr lvl="1"/>
                <a:r>
                  <a:rPr lang="en-US" dirty="0"/>
                  <a:t>We have multiple groups (</a:t>
                </a:r>
                <a14:m>
                  <m:oMath xmlns:m="http://schemas.openxmlformats.org/officeDocument/2006/math">
                    <m:r>
                      <a:rPr lang="en-US" i="1" dirty="0" smtClean="0">
                        <a:latin typeface="Cambria Math" panose="02040503050406030204" pitchFamily="18" charset="0"/>
                      </a:rPr>
                      <m:t>𝑔</m:t>
                    </m:r>
                    <m:r>
                      <a:rPr lang="en-US" i="1" dirty="0" smtClean="0">
                        <a:latin typeface="Cambria Math" panose="02040503050406030204" pitchFamily="18" charset="0"/>
                      </a:rPr>
                      <m:t>={1…</m:t>
                    </m:r>
                    <m:r>
                      <a:rPr lang="en-US" i="1" dirty="0" smtClean="0">
                        <a:latin typeface="Cambria Math" panose="02040503050406030204" pitchFamily="18" charset="0"/>
                      </a:rPr>
                      <m:t>𝑀</m:t>
                    </m:r>
                    <m:r>
                      <a:rPr lang="en-US" i="1" dirty="0" smtClean="0">
                        <a:latin typeface="Cambria Math" panose="02040503050406030204" pitchFamily="18" charset="0"/>
                      </a:rPr>
                      <m:t>}</m:t>
                    </m:r>
                  </m:oMath>
                </a14:m>
                <a:r>
                  <a:rPr lang="en-US" dirty="0"/>
                  <a:t>) with some getting the treatment and some not getting it (group fixed effects)</a:t>
                </a:r>
              </a:p>
              <a:p>
                <a:pPr lvl="2"/>
                <a:r>
                  <a:rPr lang="en-US" dirty="0"/>
                  <a:t>”Treated” binary variable gets subsumed by these group fixed effects</a:t>
                </a:r>
              </a:p>
              <a:p>
                <a:pPr lvl="1"/>
                <a:r>
                  <a:rPr lang="en-US" dirty="0"/>
                  <a:t>We have multiple time periods (</a:t>
                </a:r>
                <a14:m>
                  <m:oMath xmlns:m="http://schemas.openxmlformats.org/officeDocument/2006/math">
                    <m:r>
                      <a:rPr lang="en-US" b="0" i="1" dirty="0" smtClean="0">
                        <a:latin typeface="Cambria Math" panose="02040503050406030204" pitchFamily="18" charset="0"/>
                      </a:rPr>
                      <m:t>𝑡</m:t>
                    </m:r>
                    <m:r>
                      <a:rPr lang="en-US" i="1" dirty="0">
                        <a:latin typeface="Cambria Math" panose="02040503050406030204" pitchFamily="18" charset="0"/>
                      </a:rPr>
                      <m:t>={1…</m:t>
                    </m:r>
                    <m:r>
                      <a:rPr lang="en-US" b="0" i="1" dirty="0" smtClean="0">
                        <a:latin typeface="Cambria Math" panose="02040503050406030204" pitchFamily="18" charset="0"/>
                      </a:rPr>
                      <m:t>𝐾</m:t>
                    </m:r>
                    <m:r>
                      <a:rPr lang="en-US" i="1" dirty="0">
                        <a:latin typeface="Cambria Math" panose="02040503050406030204" pitchFamily="18" charset="0"/>
                      </a:rPr>
                      <m:t>}</m:t>
                    </m:r>
                  </m:oMath>
                </a14:m>
                <a:r>
                  <a:rPr lang="en-US" dirty="0"/>
                  <a:t>) both pre- and post-intervention (time fixed effects)</a:t>
                </a:r>
              </a:p>
              <a:p>
                <a:pPr lvl="2"/>
                <a:r>
                  <a:rPr lang="en-US" dirty="0"/>
                  <a:t>“Post” binary variable gets subsumed by these time fixed effects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𝑖𝑔𝑡</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𝑔</m:t>
                          </m:r>
                          <m:r>
                            <a:rPr lang="en-US" b="0" i="1" smtClean="0">
                              <a:latin typeface="Cambria Math" panose="02040503050406030204" pitchFamily="18" charset="0"/>
                            </a:rPr>
                            <m:t>=1</m:t>
                          </m:r>
                        </m:sub>
                        <m:sup>
                          <m:r>
                            <a:rPr lang="en-US" b="0" i="1" smtClean="0">
                              <a:latin typeface="Cambria Math" panose="02040503050406030204" pitchFamily="18" charset="0"/>
                            </a:rPr>
                            <m:t>𝑀</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𝑔</m:t>
                              </m:r>
                            </m:sub>
                          </m:sSub>
                        </m:e>
                      </m:nary>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=1</m:t>
                          </m:r>
                        </m:sub>
                        <m:sup>
                          <m:r>
                            <a:rPr lang="en-US" b="0" i="1" smtClean="0">
                              <a:latin typeface="Cambria Math" panose="02040503050406030204" pitchFamily="18" charset="0"/>
                            </a:rPr>
                            <m:t>𝐾</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𝑡</m:t>
                              </m:r>
                            </m:sub>
                          </m:sSub>
                        </m:e>
                      </m:nary>
                      <m:r>
                        <a:rPr lang="en-US" b="0" i="1" smtClean="0">
                          <a:latin typeface="Cambria Math" panose="02040503050406030204" pitchFamily="18" charset="0"/>
                        </a:rPr>
                        <m:t>+</m:t>
                      </m:r>
                      <m:r>
                        <a:rPr lang="en-US" b="0" i="1" smtClean="0">
                          <a:latin typeface="Cambria Math" panose="02040503050406030204" pitchFamily="18" charset="0"/>
                        </a:rPr>
                        <m:t>𝛽</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𝑝𝑜𝑠𝑡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𝑇</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𝑖𝑔𝑡</m:t>
                          </m:r>
                        </m:sub>
                      </m:sSub>
                    </m:oMath>
                  </m:oMathPara>
                </a14:m>
                <a:endParaRPr lang="en-US" dirty="0"/>
              </a:p>
              <a:p>
                <a:pPr lvl="1"/>
                <a:endParaRPr lang="en-US" b="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𝛽</m:t>
                    </m:r>
                  </m:oMath>
                </a14:m>
                <a:r>
                  <a:rPr lang="en-US" dirty="0"/>
                  <a:t> tells us the average effect of treatment on the treated</a:t>
                </a:r>
              </a:p>
              <a:p>
                <a:pPr lvl="2"/>
                <a:r>
                  <a:rPr lang="en-US" dirty="0"/>
                  <a:t>The difference in the outcome in the post-intervention period in the treated areas after accounting for state and time level differences</a:t>
                </a:r>
              </a:p>
              <a:p>
                <a:pPr lvl="1"/>
                <a:r>
                  <a:rPr lang="en-US" dirty="0"/>
                  <a:t>Models can be more complex, i.e. modeling time trends, covariates, phased in implementation</a:t>
                </a:r>
              </a:p>
            </p:txBody>
          </p:sp>
        </mc:Choice>
        <mc:Fallback xmlns="">
          <p:sp>
            <p:nvSpPr>
              <p:cNvPr id="3" name="Content Placeholder 2">
                <a:extLst>
                  <a:ext uri="{FF2B5EF4-FFF2-40B4-BE49-F238E27FC236}">
                    <a16:creationId xmlns:a16="http://schemas.microsoft.com/office/drawing/2014/main" id="{7D0F7F05-D0B9-41C5-945B-266EA8B7C3F4}"/>
                  </a:ext>
                </a:extLst>
              </p:cNvPr>
              <p:cNvSpPr>
                <a:spLocks noGrp="1" noRot="1" noChangeAspect="1" noMove="1" noResize="1" noEditPoints="1" noAdjustHandles="1" noChangeArrowheads="1" noChangeShapeType="1" noTextEdit="1"/>
              </p:cNvSpPr>
              <p:nvPr>
                <p:ph idx="1"/>
              </p:nvPr>
            </p:nvSpPr>
            <p:spPr>
              <a:xfrm>
                <a:off x="838200" y="1825624"/>
                <a:ext cx="10515600" cy="4667251"/>
              </a:xfrm>
              <a:blipFill>
                <a:blip r:embed="rId2"/>
                <a:stretch>
                  <a:fillRect l="-844" t="-2981" b="-623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A317777-F89F-4D8A-8F64-0E8E08BCCD49}"/>
              </a:ext>
            </a:extLst>
          </p:cNvPr>
          <p:cNvSpPr>
            <a:spLocks noGrp="1"/>
          </p:cNvSpPr>
          <p:nvPr>
            <p:ph type="sldNum" sz="quarter" idx="12"/>
          </p:nvPr>
        </p:nvSpPr>
        <p:spPr/>
        <p:txBody>
          <a:bodyPr/>
          <a:lstStyle/>
          <a:p>
            <a:fld id="{4698AAF4-35A4-40F4-A7AE-C8E2C41B9252}" type="slidenum">
              <a:rPr lang="en-US" smtClean="0"/>
              <a:t>66</a:t>
            </a:fld>
            <a:endParaRPr lang="en-US"/>
          </a:p>
        </p:txBody>
      </p:sp>
    </p:spTree>
    <p:extLst>
      <p:ext uri="{BB962C8B-B14F-4D97-AF65-F5344CB8AC3E}">
        <p14:creationId xmlns:p14="http://schemas.microsoft.com/office/powerpoint/2010/main" val="3169132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in Difference estimation tips</a:t>
            </a:r>
          </a:p>
        </p:txBody>
      </p:sp>
      <p:sp>
        <p:nvSpPr>
          <p:cNvPr id="3" name="Content Placeholder 2"/>
          <p:cNvSpPr>
            <a:spLocks noGrp="1"/>
          </p:cNvSpPr>
          <p:nvPr>
            <p:ph idx="1"/>
          </p:nvPr>
        </p:nvSpPr>
        <p:spPr>
          <a:xfrm>
            <a:off x="838200" y="1825625"/>
            <a:ext cx="10515600" cy="4895850"/>
          </a:xfrm>
        </p:spPr>
        <p:txBody>
          <a:bodyPr>
            <a:normAutofit fontScale="70000" lnSpcReduction="20000"/>
          </a:bodyPr>
          <a:lstStyle/>
          <a:p>
            <a:r>
              <a:rPr lang="en-US" dirty="0">
                <a:effectLst/>
                <a:latin typeface="Calibri" panose="020F0502020204030204" pitchFamily="34" charset="0"/>
                <a:cs typeface="Calibri" panose="020F0502020204030204" pitchFamily="34" charset="0"/>
              </a:rPr>
              <a:t>Show lots of figures</a:t>
            </a:r>
          </a:p>
          <a:p>
            <a:pPr lvl="1"/>
            <a:r>
              <a:rPr lang="en-US" dirty="0">
                <a:effectLst/>
                <a:latin typeface="Calibri" panose="020F0502020204030204" pitchFamily="34" charset="0"/>
                <a:cs typeface="Calibri" panose="020F0502020204030204" pitchFamily="34" charset="0"/>
              </a:rPr>
              <a:t>Most reviewers want to see evidence of parallel pre-trends</a:t>
            </a:r>
          </a:p>
          <a:p>
            <a:pPr lvl="1"/>
            <a:r>
              <a:rPr lang="en-US" dirty="0">
                <a:effectLst/>
                <a:latin typeface="Calibri" panose="020F0502020204030204" pitchFamily="34" charset="0"/>
                <a:cs typeface="Calibri" panose="020F0502020204030204" pitchFamily="34" charset="0"/>
              </a:rPr>
              <a:t>Event study can be a nice way to show this</a:t>
            </a:r>
          </a:p>
          <a:p>
            <a:r>
              <a:rPr lang="en-US" dirty="0">
                <a:effectLst/>
                <a:latin typeface="Calibri" panose="020F0502020204030204" pitchFamily="34" charset="0"/>
                <a:cs typeface="Calibri" panose="020F0502020204030204" pitchFamily="34" charset="0"/>
              </a:rPr>
              <a:t>Carefully consider seasonality</a:t>
            </a:r>
          </a:p>
          <a:p>
            <a:r>
              <a:rPr lang="en-US" dirty="0">
                <a:effectLst/>
                <a:latin typeface="Calibri" panose="020F0502020204030204" pitchFamily="34" charset="0"/>
                <a:cs typeface="Calibri" panose="020F0502020204030204" pitchFamily="34" charset="0"/>
              </a:rPr>
              <a:t>Standard errors should be clustered at the level of “treatment”</a:t>
            </a:r>
          </a:p>
          <a:p>
            <a:r>
              <a:rPr lang="en-US" dirty="0">
                <a:effectLst/>
                <a:latin typeface="Calibri" panose="020F0502020204030204" pitchFamily="34" charset="0"/>
                <a:cs typeface="Calibri" panose="020F0502020204030204" pitchFamily="34" charset="0"/>
              </a:rPr>
              <a:t>Demonstrate no major differential compositional changes in population of treatment </a:t>
            </a:r>
            <a:r>
              <a:rPr lang="en-US" dirty="0">
                <a:latin typeface="Calibri" panose="020F0502020204030204" pitchFamily="34" charset="0"/>
                <a:cs typeface="Calibri" panose="020F0502020204030204" pitchFamily="34" charset="0"/>
              </a:rPr>
              <a:t>or control in post period</a:t>
            </a:r>
          </a:p>
          <a:p>
            <a:r>
              <a:rPr lang="en-US" dirty="0">
                <a:effectLst/>
                <a:latin typeface="Calibri" panose="020F0502020204030204" pitchFamily="34" charset="0"/>
                <a:cs typeface="Calibri" panose="020F0502020204030204" pitchFamily="34" charset="0"/>
              </a:rPr>
              <a:t>Do placebo/falsification tests </a:t>
            </a:r>
          </a:p>
          <a:p>
            <a:pPr lvl="1"/>
            <a:r>
              <a:rPr lang="en-US" dirty="0">
                <a:latin typeface="Calibri" panose="020F0502020204030204" pitchFamily="34" charset="0"/>
                <a:cs typeface="Calibri" panose="020F0502020204030204" pitchFamily="34" charset="0"/>
              </a:rPr>
              <a:t>F</a:t>
            </a:r>
            <a:r>
              <a:rPr lang="en-US" dirty="0">
                <a:effectLst/>
                <a:latin typeface="Calibri" panose="020F0502020204030204" pitchFamily="34" charset="0"/>
                <a:cs typeface="Calibri" panose="020F0502020204030204" pitchFamily="34" charset="0"/>
              </a:rPr>
              <a:t>ake time period for policy introduction</a:t>
            </a:r>
          </a:p>
          <a:p>
            <a:pPr lvl="1"/>
            <a:r>
              <a:rPr lang="en-US" dirty="0">
                <a:effectLst/>
                <a:latin typeface="Calibri" panose="020F0502020204030204" pitchFamily="34" charset="0"/>
                <a:cs typeface="Calibri" panose="020F0502020204030204" pitchFamily="34" charset="0"/>
              </a:rPr>
              <a:t>Outcome that shouldn’t be affected by treatment</a:t>
            </a:r>
          </a:p>
          <a:p>
            <a:r>
              <a:rPr lang="en-US" dirty="0">
                <a:effectLst/>
                <a:latin typeface="Calibri" panose="020F0502020204030204" pitchFamily="34" charset="0"/>
                <a:cs typeface="Calibri" panose="020F0502020204030204" pitchFamily="34" charset="0"/>
              </a:rPr>
              <a:t>Show impact estimates with and without controls </a:t>
            </a:r>
          </a:p>
          <a:p>
            <a:pPr lvl="1"/>
            <a:r>
              <a:rPr lang="en-US" dirty="0">
                <a:latin typeface="Calibri" panose="020F0502020204030204" pitchFamily="34" charset="0"/>
                <a:cs typeface="Calibri" panose="020F0502020204030204" pitchFamily="34" charset="0"/>
              </a:rPr>
              <a:t>C</a:t>
            </a:r>
            <a:r>
              <a:rPr lang="en-US" dirty="0">
                <a:effectLst/>
                <a:latin typeface="Calibri" panose="020F0502020204030204" pitchFamily="34" charset="0"/>
                <a:cs typeface="Calibri" panose="020F0502020204030204" pitchFamily="34" charset="0"/>
              </a:rPr>
              <a:t>ontrols only need to be group*time varying (all others will fall out because of group and time fixed effects) </a:t>
            </a:r>
          </a:p>
          <a:p>
            <a:pPr lvl="1"/>
            <a:r>
              <a:rPr lang="en-US" dirty="0">
                <a:effectLst/>
                <a:latin typeface="Calibri" panose="020F0502020204030204" pitchFamily="34" charset="0"/>
                <a:cs typeface="Calibri" panose="020F0502020204030204" pitchFamily="34" charset="0"/>
              </a:rPr>
              <a:t>Ideal to control for other programs that might have influenced outcome and show that the impact estimate doesn’t change</a:t>
            </a:r>
          </a:p>
          <a:p>
            <a:r>
              <a:rPr lang="en-US" dirty="0">
                <a:latin typeface="Calibri" panose="020F0502020204030204" pitchFamily="34" charset="0"/>
                <a:cs typeface="Calibri" panose="020F0502020204030204" pitchFamily="34" charset="0"/>
              </a:rPr>
              <a:t>BUT – don’t throw in a kitchen sink of controls </a:t>
            </a:r>
          </a:p>
          <a:p>
            <a:pPr lvl="1"/>
            <a:r>
              <a:rPr lang="en-US" dirty="0">
                <a:effectLst/>
                <a:latin typeface="Calibri" panose="020F0502020204030204" pitchFamily="34" charset="0"/>
                <a:cs typeface="Calibri" panose="020F0502020204030204" pitchFamily="34" charset="0"/>
              </a:rPr>
              <a:t>If you “control” for things that are on the pathway of the treatment the results can be confusing and misleading</a:t>
            </a:r>
          </a:p>
          <a:p>
            <a:pPr lvl="1"/>
            <a:endParaRPr lang="en-US"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4698AAF4-35A4-40F4-A7AE-C8E2C41B9252}" type="slidenum">
              <a:rPr lang="en-US" smtClean="0"/>
              <a:t>67</a:t>
            </a:fld>
            <a:endParaRPr lang="en-US"/>
          </a:p>
        </p:txBody>
      </p:sp>
    </p:spTree>
    <p:extLst>
      <p:ext uri="{BB962C8B-B14F-4D97-AF65-F5344CB8AC3E}">
        <p14:creationId xmlns:p14="http://schemas.microsoft.com/office/powerpoint/2010/main" val="1643153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9299A-E504-4745-B731-5EE107A3E5EC}"/>
              </a:ext>
            </a:extLst>
          </p:cNvPr>
          <p:cNvSpPr>
            <a:spLocks noGrp="1"/>
          </p:cNvSpPr>
          <p:nvPr>
            <p:ph type="title"/>
          </p:nvPr>
        </p:nvSpPr>
        <p:spPr/>
        <p:txBody>
          <a:bodyPr/>
          <a:lstStyle/>
          <a:p>
            <a:r>
              <a:rPr lang="en-US" dirty="0"/>
              <a:t>Difference-in-Differences vs. Interrupted Time Series</a:t>
            </a:r>
          </a:p>
        </p:txBody>
      </p:sp>
      <p:sp>
        <p:nvSpPr>
          <p:cNvPr id="3" name="Content Placeholder 2">
            <a:extLst>
              <a:ext uri="{FF2B5EF4-FFF2-40B4-BE49-F238E27FC236}">
                <a16:creationId xmlns:a16="http://schemas.microsoft.com/office/drawing/2014/main" id="{4DD8B1E4-CA6C-47A9-97AC-26D32AD19B92}"/>
              </a:ext>
            </a:extLst>
          </p:cNvPr>
          <p:cNvSpPr>
            <a:spLocks noGrp="1"/>
          </p:cNvSpPr>
          <p:nvPr>
            <p:ph idx="1"/>
          </p:nvPr>
        </p:nvSpPr>
        <p:spPr>
          <a:xfrm>
            <a:off x="838200" y="1825624"/>
            <a:ext cx="10515600" cy="4895851"/>
          </a:xfrm>
        </p:spPr>
        <p:txBody>
          <a:bodyPr>
            <a:normAutofit fontScale="92500" lnSpcReduction="20000"/>
          </a:bodyPr>
          <a:lstStyle/>
          <a:p>
            <a:r>
              <a:rPr lang="en-US" i="1" dirty="0"/>
              <a:t>Conceptually similar</a:t>
            </a:r>
            <a:r>
              <a:rPr lang="en-US" dirty="0"/>
              <a:t>: both used to estimate the effect of group level interventions by creating a counterfactual; what would have happened without the intervention</a:t>
            </a:r>
          </a:p>
          <a:p>
            <a:endParaRPr lang="en-US" dirty="0"/>
          </a:p>
          <a:p>
            <a:r>
              <a:rPr lang="en-US" i="1" dirty="0"/>
              <a:t>Structural differences</a:t>
            </a:r>
          </a:p>
          <a:p>
            <a:pPr lvl="1"/>
            <a:r>
              <a:rPr lang="en-US" dirty="0"/>
              <a:t>ITS uses aggregated data with one treated area time series whereas Difference-in-Differences usually keeps the data at the individual level and adjusts for within-group correlation.</a:t>
            </a:r>
          </a:p>
          <a:p>
            <a:pPr lvl="1"/>
            <a:r>
              <a:rPr lang="en-US" dirty="0"/>
              <a:t>ITS has one treatment group (and one control group in CITS) while Difference-in-Differences works well with multiple treated and control groups</a:t>
            </a:r>
          </a:p>
          <a:p>
            <a:pPr lvl="1"/>
            <a:r>
              <a:rPr lang="en-US" dirty="0"/>
              <a:t>ITS fits a (usually linear) time trend and extrapolates counterfactual whereas Difference-in-Differences uses time fixed effects and uses control group to generate counterfactual</a:t>
            </a:r>
          </a:p>
          <a:p>
            <a:pPr lvl="1"/>
            <a:r>
              <a:rPr lang="en-US" dirty="0"/>
              <a:t>ITS will be favored when change is expected to be immediate and large. </a:t>
            </a:r>
            <a:r>
              <a:rPr lang="en-US" dirty="0" err="1"/>
              <a:t>DiD</a:t>
            </a:r>
            <a:r>
              <a:rPr lang="en-US" dirty="0"/>
              <a:t> methods are better for changes that may be more subtle or phase in over time</a:t>
            </a:r>
          </a:p>
          <a:p>
            <a:pPr lvl="2"/>
            <a:r>
              <a:rPr lang="en-US" dirty="0"/>
              <a:t>Both methods are flexible – add some trends to a </a:t>
            </a:r>
            <a:r>
              <a:rPr lang="en-US" dirty="0" err="1"/>
              <a:t>DiD</a:t>
            </a:r>
            <a:r>
              <a:rPr lang="en-US" dirty="0"/>
              <a:t> and make an ITS post-period more non-parametric and the methods actually converge (Fry et al Birds of a Feather)</a:t>
            </a:r>
          </a:p>
          <a:p>
            <a:endParaRPr lang="en-US" dirty="0"/>
          </a:p>
        </p:txBody>
      </p:sp>
      <p:sp>
        <p:nvSpPr>
          <p:cNvPr id="4" name="Slide Number Placeholder 3">
            <a:extLst>
              <a:ext uri="{FF2B5EF4-FFF2-40B4-BE49-F238E27FC236}">
                <a16:creationId xmlns:a16="http://schemas.microsoft.com/office/drawing/2014/main" id="{1E5AFCD8-1A7B-4057-A531-E717BC3B43B8}"/>
              </a:ext>
            </a:extLst>
          </p:cNvPr>
          <p:cNvSpPr>
            <a:spLocks noGrp="1"/>
          </p:cNvSpPr>
          <p:nvPr>
            <p:ph type="sldNum" sz="quarter" idx="12"/>
          </p:nvPr>
        </p:nvSpPr>
        <p:spPr/>
        <p:txBody>
          <a:bodyPr/>
          <a:lstStyle/>
          <a:p>
            <a:fld id="{4698AAF4-35A4-40F4-A7AE-C8E2C41B9252}" type="slidenum">
              <a:rPr lang="en-US" smtClean="0"/>
              <a:t>68</a:t>
            </a:fld>
            <a:endParaRPr lang="en-US"/>
          </a:p>
        </p:txBody>
      </p:sp>
    </p:spTree>
    <p:extLst>
      <p:ext uri="{BB962C8B-B14F-4D97-AF65-F5344CB8AC3E}">
        <p14:creationId xmlns:p14="http://schemas.microsoft.com/office/powerpoint/2010/main" val="167354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Continuous development of methods</a:t>
            </a:r>
          </a:p>
        </p:txBody>
      </p:sp>
      <p:sp>
        <p:nvSpPr>
          <p:cNvPr id="3" name="Content Placeholder 2"/>
          <p:cNvSpPr>
            <a:spLocks noGrp="1"/>
          </p:cNvSpPr>
          <p:nvPr>
            <p:ph idx="1"/>
          </p:nvPr>
        </p:nvSpPr>
        <p:spPr>
          <a:xfrm>
            <a:off x="838200" y="1334278"/>
            <a:ext cx="10515600" cy="5387197"/>
          </a:xfrm>
        </p:spPr>
        <p:txBody>
          <a:bodyPr>
            <a:normAutofit fontScale="92500" lnSpcReduction="10000"/>
          </a:bodyPr>
          <a:lstStyle/>
          <a:p>
            <a:r>
              <a:rPr lang="en-US" dirty="0"/>
              <a:t>The literature on each method advances rapidly over time</a:t>
            </a:r>
          </a:p>
          <a:p>
            <a:r>
              <a:rPr lang="en-US" dirty="0"/>
              <a:t>New sources of bias always being discovered!</a:t>
            </a:r>
          </a:p>
          <a:p>
            <a:r>
              <a:rPr lang="en-US" dirty="0"/>
              <a:t>Valid confidence intervals</a:t>
            </a:r>
          </a:p>
          <a:p>
            <a:pPr lvl="1"/>
            <a:r>
              <a:rPr lang="en-US" dirty="0"/>
              <a:t>Constructing valid confidence intervals requires additional assumption to those needed for having valid (consistent) estimates </a:t>
            </a:r>
          </a:p>
          <a:p>
            <a:pPr lvl="1"/>
            <a:r>
              <a:rPr lang="en-US" dirty="0"/>
              <a:t>Robust standard errors, clustering, small sample corrections (i.e. bootstrapping) relax additional assumptions needed for valid standard errors</a:t>
            </a:r>
          </a:p>
          <a:p>
            <a:r>
              <a:rPr lang="en-US" dirty="0"/>
              <a:t>Different estimation techniques</a:t>
            </a:r>
          </a:p>
          <a:p>
            <a:pPr lvl="1"/>
            <a:r>
              <a:rPr lang="en-US" dirty="0"/>
              <a:t>Minimize errors, maximum likelihood, method of moments (see extra slides for more)</a:t>
            </a:r>
          </a:p>
          <a:p>
            <a:pPr lvl="1"/>
            <a:r>
              <a:rPr lang="en-US" dirty="0"/>
              <a:t>Can have slightly different assumptions</a:t>
            </a:r>
          </a:p>
          <a:p>
            <a:pPr lvl="1"/>
            <a:r>
              <a:rPr lang="en-US" dirty="0"/>
              <a:t>Monte Carlo studies of method performance </a:t>
            </a:r>
          </a:p>
          <a:p>
            <a:r>
              <a:rPr lang="en-US" dirty="0"/>
              <a:t>Better algorithms for estimating coefficients</a:t>
            </a:r>
          </a:p>
          <a:p>
            <a:pPr lvl="1"/>
            <a:r>
              <a:rPr lang="en-US" dirty="0"/>
              <a:t>Faster computers allow brute force approach without assumptions to speed computation</a:t>
            </a:r>
          </a:p>
          <a:p>
            <a:pPr marL="457200" lvl="1" indent="0">
              <a:buNone/>
            </a:pPr>
            <a:endParaRPr lang="en-US" dirty="0">
              <a:solidFill>
                <a:srgbClr val="FF0000"/>
              </a:solidFill>
            </a:endParaRPr>
          </a:p>
        </p:txBody>
      </p:sp>
      <p:sp>
        <p:nvSpPr>
          <p:cNvPr id="4" name="Slide Number Placeholder 3">
            <a:extLst>
              <a:ext uri="{FF2B5EF4-FFF2-40B4-BE49-F238E27FC236}">
                <a16:creationId xmlns:a16="http://schemas.microsoft.com/office/drawing/2014/main" id="{AFACE643-F194-4BB7-AD5C-313FD9016B21}"/>
              </a:ext>
            </a:extLst>
          </p:cNvPr>
          <p:cNvSpPr>
            <a:spLocks noGrp="1"/>
          </p:cNvSpPr>
          <p:nvPr>
            <p:ph type="sldNum" sz="quarter" idx="12"/>
          </p:nvPr>
        </p:nvSpPr>
        <p:spPr/>
        <p:txBody>
          <a:bodyPr/>
          <a:lstStyle/>
          <a:p>
            <a:fld id="{4698AAF4-35A4-40F4-A7AE-C8E2C41B9252}" type="slidenum">
              <a:rPr lang="en-US" smtClean="0"/>
              <a:t>69</a:t>
            </a:fld>
            <a:endParaRPr lang="en-US"/>
          </a:p>
        </p:txBody>
      </p:sp>
    </p:spTree>
    <p:extLst>
      <p:ext uri="{BB962C8B-B14F-4D97-AF65-F5344CB8AC3E}">
        <p14:creationId xmlns:p14="http://schemas.microsoft.com/office/powerpoint/2010/main" val="1348798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ECD9A-DF72-8F09-747A-29A0C8A51901}"/>
              </a:ext>
            </a:extLst>
          </p:cNvPr>
          <p:cNvSpPr>
            <a:spLocks noGrp="1"/>
          </p:cNvSpPr>
          <p:nvPr>
            <p:ph type="title"/>
          </p:nvPr>
        </p:nvSpPr>
        <p:spPr/>
        <p:txBody>
          <a:bodyPr/>
          <a:lstStyle/>
          <a:p>
            <a:r>
              <a:rPr lang="en-US" dirty="0"/>
              <a:t>Final thoughts</a:t>
            </a:r>
          </a:p>
        </p:txBody>
      </p:sp>
      <p:sp>
        <p:nvSpPr>
          <p:cNvPr id="3" name="Content Placeholder 2">
            <a:extLst>
              <a:ext uri="{FF2B5EF4-FFF2-40B4-BE49-F238E27FC236}">
                <a16:creationId xmlns:a16="http://schemas.microsoft.com/office/drawing/2014/main" id="{E9CB34E3-6D68-D633-54B8-F3C95177DFB1}"/>
              </a:ext>
            </a:extLst>
          </p:cNvPr>
          <p:cNvSpPr>
            <a:spLocks noGrp="1"/>
          </p:cNvSpPr>
          <p:nvPr>
            <p:ph idx="1"/>
          </p:nvPr>
        </p:nvSpPr>
        <p:spPr/>
        <p:txBody>
          <a:bodyPr/>
          <a:lstStyle/>
          <a:p>
            <a:r>
              <a:rPr lang="en-US" dirty="0"/>
              <a:t>Econometrics provides great tools for thinking about causal questions</a:t>
            </a:r>
          </a:p>
          <a:p>
            <a:endParaRPr lang="en-US" dirty="0"/>
          </a:p>
          <a:p>
            <a:r>
              <a:rPr lang="en-US" dirty="0"/>
              <a:t>Using them often means narrowing your window of inquiry</a:t>
            </a:r>
          </a:p>
          <a:p>
            <a:pPr lvl="1"/>
            <a:r>
              <a:rPr lang="en-US" dirty="0"/>
              <a:t>Not – what is going on with the relationship between housing and health</a:t>
            </a:r>
          </a:p>
          <a:p>
            <a:pPr lvl="1"/>
            <a:r>
              <a:rPr lang="en-US" dirty="0"/>
              <a:t>But – what is the impact of specific housing policy x on health outcome Y</a:t>
            </a:r>
          </a:p>
          <a:p>
            <a:pPr lvl="2"/>
            <a:r>
              <a:rPr lang="en-US" dirty="0"/>
              <a:t>Pros: we get very specific about our assumptions, we can feel somewhat confident about the internal validity of our results</a:t>
            </a:r>
          </a:p>
          <a:p>
            <a:pPr lvl="2"/>
            <a:r>
              <a:rPr lang="en-US" dirty="0"/>
              <a:t>Cons: we aren’t always talking about the things that matter most to equity/outcomes</a:t>
            </a:r>
          </a:p>
          <a:p>
            <a:pPr lvl="1"/>
            <a:endParaRPr lang="en-US" dirty="0"/>
          </a:p>
        </p:txBody>
      </p:sp>
    </p:spTree>
    <p:extLst>
      <p:ext uri="{BB962C8B-B14F-4D97-AF65-F5344CB8AC3E}">
        <p14:creationId xmlns:p14="http://schemas.microsoft.com/office/powerpoint/2010/main" val="554425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10126</TotalTime>
  <Words>5495</Words>
  <Application>Microsoft Macintosh PowerPoint</Application>
  <PresentationFormat>Widescreen</PresentationFormat>
  <Paragraphs>576</Paragraphs>
  <Slides>70</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70</vt:i4>
      </vt:variant>
    </vt:vector>
  </HeadingPairs>
  <TitlesOfParts>
    <vt:vector size="78" baseType="lpstr">
      <vt:lpstr>Andes</vt:lpstr>
      <vt:lpstr>Arial</vt:lpstr>
      <vt:lpstr>Calibri</vt:lpstr>
      <vt:lpstr>Calibri Light</vt:lpstr>
      <vt:lpstr>Cambria Math</vt:lpstr>
      <vt:lpstr>system-ui</vt:lpstr>
      <vt:lpstr>Wingdings</vt:lpstr>
      <vt:lpstr>Office Theme</vt:lpstr>
      <vt:lpstr>Econometrics Review: PHS 2000B</vt:lpstr>
      <vt:lpstr>Plan of presentation</vt:lpstr>
      <vt:lpstr>Synthetic control -- Intuition </vt:lpstr>
      <vt:lpstr>Synthetic control – How it works</vt:lpstr>
      <vt:lpstr>Diff-in-diff – Synthetic control</vt:lpstr>
      <vt:lpstr>Overfitting and Validation</vt:lpstr>
      <vt:lpstr>Hypothesis testing</vt:lpstr>
      <vt:lpstr>Assumptions for Synthetic control methods </vt:lpstr>
      <vt:lpstr>Example</vt:lpstr>
      <vt:lpstr>Synthetic Control Example</vt:lpstr>
      <vt:lpstr>Synthetic Control Example</vt:lpstr>
      <vt:lpstr>Synthetic control example</vt:lpstr>
      <vt:lpstr>Synthetic control example – event study</vt:lpstr>
      <vt:lpstr>ITS and Synthetic Control example</vt:lpstr>
      <vt:lpstr>Synthetic Weights</vt:lpstr>
      <vt:lpstr>PowerPoint Presentation</vt:lpstr>
      <vt:lpstr>Summary – Synthetic Control</vt:lpstr>
      <vt:lpstr>Example</vt:lpstr>
      <vt:lpstr>Synthetic Control Example</vt:lpstr>
      <vt:lpstr>Synthetic Control Example</vt:lpstr>
      <vt:lpstr>Synthetic control example</vt:lpstr>
      <vt:lpstr>Synthetic control example – event study</vt:lpstr>
      <vt:lpstr>ITS and Synthetic Control example</vt:lpstr>
      <vt:lpstr>Synthetic Weights</vt:lpstr>
      <vt:lpstr>PowerPoint Presentation</vt:lpstr>
      <vt:lpstr>Summary – Synthetic Control</vt:lpstr>
      <vt:lpstr>Review: Econometrics</vt:lpstr>
      <vt:lpstr>What is the point of econometrics?</vt:lpstr>
      <vt:lpstr>Econometrics: focus on internal validity</vt:lpstr>
      <vt:lpstr>Internal validity</vt:lpstr>
      <vt:lpstr>External validity</vt:lpstr>
      <vt:lpstr>Improving Internal and External Validity</vt:lpstr>
      <vt:lpstr>Rationale – quasi-experimental studies</vt:lpstr>
      <vt:lpstr>PowerPoint Presentation</vt:lpstr>
      <vt:lpstr>Learning to use a method</vt:lpstr>
      <vt:lpstr>Instrumental variables recap</vt:lpstr>
      <vt:lpstr>When does this work?</vt:lpstr>
      <vt:lpstr>Condition 1: Relevance </vt:lpstr>
      <vt:lpstr>Conditions 2/3: Excludability/Independence</vt:lpstr>
      <vt:lpstr>Local Average Treatment Effect (LATE)</vt:lpstr>
      <vt:lpstr>Heterogeneity of effect and the  Local Average Treatment Effect (LATE)</vt:lpstr>
      <vt:lpstr>Terminology</vt:lpstr>
      <vt:lpstr>Examples: instruments</vt:lpstr>
      <vt:lpstr>Regression Discontinuity</vt:lpstr>
      <vt:lpstr>Under what conditions can we estimate RDD?</vt:lpstr>
      <vt:lpstr>What assumptions required for RDD to be valid? </vt:lpstr>
      <vt:lpstr>RDD, RCTs, and IV estimation</vt:lpstr>
      <vt:lpstr>The critical threshold</vt:lpstr>
      <vt:lpstr>Sharp discontinuities vs. fuzzy discontinuities</vt:lpstr>
      <vt:lpstr>Assessment of Validity of RDD</vt:lpstr>
      <vt:lpstr>Practical Tips: Assessing the Validity of RDD</vt:lpstr>
      <vt:lpstr>IV vs. RDD</vt:lpstr>
      <vt:lpstr>Strength of RDDs</vt:lpstr>
      <vt:lpstr>Interrupted Time Series</vt:lpstr>
      <vt:lpstr>Logic of interrupted time series analysis</vt:lpstr>
      <vt:lpstr>ITS counterfactual </vt:lpstr>
      <vt:lpstr>ITS specification</vt:lpstr>
      <vt:lpstr>Interpretation of coefficients</vt:lpstr>
      <vt:lpstr>Challenge: Getting the timing right</vt:lpstr>
      <vt:lpstr>Specifying the impact model</vt:lpstr>
      <vt:lpstr>Difference in Differences</vt:lpstr>
      <vt:lpstr>Difference-in-Differences logic</vt:lpstr>
      <vt:lpstr>Difference in difference</vt:lpstr>
      <vt:lpstr>Key assumptions: Counterfactual</vt:lpstr>
      <vt:lpstr>Multiple groups and time periods</vt:lpstr>
      <vt:lpstr>Multiple groups and time periods</vt:lpstr>
      <vt:lpstr>Difference in Difference estimation tips</vt:lpstr>
      <vt:lpstr>Difference-in-Differences vs. Interrupted Time Series</vt:lpstr>
      <vt:lpstr>Continuous development of methods</vt:lpstr>
      <vt:lpstr>Final thoughts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Review</dc:title>
  <dc:creator>Aayush Khadka</dc:creator>
  <cp:lastModifiedBy>McConnell, Margaret Anne</cp:lastModifiedBy>
  <cp:revision>217</cp:revision>
  <dcterms:created xsi:type="dcterms:W3CDTF">2019-04-18T12:58:23Z</dcterms:created>
  <dcterms:modified xsi:type="dcterms:W3CDTF">2026-04-13T14:02:12Z</dcterms:modified>
</cp:coreProperties>
</file>