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2"/>
  </p:notesMasterIdLst>
  <p:sldIdLst>
    <p:sldId id="256" r:id="rId2"/>
    <p:sldId id="478" r:id="rId3"/>
    <p:sldId id="513" r:id="rId4"/>
    <p:sldId id="514" r:id="rId5"/>
    <p:sldId id="515" r:id="rId6"/>
    <p:sldId id="563" r:id="rId7"/>
    <p:sldId id="564" r:id="rId8"/>
    <p:sldId id="517" r:id="rId9"/>
    <p:sldId id="518" r:id="rId10"/>
    <p:sldId id="560" r:id="rId11"/>
    <p:sldId id="559" r:id="rId12"/>
    <p:sldId id="519" r:id="rId13"/>
    <p:sldId id="565" r:id="rId14"/>
    <p:sldId id="521" r:id="rId15"/>
    <p:sldId id="584" r:id="rId16"/>
    <p:sldId id="598" r:id="rId17"/>
    <p:sldId id="599" r:id="rId18"/>
    <p:sldId id="522" r:id="rId19"/>
    <p:sldId id="582" r:id="rId20"/>
    <p:sldId id="583" r:id="rId21"/>
    <p:sldId id="600" r:id="rId22"/>
    <p:sldId id="523" r:id="rId23"/>
    <p:sldId id="524" r:id="rId24"/>
    <p:sldId id="525" r:id="rId25"/>
    <p:sldId id="528" r:id="rId26"/>
    <p:sldId id="601" r:id="rId27"/>
    <p:sldId id="529" r:id="rId28"/>
    <p:sldId id="597" r:id="rId29"/>
    <p:sldId id="531" r:id="rId30"/>
    <p:sldId id="568" r:id="rId31"/>
    <p:sldId id="558" r:id="rId32"/>
    <p:sldId id="540" r:id="rId33"/>
    <p:sldId id="566" r:id="rId34"/>
    <p:sldId id="592" r:id="rId35"/>
    <p:sldId id="546" r:id="rId36"/>
    <p:sldId id="596" r:id="rId37"/>
    <p:sldId id="530" r:id="rId38"/>
    <p:sldId id="590" r:id="rId39"/>
    <p:sldId id="539" r:id="rId40"/>
    <p:sldId id="541" r:id="rId41"/>
    <p:sldId id="542" r:id="rId42"/>
    <p:sldId id="543" r:id="rId43"/>
    <p:sldId id="554" r:id="rId44"/>
    <p:sldId id="547" r:id="rId45"/>
    <p:sldId id="548" r:id="rId46"/>
    <p:sldId id="556" r:id="rId47"/>
    <p:sldId id="555" r:id="rId48"/>
    <p:sldId id="550" r:id="rId49"/>
    <p:sldId id="551" r:id="rId50"/>
    <p:sldId id="552"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671" autoAdjust="0"/>
    <p:restoredTop sz="94660"/>
  </p:normalViewPr>
  <p:slideViewPr>
    <p:cSldViewPr snapToGrid="0">
      <p:cViewPr varScale="1">
        <p:scale>
          <a:sx n="104" d="100"/>
          <a:sy n="104" d="100"/>
        </p:scale>
        <p:origin x="216" y="60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1F1B01-D058-49E0-9A3D-303879822D61}" type="datetimeFigureOut">
              <a:rPr lang="en-US" smtClean="0"/>
              <a:t>3/29/26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B0480-EA9E-4AEB-AFD3-F76844A6F321}" type="slidenum">
              <a:rPr lang="en-US" smtClean="0"/>
              <a:t>‹#›</a:t>
            </a:fld>
            <a:endParaRPr lang="en-US"/>
          </a:p>
        </p:txBody>
      </p:sp>
    </p:spTree>
    <p:extLst>
      <p:ext uri="{BB962C8B-B14F-4D97-AF65-F5344CB8AC3E}">
        <p14:creationId xmlns:p14="http://schemas.microsoft.com/office/powerpoint/2010/main" val="2743886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1CAD397-B5BB-4023-976E-38841C0C4C36}" type="datetime1">
              <a:rPr lang="en-US" smtClean="0"/>
              <a:t>3/29/26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814801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C66506-50EE-42DB-AEE2-8995A27B0E7B}" type="datetime1">
              <a:rPr lang="en-US" smtClean="0"/>
              <a:t>3/29/26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996312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90F182-7112-4762-ADB3-B9B07CE16456}" type="datetime1">
              <a:rPr lang="en-US" smtClean="0"/>
              <a:t>3/29/26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3542590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4787B54-E113-4AE5-BA9B-8C08E4208841}" type="datetime1">
              <a:rPr lang="en-US" smtClean="0"/>
              <a:t>3/29/26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3304195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26881AB-ABCB-4329-91DD-A9BDEFCCE3A2}" type="datetime1">
              <a:rPr lang="en-US" smtClean="0"/>
              <a:t>3/29/26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40800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3EBC82-A260-48AB-AB56-65B58FBE8336}" type="datetime1">
              <a:rPr lang="en-US" smtClean="0"/>
              <a:t>3/29/26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3855509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C4B89A-50D7-4B43-B168-5F3F61B1E14D}" type="datetime1">
              <a:rPr lang="en-US" smtClean="0"/>
              <a:t>3/29/26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1068843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22FAA5-9B88-4678-9A12-FB521DD0B3C4}" type="datetime1">
              <a:rPr lang="en-US" smtClean="0"/>
              <a:t>3/29/26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4247831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80D2BC-C3EF-4EF4-B278-9B996941CEFA}" type="datetime1">
              <a:rPr lang="en-US" smtClean="0"/>
              <a:t>3/29/26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2117350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95992-326D-4B53-BEDD-DBBA090A574A}" type="datetime1">
              <a:rPr lang="en-US" smtClean="0"/>
              <a:t>3/29/26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1144581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614B0B-AF7F-45CA-9C29-5123FC41CEDE}" type="datetime1">
              <a:rPr lang="en-US" smtClean="0"/>
              <a:t>3/29/26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2272813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E3A030-2654-4989-A5C3-93EC9AAF5993}" type="datetime1">
              <a:rPr lang="en-US" smtClean="0"/>
              <a:t>3/29/26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98AAF4-35A4-40F4-A7AE-C8E2C41B9252}" type="slidenum">
              <a:rPr lang="en-US" smtClean="0"/>
              <a:t>‹#›</a:t>
            </a:fld>
            <a:endParaRPr lang="en-US"/>
          </a:p>
        </p:txBody>
      </p:sp>
    </p:spTree>
    <p:extLst>
      <p:ext uri="{BB962C8B-B14F-4D97-AF65-F5344CB8AC3E}">
        <p14:creationId xmlns:p14="http://schemas.microsoft.com/office/powerpoint/2010/main" val="370653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paulgp.github.io/papers/jamainternal_wallace_2021_oi_210037_1626713877.82813.pdf" TargetMode="External"/><Relationship Id="rId2" Type="http://schemas.openxmlformats.org/officeDocument/2006/relationships/hyperlink" Target="https://www.aeaweb.org/articles/pdf/doi/10.1257/pol.3.3.1" TargetMode="External"/><Relationship Id="rId1" Type="http://schemas.openxmlformats.org/officeDocument/2006/relationships/slideLayout" Target="../slideLayouts/slideLayout2.xml"/><Relationship Id="rId4" Type="http://schemas.openxmlformats.org/officeDocument/2006/relationships/hyperlink" Target="https://academic.oup.com/jeea/advance-article/doi/10.1093/jeea/jvad012/7060387"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sciencedirect.com/science/article/pii/S0304407607001133"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mdrc.org/sites/default/files/regression_discontinuity_full.pdf"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3.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18.wmf"/><Relationship Id="rId7" Type="http://schemas.openxmlformats.org/officeDocument/2006/relationships/image" Target="../media/image20.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9.wmf"/><Relationship Id="rId4" Type="http://schemas.openxmlformats.org/officeDocument/2006/relationships/oleObject" Target="../embeddings/oleObject5.bin"/><Relationship Id="rId9" Type="http://schemas.openxmlformats.org/officeDocument/2006/relationships/image" Target="../media/image21.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26.wmf"/><Relationship Id="rId3" Type="http://schemas.openxmlformats.org/officeDocument/2006/relationships/image" Target="../media/image22.wmf"/><Relationship Id="rId7" Type="http://schemas.openxmlformats.org/officeDocument/2006/relationships/image" Target="../media/image24.wmf"/><Relationship Id="rId12" Type="http://schemas.openxmlformats.org/officeDocument/2006/relationships/oleObject" Target="../embeddings/oleObject12.bin"/><Relationship Id="rId17" Type="http://schemas.openxmlformats.org/officeDocument/2006/relationships/image" Target="../media/image28.wmf"/><Relationship Id="rId2" Type="http://schemas.openxmlformats.org/officeDocument/2006/relationships/oleObject" Target="../embeddings/oleObject8.bin"/><Relationship Id="rId16"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0.bin"/><Relationship Id="rId11" Type="http://schemas.openxmlformats.org/officeDocument/2006/relationships/image" Target="../media/image25.wmf"/><Relationship Id="rId5" Type="http://schemas.openxmlformats.org/officeDocument/2006/relationships/image" Target="../media/image23.wmf"/><Relationship Id="rId15" Type="http://schemas.openxmlformats.org/officeDocument/2006/relationships/image" Target="../media/image27.wmf"/><Relationship Id="rId10" Type="http://schemas.openxmlformats.org/officeDocument/2006/relationships/oleObject" Target="../embeddings/oleObject11.bin"/><Relationship Id="rId4" Type="http://schemas.openxmlformats.org/officeDocument/2006/relationships/oleObject" Target="../embeddings/oleObject9.bin"/><Relationship Id="rId9" Type="http://schemas.openxmlformats.org/officeDocument/2006/relationships/image" Target="../media/image21.wmf"/><Relationship Id="rId14" Type="http://schemas.openxmlformats.org/officeDocument/2006/relationships/oleObject" Target="../embeddings/oleObject13.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29.wmf"/><Relationship Id="rId7" Type="http://schemas.openxmlformats.org/officeDocument/2006/relationships/image" Target="../media/image31.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30.wmf"/><Relationship Id="rId4" Type="http://schemas.openxmlformats.org/officeDocument/2006/relationships/oleObject" Target="../embeddings/oleObject16.bin"/><Relationship Id="rId9" Type="http://schemas.openxmlformats.org/officeDocument/2006/relationships/image" Target="../media/image32.wmf"/></Relationships>
</file>

<file path=ppt/slides/_rels/slide49.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PHS 2000 </a:t>
            </a:r>
            <a:br>
              <a:rPr lang="en-US" dirty="0"/>
            </a:br>
            <a:r>
              <a:rPr lang="en-US" dirty="0"/>
              <a:t>Econometric Methods 2025 </a:t>
            </a:r>
            <a:br>
              <a:rPr lang="en-US" dirty="0"/>
            </a:br>
            <a:r>
              <a:rPr lang="en-US" dirty="0"/>
              <a:t>Lecture 3</a:t>
            </a:r>
            <a:br>
              <a:rPr lang="en-US" dirty="0"/>
            </a:br>
            <a:r>
              <a:rPr lang="en-US" dirty="0"/>
              <a:t>Regression Discontinuity Design</a:t>
            </a:r>
          </a:p>
        </p:txBody>
      </p:sp>
      <p:sp>
        <p:nvSpPr>
          <p:cNvPr id="3" name="Subtitle 2"/>
          <p:cNvSpPr>
            <a:spLocks noGrp="1"/>
          </p:cNvSpPr>
          <p:nvPr>
            <p:ph type="subTitle" idx="1"/>
          </p:nvPr>
        </p:nvSpPr>
        <p:spPr>
          <a:xfrm>
            <a:off x="1524000" y="4615543"/>
            <a:ext cx="9144000" cy="1349828"/>
          </a:xfrm>
        </p:spPr>
        <p:txBody>
          <a:bodyPr>
            <a:normAutofit/>
          </a:bodyPr>
          <a:lstStyle/>
          <a:p>
            <a:r>
              <a:rPr lang="en-US" dirty="0"/>
              <a:t>Maggie McConnell</a:t>
            </a:r>
          </a:p>
          <a:p>
            <a:r>
              <a:rPr lang="en-US" dirty="0"/>
              <a:t>Department of Global Health and Population</a:t>
            </a:r>
          </a:p>
          <a:p>
            <a:r>
              <a:rPr lang="en-US" dirty="0"/>
              <a:t>Harvard T. H. Chan School of Public Health</a:t>
            </a:r>
          </a:p>
        </p:txBody>
      </p:sp>
    </p:spTree>
    <p:extLst>
      <p:ext uri="{BB962C8B-B14F-4D97-AF65-F5344CB8AC3E}">
        <p14:creationId xmlns:p14="http://schemas.microsoft.com/office/powerpoint/2010/main" val="1924520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174BD-D56D-477A-8912-82EEC4ED6B5B}"/>
              </a:ext>
            </a:extLst>
          </p:cNvPr>
          <p:cNvSpPr>
            <a:spLocks noGrp="1"/>
          </p:cNvSpPr>
          <p:nvPr>
            <p:ph type="title"/>
          </p:nvPr>
        </p:nvSpPr>
        <p:spPr/>
        <p:txBody>
          <a:bodyPr/>
          <a:lstStyle/>
          <a:p>
            <a:r>
              <a:rPr lang="en-US" dirty="0"/>
              <a:t>Plan of presentation</a:t>
            </a:r>
          </a:p>
        </p:txBody>
      </p:sp>
      <p:sp>
        <p:nvSpPr>
          <p:cNvPr id="3" name="Content Placeholder 2">
            <a:extLst>
              <a:ext uri="{FF2B5EF4-FFF2-40B4-BE49-F238E27FC236}">
                <a16:creationId xmlns:a16="http://schemas.microsoft.com/office/drawing/2014/main" id="{1FFFEA00-08D8-4FF1-80C7-0297A5F0BFFE}"/>
              </a:ext>
            </a:extLst>
          </p:cNvPr>
          <p:cNvSpPr>
            <a:spLocks noGrp="1"/>
          </p:cNvSpPr>
          <p:nvPr>
            <p:ph idx="1"/>
          </p:nvPr>
        </p:nvSpPr>
        <p:spPr/>
        <p:txBody>
          <a:bodyPr>
            <a:normAutofit/>
          </a:bodyPr>
          <a:lstStyle/>
          <a:p>
            <a:pPr marL="514350" indent="-514350">
              <a:buFont typeface="+mj-lt"/>
              <a:buAutoNum type="arabicPeriod"/>
            </a:pPr>
            <a:r>
              <a:rPr lang="en-US" dirty="0"/>
              <a:t>Explaining Regression Discontinuity Designs (RDD)</a:t>
            </a:r>
          </a:p>
          <a:p>
            <a:pPr marL="514350" indent="-514350">
              <a:buFont typeface="+mj-lt"/>
              <a:buAutoNum type="arabicPeriod"/>
            </a:pPr>
            <a:r>
              <a:rPr lang="en-US" dirty="0"/>
              <a:t>Key assumptions</a:t>
            </a:r>
          </a:p>
          <a:p>
            <a:pPr marL="514350" indent="-514350">
              <a:buFont typeface="+mj-lt"/>
              <a:buAutoNum type="arabicPeriod"/>
            </a:pPr>
            <a:r>
              <a:rPr lang="en-US" dirty="0"/>
              <a:t>Testing the assumptions (where possible)</a:t>
            </a:r>
          </a:p>
          <a:p>
            <a:pPr marL="514350" indent="-514350">
              <a:buFont typeface="+mj-lt"/>
              <a:buAutoNum type="arabicPeriod"/>
            </a:pPr>
            <a:r>
              <a:rPr lang="en-US" dirty="0"/>
              <a:t>Model choices in estimation (lots of choices)</a:t>
            </a:r>
          </a:p>
          <a:p>
            <a:pPr marL="514350" indent="-514350">
              <a:buFont typeface="+mj-lt"/>
              <a:buAutoNum type="arabicPeriod"/>
            </a:pPr>
            <a:r>
              <a:rPr lang="en-US" dirty="0"/>
              <a:t>Examples (the importance of pictures)</a:t>
            </a:r>
          </a:p>
          <a:p>
            <a:pPr marL="514350" indent="-514350">
              <a:buFont typeface="+mj-lt"/>
              <a:buAutoNum type="arabicPeriod"/>
            </a:pPr>
            <a:r>
              <a:rPr lang="en-US" dirty="0"/>
              <a:t>Some practical tips</a:t>
            </a:r>
          </a:p>
          <a:p>
            <a:pPr marL="0" indent="0">
              <a:buNone/>
            </a:pPr>
            <a:endParaRPr lang="en-US" dirty="0"/>
          </a:p>
        </p:txBody>
      </p:sp>
      <p:sp>
        <p:nvSpPr>
          <p:cNvPr id="4" name="Slide Number Placeholder 3">
            <a:extLst>
              <a:ext uri="{FF2B5EF4-FFF2-40B4-BE49-F238E27FC236}">
                <a16:creationId xmlns:a16="http://schemas.microsoft.com/office/drawing/2014/main" id="{3CAA4F05-9E5D-415A-8F80-BF59CD751D8C}"/>
              </a:ext>
            </a:extLst>
          </p:cNvPr>
          <p:cNvSpPr>
            <a:spLocks noGrp="1"/>
          </p:cNvSpPr>
          <p:nvPr>
            <p:ph type="sldNum" sz="quarter" idx="12"/>
          </p:nvPr>
        </p:nvSpPr>
        <p:spPr/>
        <p:txBody>
          <a:bodyPr/>
          <a:lstStyle/>
          <a:p>
            <a:fld id="{4698AAF4-35A4-40F4-A7AE-C8E2C41B9252}" type="slidenum">
              <a:rPr lang="en-US" smtClean="0"/>
              <a:t>2</a:t>
            </a:fld>
            <a:endParaRPr lang="en-US"/>
          </a:p>
        </p:txBody>
      </p:sp>
    </p:spTree>
    <p:extLst>
      <p:ext uri="{BB962C8B-B14F-4D97-AF65-F5344CB8AC3E}">
        <p14:creationId xmlns:p14="http://schemas.microsoft.com/office/powerpoint/2010/main" val="2723431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2426-C219-47E6-9B7E-5DC5C7ACB89B}"/>
              </a:ext>
            </a:extLst>
          </p:cNvPr>
          <p:cNvSpPr>
            <a:spLocks noGrp="1"/>
          </p:cNvSpPr>
          <p:nvPr>
            <p:ph type="title"/>
          </p:nvPr>
        </p:nvSpPr>
        <p:spPr/>
        <p:txBody>
          <a:bodyPr/>
          <a:lstStyle/>
          <a:p>
            <a:r>
              <a:rPr lang="en-US" dirty="0"/>
              <a:t>Unobserved variables and observational biases</a:t>
            </a:r>
          </a:p>
        </p:txBody>
      </p:sp>
      <p:sp>
        <p:nvSpPr>
          <p:cNvPr id="3" name="Content Placeholder 2">
            <a:extLst>
              <a:ext uri="{FF2B5EF4-FFF2-40B4-BE49-F238E27FC236}">
                <a16:creationId xmlns:a16="http://schemas.microsoft.com/office/drawing/2014/main" id="{02D122F0-5F2F-4B29-81F1-26EF3AB84520}"/>
              </a:ext>
            </a:extLst>
          </p:cNvPr>
          <p:cNvSpPr>
            <a:spLocks noGrp="1"/>
          </p:cNvSpPr>
          <p:nvPr>
            <p:ph idx="1"/>
          </p:nvPr>
        </p:nvSpPr>
        <p:spPr>
          <a:xfrm>
            <a:off x="838200" y="1825625"/>
            <a:ext cx="10515600" cy="4895850"/>
          </a:xfrm>
        </p:spPr>
        <p:txBody>
          <a:bodyPr>
            <a:normAutofit/>
          </a:bodyPr>
          <a:lstStyle/>
          <a:p>
            <a:r>
              <a:rPr lang="en-US" altLang="en-US" dirty="0"/>
              <a:t>Recap: omitted variable bias, endogeneity can be a big problem in estimating causal effects</a:t>
            </a:r>
          </a:p>
          <a:p>
            <a:endParaRPr lang="en-US" altLang="en-US" dirty="0"/>
          </a:p>
          <a:p>
            <a:r>
              <a:rPr lang="en-US" altLang="en-US" dirty="0"/>
              <a:t>What can we do?</a:t>
            </a:r>
          </a:p>
          <a:p>
            <a:pPr lvl="1"/>
            <a:r>
              <a:rPr lang="en-US" altLang="en-US" dirty="0"/>
              <a:t>RCTs – but RCTs are costly, not always desirable and may not be the right design for questions around local, state or federal policy</a:t>
            </a:r>
          </a:p>
          <a:p>
            <a:pPr lvl="1"/>
            <a:r>
              <a:rPr lang="en-US" altLang="en-US" dirty="0"/>
              <a:t>IV estimation – but good instruments are not easy to find and IV only valid under very strict assumptions and face challenges </a:t>
            </a:r>
          </a:p>
          <a:p>
            <a:pPr lvl="2"/>
            <a:r>
              <a:rPr lang="en-US" altLang="en-US" dirty="0"/>
              <a:t>Many IV design don’t feel likely to have a high degree of external validity</a:t>
            </a:r>
          </a:p>
          <a:p>
            <a:pPr marL="914400" lvl="2" indent="0">
              <a:buNone/>
            </a:pPr>
            <a:endParaRPr lang="en-US" altLang="en-US" dirty="0"/>
          </a:p>
        </p:txBody>
      </p:sp>
      <p:sp>
        <p:nvSpPr>
          <p:cNvPr id="4" name="Slide Number Placeholder 3">
            <a:extLst>
              <a:ext uri="{FF2B5EF4-FFF2-40B4-BE49-F238E27FC236}">
                <a16:creationId xmlns:a16="http://schemas.microsoft.com/office/drawing/2014/main" id="{F5576A63-5E80-4224-82E6-19F1F976E1A4}"/>
              </a:ext>
            </a:extLst>
          </p:cNvPr>
          <p:cNvSpPr>
            <a:spLocks noGrp="1"/>
          </p:cNvSpPr>
          <p:nvPr>
            <p:ph type="sldNum" sz="quarter" idx="12"/>
          </p:nvPr>
        </p:nvSpPr>
        <p:spPr/>
        <p:txBody>
          <a:bodyPr/>
          <a:lstStyle/>
          <a:p>
            <a:fld id="{4698AAF4-35A4-40F4-A7AE-C8E2C41B9252}" type="slidenum">
              <a:rPr lang="en-US" smtClean="0"/>
              <a:t>3</a:t>
            </a:fld>
            <a:endParaRPr lang="en-US"/>
          </a:p>
        </p:txBody>
      </p:sp>
    </p:spTree>
    <p:extLst>
      <p:ext uri="{BB962C8B-B14F-4D97-AF65-F5344CB8AC3E}">
        <p14:creationId xmlns:p14="http://schemas.microsoft.com/office/powerpoint/2010/main" val="140374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0322E-C53B-4DD6-9309-091CC7663EB7}"/>
              </a:ext>
            </a:extLst>
          </p:cNvPr>
          <p:cNvSpPr>
            <a:spLocks noGrp="1"/>
          </p:cNvSpPr>
          <p:nvPr>
            <p:ph type="title"/>
          </p:nvPr>
        </p:nvSpPr>
        <p:spPr/>
        <p:txBody>
          <a:bodyPr/>
          <a:lstStyle/>
          <a:p>
            <a:r>
              <a:rPr lang="en-US" dirty="0"/>
              <a:t>Regression Discontinuity Designs (RDD) -- intuition</a:t>
            </a:r>
          </a:p>
        </p:txBody>
      </p:sp>
      <p:sp>
        <p:nvSpPr>
          <p:cNvPr id="3" name="Content Placeholder 2">
            <a:extLst>
              <a:ext uri="{FF2B5EF4-FFF2-40B4-BE49-F238E27FC236}">
                <a16:creationId xmlns:a16="http://schemas.microsoft.com/office/drawing/2014/main" id="{D15F1026-C754-4649-B29C-E7331B701C44}"/>
              </a:ext>
            </a:extLst>
          </p:cNvPr>
          <p:cNvSpPr>
            <a:spLocks noGrp="1"/>
          </p:cNvSpPr>
          <p:nvPr>
            <p:ph idx="1"/>
          </p:nvPr>
        </p:nvSpPr>
        <p:spPr/>
        <p:txBody>
          <a:bodyPr>
            <a:normAutofit fontScale="92500" lnSpcReduction="10000"/>
          </a:bodyPr>
          <a:lstStyle/>
          <a:p>
            <a:r>
              <a:rPr lang="en-US" altLang="en-US" dirty="0"/>
              <a:t>RDDs: alternative strategy to estimate causal effects in observational data</a:t>
            </a:r>
          </a:p>
          <a:p>
            <a:endParaRPr lang="en-US" altLang="en-US" dirty="0"/>
          </a:p>
          <a:p>
            <a:r>
              <a:rPr lang="en-US" altLang="en-US" dirty="0"/>
              <a:t>The idea is relatively simple: for many variables of interest, institutional rules or laws have generated </a:t>
            </a:r>
            <a:r>
              <a:rPr lang="en-US" altLang="en-US" i="1" dirty="0"/>
              <a:t>arbitrary</a:t>
            </a:r>
            <a:r>
              <a:rPr lang="en-US" altLang="en-US" dirty="0"/>
              <a:t> eligibility criteria, which means that the probability of receiving exposure to a given variable “jumps” at a certain point in a continuous distribution</a:t>
            </a:r>
          </a:p>
          <a:p>
            <a:endParaRPr lang="en-US" altLang="en-US" dirty="0"/>
          </a:p>
          <a:p>
            <a:r>
              <a:rPr lang="en-US" altLang="en-US" dirty="0"/>
              <a:t>These “jumps” or discontinuities provide us with quasi-experimental variation that we can explore to pin down causal effects of interest</a:t>
            </a:r>
          </a:p>
          <a:p>
            <a:endParaRPr lang="en-US" altLang="en-US" dirty="0"/>
          </a:p>
          <a:p>
            <a:r>
              <a:rPr lang="en-US" altLang="en-US" dirty="0"/>
              <a:t>Econometrics by graphs</a:t>
            </a:r>
          </a:p>
        </p:txBody>
      </p:sp>
      <p:sp>
        <p:nvSpPr>
          <p:cNvPr id="4" name="Slide Number Placeholder 3">
            <a:extLst>
              <a:ext uri="{FF2B5EF4-FFF2-40B4-BE49-F238E27FC236}">
                <a16:creationId xmlns:a16="http://schemas.microsoft.com/office/drawing/2014/main" id="{1FE50B07-6439-44D1-B4FB-8EFF75280C26}"/>
              </a:ext>
            </a:extLst>
          </p:cNvPr>
          <p:cNvSpPr>
            <a:spLocks noGrp="1"/>
          </p:cNvSpPr>
          <p:nvPr>
            <p:ph type="sldNum" sz="quarter" idx="12"/>
          </p:nvPr>
        </p:nvSpPr>
        <p:spPr/>
        <p:txBody>
          <a:bodyPr/>
          <a:lstStyle/>
          <a:p>
            <a:fld id="{4698AAF4-35A4-40F4-A7AE-C8E2C41B9252}" type="slidenum">
              <a:rPr lang="en-US" smtClean="0"/>
              <a:t>4</a:t>
            </a:fld>
            <a:endParaRPr lang="en-US"/>
          </a:p>
        </p:txBody>
      </p:sp>
    </p:spTree>
    <p:extLst>
      <p:ext uri="{BB962C8B-B14F-4D97-AF65-F5344CB8AC3E}">
        <p14:creationId xmlns:p14="http://schemas.microsoft.com/office/powerpoint/2010/main" val="3921515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CC5D3-2D9A-47BB-991D-BE61D912834B}"/>
              </a:ext>
            </a:extLst>
          </p:cNvPr>
          <p:cNvSpPr>
            <a:spLocks noGrp="1"/>
          </p:cNvSpPr>
          <p:nvPr>
            <p:ph type="title"/>
          </p:nvPr>
        </p:nvSpPr>
        <p:spPr/>
        <p:txBody>
          <a:bodyPr/>
          <a:lstStyle/>
          <a:p>
            <a:r>
              <a:rPr lang="en-US" dirty="0"/>
              <a:t>Example 1 for discontinuities: Scholarship</a:t>
            </a:r>
          </a:p>
        </p:txBody>
      </p:sp>
      <p:sp>
        <p:nvSpPr>
          <p:cNvPr id="3" name="Content Placeholder 2">
            <a:extLst>
              <a:ext uri="{FF2B5EF4-FFF2-40B4-BE49-F238E27FC236}">
                <a16:creationId xmlns:a16="http://schemas.microsoft.com/office/drawing/2014/main" id="{3A2202BE-46E5-4261-A934-8EF5F0229CFA}"/>
              </a:ext>
            </a:extLst>
          </p:cNvPr>
          <p:cNvSpPr>
            <a:spLocks noGrp="1"/>
          </p:cNvSpPr>
          <p:nvPr>
            <p:ph idx="1"/>
          </p:nvPr>
        </p:nvSpPr>
        <p:spPr/>
        <p:txBody>
          <a:bodyPr>
            <a:normAutofit lnSpcReduction="10000"/>
          </a:bodyPr>
          <a:lstStyle/>
          <a:p>
            <a:r>
              <a:rPr lang="en-US" dirty="0"/>
              <a:t>In general, scholarships are strongly correlated with other variables of interest such as academic performance or parental background</a:t>
            </a:r>
          </a:p>
          <a:p>
            <a:pPr lvl="1"/>
            <a:r>
              <a:rPr lang="en-US" dirty="0"/>
              <a:t>Very hard to determine the impact of scholarships on later life success</a:t>
            </a:r>
          </a:p>
          <a:p>
            <a:endParaRPr lang="en-US" dirty="0"/>
          </a:p>
          <a:p>
            <a:r>
              <a:rPr lang="en-US" dirty="0"/>
              <a:t>In many states, scholarship rules are very strict </a:t>
            </a:r>
          </a:p>
          <a:p>
            <a:pPr lvl="1"/>
            <a:r>
              <a:rPr lang="en-US" dirty="0"/>
              <a:t>For example, if GPA &gt; x, a student gets the scholarship</a:t>
            </a:r>
          </a:p>
          <a:p>
            <a:endParaRPr lang="en-US" dirty="0"/>
          </a:p>
          <a:p>
            <a:r>
              <a:rPr lang="en-US" dirty="0"/>
              <a:t>If we compare students just below the threshold to students just above the threshold, the only difference in their later life outcomes should be scholarship since both groups should be otherwise similar</a:t>
            </a:r>
          </a:p>
        </p:txBody>
      </p:sp>
      <p:sp>
        <p:nvSpPr>
          <p:cNvPr id="4" name="Slide Number Placeholder 3">
            <a:extLst>
              <a:ext uri="{FF2B5EF4-FFF2-40B4-BE49-F238E27FC236}">
                <a16:creationId xmlns:a16="http://schemas.microsoft.com/office/drawing/2014/main" id="{3EA5782F-794E-491F-A9E5-6901F3BEB50F}"/>
              </a:ext>
            </a:extLst>
          </p:cNvPr>
          <p:cNvSpPr>
            <a:spLocks noGrp="1"/>
          </p:cNvSpPr>
          <p:nvPr>
            <p:ph type="sldNum" sz="quarter" idx="12"/>
          </p:nvPr>
        </p:nvSpPr>
        <p:spPr/>
        <p:txBody>
          <a:bodyPr/>
          <a:lstStyle/>
          <a:p>
            <a:fld id="{4698AAF4-35A4-40F4-A7AE-C8E2C41B9252}" type="slidenum">
              <a:rPr lang="en-US" smtClean="0"/>
              <a:t>5</a:t>
            </a:fld>
            <a:endParaRPr lang="en-US"/>
          </a:p>
        </p:txBody>
      </p:sp>
    </p:spTree>
    <p:extLst>
      <p:ext uri="{BB962C8B-B14F-4D97-AF65-F5344CB8AC3E}">
        <p14:creationId xmlns:p14="http://schemas.microsoft.com/office/powerpoint/2010/main" val="17497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CF8AE-D218-441B-940D-514E42E4D7BE}"/>
              </a:ext>
            </a:extLst>
          </p:cNvPr>
          <p:cNvSpPr>
            <a:spLocks noGrp="1"/>
          </p:cNvSpPr>
          <p:nvPr>
            <p:ph type="title"/>
          </p:nvPr>
        </p:nvSpPr>
        <p:spPr/>
        <p:txBody>
          <a:bodyPr/>
          <a:lstStyle/>
          <a:p>
            <a:r>
              <a:rPr lang="en-US" dirty="0"/>
              <a:t>Example 2A: Guidelines -- birthweight</a:t>
            </a:r>
          </a:p>
        </p:txBody>
      </p:sp>
      <p:sp>
        <p:nvSpPr>
          <p:cNvPr id="3" name="Content Placeholder 2">
            <a:extLst>
              <a:ext uri="{FF2B5EF4-FFF2-40B4-BE49-F238E27FC236}">
                <a16:creationId xmlns:a16="http://schemas.microsoft.com/office/drawing/2014/main" id="{F37BEDE4-D03E-4AF7-87D4-015EA51A499D}"/>
              </a:ext>
            </a:extLst>
          </p:cNvPr>
          <p:cNvSpPr>
            <a:spLocks noGrp="1"/>
          </p:cNvSpPr>
          <p:nvPr>
            <p:ph idx="1"/>
          </p:nvPr>
        </p:nvSpPr>
        <p:spPr/>
        <p:txBody>
          <a:bodyPr>
            <a:normAutofit/>
          </a:bodyPr>
          <a:lstStyle/>
          <a:p>
            <a:r>
              <a:rPr lang="en-US" dirty="0"/>
              <a:t>RDD designs can even work in settings where there is a sufficiently powerful </a:t>
            </a:r>
            <a:r>
              <a:rPr lang="en-US" i="1" dirty="0"/>
              <a:t>informal </a:t>
            </a:r>
            <a:r>
              <a:rPr lang="en-US" dirty="0"/>
              <a:t>or</a:t>
            </a:r>
            <a:r>
              <a:rPr lang="en-US" i="1" dirty="0"/>
              <a:t> non-binding </a:t>
            </a:r>
            <a:r>
              <a:rPr lang="en-US" dirty="0"/>
              <a:t>rule</a:t>
            </a:r>
          </a:p>
          <a:p>
            <a:pPr lvl="1"/>
            <a:r>
              <a:rPr lang="en-US" dirty="0"/>
              <a:t>This is especially true in medical care settings where non-binding guidelines common</a:t>
            </a:r>
          </a:p>
          <a:p>
            <a:r>
              <a:rPr lang="en-US" dirty="0"/>
              <a:t>Example: Very low birth weight (birth weight &gt; 1500) for infants</a:t>
            </a:r>
          </a:p>
          <a:p>
            <a:pPr lvl="1"/>
            <a:r>
              <a:rPr lang="en-US" dirty="0"/>
              <a:t>No sharp discontinuity in medical risk</a:t>
            </a:r>
          </a:p>
          <a:p>
            <a:r>
              <a:rPr lang="en-US" dirty="0"/>
              <a:t>What ”treatment” would you be analyzing with a design comparing infants just above and below the VLBW threshold?</a:t>
            </a:r>
          </a:p>
          <a:p>
            <a:r>
              <a:rPr lang="en-US" dirty="0"/>
              <a:t>What outcomes would you be interested in analyzing?</a:t>
            </a:r>
          </a:p>
        </p:txBody>
      </p:sp>
      <p:sp>
        <p:nvSpPr>
          <p:cNvPr id="4" name="Slide Number Placeholder 3">
            <a:extLst>
              <a:ext uri="{FF2B5EF4-FFF2-40B4-BE49-F238E27FC236}">
                <a16:creationId xmlns:a16="http://schemas.microsoft.com/office/drawing/2014/main" id="{94F10537-5544-4584-920D-5EC3FB8E4E05}"/>
              </a:ext>
            </a:extLst>
          </p:cNvPr>
          <p:cNvSpPr>
            <a:spLocks noGrp="1"/>
          </p:cNvSpPr>
          <p:nvPr>
            <p:ph type="sldNum" sz="quarter" idx="12"/>
          </p:nvPr>
        </p:nvSpPr>
        <p:spPr/>
        <p:txBody>
          <a:bodyPr/>
          <a:lstStyle/>
          <a:p>
            <a:fld id="{4698AAF4-35A4-40F4-A7AE-C8E2C41B9252}" type="slidenum">
              <a:rPr lang="en-US" smtClean="0"/>
              <a:t>6</a:t>
            </a:fld>
            <a:endParaRPr lang="en-US"/>
          </a:p>
        </p:txBody>
      </p:sp>
    </p:spTree>
    <p:extLst>
      <p:ext uri="{BB962C8B-B14F-4D97-AF65-F5344CB8AC3E}">
        <p14:creationId xmlns:p14="http://schemas.microsoft.com/office/powerpoint/2010/main" val="108520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CF8AE-D218-441B-940D-514E42E4D7BE}"/>
              </a:ext>
            </a:extLst>
          </p:cNvPr>
          <p:cNvSpPr>
            <a:spLocks noGrp="1"/>
          </p:cNvSpPr>
          <p:nvPr>
            <p:ph type="title"/>
          </p:nvPr>
        </p:nvSpPr>
        <p:spPr/>
        <p:txBody>
          <a:bodyPr/>
          <a:lstStyle/>
          <a:p>
            <a:r>
              <a:rPr lang="en-US" dirty="0"/>
              <a:t>Example 2B: Guidelines – pregnancy age</a:t>
            </a:r>
          </a:p>
        </p:txBody>
      </p:sp>
      <p:sp>
        <p:nvSpPr>
          <p:cNvPr id="3" name="Content Placeholder 2">
            <a:extLst>
              <a:ext uri="{FF2B5EF4-FFF2-40B4-BE49-F238E27FC236}">
                <a16:creationId xmlns:a16="http://schemas.microsoft.com/office/drawing/2014/main" id="{F37BEDE4-D03E-4AF7-87D4-015EA51A499D}"/>
              </a:ext>
            </a:extLst>
          </p:cNvPr>
          <p:cNvSpPr>
            <a:spLocks noGrp="1"/>
          </p:cNvSpPr>
          <p:nvPr>
            <p:ph idx="1"/>
          </p:nvPr>
        </p:nvSpPr>
        <p:spPr>
          <a:xfrm>
            <a:off x="838200" y="1825624"/>
            <a:ext cx="10515600" cy="5032375"/>
          </a:xfrm>
        </p:spPr>
        <p:txBody>
          <a:bodyPr>
            <a:normAutofit/>
          </a:bodyPr>
          <a:lstStyle/>
          <a:p>
            <a:r>
              <a:rPr lang="en-US" dirty="0"/>
              <a:t>Another example: Advanced maternal age (age&gt;35) for pregnancy (“geriatric pregnancy”)</a:t>
            </a:r>
          </a:p>
          <a:p>
            <a:pPr lvl="1"/>
            <a:r>
              <a:rPr lang="en-US" dirty="0"/>
              <a:t>Your health doesn’t deteriorate the minute you turn 35</a:t>
            </a:r>
          </a:p>
          <a:p>
            <a:pPr lvl="1"/>
            <a:r>
              <a:rPr lang="en-US" dirty="0"/>
              <a:t>Threshold used to decide who should get genetic testing in 1979</a:t>
            </a:r>
          </a:p>
          <a:p>
            <a:pPr lvl="1"/>
            <a:r>
              <a:rPr lang="en-US" dirty="0"/>
              <a:t>Now commonly used as rule of thumb / billing justification for high-risk pregnancies</a:t>
            </a:r>
          </a:p>
          <a:p>
            <a:r>
              <a:rPr lang="en-US" dirty="0"/>
              <a:t>By comparing patients just below this threshold to patients just above it, you can infer how much “more intensive” care during pregnancy affects pregnancy outcomes</a:t>
            </a:r>
          </a:p>
        </p:txBody>
      </p:sp>
      <p:sp>
        <p:nvSpPr>
          <p:cNvPr id="4" name="Slide Number Placeholder 3">
            <a:extLst>
              <a:ext uri="{FF2B5EF4-FFF2-40B4-BE49-F238E27FC236}">
                <a16:creationId xmlns:a16="http://schemas.microsoft.com/office/drawing/2014/main" id="{94F10537-5544-4584-920D-5EC3FB8E4E05}"/>
              </a:ext>
            </a:extLst>
          </p:cNvPr>
          <p:cNvSpPr>
            <a:spLocks noGrp="1"/>
          </p:cNvSpPr>
          <p:nvPr>
            <p:ph type="sldNum" sz="quarter" idx="12"/>
          </p:nvPr>
        </p:nvSpPr>
        <p:spPr/>
        <p:txBody>
          <a:bodyPr/>
          <a:lstStyle/>
          <a:p>
            <a:fld id="{4698AAF4-35A4-40F4-A7AE-C8E2C41B9252}" type="slidenum">
              <a:rPr lang="en-US" smtClean="0"/>
              <a:t>7</a:t>
            </a:fld>
            <a:endParaRPr lang="en-US"/>
          </a:p>
        </p:txBody>
      </p:sp>
    </p:spTree>
    <p:extLst>
      <p:ext uri="{BB962C8B-B14F-4D97-AF65-F5344CB8AC3E}">
        <p14:creationId xmlns:p14="http://schemas.microsoft.com/office/powerpoint/2010/main" val="1920660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E8B7F-A300-4DD6-A740-771319540705}"/>
              </a:ext>
            </a:extLst>
          </p:cNvPr>
          <p:cNvSpPr>
            <a:spLocks noGrp="1"/>
          </p:cNvSpPr>
          <p:nvPr>
            <p:ph type="title"/>
          </p:nvPr>
        </p:nvSpPr>
        <p:spPr/>
        <p:txBody>
          <a:bodyPr/>
          <a:lstStyle/>
          <a:p>
            <a:r>
              <a:rPr lang="en-US" dirty="0"/>
              <a:t>Many other examples of RDD in the literature</a:t>
            </a:r>
          </a:p>
        </p:txBody>
      </p:sp>
      <p:sp>
        <p:nvSpPr>
          <p:cNvPr id="3" name="Content Placeholder 2">
            <a:extLst>
              <a:ext uri="{FF2B5EF4-FFF2-40B4-BE49-F238E27FC236}">
                <a16:creationId xmlns:a16="http://schemas.microsoft.com/office/drawing/2014/main" id="{3C65F711-B68F-4F1F-A8D0-DADE8CF66274}"/>
              </a:ext>
            </a:extLst>
          </p:cNvPr>
          <p:cNvSpPr>
            <a:spLocks noGrp="1"/>
          </p:cNvSpPr>
          <p:nvPr>
            <p:ph idx="1"/>
          </p:nvPr>
        </p:nvSpPr>
        <p:spPr/>
        <p:txBody>
          <a:bodyPr>
            <a:normAutofit fontScale="70000" lnSpcReduction="20000"/>
          </a:bodyPr>
          <a:lstStyle/>
          <a:p>
            <a:pPr marL="0" indent="0">
              <a:buNone/>
            </a:pPr>
            <a:endParaRPr lang="en-US" altLang="en-US" dirty="0"/>
          </a:p>
          <a:p>
            <a:r>
              <a:rPr lang="en-US" altLang="en-US" dirty="0"/>
              <a:t>Question: </a:t>
            </a:r>
            <a:r>
              <a:rPr lang="en-US" altLang="en-US" dirty="0">
                <a:hlinkClick r:id="rId2"/>
              </a:rPr>
              <a:t>What is the impact of a longer postpartum stay on hospital readmission?</a:t>
            </a:r>
            <a:endParaRPr lang="en-US" altLang="en-US" dirty="0"/>
          </a:p>
          <a:p>
            <a:r>
              <a:rPr lang="en-US" altLang="en-US" dirty="0"/>
              <a:t>Running variable: time of birth</a:t>
            </a:r>
          </a:p>
          <a:p>
            <a:r>
              <a:rPr lang="en-US" altLang="en-US" dirty="0"/>
              <a:t>threshold: midnight (infants born just after get an additional day of paid care)</a:t>
            </a:r>
          </a:p>
          <a:p>
            <a:pPr marL="0" indent="0">
              <a:buNone/>
            </a:pPr>
            <a:endParaRPr lang="en-US" altLang="en-US" dirty="0">
              <a:hlinkClick r:id="rId3"/>
            </a:endParaRPr>
          </a:p>
          <a:p>
            <a:r>
              <a:rPr lang="en-US" altLang="en-US" dirty="0"/>
              <a:t>Question: </a:t>
            </a:r>
            <a:r>
              <a:rPr lang="en-US" altLang="en-US" dirty="0">
                <a:hlinkClick r:id="rId3"/>
              </a:rPr>
              <a:t>What is the impact of aging into Medicare on racial / ethnic differences in access to health care?</a:t>
            </a:r>
            <a:endParaRPr lang="en-US" altLang="en-US" dirty="0"/>
          </a:p>
          <a:p>
            <a:r>
              <a:rPr lang="en-US" altLang="en-US" dirty="0"/>
              <a:t>Running variable: age</a:t>
            </a:r>
          </a:p>
          <a:p>
            <a:r>
              <a:rPr lang="en-US" altLang="en-US" dirty="0"/>
              <a:t>threshold: 65</a:t>
            </a:r>
          </a:p>
          <a:p>
            <a:endParaRPr lang="en-US" altLang="en-US" i="1" dirty="0"/>
          </a:p>
          <a:p>
            <a:r>
              <a:rPr lang="en-US" altLang="en-US" dirty="0"/>
              <a:t>Question: </a:t>
            </a:r>
            <a:r>
              <a:rPr lang="en-US" altLang="en-US" dirty="0">
                <a:hlinkClick r:id="rId4"/>
              </a:rPr>
              <a:t>What is the impact of having a female mayor on mortality from COVID-19</a:t>
            </a:r>
            <a:r>
              <a:rPr lang="en-US" altLang="en-US" dirty="0"/>
              <a:t>?</a:t>
            </a:r>
          </a:p>
          <a:p>
            <a:r>
              <a:rPr lang="en-US" altLang="en-US" dirty="0"/>
              <a:t>Running variable: female vote margin</a:t>
            </a:r>
          </a:p>
          <a:p>
            <a:r>
              <a:rPr lang="en-US" altLang="en-US" dirty="0"/>
              <a:t>threshold: 0%</a:t>
            </a:r>
          </a:p>
          <a:p>
            <a:endParaRPr lang="en-US" altLang="en-US" dirty="0"/>
          </a:p>
        </p:txBody>
      </p:sp>
      <p:sp>
        <p:nvSpPr>
          <p:cNvPr id="4" name="Slide Number Placeholder 3">
            <a:extLst>
              <a:ext uri="{FF2B5EF4-FFF2-40B4-BE49-F238E27FC236}">
                <a16:creationId xmlns:a16="http://schemas.microsoft.com/office/drawing/2014/main" id="{5123B24E-74FF-48BA-AF40-6222807F62FE}"/>
              </a:ext>
            </a:extLst>
          </p:cNvPr>
          <p:cNvSpPr>
            <a:spLocks noGrp="1"/>
          </p:cNvSpPr>
          <p:nvPr>
            <p:ph type="sldNum" sz="quarter" idx="12"/>
          </p:nvPr>
        </p:nvSpPr>
        <p:spPr/>
        <p:txBody>
          <a:bodyPr/>
          <a:lstStyle/>
          <a:p>
            <a:fld id="{4698AAF4-35A4-40F4-A7AE-C8E2C41B9252}" type="slidenum">
              <a:rPr lang="en-US" smtClean="0"/>
              <a:t>8</a:t>
            </a:fld>
            <a:endParaRPr lang="en-US"/>
          </a:p>
        </p:txBody>
      </p:sp>
    </p:spTree>
    <p:extLst>
      <p:ext uri="{BB962C8B-B14F-4D97-AF65-F5344CB8AC3E}">
        <p14:creationId xmlns:p14="http://schemas.microsoft.com/office/powerpoint/2010/main" val="3989299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E257-0556-4B25-A890-8785F94BE450}"/>
              </a:ext>
            </a:extLst>
          </p:cNvPr>
          <p:cNvSpPr>
            <a:spLocks noGrp="1"/>
          </p:cNvSpPr>
          <p:nvPr>
            <p:ph type="title"/>
          </p:nvPr>
        </p:nvSpPr>
        <p:spPr/>
        <p:txBody>
          <a:bodyPr/>
          <a:lstStyle/>
          <a:p>
            <a:r>
              <a:rPr lang="en-US" dirty="0"/>
              <a:t>RDD – how it works</a:t>
            </a:r>
          </a:p>
        </p:txBody>
      </p:sp>
      <p:sp>
        <p:nvSpPr>
          <p:cNvPr id="3" name="Content Placeholder 2">
            <a:extLst>
              <a:ext uri="{FF2B5EF4-FFF2-40B4-BE49-F238E27FC236}">
                <a16:creationId xmlns:a16="http://schemas.microsoft.com/office/drawing/2014/main" id="{F601E84A-C307-4F51-8BE9-A97D58903448}"/>
              </a:ext>
            </a:extLst>
          </p:cNvPr>
          <p:cNvSpPr>
            <a:spLocks noGrp="1"/>
          </p:cNvSpPr>
          <p:nvPr>
            <p:ph idx="1"/>
          </p:nvPr>
        </p:nvSpPr>
        <p:spPr/>
        <p:txBody>
          <a:bodyPr>
            <a:normAutofit/>
          </a:bodyPr>
          <a:lstStyle/>
          <a:p>
            <a:r>
              <a:rPr lang="en-US" altLang="en-US" dirty="0"/>
              <a:t>Treatment is discontinuous in a continuous “running variable” </a:t>
            </a:r>
          </a:p>
          <a:p>
            <a:pPr lvl="1"/>
            <a:r>
              <a:rPr lang="en-US" altLang="en-US" dirty="0"/>
              <a:t>i.e. GPA, birth weight, vote share, age, time</a:t>
            </a:r>
          </a:p>
          <a:p>
            <a:endParaRPr lang="en-US" altLang="en-US" dirty="0"/>
          </a:p>
          <a:p>
            <a:r>
              <a:rPr lang="en-US" altLang="en-US" dirty="0"/>
              <a:t>We examine only individuals in a small window around the threshold and compare treated and controls</a:t>
            </a:r>
          </a:p>
          <a:p>
            <a:pPr lvl="1"/>
            <a:r>
              <a:rPr lang="en-US" altLang="en-US" dirty="0">
                <a:solidFill>
                  <a:srgbClr val="FF0000"/>
                </a:solidFill>
              </a:rPr>
              <a:t>Why only in a small window? </a:t>
            </a:r>
          </a:p>
          <a:p>
            <a:endParaRPr lang="en-US" altLang="en-US" dirty="0"/>
          </a:p>
          <a:p>
            <a:r>
              <a:rPr lang="en-US" altLang="en-US" dirty="0"/>
              <a:t>If confounders are continuous in the running variable, they should look similar for treated and control in the small window  </a:t>
            </a:r>
          </a:p>
          <a:p>
            <a:endParaRPr lang="en-US" altLang="en-US" dirty="0"/>
          </a:p>
        </p:txBody>
      </p:sp>
      <p:sp>
        <p:nvSpPr>
          <p:cNvPr id="4" name="Slide Number Placeholder 3">
            <a:extLst>
              <a:ext uri="{FF2B5EF4-FFF2-40B4-BE49-F238E27FC236}">
                <a16:creationId xmlns:a16="http://schemas.microsoft.com/office/drawing/2014/main" id="{EA85B652-8AD1-4B54-AF42-CE50B0F8C5EA}"/>
              </a:ext>
            </a:extLst>
          </p:cNvPr>
          <p:cNvSpPr>
            <a:spLocks noGrp="1"/>
          </p:cNvSpPr>
          <p:nvPr>
            <p:ph type="sldNum" sz="quarter" idx="12"/>
          </p:nvPr>
        </p:nvSpPr>
        <p:spPr/>
        <p:txBody>
          <a:bodyPr/>
          <a:lstStyle/>
          <a:p>
            <a:fld id="{4698AAF4-35A4-40F4-A7AE-C8E2C41B9252}" type="slidenum">
              <a:rPr lang="en-US" smtClean="0"/>
              <a:t>9</a:t>
            </a:fld>
            <a:endParaRPr lang="en-US"/>
          </a:p>
        </p:txBody>
      </p:sp>
    </p:spTree>
    <p:extLst>
      <p:ext uri="{BB962C8B-B14F-4D97-AF65-F5344CB8AC3E}">
        <p14:creationId xmlns:p14="http://schemas.microsoft.com/office/powerpoint/2010/main" val="126739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E257-0556-4B25-A890-8785F94BE450}"/>
              </a:ext>
            </a:extLst>
          </p:cNvPr>
          <p:cNvSpPr>
            <a:spLocks noGrp="1"/>
          </p:cNvSpPr>
          <p:nvPr>
            <p:ph type="title"/>
          </p:nvPr>
        </p:nvSpPr>
        <p:spPr/>
        <p:txBody>
          <a:bodyPr/>
          <a:lstStyle/>
          <a:p>
            <a:r>
              <a:rPr lang="en-US" dirty="0"/>
              <a:t>Under what conditions can we estimate RDD?</a:t>
            </a:r>
          </a:p>
        </p:txBody>
      </p:sp>
      <p:sp>
        <p:nvSpPr>
          <p:cNvPr id="3" name="Content Placeholder 2">
            <a:extLst>
              <a:ext uri="{FF2B5EF4-FFF2-40B4-BE49-F238E27FC236}">
                <a16:creationId xmlns:a16="http://schemas.microsoft.com/office/drawing/2014/main" id="{F601E84A-C307-4F51-8BE9-A97D58903448}"/>
              </a:ext>
            </a:extLst>
          </p:cNvPr>
          <p:cNvSpPr>
            <a:spLocks noGrp="1"/>
          </p:cNvSpPr>
          <p:nvPr>
            <p:ph idx="1"/>
          </p:nvPr>
        </p:nvSpPr>
        <p:spPr/>
        <p:txBody>
          <a:bodyPr>
            <a:normAutofit/>
          </a:bodyPr>
          <a:lstStyle/>
          <a:p>
            <a:pPr marL="0" indent="0">
              <a:buNone/>
            </a:pPr>
            <a:r>
              <a:rPr lang="en-US" altLang="en-US" b="1" dirty="0"/>
              <a:t>Conditions</a:t>
            </a:r>
          </a:p>
          <a:p>
            <a:pPr marL="0" indent="0" algn="l">
              <a:buNone/>
            </a:pPr>
            <a:r>
              <a:rPr lang="en-US" b="0" i="0" dirty="0">
                <a:effectLst/>
                <a:latin typeface="Andes"/>
              </a:rPr>
              <a:t>- A continuous eligibility index: a continuous measure on which the population of interest is ranked (i.e. test score, health indicator, age).</a:t>
            </a:r>
          </a:p>
          <a:p>
            <a:pPr algn="l">
              <a:buFontTx/>
              <a:buChar char="-"/>
            </a:pPr>
            <a:endParaRPr lang="en-US" b="0" i="0" dirty="0">
              <a:effectLst/>
              <a:latin typeface="Andes"/>
            </a:endParaRPr>
          </a:p>
          <a:p>
            <a:pPr algn="l">
              <a:buFontTx/>
              <a:buChar char="-"/>
            </a:pPr>
            <a:r>
              <a:rPr lang="en-US" b="0" i="0" dirty="0">
                <a:effectLst/>
                <a:latin typeface="Andes"/>
              </a:rPr>
              <a:t>A clearly defined threshold point: a point on the index above or below which the population is determined to be eligible for the program</a:t>
            </a:r>
          </a:p>
        </p:txBody>
      </p:sp>
      <p:sp>
        <p:nvSpPr>
          <p:cNvPr id="4" name="Slide Number Placeholder 3">
            <a:extLst>
              <a:ext uri="{FF2B5EF4-FFF2-40B4-BE49-F238E27FC236}">
                <a16:creationId xmlns:a16="http://schemas.microsoft.com/office/drawing/2014/main" id="{EA85B652-8AD1-4B54-AF42-CE50B0F8C5EA}"/>
              </a:ext>
            </a:extLst>
          </p:cNvPr>
          <p:cNvSpPr>
            <a:spLocks noGrp="1"/>
          </p:cNvSpPr>
          <p:nvPr>
            <p:ph type="sldNum" sz="quarter" idx="12"/>
          </p:nvPr>
        </p:nvSpPr>
        <p:spPr/>
        <p:txBody>
          <a:bodyPr/>
          <a:lstStyle/>
          <a:p>
            <a:fld id="{4698AAF4-35A4-40F4-A7AE-C8E2C41B9252}" type="slidenum">
              <a:rPr lang="en-US" smtClean="0"/>
              <a:t>10</a:t>
            </a:fld>
            <a:endParaRPr lang="en-US"/>
          </a:p>
        </p:txBody>
      </p:sp>
    </p:spTree>
    <p:extLst>
      <p:ext uri="{BB962C8B-B14F-4D97-AF65-F5344CB8AC3E}">
        <p14:creationId xmlns:p14="http://schemas.microsoft.com/office/powerpoint/2010/main" val="1425207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E257-0556-4B25-A890-8785F94BE450}"/>
              </a:ext>
            </a:extLst>
          </p:cNvPr>
          <p:cNvSpPr>
            <a:spLocks noGrp="1"/>
          </p:cNvSpPr>
          <p:nvPr>
            <p:ph type="title"/>
          </p:nvPr>
        </p:nvSpPr>
        <p:spPr/>
        <p:txBody>
          <a:bodyPr/>
          <a:lstStyle/>
          <a:p>
            <a:r>
              <a:rPr lang="en-US" dirty="0"/>
              <a:t>What assumptions required for RDD to be valid? </a:t>
            </a:r>
          </a:p>
        </p:txBody>
      </p:sp>
      <p:sp>
        <p:nvSpPr>
          <p:cNvPr id="3" name="Content Placeholder 2">
            <a:extLst>
              <a:ext uri="{FF2B5EF4-FFF2-40B4-BE49-F238E27FC236}">
                <a16:creationId xmlns:a16="http://schemas.microsoft.com/office/drawing/2014/main" id="{F601E84A-C307-4F51-8BE9-A97D58903448}"/>
              </a:ext>
            </a:extLst>
          </p:cNvPr>
          <p:cNvSpPr>
            <a:spLocks noGrp="1"/>
          </p:cNvSpPr>
          <p:nvPr>
            <p:ph idx="1"/>
          </p:nvPr>
        </p:nvSpPr>
        <p:spPr/>
        <p:txBody>
          <a:bodyPr>
            <a:normAutofit fontScale="92500" lnSpcReduction="20000"/>
          </a:bodyPr>
          <a:lstStyle/>
          <a:p>
            <a:pPr marL="0" indent="0">
              <a:buNone/>
            </a:pPr>
            <a:r>
              <a:rPr lang="en-US" altLang="en-US" b="1" dirty="0">
                <a:latin typeface="Calibri" panose="020F0502020204030204" pitchFamily="34" charset="0"/>
                <a:cs typeface="Calibri" panose="020F0502020204030204" pitchFamily="34" charset="0"/>
              </a:rPr>
              <a:t>Key assumption</a:t>
            </a:r>
            <a:endParaRPr lang="en-US" altLang="en-US" dirty="0">
              <a:latin typeface="Calibri" panose="020F0502020204030204" pitchFamily="34" charset="0"/>
              <a:cs typeface="Calibri" panose="020F0502020204030204" pitchFamily="34" charset="0"/>
            </a:endParaRPr>
          </a:p>
          <a:p>
            <a:pPr marL="0" indent="0">
              <a:buNone/>
            </a:pPr>
            <a:r>
              <a:rPr lang="en-US" b="0" i="0" u="sng" dirty="0">
                <a:effectLst/>
                <a:latin typeface="Calibri" panose="020F0502020204030204" pitchFamily="34" charset="0"/>
                <a:cs typeface="Calibri" panose="020F0502020204030204" pitchFamily="34" charset="0"/>
              </a:rPr>
              <a:t>Continuity assumption</a:t>
            </a:r>
            <a:r>
              <a:rPr lang="en-US" b="0" i="0" dirty="0">
                <a:effectLst/>
                <a:latin typeface="Calibri" panose="020F0502020204030204" pitchFamily="34" charset="0"/>
                <a:cs typeface="Calibri" panose="020F0502020204030204" pitchFamily="34" charset="0"/>
              </a:rPr>
              <a:t>: The only thing that causes a discontinuity above and below the threshold is the likelihood of program participation/eligibility</a:t>
            </a:r>
          </a:p>
          <a:p>
            <a:pPr>
              <a:buFont typeface="+mj-lt"/>
              <a:buAutoNum type="arabicPeriod"/>
            </a:pPr>
            <a:endParaRPr lang="en-US" sz="1800" dirty="0">
              <a:effectLst/>
              <a:latin typeface="Calibri" panose="020F0502020204030204" pitchFamily="34" charset="0"/>
              <a:cs typeface="Calibri" panose="020F0502020204030204" pitchFamily="34" charset="0"/>
            </a:endParaRPr>
          </a:p>
          <a:p>
            <a:pPr marL="0" indent="0">
              <a:buNone/>
            </a:pPr>
            <a:r>
              <a:rPr lang="en-US" b="1" dirty="0">
                <a:effectLst/>
                <a:latin typeface="Calibri" panose="020F0502020204030204" pitchFamily="34" charset="0"/>
                <a:cs typeface="Calibri" panose="020F0502020204030204" pitchFamily="34" charset="0"/>
              </a:rPr>
              <a:t>Implications of this assumption</a:t>
            </a:r>
          </a:p>
          <a:p>
            <a:pPr lvl="1">
              <a:buFontTx/>
              <a:buChar char="-"/>
            </a:pPr>
            <a:r>
              <a:rPr lang="en-US" sz="2800" b="0" i="0" dirty="0">
                <a:effectLst/>
                <a:latin typeface="Calibri" panose="020F0502020204030204" pitchFamily="34" charset="0"/>
                <a:cs typeface="Calibri" panose="020F0502020204030204" pitchFamily="34" charset="0"/>
              </a:rPr>
              <a:t>Individuals can’t be able to manipulate the running variable in order to increase the chances of being included / excluded</a:t>
            </a:r>
          </a:p>
          <a:p>
            <a:pPr lvl="1">
              <a:buFontTx/>
              <a:buChar char="-"/>
            </a:pPr>
            <a:r>
              <a:rPr lang="en-US" sz="2800" b="0" i="0" dirty="0">
                <a:effectLst/>
                <a:latin typeface="Calibri" panose="020F0502020204030204" pitchFamily="34" charset="0"/>
                <a:cs typeface="Calibri" panose="020F0502020204030204" pitchFamily="34" charset="0"/>
              </a:rPr>
              <a:t>Individuals close to the threshold should be very similar, on average, in observed and unobserved characteristics</a:t>
            </a:r>
          </a:p>
          <a:p>
            <a:pPr lvl="1">
              <a:buFontTx/>
              <a:buChar char="-"/>
            </a:pPr>
            <a:r>
              <a:rPr lang="en-US" sz="2800" b="0" i="0" dirty="0">
                <a:effectLst/>
                <a:latin typeface="Calibri" panose="020F0502020204030204" pitchFamily="34" charset="0"/>
                <a:cs typeface="Calibri" panose="020F0502020204030204" pitchFamily="34" charset="0"/>
              </a:rPr>
              <a:t>There’s no other competing intervention or policy change occurring around the threshold</a:t>
            </a:r>
          </a:p>
          <a:p>
            <a:pPr marL="0" indent="0">
              <a:buNone/>
            </a:pPr>
            <a:r>
              <a:rPr lang="en-US" b="0" i="0" dirty="0">
                <a:solidFill>
                  <a:srgbClr val="FF0000"/>
                </a:solidFill>
                <a:effectLst/>
                <a:latin typeface="Andes"/>
              </a:rPr>
              <a:t>Stop for questions</a:t>
            </a:r>
          </a:p>
          <a:p>
            <a:pPr lvl="1"/>
            <a:endParaRPr lang="en-US" altLang="en-US" dirty="0"/>
          </a:p>
        </p:txBody>
      </p:sp>
      <p:sp>
        <p:nvSpPr>
          <p:cNvPr id="4" name="Slide Number Placeholder 3">
            <a:extLst>
              <a:ext uri="{FF2B5EF4-FFF2-40B4-BE49-F238E27FC236}">
                <a16:creationId xmlns:a16="http://schemas.microsoft.com/office/drawing/2014/main" id="{EA85B652-8AD1-4B54-AF42-CE50B0F8C5EA}"/>
              </a:ext>
            </a:extLst>
          </p:cNvPr>
          <p:cNvSpPr>
            <a:spLocks noGrp="1"/>
          </p:cNvSpPr>
          <p:nvPr>
            <p:ph type="sldNum" sz="quarter" idx="12"/>
          </p:nvPr>
        </p:nvSpPr>
        <p:spPr/>
        <p:txBody>
          <a:bodyPr/>
          <a:lstStyle/>
          <a:p>
            <a:fld id="{4698AAF4-35A4-40F4-A7AE-C8E2C41B9252}" type="slidenum">
              <a:rPr lang="en-US" smtClean="0"/>
              <a:t>11</a:t>
            </a:fld>
            <a:endParaRPr lang="en-US"/>
          </a:p>
        </p:txBody>
      </p:sp>
    </p:spTree>
    <p:extLst>
      <p:ext uri="{BB962C8B-B14F-4D97-AF65-F5344CB8AC3E}">
        <p14:creationId xmlns:p14="http://schemas.microsoft.com/office/powerpoint/2010/main" val="4674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5DF6D-B4CB-4C20-B90E-DA38E34C3FDC}"/>
              </a:ext>
            </a:extLst>
          </p:cNvPr>
          <p:cNvSpPr>
            <a:spLocks noGrp="1"/>
          </p:cNvSpPr>
          <p:nvPr>
            <p:ph type="title"/>
          </p:nvPr>
        </p:nvSpPr>
        <p:spPr/>
        <p:txBody>
          <a:bodyPr/>
          <a:lstStyle/>
          <a:p>
            <a:r>
              <a:rPr lang="en-US" dirty="0"/>
              <a:t>RDD, RCTs, and IV estimation</a:t>
            </a:r>
          </a:p>
        </p:txBody>
      </p:sp>
      <p:sp>
        <p:nvSpPr>
          <p:cNvPr id="3" name="Content Placeholder 2">
            <a:extLst>
              <a:ext uri="{FF2B5EF4-FFF2-40B4-BE49-F238E27FC236}">
                <a16:creationId xmlns:a16="http://schemas.microsoft.com/office/drawing/2014/main" id="{38687E0E-7ECC-4A86-816E-13755EBBEACE}"/>
              </a:ext>
            </a:extLst>
          </p:cNvPr>
          <p:cNvSpPr>
            <a:spLocks noGrp="1"/>
          </p:cNvSpPr>
          <p:nvPr>
            <p:ph idx="1"/>
          </p:nvPr>
        </p:nvSpPr>
        <p:spPr/>
        <p:txBody>
          <a:bodyPr>
            <a:normAutofit fontScale="92500" lnSpcReduction="10000"/>
          </a:bodyPr>
          <a:lstStyle/>
          <a:p>
            <a:r>
              <a:rPr lang="en-US" dirty="0"/>
              <a:t>Under ideal conditions, RDDs are very similar </a:t>
            </a:r>
            <a:r>
              <a:rPr lang="en-US" u="sng" dirty="0"/>
              <a:t>conceptually</a:t>
            </a:r>
            <a:r>
              <a:rPr lang="en-US" dirty="0"/>
              <a:t> to RCTs: if it is true that treatment assignment is close to “random” within the analyzed range, then RDDs become a quasi-experiment</a:t>
            </a:r>
          </a:p>
          <a:p>
            <a:endParaRPr lang="en-US" dirty="0"/>
          </a:p>
          <a:p>
            <a:r>
              <a:rPr lang="en-US" dirty="0"/>
              <a:t>RDDs can also be seen as a special case of IV estimation</a:t>
            </a:r>
          </a:p>
          <a:p>
            <a:pPr lvl="1"/>
            <a:r>
              <a:rPr lang="en-US" dirty="0"/>
              <a:t>Under the RDD assumption, we know that there is an increase in the treatment at the threshold, and we explore this exogenous variation in the treatment to identify the causal effect of interest</a:t>
            </a:r>
          </a:p>
          <a:p>
            <a:endParaRPr lang="en-US" dirty="0"/>
          </a:p>
          <a:p>
            <a:r>
              <a:rPr lang="en-US" b="1" dirty="0"/>
              <a:t>Key question:</a:t>
            </a:r>
            <a:r>
              <a:rPr lang="en-US" dirty="0"/>
              <a:t> How plausible is it that the threshold affects the outcome only through treatment? </a:t>
            </a:r>
          </a:p>
          <a:p>
            <a:pPr lvl="1"/>
            <a:r>
              <a:rPr lang="en-US" dirty="0"/>
              <a:t>Recall, this is the similar to the exclusion assumption in an IV setting</a:t>
            </a:r>
          </a:p>
        </p:txBody>
      </p:sp>
      <p:sp>
        <p:nvSpPr>
          <p:cNvPr id="4" name="Slide Number Placeholder 3">
            <a:extLst>
              <a:ext uri="{FF2B5EF4-FFF2-40B4-BE49-F238E27FC236}">
                <a16:creationId xmlns:a16="http://schemas.microsoft.com/office/drawing/2014/main" id="{6B731E43-B693-4A03-BED3-34FFB830EA6B}"/>
              </a:ext>
            </a:extLst>
          </p:cNvPr>
          <p:cNvSpPr>
            <a:spLocks noGrp="1"/>
          </p:cNvSpPr>
          <p:nvPr>
            <p:ph type="sldNum" sz="quarter" idx="12"/>
          </p:nvPr>
        </p:nvSpPr>
        <p:spPr/>
        <p:txBody>
          <a:bodyPr/>
          <a:lstStyle/>
          <a:p>
            <a:fld id="{4698AAF4-35A4-40F4-A7AE-C8E2C41B9252}" type="slidenum">
              <a:rPr lang="en-US" smtClean="0"/>
              <a:t>12</a:t>
            </a:fld>
            <a:endParaRPr lang="en-US"/>
          </a:p>
        </p:txBody>
      </p:sp>
    </p:spTree>
    <p:extLst>
      <p:ext uri="{BB962C8B-B14F-4D97-AF65-F5344CB8AC3E}">
        <p14:creationId xmlns:p14="http://schemas.microsoft.com/office/powerpoint/2010/main" val="409136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C8C4E-7A0F-92F7-54F7-94E74E1774B4}"/>
              </a:ext>
            </a:extLst>
          </p:cNvPr>
          <p:cNvSpPr>
            <a:spLocks noGrp="1"/>
          </p:cNvSpPr>
          <p:nvPr>
            <p:ph type="title"/>
          </p:nvPr>
        </p:nvSpPr>
        <p:spPr/>
        <p:txBody>
          <a:bodyPr/>
          <a:lstStyle/>
          <a:p>
            <a:r>
              <a:rPr lang="en-US" dirty="0"/>
              <a:t>How do we feel about the identifying assumption in these cases</a:t>
            </a:r>
          </a:p>
        </p:txBody>
      </p:sp>
      <p:sp>
        <p:nvSpPr>
          <p:cNvPr id="3" name="Content Placeholder 2">
            <a:extLst>
              <a:ext uri="{FF2B5EF4-FFF2-40B4-BE49-F238E27FC236}">
                <a16:creationId xmlns:a16="http://schemas.microsoft.com/office/drawing/2014/main" id="{E06E000E-A450-DF43-D2EB-3F7C9C81FA08}"/>
              </a:ext>
            </a:extLst>
          </p:cNvPr>
          <p:cNvSpPr>
            <a:spLocks noGrp="1"/>
          </p:cNvSpPr>
          <p:nvPr>
            <p:ph idx="1"/>
          </p:nvPr>
        </p:nvSpPr>
        <p:spPr/>
        <p:txBody>
          <a:bodyPr>
            <a:normAutofit fontScale="77500" lnSpcReduction="20000"/>
          </a:bodyPr>
          <a:lstStyle/>
          <a:p>
            <a:r>
              <a:rPr lang="en-US" dirty="0"/>
              <a:t>How do we feel about the identifying assumption in these cases?</a:t>
            </a:r>
          </a:p>
          <a:p>
            <a:pPr lvl="1"/>
            <a:r>
              <a:rPr lang="en-US" dirty="0"/>
              <a:t>LBW designation for more intensive newborn care and follow-up</a:t>
            </a:r>
          </a:p>
          <a:p>
            <a:pPr lvl="2"/>
            <a:r>
              <a:rPr lang="en-US" dirty="0"/>
              <a:t>”running variable”: birth weight</a:t>
            </a:r>
          </a:p>
          <a:p>
            <a:pPr lvl="2"/>
            <a:r>
              <a:rPr lang="en-US" dirty="0"/>
              <a:t>”threshold”: 1500 grams</a:t>
            </a:r>
          </a:p>
          <a:p>
            <a:pPr lvl="2"/>
            <a:r>
              <a:rPr lang="en-US" dirty="0"/>
              <a:t>“treatment”: intensive medical care</a:t>
            </a:r>
          </a:p>
          <a:p>
            <a:pPr lvl="1"/>
            <a:r>
              <a:rPr lang="en-US" dirty="0"/>
              <a:t>Advanced maternal age for more “intensive” medical treatment</a:t>
            </a:r>
          </a:p>
          <a:p>
            <a:pPr lvl="2"/>
            <a:r>
              <a:rPr lang="en-US" dirty="0"/>
              <a:t>“running variable”: maternal age</a:t>
            </a:r>
          </a:p>
          <a:p>
            <a:pPr lvl="2"/>
            <a:r>
              <a:rPr lang="en-US" dirty="0"/>
              <a:t>“threshold”: 35 </a:t>
            </a:r>
          </a:p>
          <a:p>
            <a:pPr lvl="2"/>
            <a:r>
              <a:rPr lang="en-US" dirty="0"/>
              <a:t>“treatment”: intensive medical care</a:t>
            </a:r>
          </a:p>
          <a:p>
            <a:pPr lvl="1"/>
            <a:r>
              <a:rPr lang="en-US" dirty="0"/>
              <a:t>Births around midnight for longer postpartum stay</a:t>
            </a:r>
          </a:p>
          <a:p>
            <a:pPr lvl="2"/>
            <a:r>
              <a:rPr lang="en-US" dirty="0"/>
              <a:t>“running variable”: timing of birth</a:t>
            </a:r>
          </a:p>
          <a:p>
            <a:pPr lvl="2"/>
            <a:r>
              <a:rPr lang="en-US" dirty="0"/>
              <a:t>”threshold”: midnight</a:t>
            </a:r>
          </a:p>
          <a:p>
            <a:pPr lvl="2"/>
            <a:r>
              <a:rPr lang="en-US" dirty="0"/>
              <a:t>“treatment”: longer hospital stay</a:t>
            </a:r>
          </a:p>
          <a:p>
            <a:pPr lvl="1"/>
            <a:r>
              <a:rPr lang="en-US" dirty="0"/>
              <a:t>Close election for representation by a female mayor</a:t>
            </a:r>
          </a:p>
          <a:p>
            <a:pPr lvl="2"/>
            <a:r>
              <a:rPr lang="en-US" dirty="0"/>
              <a:t>“running variable”: difference in vote shares from top candidates</a:t>
            </a:r>
          </a:p>
          <a:p>
            <a:pPr lvl="2"/>
            <a:r>
              <a:rPr lang="en-US" dirty="0"/>
              <a:t>“threshold”: 0</a:t>
            </a:r>
          </a:p>
          <a:p>
            <a:pPr lvl="2"/>
            <a:r>
              <a:rPr lang="en-US" dirty="0"/>
              <a:t>“treatment”: female mayor</a:t>
            </a:r>
          </a:p>
          <a:p>
            <a:pPr lvl="1"/>
            <a:endParaRPr lang="en-US" dirty="0"/>
          </a:p>
          <a:p>
            <a:pPr lvl="1"/>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CDD571F9-AE40-0630-E18A-396375E5F163}"/>
              </a:ext>
            </a:extLst>
          </p:cNvPr>
          <p:cNvSpPr>
            <a:spLocks noGrp="1"/>
          </p:cNvSpPr>
          <p:nvPr>
            <p:ph type="sldNum" sz="quarter" idx="12"/>
          </p:nvPr>
        </p:nvSpPr>
        <p:spPr/>
        <p:txBody>
          <a:bodyPr/>
          <a:lstStyle/>
          <a:p>
            <a:fld id="{4698AAF4-35A4-40F4-A7AE-C8E2C41B9252}" type="slidenum">
              <a:rPr lang="en-US" smtClean="0"/>
              <a:t>13</a:t>
            </a:fld>
            <a:endParaRPr lang="en-US"/>
          </a:p>
        </p:txBody>
      </p:sp>
    </p:spTree>
    <p:extLst>
      <p:ext uri="{BB962C8B-B14F-4D97-AF65-F5344CB8AC3E}">
        <p14:creationId xmlns:p14="http://schemas.microsoft.com/office/powerpoint/2010/main" val="387819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A3C6B-14DD-49A1-BADE-3D38A3E0BC66}"/>
              </a:ext>
            </a:extLst>
          </p:cNvPr>
          <p:cNvSpPr>
            <a:spLocks noGrp="1"/>
          </p:cNvSpPr>
          <p:nvPr>
            <p:ph type="title"/>
          </p:nvPr>
        </p:nvSpPr>
        <p:spPr/>
        <p:txBody>
          <a:bodyPr/>
          <a:lstStyle/>
          <a:p>
            <a:r>
              <a:rPr lang="en-US" dirty="0"/>
              <a:t>Critical threshold for treatment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DE61C9-F303-4456-91AC-4D99B163F756}"/>
                  </a:ext>
                </a:extLst>
              </p:cNvPr>
              <p:cNvSpPr>
                <a:spLocks noGrp="1"/>
              </p:cNvSpPr>
              <p:nvPr>
                <p:ph idx="1"/>
              </p:nvPr>
            </p:nvSpPr>
            <p:spPr/>
            <p:txBody>
              <a:bodyPr/>
              <a:lstStyle/>
              <a:p>
                <a:r>
                  <a:rPr lang="en-US" dirty="0"/>
                  <a:t>Assume that there is a continuous variable z which determines eligibility for treatment discontinuously at some threshold (</a:t>
                </a:r>
                <a14:m>
                  <m:oMath xmlns:m="http://schemas.openxmlformats.org/officeDocument/2006/math">
                    <m:r>
                      <a:rPr lang="en-US" i="1" dirty="0" smtClean="0">
                        <a:latin typeface="Cambria Math" panose="02040503050406030204" pitchFamily="18" charset="0"/>
                      </a:rPr>
                      <m:t>𝑐</m:t>
                    </m:r>
                  </m:oMath>
                </a14:m>
                <a:r>
                  <a:rPr lang="en-US" dirty="0"/>
                  <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lim>
                      </m:limLow>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d>
                        </m:e>
                      </m:func>
                      <m:r>
                        <a:rPr lang="en-US" b="0" i="1" smtClean="0">
                          <a:latin typeface="Cambria Math" panose="02040503050406030204" pitchFamily="18" charset="0"/>
                        </a:rPr>
                        <m:t>≠</m:t>
                      </m:r>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lim>
                      </m:limLow>
                      <m:r>
                        <a:rPr lang="en-US" b="0" i="1" smtClean="0">
                          <a:latin typeface="Cambria Math" panose="02040503050406030204" pitchFamily="18" charset="0"/>
                        </a:rPr>
                        <m:t> </m:t>
                      </m:r>
                      <m:r>
                        <m:rPr>
                          <m:sty m:val="p"/>
                        </m:rPr>
                        <a:rPr lang="en-US" b="0" i="0" smtClean="0">
                          <a:latin typeface="Cambria Math" panose="02040503050406030204" pitchFamily="18" charset="0"/>
                        </a:rPr>
                        <m:t>Pr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r>
                        <a:rPr lang="en-US" b="0" i="1" smtClean="0">
                          <a:latin typeface="Cambria Math" panose="02040503050406030204" pitchFamily="18" charset="0"/>
                        </a:rPr>
                        <m:t>=1)</m:t>
                      </m:r>
                    </m:oMath>
                  </m:oMathPara>
                </a14:m>
                <a:endParaRPr lang="en-US" dirty="0"/>
              </a:p>
            </p:txBody>
          </p:sp>
        </mc:Choice>
        <mc:Fallback xmlns="">
          <p:sp>
            <p:nvSpPr>
              <p:cNvPr id="3" name="Content Placeholder 2">
                <a:extLst>
                  <a:ext uri="{FF2B5EF4-FFF2-40B4-BE49-F238E27FC236}">
                    <a16:creationId xmlns:a16="http://schemas.microsoft.com/office/drawing/2014/main" id="{A0DE61C9-F303-4456-91AC-4D99B163F756}"/>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72AF2D5-DD0F-4CA3-A96B-EB0912ECBE19}"/>
              </a:ext>
            </a:extLst>
          </p:cNvPr>
          <p:cNvSpPr>
            <a:spLocks noGrp="1"/>
          </p:cNvSpPr>
          <p:nvPr>
            <p:ph type="sldNum" sz="quarter" idx="12"/>
          </p:nvPr>
        </p:nvSpPr>
        <p:spPr/>
        <p:txBody>
          <a:bodyPr/>
          <a:lstStyle/>
          <a:p>
            <a:fld id="{4698AAF4-35A4-40F4-A7AE-C8E2C41B9252}" type="slidenum">
              <a:rPr lang="en-US" smtClean="0"/>
              <a:t>14</a:t>
            </a:fld>
            <a:endParaRPr lang="en-US"/>
          </a:p>
        </p:txBody>
      </p:sp>
      <p:pic>
        <p:nvPicPr>
          <p:cNvPr id="5" name="Picture 4">
            <a:extLst>
              <a:ext uri="{FF2B5EF4-FFF2-40B4-BE49-F238E27FC236}">
                <a16:creationId xmlns:a16="http://schemas.microsoft.com/office/drawing/2014/main" id="{B20FF7FF-4F94-4BD2-8B52-E77B62A855DE}"/>
              </a:ext>
            </a:extLst>
          </p:cNvPr>
          <p:cNvPicPr>
            <a:picLocks noChangeAspect="1"/>
          </p:cNvPicPr>
          <p:nvPr/>
        </p:nvPicPr>
        <p:blipFill>
          <a:blip r:embed="rId3"/>
          <a:stretch>
            <a:fillRect/>
          </a:stretch>
        </p:blipFill>
        <p:spPr>
          <a:xfrm>
            <a:off x="2809882" y="3867151"/>
            <a:ext cx="6572236" cy="2935287"/>
          </a:xfrm>
          <a:prstGeom prst="rect">
            <a:avLst/>
          </a:prstGeom>
        </p:spPr>
      </p:pic>
    </p:spTree>
    <p:extLst>
      <p:ext uri="{BB962C8B-B14F-4D97-AF65-F5344CB8AC3E}">
        <p14:creationId xmlns:p14="http://schemas.microsoft.com/office/powerpoint/2010/main" val="3383647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C8C4E-7A0F-92F7-54F7-94E74E1774B4}"/>
              </a:ext>
            </a:extLst>
          </p:cNvPr>
          <p:cNvSpPr>
            <a:spLocks noGrp="1"/>
          </p:cNvSpPr>
          <p:nvPr>
            <p:ph type="title"/>
          </p:nvPr>
        </p:nvSpPr>
        <p:spPr/>
        <p:txBody>
          <a:bodyPr/>
          <a:lstStyle/>
          <a:p>
            <a:r>
              <a:rPr lang="en-US" dirty="0"/>
              <a:t>Are there “discontinuities” in outcomes?</a:t>
            </a:r>
          </a:p>
        </p:txBody>
      </p:sp>
      <p:sp>
        <p:nvSpPr>
          <p:cNvPr id="3" name="Content Placeholder 2">
            <a:extLst>
              <a:ext uri="{FF2B5EF4-FFF2-40B4-BE49-F238E27FC236}">
                <a16:creationId xmlns:a16="http://schemas.microsoft.com/office/drawing/2014/main" id="{E06E000E-A450-DF43-D2EB-3F7C9C81FA08}"/>
              </a:ext>
            </a:extLst>
          </p:cNvPr>
          <p:cNvSpPr>
            <a:spLocks noGrp="1"/>
          </p:cNvSpPr>
          <p:nvPr>
            <p:ph idx="1"/>
          </p:nvPr>
        </p:nvSpPr>
        <p:spPr>
          <a:xfrm>
            <a:off x="838200" y="1825625"/>
            <a:ext cx="3539247" cy="4351338"/>
          </a:xfrm>
        </p:spPr>
        <p:txBody>
          <a:bodyPr>
            <a:normAutofit/>
          </a:bodyPr>
          <a:lstStyle/>
          <a:p>
            <a:r>
              <a:rPr lang="en-US" dirty="0"/>
              <a:t>If we think we have met the conditions for valid RDDs we can look for “jumps” in outcomes</a:t>
            </a:r>
          </a:p>
          <a:p>
            <a:r>
              <a:rPr lang="en-US" sz="2800" dirty="0"/>
              <a:t>We could observe shift in intercept </a:t>
            </a:r>
            <a:r>
              <a:rPr lang="en-US" sz="2800" b="1" dirty="0"/>
              <a:t>and</a:t>
            </a:r>
            <a:r>
              <a:rPr lang="en-US" sz="2800" dirty="0"/>
              <a:t> change in slope of relationship</a:t>
            </a:r>
          </a:p>
          <a:p>
            <a:endParaRPr lang="en-US" dirty="0"/>
          </a:p>
          <a:p>
            <a:pPr marL="0" indent="0">
              <a:buNone/>
            </a:pPr>
            <a:endParaRPr lang="en-US" dirty="0"/>
          </a:p>
          <a:p>
            <a:pPr marL="0" indent="0">
              <a:buNone/>
            </a:pPr>
            <a:endParaRPr lang="en-US" dirty="0"/>
          </a:p>
          <a:p>
            <a:pPr lvl="1"/>
            <a:endParaRPr lang="en-US" dirty="0"/>
          </a:p>
          <a:p>
            <a:pPr lvl="1"/>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CDD571F9-AE40-0630-E18A-396375E5F163}"/>
              </a:ext>
            </a:extLst>
          </p:cNvPr>
          <p:cNvSpPr>
            <a:spLocks noGrp="1"/>
          </p:cNvSpPr>
          <p:nvPr>
            <p:ph type="sldNum" sz="quarter" idx="12"/>
          </p:nvPr>
        </p:nvSpPr>
        <p:spPr/>
        <p:txBody>
          <a:bodyPr/>
          <a:lstStyle/>
          <a:p>
            <a:fld id="{4698AAF4-35A4-40F4-A7AE-C8E2C41B9252}" type="slidenum">
              <a:rPr lang="en-US" smtClean="0"/>
              <a:t>15</a:t>
            </a:fld>
            <a:endParaRPr lang="en-US"/>
          </a:p>
        </p:txBody>
      </p:sp>
      <p:pic>
        <p:nvPicPr>
          <p:cNvPr id="13" name="Picture 12" descr="A diagram of a function&#10;&#10;Description automatically generated">
            <a:extLst>
              <a:ext uri="{FF2B5EF4-FFF2-40B4-BE49-F238E27FC236}">
                <a16:creationId xmlns:a16="http://schemas.microsoft.com/office/drawing/2014/main" id="{F128D420-D481-924C-A0E0-8F3100A6C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0" y="1424764"/>
            <a:ext cx="7772400" cy="5720316"/>
          </a:xfrm>
          <a:prstGeom prst="rect">
            <a:avLst/>
          </a:prstGeom>
        </p:spPr>
      </p:pic>
    </p:spTree>
    <p:extLst>
      <p:ext uri="{BB962C8B-B14F-4D97-AF65-F5344CB8AC3E}">
        <p14:creationId xmlns:p14="http://schemas.microsoft.com/office/powerpoint/2010/main" val="1100152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50270-1D57-2432-422A-4962F6AA5149}"/>
              </a:ext>
            </a:extLst>
          </p:cNvPr>
          <p:cNvSpPr>
            <a:spLocks noGrp="1"/>
          </p:cNvSpPr>
          <p:nvPr>
            <p:ph type="title"/>
          </p:nvPr>
        </p:nvSpPr>
        <p:spPr/>
        <p:txBody>
          <a:bodyPr>
            <a:normAutofit/>
          </a:bodyPr>
          <a:lstStyle/>
          <a:p>
            <a:r>
              <a:rPr lang="en-US" sz="4000" dirty="0"/>
              <a:t>Example – looking for discontinuities in outcomes</a:t>
            </a:r>
          </a:p>
        </p:txBody>
      </p:sp>
      <p:pic>
        <p:nvPicPr>
          <p:cNvPr id="6" name="Content Placeholder 5" descr="A graph of black and white lines&#10;&#10;Description automatically generated">
            <a:extLst>
              <a:ext uri="{FF2B5EF4-FFF2-40B4-BE49-F238E27FC236}">
                <a16:creationId xmlns:a16="http://schemas.microsoft.com/office/drawing/2014/main" id="{E7861BC3-A8E7-9A4A-62BC-FC317464E3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3662" y="2005012"/>
            <a:ext cx="6188396" cy="4351338"/>
          </a:xfrm>
        </p:spPr>
      </p:pic>
      <p:sp>
        <p:nvSpPr>
          <p:cNvPr id="4" name="Slide Number Placeholder 3">
            <a:extLst>
              <a:ext uri="{FF2B5EF4-FFF2-40B4-BE49-F238E27FC236}">
                <a16:creationId xmlns:a16="http://schemas.microsoft.com/office/drawing/2014/main" id="{80768F54-C425-9384-5CE2-36E04180B36D}"/>
              </a:ext>
            </a:extLst>
          </p:cNvPr>
          <p:cNvSpPr>
            <a:spLocks noGrp="1"/>
          </p:cNvSpPr>
          <p:nvPr>
            <p:ph type="sldNum" sz="quarter" idx="12"/>
          </p:nvPr>
        </p:nvSpPr>
        <p:spPr/>
        <p:txBody>
          <a:bodyPr/>
          <a:lstStyle/>
          <a:p>
            <a:fld id="{4698AAF4-35A4-40F4-A7AE-C8E2C41B9252}" type="slidenum">
              <a:rPr lang="en-US" smtClean="0"/>
              <a:t>16</a:t>
            </a:fld>
            <a:endParaRPr lang="en-US"/>
          </a:p>
        </p:txBody>
      </p:sp>
      <p:sp>
        <p:nvSpPr>
          <p:cNvPr id="7" name="TextBox 6">
            <a:extLst>
              <a:ext uri="{FF2B5EF4-FFF2-40B4-BE49-F238E27FC236}">
                <a16:creationId xmlns:a16="http://schemas.microsoft.com/office/drawing/2014/main" id="{E532C2A2-9FD3-2163-10D9-459EA0237F87}"/>
              </a:ext>
            </a:extLst>
          </p:cNvPr>
          <p:cNvSpPr txBox="1"/>
          <p:nvPr/>
        </p:nvSpPr>
        <p:spPr>
          <a:xfrm>
            <a:off x="6762307" y="2677190"/>
            <a:ext cx="4809584" cy="2308324"/>
          </a:xfrm>
          <a:prstGeom prst="rect">
            <a:avLst/>
          </a:prstGeom>
          <a:noFill/>
        </p:spPr>
        <p:txBody>
          <a:bodyPr wrap="square" rtlCol="0">
            <a:spAutoFit/>
          </a:bodyPr>
          <a:lstStyle/>
          <a:p>
            <a:r>
              <a:rPr lang="en-US" sz="2400" dirty="0"/>
              <a:t>What treatment/intervention/policy is being evaluated?</a:t>
            </a:r>
          </a:p>
          <a:p>
            <a:endParaRPr lang="en-US" sz="2400" dirty="0"/>
          </a:p>
          <a:p>
            <a:r>
              <a:rPr lang="en-US" sz="2400" dirty="0"/>
              <a:t>How do we feel about the assumptions for RDD to be valid in this case? </a:t>
            </a:r>
          </a:p>
        </p:txBody>
      </p:sp>
    </p:spTree>
    <p:extLst>
      <p:ext uri="{BB962C8B-B14F-4D97-AF65-F5344CB8AC3E}">
        <p14:creationId xmlns:p14="http://schemas.microsoft.com/office/powerpoint/2010/main" val="1899365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2C12E-12D1-9FDA-0EF3-E46F730A4A56}"/>
              </a:ext>
            </a:extLst>
          </p:cNvPr>
          <p:cNvSpPr>
            <a:spLocks noGrp="1"/>
          </p:cNvSpPr>
          <p:nvPr>
            <p:ph type="title"/>
          </p:nvPr>
        </p:nvSpPr>
        <p:spPr/>
        <p:txBody>
          <a:bodyPr>
            <a:normAutofit/>
          </a:bodyPr>
          <a:lstStyle/>
          <a:p>
            <a:r>
              <a:rPr lang="en-US" sz="4000" dirty="0"/>
              <a:t>Example – looking for discontinuities in outcomes</a:t>
            </a:r>
          </a:p>
        </p:txBody>
      </p:sp>
      <p:pic>
        <p:nvPicPr>
          <p:cNvPr id="6" name="Content Placeholder 5" descr="A graph of the covid-19&#10;&#10;Description automatically generated">
            <a:extLst>
              <a:ext uri="{FF2B5EF4-FFF2-40B4-BE49-F238E27FC236}">
                <a16:creationId xmlns:a16="http://schemas.microsoft.com/office/drawing/2014/main" id="{89600800-C8E7-A02C-1515-B6CA36A390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5912984" cy="4351338"/>
          </a:xfrm>
        </p:spPr>
      </p:pic>
      <p:sp>
        <p:nvSpPr>
          <p:cNvPr id="4" name="Slide Number Placeholder 3">
            <a:extLst>
              <a:ext uri="{FF2B5EF4-FFF2-40B4-BE49-F238E27FC236}">
                <a16:creationId xmlns:a16="http://schemas.microsoft.com/office/drawing/2014/main" id="{CB0F9052-4737-59BE-F36F-FE00AA2C40B9}"/>
              </a:ext>
            </a:extLst>
          </p:cNvPr>
          <p:cNvSpPr>
            <a:spLocks noGrp="1"/>
          </p:cNvSpPr>
          <p:nvPr>
            <p:ph type="sldNum" sz="quarter" idx="12"/>
          </p:nvPr>
        </p:nvSpPr>
        <p:spPr/>
        <p:txBody>
          <a:bodyPr/>
          <a:lstStyle/>
          <a:p>
            <a:fld id="{4698AAF4-35A4-40F4-A7AE-C8E2C41B9252}" type="slidenum">
              <a:rPr lang="en-US" smtClean="0"/>
              <a:t>17</a:t>
            </a:fld>
            <a:endParaRPr lang="en-US"/>
          </a:p>
        </p:txBody>
      </p:sp>
      <p:sp>
        <p:nvSpPr>
          <p:cNvPr id="3" name="TextBox 2">
            <a:extLst>
              <a:ext uri="{FF2B5EF4-FFF2-40B4-BE49-F238E27FC236}">
                <a16:creationId xmlns:a16="http://schemas.microsoft.com/office/drawing/2014/main" id="{EC68D66D-6F68-D4E6-3B10-8D1649857E02}"/>
              </a:ext>
            </a:extLst>
          </p:cNvPr>
          <p:cNvSpPr txBox="1"/>
          <p:nvPr/>
        </p:nvSpPr>
        <p:spPr>
          <a:xfrm>
            <a:off x="6869185" y="2274838"/>
            <a:ext cx="4809584" cy="830997"/>
          </a:xfrm>
          <a:prstGeom prst="rect">
            <a:avLst/>
          </a:prstGeom>
          <a:noFill/>
        </p:spPr>
        <p:txBody>
          <a:bodyPr wrap="square" rtlCol="0">
            <a:spAutoFit/>
          </a:bodyPr>
          <a:lstStyle/>
          <a:p>
            <a:r>
              <a:rPr lang="en-US" sz="2400" dirty="0"/>
              <a:t>Remember – RDD is econometrics by graphs!</a:t>
            </a:r>
          </a:p>
        </p:txBody>
      </p:sp>
    </p:spTree>
    <p:extLst>
      <p:ext uri="{BB962C8B-B14F-4D97-AF65-F5344CB8AC3E}">
        <p14:creationId xmlns:p14="http://schemas.microsoft.com/office/powerpoint/2010/main" val="3058951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9E1CB-8B5D-4E1D-B960-E87CF65D88F5}"/>
              </a:ext>
            </a:extLst>
          </p:cNvPr>
          <p:cNvSpPr>
            <a:spLocks noGrp="1"/>
          </p:cNvSpPr>
          <p:nvPr>
            <p:ph type="title"/>
          </p:nvPr>
        </p:nvSpPr>
        <p:spPr/>
        <p:txBody>
          <a:bodyPr/>
          <a:lstStyle/>
          <a:p>
            <a:r>
              <a:rPr lang="en-US" dirty="0"/>
              <a:t>Sharp discontinuities vs. fuzzy discontinuities</a:t>
            </a:r>
          </a:p>
        </p:txBody>
      </p:sp>
      <p:sp>
        <p:nvSpPr>
          <p:cNvPr id="3" name="Content Placeholder 2">
            <a:extLst>
              <a:ext uri="{FF2B5EF4-FFF2-40B4-BE49-F238E27FC236}">
                <a16:creationId xmlns:a16="http://schemas.microsoft.com/office/drawing/2014/main" id="{E8C6C6F5-C074-4F45-ABFE-16AC5C2FB310}"/>
              </a:ext>
            </a:extLst>
          </p:cNvPr>
          <p:cNvSpPr>
            <a:spLocks noGrp="1"/>
          </p:cNvSpPr>
          <p:nvPr>
            <p:ph idx="1"/>
          </p:nvPr>
        </p:nvSpPr>
        <p:spPr/>
        <p:txBody>
          <a:bodyPr/>
          <a:lstStyle/>
          <a:p>
            <a:r>
              <a:rPr lang="en-US" dirty="0"/>
              <a:t>With sharp discontinuities, the probability of receiving treatment at the threshold goes from 0 to 1</a:t>
            </a:r>
          </a:p>
          <a:p>
            <a:r>
              <a:rPr lang="en-US" dirty="0"/>
              <a:t>With fuzzy discontinuities, the change in probability of receiving treatment at the threshold is less than 1</a:t>
            </a:r>
          </a:p>
        </p:txBody>
      </p:sp>
      <p:sp>
        <p:nvSpPr>
          <p:cNvPr id="4" name="Slide Number Placeholder 3">
            <a:extLst>
              <a:ext uri="{FF2B5EF4-FFF2-40B4-BE49-F238E27FC236}">
                <a16:creationId xmlns:a16="http://schemas.microsoft.com/office/drawing/2014/main" id="{561455BE-DC3A-4710-A5AB-702A4E43A443}"/>
              </a:ext>
            </a:extLst>
          </p:cNvPr>
          <p:cNvSpPr>
            <a:spLocks noGrp="1"/>
          </p:cNvSpPr>
          <p:nvPr>
            <p:ph type="sldNum" sz="quarter" idx="12"/>
          </p:nvPr>
        </p:nvSpPr>
        <p:spPr/>
        <p:txBody>
          <a:bodyPr/>
          <a:lstStyle/>
          <a:p>
            <a:fld id="{4698AAF4-35A4-40F4-A7AE-C8E2C41B9252}" type="slidenum">
              <a:rPr lang="en-US" smtClean="0"/>
              <a:t>18</a:t>
            </a:fld>
            <a:endParaRPr lang="en-US"/>
          </a:p>
        </p:txBody>
      </p:sp>
      <p:pic>
        <p:nvPicPr>
          <p:cNvPr id="5" name="Picture 4">
            <a:extLst>
              <a:ext uri="{FF2B5EF4-FFF2-40B4-BE49-F238E27FC236}">
                <a16:creationId xmlns:a16="http://schemas.microsoft.com/office/drawing/2014/main" id="{E844A7E4-261A-405B-808D-39B206259775}"/>
              </a:ext>
            </a:extLst>
          </p:cNvPr>
          <p:cNvPicPr>
            <a:picLocks noChangeAspect="1"/>
          </p:cNvPicPr>
          <p:nvPr/>
        </p:nvPicPr>
        <p:blipFill>
          <a:blip r:embed="rId2"/>
          <a:stretch>
            <a:fillRect/>
          </a:stretch>
        </p:blipFill>
        <p:spPr>
          <a:xfrm>
            <a:off x="838200" y="3671496"/>
            <a:ext cx="4381500" cy="3049979"/>
          </a:xfrm>
          <a:prstGeom prst="rect">
            <a:avLst/>
          </a:prstGeom>
        </p:spPr>
      </p:pic>
      <p:pic>
        <p:nvPicPr>
          <p:cNvPr id="6" name="Picture 5">
            <a:extLst>
              <a:ext uri="{FF2B5EF4-FFF2-40B4-BE49-F238E27FC236}">
                <a16:creationId xmlns:a16="http://schemas.microsoft.com/office/drawing/2014/main" id="{1F9E44A8-5512-48E4-8FBD-0AC88CF3574A}"/>
              </a:ext>
            </a:extLst>
          </p:cNvPr>
          <p:cNvPicPr>
            <a:picLocks noChangeAspect="1"/>
          </p:cNvPicPr>
          <p:nvPr/>
        </p:nvPicPr>
        <p:blipFill>
          <a:blip r:embed="rId3"/>
          <a:stretch>
            <a:fillRect/>
          </a:stretch>
        </p:blipFill>
        <p:spPr>
          <a:xfrm>
            <a:off x="6475073" y="3671496"/>
            <a:ext cx="4271054" cy="3054096"/>
          </a:xfrm>
          <a:prstGeom prst="rect">
            <a:avLst/>
          </a:prstGeom>
        </p:spPr>
      </p:pic>
    </p:spTree>
    <p:extLst>
      <p:ext uri="{BB962C8B-B14F-4D97-AF65-F5344CB8AC3E}">
        <p14:creationId xmlns:p14="http://schemas.microsoft.com/office/powerpoint/2010/main" val="1583490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C8C4E-7A0F-92F7-54F7-94E74E1774B4}"/>
              </a:ext>
            </a:extLst>
          </p:cNvPr>
          <p:cNvSpPr>
            <a:spLocks noGrp="1"/>
          </p:cNvSpPr>
          <p:nvPr>
            <p:ph type="title"/>
          </p:nvPr>
        </p:nvSpPr>
        <p:spPr/>
        <p:txBody>
          <a:bodyPr/>
          <a:lstStyle/>
          <a:p>
            <a:r>
              <a:rPr lang="en-US" dirty="0"/>
              <a:t>Sharp or fuzzy</a:t>
            </a:r>
          </a:p>
        </p:txBody>
      </p:sp>
      <p:sp>
        <p:nvSpPr>
          <p:cNvPr id="3" name="Content Placeholder 2">
            <a:extLst>
              <a:ext uri="{FF2B5EF4-FFF2-40B4-BE49-F238E27FC236}">
                <a16:creationId xmlns:a16="http://schemas.microsoft.com/office/drawing/2014/main" id="{E06E000E-A450-DF43-D2EB-3F7C9C81FA08}"/>
              </a:ext>
            </a:extLst>
          </p:cNvPr>
          <p:cNvSpPr>
            <a:spLocks noGrp="1"/>
          </p:cNvSpPr>
          <p:nvPr>
            <p:ph idx="1"/>
          </p:nvPr>
        </p:nvSpPr>
        <p:spPr/>
        <p:txBody>
          <a:bodyPr>
            <a:normAutofit/>
          </a:bodyPr>
          <a:lstStyle/>
          <a:p>
            <a:r>
              <a:rPr lang="en-US" dirty="0"/>
              <a:t>Would these be sharp or fuzzy RDD?</a:t>
            </a:r>
          </a:p>
          <a:p>
            <a:pPr lvl="1"/>
            <a:r>
              <a:rPr lang="en-US" dirty="0"/>
              <a:t>LBW designation for more intensive newborn care and follow-up</a:t>
            </a:r>
          </a:p>
          <a:p>
            <a:pPr lvl="1"/>
            <a:r>
              <a:rPr lang="en-US" dirty="0"/>
              <a:t>Advanced maternal age for more “intensive” medical treatment</a:t>
            </a:r>
          </a:p>
          <a:p>
            <a:pPr lvl="1"/>
            <a:r>
              <a:rPr lang="en-US" dirty="0"/>
              <a:t>Births around midnight for longer postpartum stay</a:t>
            </a:r>
          </a:p>
          <a:p>
            <a:pPr lvl="1"/>
            <a:r>
              <a:rPr lang="en-US" dirty="0"/>
              <a:t>Close election for representation by a female mayor</a:t>
            </a:r>
          </a:p>
          <a:p>
            <a:pPr lvl="1"/>
            <a:endParaRPr lang="en-US" dirty="0"/>
          </a:p>
          <a:p>
            <a:pPr lvl="1"/>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CDD571F9-AE40-0630-E18A-396375E5F163}"/>
              </a:ext>
            </a:extLst>
          </p:cNvPr>
          <p:cNvSpPr>
            <a:spLocks noGrp="1"/>
          </p:cNvSpPr>
          <p:nvPr>
            <p:ph type="sldNum" sz="quarter" idx="12"/>
          </p:nvPr>
        </p:nvSpPr>
        <p:spPr/>
        <p:txBody>
          <a:bodyPr/>
          <a:lstStyle/>
          <a:p>
            <a:fld id="{4698AAF4-35A4-40F4-A7AE-C8E2C41B9252}" type="slidenum">
              <a:rPr lang="en-US" smtClean="0"/>
              <a:t>19</a:t>
            </a:fld>
            <a:endParaRPr lang="en-US"/>
          </a:p>
        </p:txBody>
      </p:sp>
    </p:spTree>
    <p:extLst>
      <p:ext uri="{BB962C8B-B14F-4D97-AF65-F5344CB8AC3E}">
        <p14:creationId xmlns:p14="http://schemas.microsoft.com/office/powerpoint/2010/main" val="2738361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C8C4E-7A0F-92F7-54F7-94E74E1774B4}"/>
              </a:ext>
            </a:extLst>
          </p:cNvPr>
          <p:cNvSpPr>
            <a:spLocks noGrp="1"/>
          </p:cNvSpPr>
          <p:nvPr>
            <p:ph type="title"/>
          </p:nvPr>
        </p:nvSpPr>
        <p:spPr/>
        <p:txBody>
          <a:bodyPr/>
          <a:lstStyle/>
          <a:p>
            <a:r>
              <a:rPr lang="en-US" dirty="0"/>
              <a:t>Sharp or fuzzy</a:t>
            </a:r>
          </a:p>
        </p:txBody>
      </p:sp>
      <p:sp>
        <p:nvSpPr>
          <p:cNvPr id="3" name="Content Placeholder 2">
            <a:extLst>
              <a:ext uri="{FF2B5EF4-FFF2-40B4-BE49-F238E27FC236}">
                <a16:creationId xmlns:a16="http://schemas.microsoft.com/office/drawing/2014/main" id="{E06E000E-A450-DF43-D2EB-3F7C9C81FA08}"/>
              </a:ext>
            </a:extLst>
          </p:cNvPr>
          <p:cNvSpPr>
            <a:spLocks noGrp="1"/>
          </p:cNvSpPr>
          <p:nvPr>
            <p:ph idx="1"/>
          </p:nvPr>
        </p:nvSpPr>
        <p:spPr/>
        <p:txBody>
          <a:bodyPr>
            <a:normAutofit/>
          </a:bodyPr>
          <a:lstStyle/>
          <a:p>
            <a:r>
              <a:rPr lang="en-US" dirty="0"/>
              <a:t>Would these be sharp or fuzzy RDD?</a:t>
            </a:r>
          </a:p>
          <a:p>
            <a:pPr lvl="1"/>
            <a:r>
              <a:rPr lang="en-US" i="1" dirty="0"/>
              <a:t>LBW designation for more intensive newborn care and follow-up</a:t>
            </a:r>
          </a:p>
          <a:p>
            <a:pPr lvl="1"/>
            <a:r>
              <a:rPr lang="en-US" i="1" dirty="0"/>
              <a:t>Advanced maternal age for more “intensive” medical treatment</a:t>
            </a:r>
          </a:p>
          <a:p>
            <a:pPr lvl="1"/>
            <a:r>
              <a:rPr lang="en-US" i="1" dirty="0"/>
              <a:t>Births around midnight for longer postpartum stay</a:t>
            </a:r>
          </a:p>
          <a:p>
            <a:pPr lvl="1"/>
            <a:r>
              <a:rPr lang="en-US" b="1" dirty="0"/>
              <a:t>Close election for representation by a female mayor (hopefully)</a:t>
            </a:r>
          </a:p>
          <a:p>
            <a:pPr lvl="1"/>
            <a:endParaRPr lang="en-US" dirty="0"/>
          </a:p>
          <a:p>
            <a:pPr lvl="1"/>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CDD571F9-AE40-0630-E18A-396375E5F163}"/>
              </a:ext>
            </a:extLst>
          </p:cNvPr>
          <p:cNvSpPr>
            <a:spLocks noGrp="1"/>
          </p:cNvSpPr>
          <p:nvPr>
            <p:ph type="sldNum" sz="quarter" idx="12"/>
          </p:nvPr>
        </p:nvSpPr>
        <p:spPr/>
        <p:txBody>
          <a:bodyPr/>
          <a:lstStyle/>
          <a:p>
            <a:fld id="{4698AAF4-35A4-40F4-A7AE-C8E2C41B9252}" type="slidenum">
              <a:rPr lang="en-US" smtClean="0"/>
              <a:t>20</a:t>
            </a:fld>
            <a:endParaRPr lang="en-US"/>
          </a:p>
        </p:txBody>
      </p:sp>
    </p:spTree>
    <p:extLst>
      <p:ext uri="{BB962C8B-B14F-4D97-AF65-F5344CB8AC3E}">
        <p14:creationId xmlns:p14="http://schemas.microsoft.com/office/powerpoint/2010/main" val="521912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4C0D9-AAE9-A5D9-ABFE-D49D3630F47F}"/>
              </a:ext>
            </a:extLst>
          </p:cNvPr>
          <p:cNvSpPr>
            <a:spLocks noGrp="1"/>
          </p:cNvSpPr>
          <p:nvPr>
            <p:ph type="title"/>
          </p:nvPr>
        </p:nvSpPr>
        <p:spPr/>
        <p:txBody>
          <a:bodyPr/>
          <a:lstStyle/>
          <a:p>
            <a:r>
              <a:rPr lang="en-US" dirty="0"/>
              <a:t>Example of fuzzy RDD – length of stay after birth</a:t>
            </a:r>
          </a:p>
        </p:txBody>
      </p:sp>
      <p:pic>
        <p:nvPicPr>
          <p:cNvPr id="6" name="Content Placeholder 5" descr="A graph with red and blue dots&#10;&#10;Description automatically generated">
            <a:extLst>
              <a:ext uri="{FF2B5EF4-FFF2-40B4-BE49-F238E27FC236}">
                <a16:creationId xmlns:a16="http://schemas.microsoft.com/office/drawing/2014/main" id="{25557E06-FA82-C639-BA96-BD7DC844DF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0799" y="1825625"/>
            <a:ext cx="9990402" cy="4351338"/>
          </a:xfrm>
        </p:spPr>
      </p:pic>
      <p:sp>
        <p:nvSpPr>
          <p:cNvPr id="4" name="Slide Number Placeholder 3">
            <a:extLst>
              <a:ext uri="{FF2B5EF4-FFF2-40B4-BE49-F238E27FC236}">
                <a16:creationId xmlns:a16="http://schemas.microsoft.com/office/drawing/2014/main" id="{A79E3976-D7A0-9249-5F7F-5D9AA7454043}"/>
              </a:ext>
            </a:extLst>
          </p:cNvPr>
          <p:cNvSpPr>
            <a:spLocks noGrp="1"/>
          </p:cNvSpPr>
          <p:nvPr>
            <p:ph type="sldNum" sz="quarter" idx="12"/>
          </p:nvPr>
        </p:nvSpPr>
        <p:spPr/>
        <p:txBody>
          <a:bodyPr/>
          <a:lstStyle/>
          <a:p>
            <a:fld id="{4698AAF4-35A4-40F4-A7AE-C8E2C41B9252}" type="slidenum">
              <a:rPr lang="en-US" smtClean="0"/>
              <a:t>21</a:t>
            </a:fld>
            <a:endParaRPr lang="en-US"/>
          </a:p>
        </p:txBody>
      </p:sp>
    </p:spTree>
    <p:extLst>
      <p:ext uri="{BB962C8B-B14F-4D97-AF65-F5344CB8AC3E}">
        <p14:creationId xmlns:p14="http://schemas.microsoft.com/office/powerpoint/2010/main" val="4287248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0AFE-4A1E-41F6-A6CC-7CA3CB5ABADF}"/>
              </a:ext>
            </a:extLst>
          </p:cNvPr>
          <p:cNvSpPr>
            <a:spLocks noGrp="1"/>
          </p:cNvSpPr>
          <p:nvPr>
            <p:ph type="title"/>
          </p:nvPr>
        </p:nvSpPr>
        <p:spPr>
          <a:xfrm>
            <a:off x="838200" y="365125"/>
            <a:ext cx="10515600" cy="857185"/>
          </a:xfrm>
        </p:spPr>
        <p:txBody>
          <a:bodyPr/>
          <a:lstStyle/>
          <a:p>
            <a:r>
              <a:rPr lang="en-US" dirty="0"/>
              <a:t>Identifying the causal effect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D4B7E5-A283-4764-BFD3-36CA50A45746}"/>
                  </a:ext>
                </a:extLst>
              </p:cNvPr>
              <p:cNvSpPr>
                <a:spLocks noGrp="1"/>
              </p:cNvSpPr>
              <p:nvPr>
                <p:ph idx="1"/>
              </p:nvPr>
            </p:nvSpPr>
            <p:spPr>
              <a:xfrm>
                <a:off x="838200" y="1324948"/>
                <a:ext cx="10515600" cy="5031402"/>
              </a:xfrm>
            </p:spPr>
            <p:txBody>
              <a:bodyPr>
                <a:normAutofit/>
              </a:bodyPr>
              <a:lstStyle/>
              <a:p>
                <a:r>
                  <a:rPr lang="en-US" dirty="0"/>
                  <a:t>We want to know the causal effect of getting “more” of the treatment</a:t>
                </a:r>
              </a:p>
              <a:p>
                <a:endParaRPr lang="en-US" dirty="0"/>
              </a:p>
              <a:p>
                <a:r>
                  <a:rPr lang="en-US" dirty="0"/>
                  <a:t>We should be able to get this by comparing outcomes just below and just above the threshold</a:t>
                </a:r>
              </a:p>
              <a:p>
                <a:pPr marL="0" indent="0">
                  <a:buNone/>
                </a:pPr>
                <a:endParaRPr lang="en-US" dirty="0"/>
              </a:p>
              <a:p>
                <a:r>
                  <a:rPr lang="en-US" dirty="0"/>
                  <a:t>The difference in mean outcomes (called the Average Causal Effect or ACE) at the threshold is given by:</a:t>
                </a:r>
              </a:p>
              <a:p>
                <a:pPr marL="0" indent="0" algn="ctr">
                  <a:buNone/>
                </a:pPr>
                <a14:m>
                  <m:oMath xmlns:m="http://schemas.openxmlformats.org/officeDocument/2006/math">
                    <m:r>
                      <a:rPr lang="en-US" b="0" i="1" smtClean="0">
                        <a:latin typeface="Cambria Math" panose="02040503050406030204" pitchFamily="18" charset="0"/>
                      </a:rPr>
                      <m:t>𝐴𝐶𝐸</m:t>
                    </m:r>
                    <m:r>
                      <a:rPr lang="en-US" b="0" i="1" smtClean="0">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𝑍</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lim>
                        </m:limLow>
                      </m:fName>
                      <m:e>
                        <m:r>
                          <a:rPr lang="en-US" i="1">
                            <a:latin typeface="Cambria Math" panose="02040503050406030204" pitchFamily="18" charset="0"/>
                          </a:rPr>
                          <m:t>𝐸</m:t>
                        </m:r>
                        <m:r>
                          <a:rPr lang="en-US" i="1">
                            <a:latin typeface="Cambria Math" panose="02040503050406030204" pitchFamily="18" charset="0"/>
                          </a:rPr>
                          <m:t>[</m:t>
                        </m:r>
                        <m:r>
                          <m:rPr>
                            <m:nor/>
                          </m:rPr>
                          <a:rPr lang="en-US" i="1"/>
                          <m:t>Y</m:t>
                        </m:r>
                        <m:r>
                          <m:rPr>
                            <m:nor/>
                          </m:rPr>
                          <a:rPr lang="en-US" i="1" baseline="-25000"/>
                          <m:t>i</m:t>
                        </m:r>
                        <m:r>
                          <m:rPr>
                            <m:nor/>
                          </m:rPr>
                          <a:rPr lang="en-US"/>
                          <m:t>(</m:t>
                        </m:r>
                        <m:r>
                          <m:rPr>
                            <m:nor/>
                          </m:rPr>
                          <a:rPr lang="en-US" b="0" i="0" smtClean="0"/>
                          <m:t>1</m:t>
                        </m:r>
                        <m:r>
                          <m:rPr>
                            <m:nor/>
                          </m:rPr>
                          <a:rPr lang="en-US"/>
                          <m:t>)</m:t>
                        </m:r>
                        <m:r>
                          <m:rPr>
                            <m:nor/>
                          </m:rPr>
                          <a:rPr lang="en-US" b="0" i="0" smtClean="0"/>
                          <m:t>|</m:t>
                        </m:r>
                        <m:r>
                          <m:rPr>
                            <m:nor/>
                          </m:rPr>
                          <a:rPr lang="en-US" b="0" i="1" smtClean="0"/>
                          <m:t>Z</m:t>
                        </m:r>
                        <m:r>
                          <m:rPr>
                            <m:nor/>
                          </m:rPr>
                          <a:rPr lang="en-US" i="1" baseline="-25000" smtClean="0"/>
                          <m:t>i</m:t>
                        </m:r>
                      </m:e>
                    </m:func>
                    <m:r>
                      <m:rPr>
                        <m:nor/>
                      </m:rPr>
                      <a:rPr lang="en-US"/>
                      <m:t>=</m:t>
                    </m:r>
                    <m:r>
                      <m:rPr>
                        <m:nor/>
                      </m:rPr>
                      <a:rPr lang="en-US"/>
                      <m:t>c</m:t>
                    </m:r>
                    <m:r>
                      <a:rPr lang="en-US" b="0" i="1" smtClean="0">
                        <a:latin typeface="Cambria Math" panose="02040503050406030204" pitchFamily="18" charset="0"/>
                      </a:rPr>
                      <m:t>]</m:t>
                    </m:r>
                    <m:func>
                      <m:funcPr>
                        <m:ctrlPr>
                          <a:rPr lang="en-US" i="1" smtClean="0">
                            <a:latin typeface="Cambria Math" panose="02040503050406030204" pitchFamily="18" charset="0"/>
                          </a:rPr>
                        </m:ctrlPr>
                      </m:funcPr>
                      <m:fName>
                        <m:r>
                          <a:rPr lang="en-US" b="0" i="1" smtClean="0">
                            <a:latin typeface="Cambria Math" panose="02040503050406030204" pitchFamily="18" charset="0"/>
                          </a:rPr>
                          <m:t>−</m:t>
                        </m:r>
                      </m:fName>
                      <m:e>
                        <m:limLow>
                          <m:limLowPr>
                            <m:ctrlPr>
                              <a:rPr lang="en-US" i="1" smtClean="0">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𝑍</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lim>
                        </m:limLow>
                        <m:r>
                          <a:rPr lang="en-US" i="1">
                            <a:latin typeface="Cambria Math" panose="02040503050406030204" pitchFamily="18" charset="0"/>
                          </a:rPr>
                          <m:t>𝐸</m:t>
                        </m:r>
                        <m:r>
                          <a:rPr lang="en-US" i="1">
                            <a:latin typeface="Cambria Math" panose="02040503050406030204" pitchFamily="18" charset="0"/>
                          </a:rPr>
                          <m:t>[</m:t>
                        </m:r>
                        <m:r>
                          <m:rPr>
                            <m:nor/>
                          </m:rPr>
                          <a:rPr lang="en-US" i="1"/>
                          <m:t>Y</m:t>
                        </m:r>
                        <m:r>
                          <m:rPr>
                            <m:nor/>
                          </m:rPr>
                          <a:rPr lang="en-US" i="1" baseline="-25000"/>
                          <m:t>i</m:t>
                        </m:r>
                        <m:r>
                          <m:rPr>
                            <m:nor/>
                          </m:rPr>
                          <a:rPr lang="en-US"/>
                          <m:t>(</m:t>
                        </m:r>
                        <m:r>
                          <m:rPr>
                            <m:nor/>
                          </m:rPr>
                          <a:rPr lang="en-US" b="0" i="0" smtClean="0"/>
                          <m:t>0</m:t>
                        </m:r>
                        <m:r>
                          <m:rPr>
                            <m:nor/>
                          </m:rPr>
                          <a:rPr lang="en-US"/>
                          <m:t>)</m:t>
                        </m:r>
                        <m:r>
                          <a:rPr lang="en-US" b="0" i="1" smtClean="0">
                            <a:latin typeface="Cambria Math" panose="02040503050406030204" pitchFamily="18" charset="0"/>
                          </a:rPr>
                          <m:t>|</m:t>
                        </m:r>
                        <m:r>
                          <m:rPr>
                            <m:nor/>
                          </m:rPr>
                          <a:rPr lang="en-US" b="0" i="1" smtClean="0">
                            <a:latin typeface="Cambria Math" panose="02040503050406030204" pitchFamily="18" charset="0"/>
                          </a:rPr>
                          <m:t>Z</m:t>
                        </m:r>
                        <m:r>
                          <m:rPr>
                            <m:nor/>
                          </m:rPr>
                          <a:rPr lang="en-US" i="1" baseline="-25000"/>
                          <m:t>i</m:t>
                        </m:r>
                        <m:r>
                          <m:rPr>
                            <m:nor/>
                          </m:rPr>
                          <a:rPr lang="en-US"/>
                          <m:t>=</m:t>
                        </m:r>
                        <m:r>
                          <m:rPr>
                            <m:nor/>
                          </m:rPr>
                          <a:rPr lang="en-US"/>
                          <m:t>c</m:t>
                        </m:r>
                        <m:r>
                          <a:rPr lang="en-US" i="1">
                            <a:latin typeface="Cambria Math" panose="02040503050406030204" pitchFamily="18" charset="0"/>
                          </a:rPr>
                          <m:t>]</m:t>
                        </m:r>
                      </m:e>
                    </m:func>
                  </m:oMath>
                </a14:m>
                <a:r>
                  <a:rPr lang="en-US" dirty="0"/>
                  <a:t>	</a:t>
                </a:r>
              </a:p>
              <a:p>
                <a:pPr marL="0" indent="0" algn="ctr">
                  <a:buNone/>
                </a:pPr>
                <a:r>
                  <a:rPr lang="en-US" dirty="0"/>
                  <a:t>		</a:t>
                </a:r>
              </a:p>
            </p:txBody>
          </p:sp>
        </mc:Choice>
        <mc:Fallback xmlns="">
          <p:sp>
            <p:nvSpPr>
              <p:cNvPr id="3" name="Content Placeholder 2">
                <a:extLst>
                  <a:ext uri="{FF2B5EF4-FFF2-40B4-BE49-F238E27FC236}">
                    <a16:creationId xmlns:a16="http://schemas.microsoft.com/office/drawing/2014/main" id="{B3D4B7E5-A283-4764-BFD3-36CA50A45746}"/>
                  </a:ext>
                </a:extLst>
              </p:cNvPr>
              <p:cNvSpPr>
                <a:spLocks noGrp="1" noRot="1" noChangeAspect="1" noMove="1" noResize="1" noEditPoints="1" noAdjustHandles="1" noChangeArrowheads="1" noChangeShapeType="1" noTextEdit="1"/>
              </p:cNvSpPr>
              <p:nvPr>
                <p:ph idx="1"/>
              </p:nvPr>
            </p:nvSpPr>
            <p:spPr>
              <a:xfrm>
                <a:off x="838200" y="1324948"/>
                <a:ext cx="10515600" cy="5031402"/>
              </a:xfrm>
              <a:blipFill>
                <a:blip r:embed="rId2"/>
                <a:stretch>
                  <a:fillRect l="-1086" t="-2015" r="-84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AC7A09C-0330-48F1-AB21-AC3585E3AD02}"/>
              </a:ext>
            </a:extLst>
          </p:cNvPr>
          <p:cNvSpPr>
            <a:spLocks noGrp="1"/>
          </p:cNvSpPr>
          <p:nvPr>
            <p:ph type="sldNum" sz="quarter" idx="12"/>
          </p:nvPr>
        </p:nvSpPr>
        <p:spPr/>
        <p:txBody>
          <a:bodyPr/>
          <a:lstStyle/>
          <a:p>
            <a:fld id="{4698AAF4-35A4-40F4-A7AE-C8E2C41B9252}" type="slidenum">
              <a:rPr lang="en-US" smtClean="0"/>
              <a:t>22</a:t>
            </a:fld>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339167667"/>
              </p:ext>
            </p:extLst>
          </p:nvPr>
        </p:nvGraphicFramePr>
        <p:xfrm>
          <a:off x="6146800" y="33528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0" name=""/>
                      <p:cNvPicPr/>
                      <p:nvPr/>
                    </p:nvPicPr>
                    <p:blipFill>
                      <a:blip r:embed="rId4"/>
                      <a:stretch>
                        <a:fillRect/>
                      </a:stretch>
                    </p:blipFill>
                    <p:spPr>
                      <a:xfrm>
                        <a:off x="6146800" y="3352800"/>
                        <a:ext cx="914400" cy="198438"/>
                      </a:xfrm>
                      <a:prstGeom prst="rect">
                        <a:avLst/>
                      </a:prstGeom>
                    </p:spPr>
                  </p:pic>
                </p:oleObj>
              </mc:Fallback>
            </mc:AlternateContent>
          </a:graphicData>
        </a:graphic>
      </p:graphicFrame>
    </p:spTree>
    <p:extLst>
      <p:ext uri="{BB962C8B-B14F-4D97-AF65-F5344CB8AC3E}">
        <p14:creationId xmlns:p14="http://schemas.microsoft.com/office/powerpoint/2010/main" val="411651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A7A43-63DF-4D9E-A129-57D88CB16956}"/>
              </a:ext>
            </a:extLst>
          </p:cNvPr>
          <p:cNvSpPr>
            <a:spLocks noGrp="1"/>
          </p:cNvSpPr>
          <p:nvPr>
            <p:ph type="title"/>
          </p:nvPr>
        </p:nvSpPr>
        <p:spPr/>
        <p:txBody>
          <a:bodyPr/>
          <a:lstStyle/>
          <a:p>
            <a:r>
              <a:rPr lang="en-US" dirty="0"/>
              <a:t>Interpreting sharp vs. fuzzy designs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289FF5-0189-47DD-A930-B45D2FC72588}"/>
                  </a:ext>
                </a:extLst>
              </p:cNvPr>
              <p:cNvSpPr>
                <a:spLocks noGrp="1"/>
              </p:cNvSpPr>
              <p:nvPr>
                <p:ph idx="1"/>
              </p:nvPr>
            </p:nvSpPr>
            <p:spPr/>
            <p:txBody>
              <a:bodyPr/>
              <a:lstStyle/>
              <a:p>
                <a:r>
                  <a:rPr lang="en-US" dirty="0"/>
                  <a:t>With sharp designs, the difference between the observed outcomes directly provide us with the treatment effect of interest</a:t>
                </a:r>
              </a:p>
              <a:p>
                <a:pPr marL="0" indent="0">
                  <a:buNone/>
                </a:pPr>
                <a:endParaRPr lang="en-US" dirty="0"/>
              </a:p>
              <a:p>
                <a:r>
                  <a:rPr lang="en-US" dirty="0"/>
                  <a:t>With fuzzy designs, the probability of getting the treatment does not increase by 1 but by some value </a:t>
                </a:r>
                <a14:m>
                  <m:oMath xmlns:m="http://schemas.openxmlformats.org/officeDocument/2006/math">
                    <m:r>
                      <a:rPr lang="en-US" b="0" i="1" smtClean="0">
                        <a:latin typeface="Cambria Math" panose="02040503050406030204" pitchFamily="18" charset="0"/>
                      </a:rPr>
                      <m:t>𝑝</m:t>
                    </m:r>
                  </m:oMath>
                </a14:m>
                <a:r>
                  <a:rPr lang="en-US" dirty="0"/>
                  <a:t> where </a:t>
                </a:r>
                <a14:m>
                  <m:oMath xmlns:m="http://schemas.openxmlformats.org/officeDocument/2006/math">
                    <m:r>
                      <a:rPr lang="en-US" b="0" i="1" smtClean="0">
                        <a:latin typeface="Cambria Math" panose="02040503050406030204" pitchFamily="18" charset="0"/>
                      </a:rPr>
                      <m:t>0&lt;</m:t>
                    </m:r>
                    <m:r>
                      <a:rPr lang="en-US" b="0" i="1" smtClean="0">
                        <a:latin typeface="Cambria Math" panose="02040503050406030204" pitchFamily="18" charset="0"/>
                      </a:rPr>
                      <m:t>𝑝</m:t>
                    </m:r>
                    <m:r>
                      <a:rPr lang="en-US" b="0" i="1" smtClean="0">
                        <a:latin typeface="Cambria Math" panose="02040503050406030204" pitchFamily="18" charset="0"/>
                      </a:rPr>
                      <m:t>&lt;1</m:t>
                    </m:r>
                  </m:oMath>
                </a14:m>
                <a:endParaRPr lang="en-US" dirty="0"/>
              </a:p>
              <a:p>
                <a:pPr lvl="1"/>
                <a:r>
                  <a:rPr lang="en-US" dirty="0"/>
                  <a:t>Therefore, to get the impact of receiving one “full unit” of treatment, we need to scale the estimated difference in the outcome at the threshold by the change in probability of treatment receipt</a:t>
                </a:r>
              </a:p>
            </p:txBody>
          </p:sp>
        </mc:Choice>
        <mc:Fallback xmlns="">
          <p:sp>
            <p:nvSpPr>
              <p:cNvPr id="3" name="Content Placeholder 2">
                <a:extLst>
                  <a:ext uri="{FF2B5EF4-FFF2-40B4-BE49-F238E27FC236}">
                    <a16:creationId xmlns:a16="http://schemas.microsoft.com/office/drawing/2014/main" id="{A0289FF5-0189-47DD-A930-B45D2FC72588}"/>
                  </a:ext>
                </a:extLst>
              </p:cNvPr>
              <p:cNvSpPr>
                <a:spLocks noGrp="1" noRot="1" noChangeAspect="1" noMove="1" noResize="1" noEditPoints="1" noAdjustHandles="1" noChangeArrowheads="1" noChangeShapeType="1" noTextEdit="1"/>
              </p:cNvSpPr>
              <p:nvPr>
                <p:ph idx="1"/>
              </p:nvPr>
            </p:nvSpPr>
            <p:spPr>
              <a:blipFill>
                <a:blip r:embed="rId2"/>
                <a:stretch>
                  <a:fillRect l="-1086" t="-2326" r="-96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66F80BA-EAD1-492A-AFEA-3F4E95A59C85}"/>
              </a:ext>
            </a:extLst>
          </p:cNvPr>
          <p:cNvSpPr>
            <a:spLocks noGrp="1"/>
          </p:cNvSpPr>
          <p:nvPr>
            <p:ph type="sldNum" sz="quarter" idx="12"/>
          </p:nvPr>
        </p:nvSpPr>
        <p:spPr/>
        <p:txBody>
          <a:bodyPr/>
          <a:lstStyle/>
          <a:p>
            <a:fld id="{4698AAF4-35A4-40F4-A7AE-C8E2C41B9252}" type="slidenum">
              <a:rPr lang="en-US" smtClean="0"/>
              <a:t>23</a:t>
            </a:fld>
            <a:endParaRPr lang="en-US"/>
          </a:p>
        </p:txBody>
      </p:sp>
    </p:spTree>
    <p:extLst>
      <p:ext uri="{BB962C8B-B14F-4D97-AF65-F5344CB8AC3E}">
        <p14:creationId xmlns:p14="http://schemas.microsoft.com/office/powerpoint/2010/main" val="2210871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4037C-ED74-44D6-A6E4-CB9613A8735A}"/>
              </a:ext>
            </a:extLst>
          </p:cNvPr>
          <p:cNvSpPr>
            <a:spLocks noGrp="1"/>
          </p:cNvSpPr>
          <p:nvPr>
            <p:ph type="title"/>
          </p:nvPr>
        </p:nvSpPr>
        <p:spPr/>
        <p:txBody>
          <a:bodyPr/>
          <a:lstStyle/>
          <a:p>
            <a:r>
              <a:rPr lang="en-US" dirty="0"/>
              <a:t>Complier Average Causal Effect (CACE)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E0A207-A00B-4099-A0E9-918B534DB960}"/>
                  </a:ext>
                </a:extLst>
              </p:cNvPr>
              <p:cNvSpPr>
                <a:spLocks noGrp="1"/>
              </p:cNvSpPr>
              <p:nvPr>
                <p:ph idx="1"/>
              </p:nvPr>
            </p:nvSpPr>
            <p:spPr/>
            <p:txBody>
              <a:bodyPr>
                <a:normAutofit fontScale="85000" lnSpcReduction="20000"/>
              </a:bodyPr>
              <a:lstStyle/>
              <a:p>
                <a:r>
                  <a:rPr lang="en-US" dirty="0"/>
                  <a:t>To get the marginal impact of a unit increase, we can divide the average difference in the outcome (</a:t>
                </a:r>
                <a14:m>
                  <m:oMath xmlns:m="http://schemas.openxmlformats.org/officeDocument/2006/math">
                    <m:r>
                      <a:rPr lang="en-US" i="1" dirty="0" smtClean="0">
                        <a:latin typeface="Cambria Math" panose="02040503050406030204" pitchFamily="18" charset="0"/>
                      </a:rPr>
                      <m:t>𝑌</m:t>
                    </m:r>
                  </m:oMath>
                </a14:m>
                <a:r>
                  <a:rPr lang="en-US" dirty="0"/>
                  <a:t>) by the average difference in the probability of treatment receipt (</a:t>
                </a:r>
                <a14:m>
                  <m:oMath xmlns:m="http://schemas.openxmlformats.org/officeDocument/2006/math">
                    <m:r>
                      <m:rPr>
                        <m:sty m:val="p"/>
                      </m:rPr>
                      <a:rPr lang="en-US" i="1" dirty="0"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𝑇</m:t>
                    </m:r>
                    <m:r>
                      <a:rPr lang="en-US" i="1" dirty="0" smtClean="0">
                        <a:latin typeface="Cambria Math" panose="02040503050406030204" pitchFamily="18" charset="0"/>
                      </a:rPr>
                      <m:t>=1)</m:t>
                    </m:r>
                  </m:oMath>
                </a14:m>
                <a:r>
                  <a:rPr lang="en-US" dirty="0"/>
                  <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𝐶𝐴𝐶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𝑅𝐷𝐷</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𝑍</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lim>
                              </m:limLow>
                            </m:fName>
                            <m:e>
                              <m:r>
                                <a:rPr lang="en-US" i="1">
                                  <a:latin typeface="Cambria Math" panose="02040503050406030204" pitchFamily="18" charset="0"/>
                                </a:rPr>
                                <m:t>𝐸</m:t>
                              </m:r>
                              <m:r>
                                <a:rPr lang="en-US" i="1">
                                  <a:latin typeface="Cambria Math" panose="02040503050406030204" pitchFamily="18" charset="0"/>
                                </a:rPr>
                                <m:t>[</m:t>
                              </m:r>
                              <m:r>
                                <m:rPr>
                                  <m:nor/>
                                </m:rPr>
                                <a:rPr lang="en-US" i="1"/>
                                <m:t>Y</m:t>
                              </m:r>
                              <m:r>
                                <m:rPr>
                                  <m:nor/>
                                </m:rPr>
                                <a:rPr lang="en-US" i="1" baseline="-25000"/>
                                <m:t>i</m:t>
                              </m:r>
                              <m:r>
                                <m:rPr>
                                  <m:nor/>
                                </m:rPr>
                                <a:rPr lang="en-US"/>
                                <m:t>(1)|</m:t>
                              </m:r>
                              <m:r>
                                <m:rPr>
                                  <m:nor/>
                                </m:rPr>
                                <a:rPr lang="en-US" i="1"/>
                                <m:t>Z</m:t>
                              </m:r>
                              <m:r>
                                <m:rPr>
                                  <m:nor/>
                                </m:rPr>
                                <a:rPr lang="en-US" i="1" baseline="-25000"/>
                                <m:t>i</m:t>
                              </m:r>
                            </m:e>
                          </m:func>
                          <m:r>
                            <m:rPr>
                              <m:nor/>
                            </m:rPr>
                            <a:rPr lang="en-US"/>
                            <m:t>=</m:t>
                          </m:r>
                          <m:r>
                            <m:rPr>
                              <m:nor/>
                            </m:rPr>
                            <a:rPr lang="en-US"/>
                            <m:t>c</m:t>
                          </m:r>
                          <m:r>
                            <a:rPr lang="en-US" i="1">
                              <a:latin typeface="Cambria Math" panose="02040503050406030204" pitchFamily="18" charset="0"/>
                            </a:rPr>
                            <m:t>]</m:t>
                          </m:r>
                          <m:func>
                            <m:funcPr>
                              <m:ctrlPr>
                                <a:rPr lang="en-US" i="1">
                                  <a:latin typeface="Cambria Math" panose="02040503050406030204" pitchFamily="18" charset="0"/>
                                </a:rPr>
                              </m:ctrlPr>
                            </m:funcPr>
                            <m:fName>
                              <m:r>
                                <a:rPr lang="en-US" i="1">
                                  <a:latin typeface="Cambria Math" panose="02040503050406030204" pitchFamily="18" charset="0"/>
                                </a:rPr>
                                <m:t>−</m:t>
                              </m:r>
                            </m:fName>
                            <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𝑍</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lim>
                              </m:limLow>
                              <m:r>
                                <a:rPr lang="en-US" i="1">
                                  <a:latin typeface="Cambria Math" panose="02040503050406030204" pitchFamily="18" charset="0"/>
                                </a:rPr>
                                <m:t>𝐸</m:t>
                              </m:r>
                              <m:r>
                                <a:rPr lang="en-US" i="1">
                                  <a:latin typeface="Cambria Math" panose="02040503050406030204" pitchFamily="18" charset="0"/>
                                </a:rPr>
                                <m:t>[</m:t>
                              </m:r>
                              <m:r>
                                <m:rPr>
                                  <m:nor/>
                                </m:rPr>
                                <a:rPr lang="en-US" i="1"/>
                                <m:t>Y</m:t>
                              </m:r>
                              <m:r>
                                <m:rPr>
                                  <m:nor/>
                                </m:rPr>
                                <a:rPr lang="en-US" i="1" baseline="-25000"/>
                                <m:t>i</m:t>
                              </m:r>
                              <m:r>
                                <m:rPr>
                                  <m:nor/>
                                </m:rPr>
                                <a:rPr lang="en-US"/>
                                <m:t>(0)</m:t>
                              </m:r>
                              <m:r>
                                <a:rPr lang="en-US" i="1">
                                  <a:latin typeface="Cambria Math" panose="02040503050406030204" pitchFamily="18" charset="0"/>
                                </a:rPr>
                                <m:t>|</m:t>
                              </m:r>
                              <m:r>
                                <m:rPr>
                                  <m:nor/>
                                </m:rPr>
                                <a:rPr lang="en-US" i="1">
                                  <a:latin typeface="Cambria Math" panose="02040503050406030204" pitchFamily="18" charset="0"/>
                                </a:rPr>
                                <m:t>Z</m:t>
                              </m:r>
                              <m:r>
                                <m:rPr>
                                  <m:nor/>
                                </m:rPr>
                                <a:rPr lang="en-US" i="1" baseline="-25000"/>
                                <m:t>i</m:t>
                              </m:r>
                              <m:r>
                                <m:rPr>
                                  <m:nor/>
                                </m:rPr>
                                <a:rPr lang="en-US"/>
                                <m:t>=</m:t>
                              </m:r>
                              <m:r>
                                <m:rPr>
                                  <m:nor/>
                                </m:rPr>
                                <a:rPr lang="en-US"/>
                                <m:t>c</m:t>
                              </m:r>
                              <m:r>
                                <a:rPr lang="en-US" i="1">
                                  <a:latin typeface="Cambria Math" panose="02040503050406030204" pitchFamily="18" charset="0"/>
                                </a:rPr>
                                <m:t>]</m:t>
                              </m:r>
                            </m:e>
                          </m:func>
                        </m:num>
                        <m:den>
                          <m:func>
                            <m:funcPr>
                              <m:ctrlPr>
                                <a:rPr lang="en-US" b="0"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𝑍</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lim>
                              </m:limLow>
                            </m:fName>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r>
                                    <a:rPr lang="en-US" b="0" i="0" smtClean="0">
                                      <a:latin typeface="Cambria Math" panose="02040503050406030204" pitchFamily="18" charset="0"/>
                                    </a:rPr>
                                    <m:t>[</m:t>
                                  </m:r>
                                  <m:r>
                                    <m:rPr>
                                      <m:nor/>
                                    </m:rPr>
                                    <a:rPr lang="en-US" b="0" smtClean="0">
                                      <a:latin typeface="Cambria Math" panose="02040503050406030204" pitchFamily="18" charset="0"/>
                                    </a:rPr>
                                    <m:t>T</m:t>
                                  </m:r>
                                  <m:r>
                                    <m:rPr>
                                      <m:nor/>
                                    </m:rPr>
                                    <a:rPr lang="en-US" baseline="-25000"/>
                                    <m:t>i</m:t>
                                  </m:r>
                                  <m:r>
                                    <a:rPr lang="en-US" b="0" i="0" smtClean="0">
                                      <a:latin typeface="Cambria Math" panose="02040503050406030204" pitchFamily="18" charset="0"/>
                                    </a:rPr>
                                    <m:t>=1</m:t>
                                  </m:r>
                                  <m:r>
                                    <a:rPr lang="en-US" i="0">
                                      <a:latin typeface="Cambria Math" panose="02040503050406030204" pitchFamily="18" charset="0"/>
                                    </a:rPr>
                                    <m:t>|</m:t>
                                  </m:r>
                                  <m:r>
                                    <m:rPr>
                                      <m:nor/>
                                    </m:rPr>
                                    <a:rPr lang="en-US">
                                      <a:latin typeface="Cambria Math" panose="02040503050406030204" pitchFamily="18" charset="0"/>
                                    </a:rPr>
                                    <m:t>Z</m:t>
                                  </m:r>
                                  <m:r>
                                    <m:rPr>
                                      <m:nor/>
                                    </m:rPr>
                                    <a:rPr lang="en-US" baseline="-25000"/>
                                    <m:t>i</m:t>
                                  </m:r>
                                  <m:r>
                                    <m:rPr>
                                      <m:nor/>
                                    </m:rPr>
                                    <a:rPr lang="en-US"/>
                                    <m:t>=</m:t>
                                  </m:r>
                                  <m:r>
                                    <m:rPr>
                                      <m:nor/>
                                    </m:rPr>
                                    <a:rPr lang="en-US"/>
                                    <m:t>c</m:t>
                                  </m:r>
                                  <m:r>
                                    <a:rPr lang="en-US" b="0" i="0" smtClean="0">
                                      <a:latin typeface="Cambria Math" panose="02040503050406030204" pitchFamily="18" charset="0"/>
                                    </a:rPr>
                                    <m:t>]</m:t>
                                  </m:r>
                                </m:e>
                              </m:func>
                              <m:r>
                                <a:rPr lang="en-US" b="0" i="0"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i="0">
                                          <a:latin typeface="Cambria Math" panose="02040503050406030204" pitchFamily="18" charset="0"/>
                                        </a:rPr>
                                        <m:t>lim</m:t>
                                      </m:r>
                                    </m:e>
                                    <m:lim>
                                      <m:r>
                                        <m:rPr>
                                          <m:sty m:val="p"/>
                                        </m:rPr>
                                        <a:rPr lang="en-US" i="0">
                                          <a:latin typeface="Cambria Math" panose="02040503050406030204" pitchFamily="18" charset="0"/>
                                        </a:rPr>
                                        <m:t>Z</m:t>
                                      </m:r>
                                      <m:r>
                                        <a:rPr lang="en-US" i="0">
                                          <a:latin typeface="Cambria Math" panose="02040503050406030204" pitchFamily="18" charset="0"/>
                                          <a:ea typeface="Cambria Math" panose="02040503050406030204" pitchFamily="18" charset="0"/>
                                        </a:rPr>
                                        <m:t>↓</m:t>
                                      </m:r>
                                      <m:r>
                                        <m:rPr>
                                          <m:sty m:val="p"/>
                                        </m:rPr>
                                        <a:rPr lang="en-US" i="0">
                                          <a:latin typeface="Cambria Math" panose="02040503050406030204" pitchFamily="18" charset="0"/>
                                          <a:ea typeface="Cambria Math" panose="02040503050406030204" pitchFamily="18" charset="0"/>
                                        </a:rPr>
                                        <m:t>c</m:t>
                                      </m:r>
                                    </m:lim>
                                  </m:limLow>
                                </m:fName>
                                <m:e>
                                  <m:r>
                                    <m:rPr>
                                      <m:sty m:val="p"/>
                                    </m:rPr>
                                    <a:rPr lang="en-US" b="0" i="0" smtClean="0">
                                      <a:latin typeface="Cambria Math" panose="02040503050406030204" pitchFamily="18" charset="0"/>
                                    </a:rPr>
                                    <m:t>Pr</m:t>
                                  </m:r>
                                  <m:r>
                                    <a:rPr lang="en-US" b="0" i="0" smtClean="0">
                                      <a:latin typeface="Cambria Math" panose="02040503050406030204" pitchFamily="18" charset="0"/>
                                    </a:rPr>
                                    <m:t>⁡</m:t>
                                  </m:r>
                                  <m:r>
                                    <m:rPr>
                                      <m:nor/>
                                    </m:rPr>
                                    <a:rPr lang="en-US" b="0" i="0" smtClean="0">
                                      <a:latin typeface="Cambria Math" panose="02040503050406030204" pitchFamily="18" charset="0"/>
                                    </a:rPr>
                                    <m:t>[</m:t>
                                  </m:r>
                                  <m:r>
                                    <m:rPr>
                                      <m:nor/>
                                    </m:rPr>
                                    <a:rPr lang="en-US">
                                      <a:latin typeface="Cambria Math" panose="02040503050406030204" pitchFamily="18" charset="0"/>
                                    </a:rPr>
                                    <m:t>T</m:t>
                                  </m:r>
                                  <m:r>
                                    <m:rPr>
                                      <m:nor/>
                                    </m:rPr>
                                    <a:rPr lang="en-US" baseline="-25000"/>
                                    <m:t>i</m:t>
                                  </m:r>
                                  <m:r>
                                    <a:rPr lang="en-US" i="0">
                                      <a:latin typeface="Cambria Math" panose="02040503050406030204" pitchFamily="18" charset="0"/>
                                    </a:rPr>
                                    <m:t>=1|</m:t>
                                  </m:r>
                                  <m:r>
                                    <m:rPr>
                                      <m:nor/>
                                    </m:rPr>
                                    <a:rPr lang="en-US">
                                      <a:latin typeface="Cambria Math" panose="02040503050406030204" pitchFamily="18" charset="0"/>
                                    </a:rPr>
                                    <m:t>Z</m:t>
                                  </m:r>
                                  <m:r>
                                    <m:rPr>
                                      <m:nor/>
                                    </m:rPr>
                                    <a:rPr lang="en-US" baseline="-25000"/>
                                    <m:t>i</m:t>
                                  </m:r>
                                  <m:r>
                                    <m:rPr>
                                      <m:nor/>
                                    </m:rPr>
                                    <a:rPr lang="en-US"/>
                                    <m:t>=</m:t>
                                  </m:r>
                                  <m:r>
                                    <m:rPr>
                                      <m:nor/>
                                    </m:rPr>
                                    <a:rPr lang="en-US"/>
                                    <m:t>c</m:t>
                                  </m:r>
                                  <m:r>
                                    <m:rPr>
                                      <m:nor/>
                                    </m:rPr>
                                    <a:rPr lang="en-US" b="0" i="0" smtClean="0"/>
                                    <m:t>]</m:t>
                                  </m:r>
                                </m:e>
                              </m:func>
                            </m:e>
                          </m:func>
                        </m:den>
                      </m:f>
                    </m:oMath>
                  </m:oMathPara>
                </a14:m>
                <a:endParaRPr lang="en-US" dirty="0"/>
              </a:p>
              <a:p>
                <a:endParaRPr lang="en-US" dirty="0"/>
              </a:p>
              <a:p>
                <a:r>
                  <a:rPr lang="en-US" dirty="0"/>
                  <a:t>This is called the Complier Average Causal Effect (CACE) because it estimates the causal impact of the treatment among those subjects whose treatment status changes around the threshold (i.e., the comply with official protocols)</a:t>
                </a:r>
              </a:p>
              <a:p>
                <a:r>
                  <a:rPr lang="en-US" dirty="0"/>
                  <a:t>Same as use of IV in analyzing RCT</a:t>
                </a:r>
              </a:p>
              <a:p>
                <a:pPr lvl="1"/>
                <a:r>
                  <a:rPr lang="en-US" dirty="0"/>
                  <a:t>Requires assumptions just like estimation of LATE (see additional slides)</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90E0A207-A00B-4099-A0E9-918B534DB960}"/>
                  </a:ext>
                </a:extLst>
              </p:cNvPr>
              <p:cNvSpPr>
                <a:spLocks noGrp="1" noRot="1" noChangeAspect="1" noMove="1" noResize="1" noEditPoints="1" noAdjustHandles="1" noChangeArrowheads="1" noChangeShapeType="1" noTextEdit="1"/>
              </p:cNvSpPr>
              <p:nvPr>
                <p:ph idx="1"/>
              </p:nvPr>
            </p:nvSpPr>
            <p:spPr>
              <a:blipFill>
                <a:blip r:embed="rId2"/>
                <a:stretch>
                  <a:fillRect l="-844" t="-319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5BFF0B4-6B74-4AC1-80FB-0611AD0FC16E}"/>
              </a:ext>
            </a:extLst>
          </p:cNvPr>
          <p:cNvSpPr>
            <a:spLocks noGrp="1"/>
          </p:cNvSpPr>
          <p:nvPr>
            <p:ph type="sldNum" sz="quarter" idx="12"/>
          </p:nvPr>
        </p:nvSpPr>
        <p:spPr/>
        <p:txBody>
          <a:bodyPr/>
          <a:lstStyle/>
          <a:p>
            <a:fld id="{4698AAF4-35A4-40F4-A7AE-C8E2C41B9252}" type="slidenum">
              <a:rPr lang="en-US" smtClean="0"/>
              <a:t>24</a:t>
            </a:fld>
            <a:endParaRPr lang="en-US"/>
          </a:p>
        </p:txBody>
      </p:sp>
    </p:spTree>
    <p:extLst>
      <p:ext uri="{BB962C8B-B14F-4D97-AF65-F5344CB8AC3E}">
        <p14:creationId xmlns:p14="http://schemas.microsoft.com/office/powerpoint/2010/main" val="54256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ED3E1-6A7C-444B-9367-DDE2F1FBB668}"/>
              </a:ext>
            </a:extLst>
          </p:cNvPr>
          <p:cNvSpPr>
            <a:spLocks noGrp="1"/>
          </p:cNvSpPr>
          <p:nvPr>
            <p:ph type="title"/>
          </p:nvPr>
        </p:nvSpPr>
        <p:spPr/>
        <p:txBody>
          <a:bodyPr/>
          <a:lstStyle/>
          <a:p>
            <a:r>
              <a:rPr lang="en-US" dirty="0"/>
              <a:t>Conceptual challenge 1: Plausibility of identifying assumption</a:t>
            </a:r>
          </a:p>
        </p:txBody>
      </p:sp>
      <p:sp>
        <p:nvSpPr>
          <p:cNvPr id="3" name="Content Placeholder 2">
            <a:extLst>
              <a:ext uri="{FF2B5EF4-FFF2-40B4-BE49-F238E27FC236}">
                <a16:creationId xmlns:a16="http://schemas.microsoft.com/office/drawing/2014/main" id="{DFC1D03D-009F-4229-9F76-43366AAE0760}"/>
              </a:ext>
            </a:extLst>
          </p:cNvPr>
          <p:cNvSpPr>
            <a:spLocks noGrp="1"/>
          </p:cNvSpPr>
          <p:nvPr>
            <p:ph idx="1"/>
          </p:nvPr>
        </p:nvSpPr>
        <p:spPr>
          <a:xfrm>
            <a:off x="838200" y="1690688"/>
            <a:ext cx="10515600" cy="5167311"/>
          </a:xfrm>
        </p:spPr>
        <p:txBody>
          <a:bodyPr>
            <a:normAutofit fontScale="85000" lnSpcReduction="20000"/>
          </a:bodyPr>
          <a:lstStyle/>
          <a:p>
            <a:r>
              <a:rPr lang="en-US" dirty="0"/>
              <a:t>The critical concept underlying RDD is that the ONLY thing that has a discontinuity around the threshold is the </a:t>
            </a:r>
            <a:r>
              <a:rPr lang="en-US" b="1" dirty="0"/>
              <a:t>treatment</a:t>
            </a:r>
            <a:endParaRPr lang="en-US" dirty="0"/>
          </a:p>
          <a:p>
            <a:pPr lvl="1"/>
            <a:r>
              <a:rPr lang="en-US" dirty="0"/>
              <a:t>I.e. not expected outcomes or characteristics of the population</a:t>
            </a:r>
          </a:p>
          <a:p>
            <a:pPr marL="0" indent="0">
              <a:buNone/>
            </a:pPr>
            <a:r>
              <a:rPr lang="en-US" dirty="0"/>
              <a:t> </a:t>
            </a:r>
          </a:p>
          <a:p>
            <a:r>
              <a:rPr lang="en-US" dirty="0"/>
              <a:t>This is plausible in many scenarios, but will be violated if:</a:t>
            </a:r>
          </a:p>
          <a:p>
            <a:pPr lvl="1"/>
            <a:r>
              <a:rPr lang="en-US" dirty="0"/>
              <a:t>Subjects can manipulate the assignment variable</a:t>
            </a:r>
          </a:p>
          <a:p>
            <a:pPr lvl="1"/>
            <a:r>
              <a:rPr lang="en-US" dirty="0"/>
              <a:t>Program administrators can manipulate the assignment variable</a:t>
            </a:r>
          </a:p>
          <a:p>
            <a:pPr lvl="1"/>
            <a:r>
              <a:rPr lang="en-US" dirty="0"/>
              <a:t>Other major changes also happen at the threshold</a:t>
            </a:r>
          </a:p>
          <a:p>
            <a:endParaRPr lang="en-US" dirty="0"/>
          </a:p>
          <a:p>
            <a:r>
              <a:rPr lang="en-US" dirty="0"/>
              <a:t>Quasi-random assignment assumption is more likely to be plausible if subjects don’t know their “score” / only have a noisy signal</a:t>
            </a:r>
          </a:p>
          <a:p>
            <a:pPr lvl="1"/>
            <a:r>
              <a:rPr lang="en-US" dirty="0"/>
              <a:t>We can check this assumption empirically by looking at density distributions of the running variable around the threshold – should be smooth</a:t>
            </a:r>
          </a:p>
          <a:p>
            <a:pPr lvl="1"/>
            <a:r>
              <a:rPr lang="en-US" dirty="0"/>
              <a:t>“Bunching” means that we may have manipulation</a:t>
            </a:r>
          </a:p>
          <a:p>
            <a:endParaRPr lang="en-US" dirty="0"/>
          </a:p>
          <a:p>
            <a:r>
              <a:rPr lang="en-US" dirty="0"/>
              <a:t>Goodhart’s law: any measure used for policy becomes distorted</a:t>
            </a:r>
          </a:p>
        </p:txBody>
      </p:sp>
      <p:sp>
        <p:nvSpPr>
          <p:cNvPr id="4" name="Slide Number Placeholder 3">
            <a:extLst>
              <a:ext uri="{FF2B5EF4-FFF2-40B4-BE49-F238E27FC236}">
                <a16:creationId xmlns:a16="http://schemas.microsoft.com/office/drawing/2014/main" id="{201CF490-4B46-416C-9EB4-842E961DC37C}"/>
              </a:ext>
            </a:extLst>
          </p:cNvPr>
          <p:cNvSpPr>
            <a:spLocks noGrp="1"/>
          </p:cNvSpPr>
          <p:nvPr>
            <p:ph type="sldNum" sz="quarter" idx="12"/>
          </p:nvPr>
        </p:nvSpPr>
        <p:spPr/>
        <p:txBody>
          <a:bodyPr/>
          <a:lstStyle/>
          <a:p>
            <a:fld id="{4698AAF4-35A4-40F4-A7AE-C8E2C41B9252}" type="slidenum">
              <a:rPr lang="en-US" smtClean="0"/>
              <a:t>25</a:t>
            </a:fld>
            <a:endParaRPr lang="en-US"/>
          </a:p>
        </p:txBody>
      </p:sp>
    </p:spTree>
    <p:extLst>
      <p:ext uri="{BB962C8B-B14F-4D97-AF65-F5344CB8AC3E}">
        <p14:creationId xmlns:p14="http://schemas.microsoft.com/office/powerpoint/2010/main" val="334966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4263-19FF-8781-1BD3-5D23CED21D14}"/>
              </a:ext>
            </a:extLst>
          </p:cNvPr>
          <p:cNvSpPr>
            <a:spLocks noGrp="1"/>
          </p:cNvSpPr>
          <p:nvPr>
            <p:ph type="title"/>
          </p:nvPr>
        </p:nvSpPr>
        <p:spPr/>
        <p:txBody>
          <a:bodyPr/>
          <a:lstStyle/>
          <a:p>
            <a:r>
              <a:rPr lang="en-US" dirty="0"/>
              <a:t>Example of violation of identifying assumption</a:t>
            </a:r>
          </a:p>
        </p:txBody>
      </p:sp>
      <p:sp>
        <p:nvSpPr>
          <p:cNvPr id="4" name="Slide Number Placeholder 3">
            <a:extLst>
              <a:ext uri="{FF2B5EF4-FFF2-40B4-BE49-F238E27FC236}">
                <a16:creationId xmlns:a16="http://schemas.microsoft.com/office/drawing/2014/main" id="{55A42CC7-1C4D-C530-5419-0FF76092266F}"/>
              </a:ext>
            </a:extLst>
          </p:cNvPr>
          <p:cNvSpPr>
            <a:spLocks noGrp="1"/>
          </p:cNvSpPr>
          <p:nvPr>
            <p:ph type="sldNum" sz="quarter" idx="12"/>
          </p:nvPr>
        </p:nvSpPr>
        <p:spPr/>
        <p:txBody>
          <a:bodyPr/>
          <a:lstStyle/>
          <a:p>
            <a:fld id="{4698AAF4-35A4-40F4-A7AE-C8E2C41B9252}" type="slidenum">
              <a:rPr lang="en-US" smtClean="0"/>
              <a:t>26</a:t>
            </a:fld>
            <a:endParaRPr lang="en-US"/>
          </a:p>
        </p:txBody>
      </p:sp>
      <p:pic>
        <p:nvPicPr>
          <p:cNvPr id="6" name="Picture 5">
            <a:extLst>
              <a:ext uri="{FF2B5EF4-FFF2-40B4-BE49-F238E27FC236}">
                <a16:creationId xmlns:a16="http://schemas.microsoft.com/office/drawing/2014/main" id="{B78E87B5-4C21-89F3-BC4E-3131AE17A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098" y="1912732"/>
            <a:ext cx="7772400" cy="4613711"/>
          </a:xfrm>
          <a:prstGeom prst="rect">
            <a:avLst/>
          </a:prstGeom>
        </p:spPr>
      </p:pic>
    </p:spTree>
    <p:extLst>
      <p:ext uri="{BB962C8B-B14F-4D97-AF65-F5344CB8AC3E}">
        <p14:creationId xmlns:p14="http://schemas.microsoft.com/office/powerpoint/2010/main" val="196863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686C3-735A-473A-89EF-689514912EAC}"/>
              </a:ext>
            </a:extLst>
          </p:cNvPr>
          <p:cNvSpPr>
            <a:spLocks noGrp="1"/>
          </p:cNvSpPr>
          <p:nvPr>
            <p:ph type="title"/>
          </p:nvPr>
        </p:nvSpPr>
        <p:spPr/>
        <p:txBody>
          <a:bodyPr/>
          <a:lstStyle/>
          <a:p>
            <a:r>
              <a:rPr lang="en-US" dirty="0"/>
              <a:t>Conceptual challenge 2: External validity</a:t>
            </a:r>
          </a:p>
        </p:txBody>
      </p:sp>
      <p:sp>
        <p:nvSpPr>
          <p:cNvPr id="3" name="Content Placeholder 2">
            <a:extLst>
              <a:ext uri="{FF2B5EF4-FFF2-40B4-BE49-F238E27FC236}">
                <a16:creationId xmlns:a16="http://schemas.microsoft.com/office/drawing/2014/main" id="{F46EB925-EB2C-4DB8-A5DF-F2FB038D3AE6}"/>
              </a:ext>
            </a:extLst>
          </p:cNvPr>
          <p:cNvSpPr>
            <a:spLocks noGrp="1"/>
          </p:cNvSpPr>
          <p:nvPr>
            <p:ph idx="1"/>
          </p:nvPr>
        </p:nvSpPr>
        <p:spPr/>
        <p:txBody>
          <a:bodyPr>
            <a:normAutofit lnSpcReduction="10000"/>
          </a:bodyPr>
          <a:lstStyle/>
          <a:p>
            <a:r>
              <a:rPr lang="en-US" altLang="en-US" dirty="0"/>
              <a:t>RDDs focus on causal effects for very specific populations close to the threshold (e.g. well-performing students close to getting scholarships)</a:t>
            </a:r>
          </a:p>
          <a:p>
            <a:endParaRPr lang="en-US" altLang="en-US" dirty="0"/>
          </a:p>
          <a:p>
            <a:r>
              <a:rPr lang="en-US" altLang="en-US" dirty="0"/>
              <a:t>The ACE estimator will give us the average causal impact among subjects of this “type,” which may not be representative of the ATE in the population </a:t>
            </a:r>
          </a:p>
          <a:p>
            <a:pPr marL="0" indent="0">
              <a:buNone/>
            </a:pPr>
            <a:endParaRPr lang="en-US" altLang="en-US" dirty="0"/>
          </a:p>
          <a:p>
            <a:r>
              <a:rPr lang="en-US" altLang="en-US" dirty="0"/>
              <a:t>The CACE will give us the average impact among subjects of this type who “comply” with policy, i.e., do not get the treatment below the threshold and get it above</a:t>
            </a:r>
          </a:p>
        </p:txBody>
      </p:sp>
      <p:sp>
        <p:nvSpPr>
          <p:cNvPr id="4" name="Slide Number Placeholder 3">
            <a:extLst>
              <a:ext uri="{FF2B5EF4-FFF2-40B4-BE49-F238E27FC236}">
                <a16:creationId xmlns:a16="http://schemas.microsoft.com/office/drawing/2014/main" id="{022EBAE4-6D17-4B3C-A9F2-BB12ED9EBD9C}"/>
              </a:ext>
            </a:extLst>
          </p:cNvPr>
          <p:cNvSpPr>
            <a:spLocks noGrp="1"/>
          </p:cNvSpPr>
          <p:nvPr>
            <p:ph type="sldNum" sz="quarter" idx="12"/>
          </p:nvPr>
        </p:nvSpPr>
        <p:spPr/>
        <p:txBody>
          <a:bodyPr/>
          <a:lstStyle/>
          <a:p>
            <a:fld id="{4698AAF4-35A4-40F4-A7AE-C8E2C41B9252}" type="slidenum">
              <a:rPr lang="en-US" smtClean="0"/>
              <a:t>27</a:t>
            </a:fld>
            <a:endParaRPr lang="en-US"/>
          </a:p>
        </p:txBody>
      </p:sp>
    </p:spTree>
    <p:extLst>
      <p:ext uri="{BB962C8B-B14F-4D97-AF65-F5344CB8AC3E}">
        <p14:creationId xmlns:p14="http://schemas.microsoft.com/office/powerpoint/2010/main" val="108317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C8C4E-7A0F-92F7-54F7-94E74E1774B4}"/>
              </a:ext>
            </a:extLst>
          </p:cNvPr>
          <p:cNvSpPr>
            <a:spLocks noGrp="1"/>
          </p:cNvSpPr>
          <p:nvPr>
            <p:ph type="title"/>
          </p:nvPr>
        </p:nvSpPr>
        <p:spPr/>
        <p:txBody>
          <a:bodyPr/>
          <a:lstStyle/>
          <a:p>
            <a:r>
              <a:rPr lang="en-US" dirty="0"/>
              <a:t>How do we feel about external validity for these cases?</a:t>
            </a:r>
          </a:p>
        </p:txBody>
      </p:sp>
      <p:sp>
        <p:nvSpPr>
          <p:cNvPr id="3" name="Content Placeholder 2">
            <a:extLst>
              <a:ext uri="{FF2B5EF4-FFF2-40B4-BE49-F238E27FC236}">
                <a16:creationId xmlns:a16="http://schemas.microsoft.com/office/drawing/2014/main" id="{E06E000E-A450-DF43-D2EB-3F7C9C81FA08}"/>
              </a:ext>
            </a:extLst>
          </p:cNvPr>
          <p:cNvSpPr>
            <a:spLocks noGrp="1"/>
          </p:cNvSpPr>
          <p:nvPr>
            <p:ph idx="1"/>
          </p:nvPr>
        </p:nvSpPr>
        <p:spPr/>
        <p:txBody>
          <a:bodyPr>
            <a:normAutofit/>
          </a:bodyPr>
          <a:lstStyle/>
          <a:p>
            <a:r>
              <a:rPr lang="en-US" dirty="0"/>
              <a:t>Who is the population near the threshold? Who are the compliers?</a:t>
            </a:r>
          </a:p>
          <a:p>
            <a:pPr lvl="1"/>
            <a:r>
              <a:rPr lang="en-US" dirty="0"/>
              <a:t>LBW designation for more intensive newborn care and follow-up</a:t>
            </a:r>
          </a:p>
          <a:p>
            <a:pPr lvl="1"/>
            <a:r>
              <a:rPr lang="en-US" dirty="0"/>
              <a:t>Advanced maternal age for more “intensive” medical treatment</a:t>
            </a:r>
          </a:p>
          <a:p>
            <a:pPr lvl="1"/>
            <a:r>
              <a:rPr lang="en-US" dirty="0"/>
              <a:t>Births around midnight for longer postpartum stay</a:t>
            </a:r>
          </a:p>
          <a:p>
            <a:pPr lvl="1"/>
            <a:r>
              <a:rPr lang="en-US" dirty="0"/>
              <a:t>Close election for representation by a female mayor</a:t>
            </a:r>
          </a:p>
          <a:p>
            <a:pPr lvl="1"/>
            <a:endParaRPr lang="en-US" dirty="0"/>
          </a:p>
          <a:p>
            <a:pPr lvl="1"/>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CDD571F9-AE40-0630-E18A-396375E5F163}"/>
              </a:ext>
            </a:extLst>
          </p:cNvPr>
          <p:cNvSpPr>
            <a:spLocks noGrp="1"/>
          </p:cNvSpPr>
          <p:nvPr>
            <p:ph type="sldNum" sz="quarter" idx="12"/>
          </p:nvPr>
        </p:nvSpPr>
        <p:spPr/>
        <p:txBody>
          <a:bodyPr/>
          <a:lstStyle/>
          <a:p>
            <a:fld id="{4698AAF4-35A4-40F4-A7AE-C8E2C41B9252}" type="slidenum">
              <a:rPr lang="en-US" smtClean="0"/>
              <a:t>28</a:t>
            </a:fld>
            <a:endParaRPr lang="en-US"/>
          </a:p>
        </p:txBody>
      </p:sp>
    </p:spTree>
    <p:extLst>
      <p:ext uri="{BB962C8B-B14F-4D97-AF65-F5344CB8AC3E}">
        <p14:creationId xmlns:p14="http://schemas.microsoft.com/office/powerpoint/2010/main" val="254572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5AB10-CE76-4BAA-9042-A6E35FBB29ED}"/>
              </a:ext>
            </a:extLst>
          </p:cNvPr>
          <p:cNvSpPr>
            <a:spLocks noGrp="1"/>
          </p:cNvSpPr>
          <p:nvPr>
            <p:ph type="title"/>
          </p:nvPr>
        </p:nvSpPr>
        <p:spPr/>
        <p:txBody>
          <a:bodyPr/>
          <a:lstStyle/>
          <a:p>
            <a:r>
              <a:rPr lang="en-US" dirty="0"/>
              <a:t>Conceptual challenge 3: Bandwidth and counterfactual outcomes</a:t>
            </a:r>
          </a:p>
        </p:txBody>
      </p:sp>
      <p:sp>
        <p:nvSpPr>
          <p:cNvPr id="3" name="Content Placeholder 2">
            <a:extLst>
              <a:ext uri="{FF2B5EF4-FFF2-40B4-BE49-F238E27FC236}">
                <a16:creationId xmlns:a16="http://schemas.microsoft.com/office/drawing/2014/main" id="{91FF5916-B1F2-40EC-BAD1-33956B2861E1}"/>
              </a:ext>
            </a:extLst>
          </p:cNvPr>
          <p:cNvSpPr>
            <a:spLocks noGrp="1"/>
          </p:cNvSpPr>
          <p:nvPr>
            <p:ph idx="1"/>
          </p:nvPr>
        </p:nvSpPr>
        <p:spPr>
          <a:xfrm>
            <a:off x="838200" y="1825625"/>
            <a:ext cx="10515600" cy="4895850"/>
          </a:xfrm>
        </p:spPr>
        <p:txBody>
          <a:bodyPr>
            <a:normAutofit fontScale="92500" lnSpcReduction="10000"/>
          </a:bodyPr>
          <a:lstStyle/>
          <a:p>
            <a:r>
              <a:rPr lang="en-US" altLang="en-US" dirty="0"/>
              <a:t>Estimate gives the average causal effect as we limit the sample to those very close to the threshold</a:t>
            </a:r>
          </a:p>
          <a:p>
            <a:endParaRPr lang="en-US" altLang="en-US" dirty="0"/>
          </a:p>
          <a:p>
            <a:r>
              <a:rPr lang="en-US" altLang="en-US" dirty="0"/>
              <a:t>But we need to have a reasonable bandwidth to have a decently sized sample and reasonable standard errors</a:t>
            </a:r>
          </a:p>
          <a:p>
            <a:endParaRPr lang="en-US" altLang="en-US" dirty="0"/>
          </a:p>
          <a:p>
            <a:r>
              <a:rPr lang="en-US" altLang="en-US" dirty="0"/>
              <a:t>As we widen the bandwidth the there is greater potential for confounding –consistency result only holds in the limit as bandwidth tends to zero</a:t>
            </a:r>
          </a:p>
          <a:p>
            <a:pPr lvl="1"/>
            <a:r>
              <a:rPr lang="en-US" altLang="en-US" dirty="0"/>
              <a:t>With a wider bandwidth some modeling of functional form might come into play</a:t>
            </a:r>
          </a:p>
          <a:p>
            <a:endParaRPr lang="en-US" altLang="en-US" dirty="0"/>
          </a:p>
          <a:p>
            <a:r>
              <a:rPr lang="en-US" dirty="0">
                <a:latin typeface="Calibri" panose="020F0502020204030204" pitchFamily="34" charset="0"/>
                <a:cs typeface="Calibri" panose="020F0502020204030204" pitchFamily="34" charset="0"/>
              </a:rPr>
              <a:t>Very important to have the correct functional form relationship between X and Y or else we could “find a discontinuity” where there isn’t one... </a:t>
            </a:r>
          </a:p>
          <a:p>
            <a:endParaRPr lang="en-US" altLang="en-US" dirty="0"/>
          </a:p>
        </p:txBody>
      </p:sp>
      <p:sp>
        <p:nvSpPr>
          <p:cNvPr id="4" name="Slide Number Placeholder 3">
            <a:extLst>
              <a:ext uri="{FF2B5EF4-FFF2-40B4-BE49-F238E27FC236}">
                <a16:creationId xmlns:a16="http://schemas.microsoft.com/office/drawing/2014/main" id="{99523718-19AD-4919-A3B7-22BF37321CB3}"/>
              </a:ext>
            </a:extLst>
          </p:cNvPr>
          <p:cNvSpPr>
            <a:spLocks noGrp="1"/>
          </p:cNvSpPr>
          <p:nvPr>
            <p:ph type="sldNum" sz="quarter" idx="12"/>
          </p:nvPr>
        </p:nvSpPr>
        <p:spPr/>
        <p:txBody>
          <a:bodyPr/>
          <a:lstStyle/>
          <a:p>
            <a:fld id="{4698AAF4-35A4-40F4-A7AE-C8E2C41B9252}" type="slidenum">
              <a:rPr lang="en-US" smtClean="0"/>
              <a:t>29</a:t>
            </a:fld>
            <a:endParaRPr lang="en-US"/>
          </a:p>
        </p:txBody>
      </p:sp>
    </p:spTree>
    <p:extLst>
      <p:ext uri="{BB962C8B-B14F-4D97-AF65-F5344CB8AC3E}">
        <p14:creationId xmlns:p14="http://schemas.microsoft.com/office/powerpoint/2010/main" val="74429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DD358A-1F7C-45DE-7436-9655B01C3175}"/>
              </a:ext>
            </a:extLst>
          </p:cNvPr>
          <p:cNvSpPr>
            <a:spLocks noGrp="1"/>
          </p:cNvSpPr>
          <p:nvPr>
            <p:ph type="sldNum" sz="quarter" idx="12"/>
          </p:nvPr>
        </p:nvSpPr>
        <p:spPr/>
        <p:txBody>
          <a:bodyPr/>
          <a:lstStyle/>
          <a:p>
            <a:fld id="{4698AAF4-35A4-40F4-A7AE-C8E2C41B9252}" type="slidenum">
              <a:rPr lang="en-US" smtClean="0"/>
              <a:t>30</a:t>
            </a:fld>
            <a:endParaRPr lang="en-US"/>
          </a:p>
        </p:txBody>
      </p:sp>
      <p:pic>
        <p:nvPicPr>
          <p:cNvPr id="6" name="Picture 5" descr="Chart, scatter chart&#10;&#10;Description automatically generated">
            <a:extLst>
              <a:ext uri="{FF2B5EF4-FFF2-40B4-BE49-F238E27FC236}">
                <a16:creationId xmlns:a16="http://schemas.microsoft.com/office/drawing/2014/main" id="{14096D89-69AA-60D4-84D0-9FD96ECE6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4357" y="0"/>
            <a:ext cx="4883285" cy="6858000"/>
          </a:xfrm>
          <a:prstGeom prst="rect">
            <a:avLst/>
          </a:prstGeom>
        </p:spPr>
      </p:pic>
    </p:spTree>
    <p:extLst>
      <p:ext uri="{BB962C8B-B14F-4D97-AF65-F5344CB8AC3E}">
        <p14:creationId xmlns:p14="http://schemas.microsoft.com/office/powerpoint/2010/main" val="33112947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lstStyle/>
          <a:p>
            <a:r>
              <a:rPr lang="en-US" dirty="0"/>
              <a:t>Formal RDD Assumptions </a:t>
            </a:r>
          </a:p>
        </p:txBody>
      </p:sp>
      <p:sp>
        <p:nvSpPr>
          <p:cNvPr id="3" name="Content Placeholder 2"/>
          <p:cNvSpPr>
            <a:spLocks noGrp="1"/>
          </p:cNvSpPr>
          <p:nvPr>
            <p:ph idx="1"/>
          </p:nvPr>
        </p:nvSpPr>
        <p:spPr>
          <a:xfrm>
            <a:off x="838200" y="1306286"/>
            <a:ext cx="10515600" cy="4870677"/>
          </a:xfrm>
        </p:spPr>
        <p:txBody>
          <a:bodyPr>
            <a:normAutofit/>
          </a:bodyPr>
          <a:lstStyle/>
          <a:p>
            <a:r>
              <a:rPr lang="en-US" dirty="0"/>
              <a:t>Requires takings limits as we narrow the window around the threshold.</a:t>
            </a:r>
          </a:p>
          <a:p>
            <a:r>
              <a:rPr lang="en-US" dirty="0"/>
              <a:t>Can estimate ACE if we assume treatment effect is homogenous (ACE)</a:t>
            </a:r>
          </a:p>
          <a:p>
            <a:pPr lvl="1"/>
            <a:r>
              <a:rPr lang="en-US" dirty="0"/>
              <a:t>Continuity of outcome at threshold if untreated</a:t>
            </a:r>
          </a:p>
          <a:p>
            <a:pPr lvl="1"/>
            <a:r>
              <a:rPr lang="en-US" dirty="0"/>
              <a:t>Discontinuity in treatment at threshold</a:t>
            </a:r>
          </a:p>
          <a:p>
            <a:r>
              <a:rPr lang="en-US" dirty="0"/>
              <a:t>If effect is heterogeneous we need more assumptions to estimate complier average causal effect (CACE) – similar to IV case</a:t>
            </a:r>
          </a:p>
          <a:p>
            <a:r>
              <a:rPr lang="en-US" dirty="0"/>
              <a:t>See </a:t>
            </a:r>
            <a:r>
              <a:rPr lang="en-US" dirty="0">
                <a:solidFill>
                  <a:srgbClr val="FF0000"/>
                </a:solidFill>
              </a:rPr>
              <a:t>additional slides </a:t>
            </a:r>
            <a:r>
              <a:rPr lang="en-US" dirty="0"/>
              <a:t>for details</a:t>
            </a:r>
          </a:p>
        </p:txBody>
      </p:sp>
      <p:sp>
        <p:nvSpPr>
          <p:cNvPr id="4" name="Slide Number Placeholder 3"/>
          <p:cNvSpPr>
            <a:spLocks noGrp="1"/>
          </p:cNvSpPr>
          <p:nvPr>
            <p:ph type="sldNum" sz="quarter" idx="12"/>
          </p:nvPr>
        </p:nvSpPr>
        <p:spPr/>
        <p:txBody>
          <a:bodyPr/>
          <a:lstStyle/>
          <a:p>
            <a:fld id="{4698AAF4-35A4-40F4-A7AE-C8E2C41B9252}" type="slidenum">
              <a:rPr lang="en-US" smtClean="0"/>
              <a:t>31</a:t>
            </a:fld>
            <a:endParaRPr lang="en-US"/>
          </a:p>
        </p:txBody>
      </p:sp>
    </p:spTree>
    <p:extLst>
      <p:ext uri="{BB962C8B-B14F-4D97-AF65-F5344CB8AC3E}">
        <p14:creationId xmlns:p14="http://schemas.microsoft.com/office/powerpoint/2010/main" val="277872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8E3EC-C036-4A65-8E1D-FFCF8A5B978F}"/>
              </a:ext>
            </a:extLst>
          </p:cNvPr>
          <p:cNvSpPr>
            <a:spLocks noGrp="1"/>
          </p:cNvSpPr>
          <p:nvPr>
            <p:ph type="title"/>
          </p:nvPr>
        </p:nvSpPr>
        <p:spPr/>
        <p:txBody>
          <a:bodyPr/>
          <a:lstStyle/>
          <a:p>
            <a:r>
              <a:rPr lang="en-US" dirty="0"/>
              <a:t>Advanced topics in RDD</a:t>
            </a:r>
          </a:p>
        </p:txBody>
      </p:sp>
      <p:sp>
        <p:nvSpPr>
          <p:cNvPr id="3" name="Content Placeholder 2">
            <a:extLst>
              <a:ext uri="{FF2B5EF4-FFF2-40B4-BE49-F238E27FC236}">
                <a16:creationId xmlns:a16="http://schemas.microsoft.com/office/drawing/2014/main" id="{FC8B7A2B-B5BF-4D55-8724-EC383FC05358}"/>
              </a:ext>
            </a:extLst>
          </p:cNvPr>
          <p:cNvSpPr>
            <a:spLocks noGrp="1"/>
          </p:cNvSpPr>
          <p:nvPr>
            <p:ph idx="1"/>
          </p:nvPr>
        </p:nvSpPr>
        <p:spPr>
          <a:xfrm>
            <a:off x="786320" y="1651778"/>
            <a:ext cx="10515600" cy="5254523"/>
          </a:xfrm>
        </p:spPr>
        <p:txBody>
          <a:bodyPr>
            <a:normAutofit lnSpcReduction="10000"/>
          </a:bodyPr>
          <a:lstStyle/>
          <a:p>
            <a:r>
              <a:rPr lang="en-US" dirty="0"/>
              <a:t>The bandwidth choice is flexible</a:t>
            </a:r>
          </a:p>
          <a:p>
            <a:pPr lvl="1"/>
            <a:r>
              <a:rPr lang="en-US" dirty="0"/>
              <a:t>Try different bandwidths and plot estimates (and standard errors) as a function of bandwidth</a:t>
            </a:r>
          </a:p>
          <a:p>
            <a:pPr lvl="1"/>
            <a:r>
              <a:rPr lang="en-US" dirty="0"/>
              <a:t>Optimal bandwidth selection on some criteria such as confidence intervals is available. This may prevent cherry picking results.</a:t>
            </a:r>
          </a:p>
          <a:p>
            <a:r>
              <a:rPr lang="en-US" dirty="0"/>
              <a:t>Degree of polynomial in running variable around bandwidth is flexible</a:t>
            </a:r>
          </a:p>
          <a:p>
            <a:pPr lvl="1"/>
            <a:r>
              <a:rPr lang="en-US" dirty="0"/>
              <a:t>With very small bandwidth, linear form is common; with wider bandwidths, higher order polynomials or non-parametric function should be estimated as well</a:t>
            </a:r>
          </a:p>
          <a:p>
            <a:r>
              <a:rPr lang="en-US" dirty="0"/>
              <a:t>Method of calculating standard errors is flexible</a:t>
            </a:r>
          </a:p>
          <a:p>
            <a:pPr lvl="1"/>
            <a:r>
              <a:rPr lang="en-US" dirty="0"/>
              <a:t>Different formula have been developed – at least 4. </a:t>
            </a:r>
          </a:p>
          <a:p>
            <a:r>
              <a:rPr lang="en-US" dirty="0"/>
              <a:t>Lots of technical issues, but graphs are key. We should be able to see the results in pictures to be convincing!</a:t>
            </a:r>
          </a:p>
          <a:p>
            <a:r>
              <a:rPr lang="en-US" dirty="0"/>
              <a:t>This is a method that needs a LOT of data for robust estimates!</a:t>
            </a:r>
          </a:p>
        </p:txBody>
      </p:sp>
      <p:sp>
        <p:nvSpPr>
          <p:cNvPr id="4" name="Slide Number Placeholder 3">
            <a:extLst>
              <a:ext uri="{FF2B5EF4-FFF2-40B4-BE49-F238E27FC236}">
                <a16:creationId xmlns:a16="http://schemas.microsoft.com/office/drawing/2014/main" id="{D99109B1-AE75-4269-8C90-391FD3077F40}"/>
              </a:ext>
            </a:extLst>
          </p:cNvPr>
          <p:cNvSpPr>
            <a:spLocks noGrp="1"/>
          </p:cNvSpPr>
          <p:nvPr>
            <p:ph type="sldNum" sz="quarter" idx="12"/>
          </p:nvPr>
        </p:nvSpPr>
        <p:spPr/>
        <p:txBody>
          <a:bodyPr/>
          <a:lstStyle/>
          <a:p>
            <a:fld id="{4698AAF4-35A4-40F4-A7AE-C8E2C41B9252}" type="slidenum">
              <a:rPr lang="en-US" smtClean="0"/>
              <a:t>32</a:t>
            </a:fld>
            <a:endParaRPr lang="en-US"/>
          </a:p>
        </p:txBody>
      </p:sp>
    </p:spTree>
    <p:extLst>
      <p:ext uri="{BB962C8B-B14F-4D97-AF65-F5344CB8AC3E}">
        <p14:creationId xmlns:p14="http://schemas.microsoft.com/office/powerpoint/2010/main" val="306565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B552-395A-5131-CDC5-7B9AB0027163}"/>
              </a:ext>
            </a:extLst>
          </p:cNvPr>
          <p:cNvSpPr>
            <a:spLocks noGrp="1"/>
          </p:cNvSpPr>
          <p:nvPr>
            <p:ph type="title"/>
          </p:nvPr>
        </p:nvSpPr>
        <p:spPr/>
        <p:txBody>
          <a:bodyPr/>
          <a:lstStyle/>
          <a:p>
            <a:r>
              <a:rPr lang="en-US" dirty="0"/>
              <a:t>Practical Tips: Assessing the Validity of RDD</a:t>
            </a:r>
          </a:p>
        </p:txBody>
      </p:sp>
      <p:sp>
        <p:nvSpPr>
          <p:cNvPr id="3" name="Content Placeholder 2">
            <a:extLst>
              <a:ext uri="{FF2B5EF4-FFF2-40B4-BE49-F238E27FC236}">
                <a16:creationId xmlns:a16="http://schemas.microsoft.com/office/drawing/2014/main" id="{99FC732E-01C2-FA2F-55D1-50E54E4FD80C}"/>
              </a:ext>
            </a:extLst>
          </p:cNvPr>
          <p:cNvSpPr>
            <a:spLocks noGrp="1"/>
          </p:cNvSpPr>
          <p:nvPr>
            <p:ph idx="1"/>
          </p:nvPr>
        </p:nvSpPr>
        <p:spPr/>
        <p:txBody>
          <a:bodyPr>
            <a:noAutofit/>
          </a:bodyPr>
          <a:lstStyle/>
          <a:p>
            <a:pPr marL="457200" indent="-457200">
              <a:buAutoNum type="arabicParenR"/>
            </a:pPr>
            <a:r>
              <a:rPr lang="en-US" sz="2400" dirty="0">
                <a:effectLst/>
                <a:latin typeface="Calibri" panose="020F0502020204030204" pitchFamily="34" charset="0"/>
                <a:cs typeface="Calibri" panose="020F0502020204030204" pitchFamily="34" charset="0"/>
              </a:rPr>
              <a:t>Show characteristics (SES, age...) are balanced around threshold. </a:t>
            </a:r>
          </a:p>
          <a:p>
            <a:pPr lvl="1"/>
            <a:r>
              <a:rPr lang="en-US" dirty="0">
                <a:effectLst/>
                <a:latin typeface="Calibri" panose="020F0502020204030204" pitchFamily="34" charset="0"/>
                <a:cs typeface="Calibri" panose="020F0502020204030204" pitchFamily="34" charset="0"/>
              </a:rPr>
              <a:t>One way to do this is to estimate the same main regression as RD but your “outcomes” are the covariates. Look for jumps near the threshold. </a:t>
            </a:r>
          </a:p>
          <a:p>
            <a:pPr lvl="1"/>
            <a:r>
              <a:rPr lang="en-US" dirty="0">
                <a:effectLst/>
                <a:latin typeface="Calibri" panose="020F0502020204030204" pitchFamily="34" charset="0"/>
                <a:cs typeface="Calibri" panose="020F0502020204030204" pitchFamily="34" charset="0"/>
              </a:rPr>
              <a:t>Similar to balance tables in RCTs</a:t>
            </a:r>
            <a:endParaRPr lang="en-US" dirty="0">
              <a:latin typeface="Calibri" panose="020F0502020204030204" pitchFamily="34" charset="0"/>
              <a:cs typeface="Calibri" panose="020F0502020204030204" pitchFamily="34" charset="0"/>
            </a:endParaRPr>
          </a:p>
          <a:p>
            <a:pPr marL="514350" indent="-514350">
              <a:buAutoNum type="arabicParenR"/>
            </a:pPr>
            <a:r>
              <a:rPr lang="en-US" sz="2400" dirty="0">
                <a:effectLst/>
                <a:latin typeface="Calibri" panose="020F0502020204030204" pitchFamily="34" charset="0"/>
                <a:cs typeface="Calibri" panose="020F0502020204030204" pitchFamily="34" charset="0"/>
              </a:rPr>
              <a:t>Estimate causal effect using different bandwidths and check stability of estimates — instability suggests wrong functional form </a:t>
            </a:r>
          </a:p>
          <a:p>
            <a:pPr marL="0" indent="0">
              <a:buNone/>
            </a:pPr>
            <a:r>
              <a:rPr lang="en-US" sz="2400" dirty="0">
                <a:effectLst/>
                <a:latin typeface="Calibri" panose="020F0502020204030204" pitchFamily="34" charset="0"/>
                <a:cs typeface="Calibri" panose="020F0502020204030204" pitchFamily="34" charset="0"/>
              </a:rPr>
              <a:t>3)    Look for “bunching” in the running variable around threshold </a:t>
            </a:r>
          </a:p>
          <a:p>
            <a:pPr lvl="1"/>
            <a:r>
              <a:rPr lang="en-US" dirty="0">
                <a:effectLst/>
                <a:latin typeface="Calibri" panose="020F0502020204030204" pitchFamily="34" charset="0"/>
                <a:cs typeface="Calibri" panose="020F0502020204030204" pitchFamily="34" charset="0"/>
              </a:rPr>
              <a:t>Should not be extra mass in distribution near threshold</a:t>
            </a:r>
            <a:endParaRPr lang="en-US" dirty="0">
              <a:latin typeface="Calibri" panose="020F0502020204030204" pitchFamily="34" charset="0"/>
              <a:cs typeface="Calibri" panose="020F0502020204030204" pitchFamily="34" charset="0"/>
            </a:endParaRPr>
          </a:p>
          <a:p>
            <a:pPr lvl="1"/>
            <a:r>
              <a:rPr lang="en-US" dirty="0">
                <a:latin typeface="Calibri" panose="020F0502020204030204" pitchFamily="34" charset="0"/>
                <a:cs typeface="Calibri" panose="020F0502020204030204" pitchFamily="34" charset="0"/>
              </a:rPr>
              <a:t>Can use </a:t>
            </a:r>
            <a:r>
              <a:rPr lang="en-US" dirty="0">
                <a:latin typeface="Calibri" panose="020F0502020204030204" pitchFamily="34" charset="0"/>
                <a:cs typeface="Calibri" panose="020F0502020204030204" pitchFamily="34" charset="0"/>
                <a:hlinkClick r:id="rId2"/>
              </a:rPr>
              <a:t>McCrary 2008 </a:t>
            </a:r>
            <a:r>
              <a:rPr lang="en-US" dirty="0">
                <a:latin typeface="Calibri" panose="020F0502020204030204" pitchFamily="34" charset="0"/>
                <a:cs typeface="Calibri" panose="020F0502020204030204" pitchFamily="34" charset="0"/>
              </a:rPr>
              <a:t>density test to test this formally</a:t>
            </a:r>
            <a:endParaRPr lang="en-US" dirty="0">
              <a:effectLst/>
              <a:latin typeface="Calibri" panose="020F0502020204030204" pitchFamily="34" charset="0"/>
              <a:cs typeface="Calibri" panose="020F0502020204030204" pitchFamily="34" charset="0"/>
            </a:endParaRPr>
          </a:p>
          <a:p>
            <a:pPr marL="0" indent="0">
              <a:buNone/>
            </a:pPr>
            <a:r>
              <a:rPr lang="en-US" sz="2400" dirty="0">
                <a:effectLst/>
                <a:latin typeface="Calibri" panose="020F0502020204030204" pitchFamily="34" charset="0"/>
                <a:cs typeface="Calibri" panose="020F0502020204030204" pitchFamily="34" charset="0"/>
              </a:rPr>
              <a:t>4) </a:t>
            </a:r>
            <a:r>
              <a:rPr lang="en-US" sz="2400" dirty="0">
                <a:latin typeface="Calibri" panose="020F0502020204030204" pitchFamily="34" charset="0"/>
                <a:cs typeface="Calibri" panose="020F0502020204030204" pitchFamily="34" charset="0"/>
              </a:rPr>
              <a:t>    </a:t>
            </a:r>
            <a:r>
              <a:rPr lang="en-US" sz="2400" dirty="0">
                <a:effectLst/>
                <a:latin typeface="Calibri" panose="020F0502020204030204" pitchFamily="34" charset="0"/>
                <a:cs typeface="Calibri" panose="020F0502020204030204" pitchFamily="34" charset="0"/>
              </a:rPr>
              <a:t>Estimate “false threshold” </a:t>
            </a:r>
          </a:p>
          <a:p>
            <a:pPr lvl="1"/>
            <a:r>
              <a:rPr lang="en-US" dirty="0">
                <a:effectLst/>
                <a:latin typeface="Calibri" panose="020F0502020204030204" pitchFamily="34" charset="0"/>
                <a:cs typeface="Calibri" panose="020F0502020204030204" pitchFamily="34" charset="0"/>
              </a:rPr>
              <a:t>Should not find significant effects at the wrong threshold </a:t>
            </a:r>
          </a:p>
        </p:txBody>
      </p:sp>
      <p:sp>
        <p:nvSpPr>
          <p:cNvPr id="4" name="Slide Number Placeholder 3">
            <a:extLst>
              <a:ext uri="{FF2B5EF4-FFF2-40B4-BE49-F238E27FC236}">
                <a16:creationId xmlns:a16="http://schemas.microsoft.com/office/drawing/2014/main" id="{807BCA1A-13DA-995A-4606-0F170A89866B}"/>
              </a:ext>
            </a:extLst>
          </p:cNvPr>
          <p:cNvSpPr>
            <a:spLocks noGrp="1"/>
          </p:cNvSpPr>
          <p:nvPr>
            <p:ph type="sldNum" sz="quarter" idx="12"/>
          </p:nvPr>
        </p:nvSpPr>
        <p:spPr/>
        <p:txBody>
          <a:bodyPr/>
          <a:lstStyle/>
          <a:p>
            <a:fld id="{4698AAF4-35A4-40F4-A7AE-C8E2C41B9252}" type="slidenum">
              <a:rPr lang="en-US" smtClean="0"/>
              <a:t>33</a:t>
            </a:fld>
            <a:endParaRPr lang="en-US"/>
          </a:p>
        </p:txBody>
      </p:sp>
    </p:spTree>
    <p:extLst>
      <p:ext uri="{BB962C8B-B14F-4D97-AF65-F5344CB8AC3E}">
        <p14:creationId xmlns:p14="http://schemas.microsoft.com/office/powerpoint/2010/main" val="272877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B6C28-CE53-2E9C-C6C8-19F2A7ED82B4}"/>
              </a:ext>
            </a:extLst>
          </p:cNvPr>
          <p:cNvSpPr>
            <a:spLocks noGrp="1"/>
          </p:cNvSpPr>
          <p:nvPr>
            <p:ph type="title"/>
          </p:nvPr>
        </p:nvSpPr>
        <p:spPr/>
        <p:txBody>
          <a:bodyPr/>
          <a:lstStyle/>
          <a:p>
            <a:r>
              <a:rPr lang="en-US" dirty="0"/>
              <a:t>Assessing bunching</a:t>
            </a:r>
          </a:p>
        </p:txBody>
      </p:sp>
      <p:sp>
        <p:nvSpPr>
          <p:cNvPr id="4" name="Slide Number Placeholder 3">
            <a:extLst>
              <a:ext uri="{FF2B5EF4-FFF2-40B4-BE49-F238E27FC236}">
                <a16:creationId xmlns:a16="http://schemas.microsoft.com/office/drawing/2014/main" id="{B8E6C06F-C575-7F23-8ACF-0EFBF16DC0DF}"/>
              </a:ext>
            </a:extLst>
          </p:cNvPr>
          <p:cNvSpPr>
            <a:spLocks noGrp="1"/>
          </p:cNvSpPr>
          <p:nvPr>
            <p:ph type="sldNum" sz="quarter" idx="12"/>
          </p:nvPr>
        </p:nvSpPr>
        <p:spPr/>
        <p:txBody>
          <a:bodyPr/>
          <a:lstStyle/>
          <a:p>
            <a:fld id="{4698AAF4-35A4-40F4-A7AE-C8E2C41B9252}" type="slidenum">
              <a:rPr lang="en-US" smtClean="0"/>
              <a:t>34</a:t>
            </a:fld>
            <a:endParaRPr lang="en-US"/>
          </a:p>
        </p:txBody>
      </p:sp>
      <p:pic>
        <p:nvPicPr>
          <p:cNvPr id="6" name="Picture 5" descr="Chart, line chart&#10;&#10;Description automatically generated">
            <a:extLst>
              <a:ext uri="{FF2B5EF4-FFF2-40B4-BE49-F238E27FC236}">
                <a16:creationId xmlns:a16="http://schemas.microsoft.com/office/drawing/2014/main" id="{16B7CB01-CDF6-0677-9490-F03B1D02E9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911" y="1346201"/>
            <a:ext cx="7772400" cy="4707128"/>
          </a:xfrm>
          <a:prstGeom prst="rect">
            <a:avLst/>
          </a:prstGeom>
        </p:spPr>
      </p:pic>
      <p:pic>
        <p:nvPicPr>
          <p:cNvPr id="8" name="Picture 7" descr="Graphical user interface, text, application, email&#10;&#10;Description automatically generated">
            <a:extLst>
              <a:ext uri="{FF2B5EF4-FFF2-40B4-BE49-F238E27FC236}">
                <a16:creationId xmlns:a16="http://schemas.microsoft.com/office/drawing/2014/main" id="{0BC511E8-A01C-19A6-5D74-D442BCF30F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4368" y="365124"/>
            <a:ext cx="3535664" cy="1325564"/>
          </a:xfrm>
          <a:prstGeom prst="rect">
            <a:avLst/>
          </a:prstGeom>
        </p:spPr>
      </p:pic>
    </p:spTree>
    <p:extLst>
      <p:ext uri="{BB962C8B-B14F-4D97-AF65-F5344CB8AC3E}">
        <p14:creationId xmlns:p14="http://schemas.microsoft.com/office/powerpoint/2010/main" val="1155143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Age as a running variable – special issues</a:t>
            </a:r>
          </a:p>
        </p:txBody>
      </p:sp>
      <p:sp>
        <p:nvSpPr>
          <p:cNvPr id="4" name="Content Placeholder 3"/>
          <p:cNvSpPr>
            <a:spLocks noGrp="1"/>
          </p:cNvSpPr>
          <p:nvPr>
            <p:ph idx="1"/>
          </p:nvPr>
        </p:nvSpPr>
        <p:spPr>
          <a:xfrm>
            <a:off x="838200" y="1825625"/>
            <a:ext cx="10515600" cy="4667250"/>
          </a:xfrm>
        </p:spPr>
        <p:txBody>
          <a:bodyPr>
            <a:normAutofit fontScale="92500"/>
          </a:bodyPr>
          <a:lstStyle/>
          <a:p>
            <a:r>
              <a:rPr lang="en-US" dirty="0">
                <a:solidFill>
                  <a:srgbClr val="FF0000"/>
                </a:solidFill>
              </a:rPr>
              <a:t>What do you think are some challenges of using age in an RDD?</a:t>
            </a:r>
          </a:p>
          <a:p>
            <a:r>
              <a:rPr lang="en-US" dirty="0"/>
              <a:t>Some policies are age dependent – old age pension, Medicare eligibility</a:t>
            </a:r>
          </a:p>
          <a:p>
            <a:r>
              <a:rPr lang="en-US" dirty="0"/>
              <a:t>Age cannot be manipulated – but can people </a:t>
            </a:r>
            <a:r>
              <a:rPr lang="en-US" i="1" dirty="0"/>
              <a:t>report</a:t>
            </a:r>
            <a:r>
              <a:rPr lang="en-US" dirty="0"/>
              <a:t> false ages to get access</a:t>
            </a:r>
          </a:p>
          <a:p>
            <a:r>
              <a:rPr lang="en-US" dirty="0"/>
              <a:t>Several policies may change at same age</a:t>
            </a:r>
          </a:p>
          <a:p>
            <a:pPr lvl="1"/>
            <a:r>
              <a:rPr lang="en-US" dirty="0"/>
              <a:t>Age 65: Medicare, some pensions, senior discounts. </a:t>
            </a:r>
          </a:p>
          <a:p>
            <a:r>
              <a:rPr lang="en-US" dirty="0"/>
              <a:t>Change at 65 is not random and is foreseeable. We may see actions below 65 in anticipation of treatment at age 65</a:t>
            </a:r>
          </a:p>
          <a:p>
            <a:pPr lvl="1"/>
            <a:r>
              <a:rPr lang="en-US" dirty="0"/>
              <a:t>Consumption smoothing of pension income</a:t>
            </a:r>
          </a:p>
          <a:p>
            <a:pPr lvl="1"/>
            <a:r>
              <a:rPr lang="en-US" dirty="0"/>
              <a:t>Delaying health care utilization until Medicare access  </a:t>
            </a:r>
          </a:p>
          <a:p>
            <a:r>
              <a:rPr lang="en-US" dirty="0"/>
              <a:t>Is that likely to be a concern in the case of “advanced maternal age”?</a:t>
            </a:r>
          </a:p>
        </p:txBody>
      </p:sp>
      <p:sp>
        <p:nvSpPr>
          <p:cNvPr id="2" name="Slide Number Placeholder 1"/>
          <p:cNvSpPr>
            <a:spLocks noGrp="1"/>
          </p:cNvSpPr>
          <p:nvPr>
            <p:ph type="sldNum" sz="quarter" idx="12"/>
          </p:nvPr>
        </p:nvSpPr>
        <p:spPr/>
        <p:txBody>
          <a:bodyPr/>
          <a:lstStyle/>
          <a:p>
            <a:fld id="{4698AAF4-35A4-40F4-A7AE-C8E2C41B9252}" type="slidenum">
              <a:rPr lang="en-US" smtClean="0"/>
              <a:t>35</a:t>
            </a:fld>
            <a:endParaRPr lang="en-US"/>
          </a:p>
        </p:txBody>
      </p:sp>
    </p:spTree>
    <p:extLst>
      <p:ext uri="{BB962C8B-B14F-4D97-AF65-F5344CB8AC3E}">
        <p14:creationId xmlns:p14="http://schemas.microsoft.com/office/powerpoint/2010/main" val="166855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B552-395A-5131-CDC5-7B9AB0027163}"/>
              </a:ext>
            </a:extLst>
          </p:cNvPr>
          <p:cNvSpPr>
            <a:spLocks noGrp="1"/>
          </p:cNvSpPr>
          <p:nvPr>
            <p:ph type="title"/>
          </p:nvPr>
        </p:nvSpPr>
        <p:spPr/>
        <p:txBody>
          <a:bodyPr/>
          <a:lstStyle/>
          <a:p>
            <a:r>
              <a:rPr lang="en-US" dirty="0"/>
              <a:t>What are we estimating?</a:t>
            </a:r>
          </a:p>
        </p:txBody>
      </p:sp>
      <p:sp>
        <p:nvSpPr>
          <p:cNvPr id="3" name="Content Placeholder 2">
            <a:extLst>
              <a:ext uri="{FF2B5EF4-FFF2-40B4-BE49-F238E27FC236}">
                <a16:creationId xmlns:a16="http://schemas.microsoft.com/office/drawing/2014/main" id="{99FC732E-01C2-FA2F-55D1-50E54E4FD80C}"/>
              </a:ext>
            </a:extLst>
          </p:cNvPr>
          <p:cNvSpPr>
            <a:spLocks noGrp="1"/>
          </p:cNvSpPr>
          <p:nvPr>
            <p:ph idx="1"/>
          </p:nvPr>
        </p:nvSpPr>
        <p:spPr/>
        <p:txBody>
          <a:bodyPr>
            <a:noAutofit/>
          </a:bodyPr>
          <a:lstStyle/>
          <a:p>
            <a:pPr marL="0" indent="0">
              <a:buNone/>
            </a:pPr>
            <a:r>
              <a:rPr lang="en-US" sz="2400" dirty="0">
                <a:latin typeface="Calibri" panose="020F0502020204030204" pitchFamily="34" charset="0"/>
                <a:cs typeface="Calibri" panose="020F0502020204030204" pitchFamily="34" charset="0"/>
              </a:rPr>
              <a:t>If we get through all these checks, we can feel more confident assessing changes in outcome variables at the threshold as:</a:t>
            </a:r>
          </a:p>
          <a:p>
            <a:pPr>
              <a:buFontTx/>
              <a:buChar char="-"/>
            </a:pPr>
            <a:r>
              <a:rPr lang="en-US" sz="2400" dirty="0">
                <a:latin typeface="Calibri" panose="020F0502020204030204" pitchFamily="34" charset="0"/>
                <a:cs typeface="Calibri" panose="020F0502020204030204" pitchFamily="34" charset="0"/>
              </a:rPr>
              <a:t>The average causal effect of the program at the threshold for sharp RDD</a:t>
            </a:r>
          </a:p>
          <a:p>
            <a:pPr>
              <a:buFontTx/>
              <a:buChar char="-"/>
            </a:pPr>
            <a:r>
              <a:rPr lang="en-US" sz="2400" dirty="0">
                <a:latin typeface="Calibri" panose="020F0502020204030204" pitchFamily="34" charset="0"/>
                <a:cs typeface="Calibri" panose="020F0502020204030204" pitchFamily="34" charset="0"/>
              </a:rPr>
              <a:t>The impact of crossing the threshold (kind of an analogy to ITT) for fuzzy RDD</a:t>
            </a:r>
          </a:p>
          <a:p>
            <a:pPr lvl="1">
              <a:buFontTx/>
              <a:buChar char="-"/>
            </a:pPr>
            <a:r>
              <a:rPr lang="en-US" dirty="0">
                <a:latin typeface="Calibri" panose="020F0502020204030204" pitchFamily="34" charset="0"/>
                <a:cs typeface="Calibri" panose="020F0502020204030204" pitchFamily="34" charset="0"/>
              </a:rPr>
              <a:t>With some assumptions we can scale this by the change in the probability of participating in treatment at the threshold to get the Complier Average Causal Effect of the program at the threshold</a:t>
            </a:r>
          </a:p>
          <a:p>
            <a:pPr lvl="1">
              <a:buFontTx/>
              <a:buChar char="-"/>
            </a:pPr>
            <a:r>
              <a:rPr lang="en-US" u="sng" dirty="0">
                <a:latin typeface="Calibri" panose="020F0502020204030204" pitchFamily="34" charset="0"/>
                <a:cs typeface="Calibri" panose="020F0502020204030204" pitchFamily="34" charset="0"/>
              </a:rPr>
              <a:t>Compliers</a:t>
            </a:r>
            <a:r>
              <a:rPr lang="en-US" dirty="0">
                <a:latin typeface="Calibri" panose="020F0502020204030204" pitchFamily="34" charset="0"/>
                <a:cs typeface="Calibri" panose="020F0502020204030204" pitchFamily="34" charset="0"/>
              </a:rPr>
              <a:t>: Those who get the treatment only because they are above the threshold</a:t>
            </a:r>
          </a:p>
          <a:p>
            <a:pPr lvl="2"/>
            <a:r>
              <a:rPr lang="en-US" sz="2400" dirty="0">
                <a:latin typeface="Calibri" panose="020F0502020204030204" pitchFamily="34" charset="0"/>
                <a:cs typeface="Calibri" panose="020F0502020204030204" pitchFamily="34" charset="0"/>
              </a:rPr>
              <a:t>Can we identify compliers in the data?</a:t>
            </a:r>
          </a:p>
          <a:p>
            <a:pPr lvl="1">
              <a:buFontTx/>
              <a:buChar char="-"/>
            </a:pPr>
            <a:endParaRPr lang="en-US" sz="1800" dirty="0">
              <a:latin typeface="Calibri" panose="020F0502020204030204" pitchFamily="34" charset="0"/>
              <a:cs typeface="Calibri" panose="020F0502020204030204" pitchFamily="34" charset="0"/>
            </a:endParaRPr>
          </a:p>
          <a:p>
            <a:pPr lvl="1">
              <a:buFontTx/>
              <a:buChar char="-"/>
            </a:pPr>
            <a:endParaRPr lang="en-US" sz="1800" dirty="0">
              <a:latin typeface="Calibri" panose="020F0502020204030204" pitchFamily="34" charset="0"/>
              <a:cs typeface="Calibri" panose="020F0502020204030204" pitchFamily="34" charset="0"/>
            </a:endParaRPr>
          </a:p>
          <a:p>
            <a:pPr lvl="1"/>
            <a:endParaRPr lang="en-US" sz="2000" dirty="0">
              <a:effectLst/>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07BCA1A-13DA-995A-4606-0F170A89866B}"/>
              </a:ext>
            </a:extLst>
          </p:cNvPr>
          <p:cNvSpPr>
            <a:spLocks noGrp="1"/>
          </p:cNvSpPr>
          <p:nvPr>
            <p:ph type="sldNum" sz="quarter" idx="12"/>
          </p:nvPr>
        </p:nvSpPr>
        <p:spPr/>
        <p:txBody>
          <a:bodyPr/>
          <a:lstStyle/>
          <a:p>
            <a:fld id="{4698AAF4-35A4-40F4-A7AE-C8E2C41B9252}" type="slidenum">
              <a:rPr lang="en-US" smtClean="0"/>
              <a:t>36</a:t>
            </a:fld>
            <a:endParaRPr lang="en-US"/>
          </a:p>
        </p:txBody>
      </p:sp>
    </p:spTree>
    <p:extLst>
      <p:ext uri="{BB962C8B-B14F-4D97-AF65-F5344CB8AC3E}">
        <p14:creationId xmlns:p14="http://schemas.microsoft.com/office/powerpoint/2010/main" val="115417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2A613-439B-4CD9-9892-B2D7A0C744DE}"/>
              </a:ext>
            </a:extLst>
          </p:cNvPr>
          <p:cNvSpPr>
            <a:spLocks noGrp="1"/>
          </p:cNvSpPr>
          <p:nvPr>
            <p:ph type="title"/>
          </p:nvPr>
        </p:nvSpPr>
        <p:spPr/>
        <p:txBody>
          <a:bodyPr/>
          <a:lstStyle/>
          <a:p>
            <a:r>
              <a:rPr lang="en-US" dirty="0"/>
              <a:t>IV vs. RDD</a:t>
            </a:r>
          </a:p>
        </p:txBody>
      </p:sp>
      <p:sp>
        <p:nvSpPr>
          <p:cNvPr id="3" name="Content Placeholder 2">
            <a:extLst>
              <a:ext uri="{FF2B5EF4-FFF2-40B4-BE49-F238E27FC236}">
                <a16:creationId xmlns:a16="http://schemas.microsoft.com/office/drawing/2014/main" id="{C93AC98A-F6D4-416B-BF82-D84C46B54922}"/>
              </a:ext>
            </a:extLst>
          </p:cNvPr>
          <p:cNvSpPr>
            <a:spLocks noGrp="1"/>
          </p:cNvSpPr>
          <p:nvPr>
            <p:ph idx="1"/>
          </p:nvPr>
        </p:nvSpPr>
        <p:spPr>
          <a:xfrm>
            <a:off x="838200" y="1825625"/>
            <a:ext cx="10515600" cy="4895850"/>
          </a:xfrm>
        </p:spPr>
        <p:txBody>
          <a:bodyPr>
            <a:normAutofit fontScale="92500" lnSpcReduction="20000"/>
          </a:bodyPr>
          <a:lstStyle/>
          <a:p>
            <a:r>
              <a:rPr lang="en-US" altLang="en-US" dirty="0"/>
              <a:t>Both IV and RDD strategies explore random variations generated by specific programs or thresholds</a:t>
            </a:r>
          </a:p>
          <a:p>
            <a:endParaRPr lang="en-US" altLang="en-US" dirty="0"/>
          </a:p>
          <a:p>
            <a:r>
              <a:rPr lang="en-US" altLang="en-US" dirty="0"/>
              <a:t>While this variation could be randomly distributed across the entire population (like the variation in exposure generated by an RCT), most IVs and RDD explore variations generated by government laws or other quasi-random rules</a:t>
            </a:r>
          </a:p>
          <a:p>
            <a:endParaRPr lang="en-US" altLang="en-US" dirty="0"/>
          </a:p>
          <a:p>
            <a:r>
              <a:rPr lang="en-US" altLang="en-US" dirty="0"/>
              <a:t>If treatment impact is heterogeneous, the estimates are not necessarily the average treatment effects for the population. </a:t>
            </a:r>
          </a:p>
          <a:p>
            <a:pPr lvl="1"/>
            <a:r>
              <a:rPr lang="en-US" altLang="en-US" dirty="0"/>
              <a:t>We refer to RDD estimates as ACE or CACE, and to IV estimates as LATE.</a:t>
            </a:r>
          </a:p>
          <a:p>
            <a:pPr marL="0" indent="0">
              <a:buNone/>
            </a:pPr>
            <a:r>
              <a:rPr lang="en-US" altLang="en-US" dirty="0"/>
              <a:t> </a:t>
            </a:r>
          </a:p>
          <a:p>
            <a:r>
              <a:rPr lang="en-US" altLang="en-US" dirty="0"/>
              <a:t>Big advantage of RDD – relies on </a:t>
            </a:r>
            <a:r>
              <a:rPr lang="en-US" altLang="en-US" dirty="0">
                <a:solidFill>
                  <a:srgbClr val="FF0000"/>
                </a:solidFill>
              </a:rPr>
              <a:t>continuity</a:t>
            </a:r>
            <a:r>
              <a:rPr lang="en-US" altLang="en-US" dirty="0"/>
              <a:t> of missing covariates with z</a:t>
            </a:r>
            <a:r>
              <a:rPr lang="en-US" altLang="en-US"/>
              <a:t>, NOT </a:t>
            </a:r>
            <a:r>
              <a:rPr lang="en-US" altLang="en-US" dirty="0"/>
              <a:t>on </a:t>
            </a:r>
            <a:r>
              <a:rPr lang="en-US" altLang="en-US" dirty="0">
                <a:solidFill>
                  <a:srgbClr val="FF0000"/>
                </a:solidFill>
              </a:rPr>
              <a:t>no correlation </a:t>
            </a:r>
            <a:r>
              <a:rPr lang="en-US" altLang="en-US" dirty="0"/>
              <a:t>between covariates and z.</a:t>
            </a:r>
          </a:p>
        </p:txBody>
      </p:sp>
      <p:sp>
        <p:nvSpPr>
          <p:cNvPr id="4" name="Slide Number Placeholder 3">
            <a:extLst>
              <a:ext uri="{FF2B5EF4-FFF2-40B4-BE49-F238E27FC236}">
                <a16:creationId xmlns:a16="http://schemas.microsoft.com/office/drawing/2014/main" id="{7ED075DF-EC8F-456A-B9A1-BFFF4ED85AAF}"/>
              </a:ext>
            </a:extLst>
          </p:cNvPr>
          <p:cNvSpPr>
            <a:spLocks noGrp="1"/>
          </p:cNvSpPr>
          <p:nvPr>
            <p:ph type="sldNum" sz="quarter" idx="12"/>
          </p:nvPr>
        </p:nvSpPr>
        <p:spPr/>
        <p:txBody>
          <a:bodyPr/>
          <a:lstStyle/>
          <a:p>
            <a:fld id="{4698AAF4-35A4-40F4-A7AE-C8E2C41B9252}" type="slidenum">
              <a:rPr lang="en-US" smtClean="0"/>
              <a:t>37</a:t>
            </a:fld>
            <a:endParaRPr lang="en-US"/>
          </a:p>
        </p:txBody>
      </p:sp>
    </p:spTree>
    <p:extLst>
      <p:ext uri="{BB962C8B-B14F-4D97-AF65-F5344CB8AC3E}">
        <p14:creationId xmlns:p14="http://schemas.microsoft.com/office/powerpoint/2010/main" val="197836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A5BCD-A151-4EE4-87FB-C847D43D637D}"/>
              </a:ext>
            </a:extLst>
          </p:cNvPr>
          <p:cNvSpPr>
            <a:spLocks noGrp="1"/>
          </p:cNvSpPr>
          <p:nvPr>
            <p:ph type="title"/>
          </p:nvPr>
        </p:nvSpPr>
        <p:spPr/>
        <p:txBody>
          <a:bodyPr/>
          <a:lstStyle/>
          <a:p>
            <a:r>
              <a:rPr lang="en-US" dirty="0"/>
              <a:t>Strength of RDDs</a:t>
            </a:r>
          </a:p>
        </p:txBody>
      </p:sp>
      <p:sp>
        <p:nvSpPr>
          <p:cNvPr id="3" name="Content Placeholder 2">
            <a:extLst>
              <a:ext uri="{FF2B5EF4-FFF2-40B4-BE49-F238E27FC236}">
                <a16:creationId xmlns:a16="http://schemas.microsoft.com/office/drawing/2014/main" id="{36DB2FE9-58AD-49D9-9677-52A7F1C49B51}"/>
              </a:ext>
            </a:extLst>
          </p:cNvPr>
          <p:cNvSpPr>
            <a:spLocks noGrp="1"/>
          </p:cNvSpPr>
          <p:nvPr>
            <p:ph idx="1"/>
          </p:nvPr>
        </p:nvSpPr>
        <p:spPr/>
        <p:txBody>
          <a:bodyPr>
            <a:normAutofit fontScale="77500" lnSpcReduction="20000"/>
          </a:bodyPr>
          <a:lstStyle/>
          <a:p>
            <a:r>
              <a:rPr lang="en-US" altLang="en-US" dirty="0"/>
              <a:t>RDD models have many potential applications</a:t>
            </a:r>
          </a:p>
          <a:p>
            <a:endParaRPr lang="en-US" altLang="en-US" dirty="0"/>
          </a:p>
          <a:p>
            <a:r>
              <a:rPr lang="en-US" altLang="en-US" dirty="0"/>
              <a:t>The assumption that treatment assignment is discontinuous around a very specific threshold is plausible in many settings and can be tested</a:t>
            </a:r>
          </a:p>
          <a:p>
            <a:endParaRPr lang="en-US" altLang="en-US" dirty="0"/>
          </a:p>
          <a:p>
            <a:r>
              <a:rPr lang="en-US" altLang="en-US" dirty="0"/>
              <a:t>The degree to which populations are the same to the “left” and “right” of the threshold can be tested empirically – test balance of observables</a:t>
            </a:r>
          </a:p>
          <a:p>
            <a:endParaRPr lang="en-US" altLang="en-US" dirty="0"/>
          </a:p>
          <a:p>
            <a:r>
              <a:rPr lang="en-US" altLang="en-US" dirty="0"/>
              <a:t>The plausibility of RDD is possible to assess visually – can lend strength to conclusions</a:t>
            </a:r>
          </a:p>
          <a:p>
            <a:endParaRPr lang="en-US" altLang="en-US" dirty="0"/>
          </a:p>
          <a:p>
            <a:r>
              <a:rPr lang="en-US" altLang="en-US" dirty="0"/>
              <a:t>RDD estimate the causal effect of treatments in practice, which may be very different from the controlled environments generated for RCTs</a:t>
            </a:r>
          </a:p>
        </p:txBody>
      </p:sp>
      <p:sp>
        <p:nvSpPr>
          <p:cNvPr id="4" name="Slide Number Placeholder 3">
            <a:extLst>
              <a:ext uri="{FF2B5EF4-FFF2-40B4-BE49-F238E27FC236}">
                <a16:creationId xmlns:a16="http://schemas.microsoft.com/office/drawing/2014/main" id="{D8B73314-A351-48DA-8E12-22B720397BC6}"/>
              </a:ext>
            </a:extLst>
          </p:cNvPr>
          <p:cNvSpPr>
            <a:spLocks noGrp="1"/>
          </p:cNvSpPr>
          <p:nvPr>
            <p:ph type="sldNum" sz="quarter" idx="12"/>
          </p:nvPr>
        </p:nvSpPr>
        <p:spPr/>
        <p:txBody>
          <a:bodyPr/>
          <a:lstStyle/>
          <a:p>
            <a:fld id="{4698AAF4-35A4-40F4-A7AE-C8E2C41B9252}" type="slidenum">
              <a:rPr lang="en-US" smtClean="0"/>
              <a:t>38</a:t>
            </a:fld>
            <a:endParaRPr lang="en-US"/>
          </a:p>
        </p:txBody>
      </p:sp>
    </p:spTree>
    <p:extLst>
      <p:ext uri="{BB962C8B-B14F-4D97-AF65-F5344CB8AC3E}">
        <p14:creationId xmlns:p14="http://schemas.microsoft.com/office/powerpoint/2010/main" val="382653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4675-1C2D-4BE3-A492-F0ED91AFB6A8}"/>
              </a:ext>
            </a:extLst>
          </p:cNvPr>
          <p:cNvSpPr>
            <a:spLocks noGrp="1"/>
          </p:cNvSpPr>
          <p:nvPr>
            <p:ph type="title"/>
          </p:nvPr>
        </p:nvSpPr>
        <p:spPr/>
        <p:txBody>
          <a:bodyPr/>
          <a:lstStyle/>
          <a:p>
            <a:r>
              <a:rPr lang="en-US" dirty="0"/>
              <a:t>RDD summary</a:t>
            </a:r>
          </a:p>
        </p:txBody>
      </p:sp>
      <p:sp>
        <p:nvSpPr>
          <p:cNvPr id="3" name="Content Placeholder 2">
            <a:extLst>
              <a:ext uri="{FF2B5EF4-FFF2-40B4-BE49-F238E27FC236}">
                <a16:creationId xmlns:a16="http://schemas.microsoft.com/office/drawing/2014/main" id="{9ED1B258-934F-49DD-AC13-4FC8F1C63ACA}"/>
              </a:ext>
            </a:extLst>
          </p:cNvPr>
          <p:cNvSpPr>
            <a:spLocks noGrp="1"/>
          </p:cNvSpPr>
          <p:nvPr>
            <p:ph idx="1"/>
          </p:nvPr>
        </p:nvSpPr>
        <p:spPr>
          <a:xfrm>
            <a:off x="838200" y="1825625"/>
            <a:ext cx="10515600" cy="4895850"/>
          </a:xfrm>
        </p:spPr>
        <p:txBody>
          <a:bodyPr>
            <a:normAutofit/>
          </a:bodyPr>
          <a:lstStyle/>
          <a:p>
            <a:r>
              <a:rPr lang="en-US" dirty="0"/>
              <a:t>RDD offers a conceptually very elegant approach to identify causal effects in observational data</a:t>
            </a:r>
          </a:p>
          <a:p>
            <a:endParaRPr lang="en-US" dirty="0"/>
          </a:p>
          <a:p>
            <a:r>
              <a:rPr lang="en-US" dirty="0"/>
              <a:t>Like IV, RDD often identifies treatment effects for particular subpopulations, those near the threshold, which may not be universally applicable (i.e., external validity may be limited)</a:t>
            </a:r>
          </a:p>
          <a:p>
            <a:endParaRPr lang="en-US" dirty="0"/>
          </a:p>
          <a:p>
            <a:r>
              <a:rPr lang="en-US" dirty="0"/>
              <a:t>Theory only holds as bandwidth and window gets very small; however, under such a scenario, the sample size goes to zero as well. Therefore, some modeling is required for finite bandwidths</a:t>
            </a:r>
          </a:p>
        </p:txBody>
      </p:sp>
      <p:sp>
        <p:nvSpPr>
          <p:cNvPr id="4" name="Slide Number Placeholder 3">
            <a:extLst>
              <a:ext uri="{FF2B5EF4-FFF2-40B4-BE49-F238E27FC236}">
                <a16:creationId xmlns:a16="http://schemas.microsoft.com/office/drawing/2014/main" id="{8EDB5B54-2F45-4D09-9EE2-0521CB5D90DA}"/>
              </a:ext>
            </a:extLst>
          </p:cNvPr>
          <p:cNvSpPr>
            <a:spLocks noGrp="1"/>
          </p:cNvSpPr>
          <p:nvPr>
            <p:ph type="sldNum" sz="quarter" idx="12"/>
          </p:nvPr>
        </p:nvSpPr>
        <p:spPr/>
        <p:txBody>
          <a:bodyPr/>
          <a:lstStyle/>
          <a:p>
            <a:fld id="{4698AAF4-35A4-40F4-A7AE-C8E2C41B9252}" type="slidenum">
              <a:rPr lang="en-US" smtClean="0"/>
              <a:t>39</a:t>
            </a:fld>
            <a:endParaRPr lang="en-US"/>
          </a:p>
        </p:txBody>
      </p:sp>
    </p:spTree>
    <p:extLst>
      <p:ext uri="{BB962C8B-B14F-4D97-AF65-F5344CB8AC3E}">
        <p14:creationId xmlns:p14="http://schemas.microsoft.com/office/powerpoint/2010/main" val="2717743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D0621-F3AA-4A12-8D24-EDAB8699CA13}"/>
              </a:ext>
            </a:extLst>
          </p:cNvPr>
          <p:cNvSpPr>
            <a:spLocks noGrp="1"/>
          </p:cNvSpPr>
          <p:nvPr>
            <p:ph type="title"/>
          </p:nvPr>
        </p:nvSpPr>
        <p:spPr/>
        <p:txBody>
          <a:bodyPr/>
          <a:lstStyle/>
          <a:p>
            <a:r>
              <a:rPr lang="en-US" dirty="0">
                <a:solidFill>
                  <a:srgbClr val="FF0000"/>
                </a:solidFill>
              </a:rPr>
              <a:t>Additional Slides </a:t>
            </a:r>
            <a:br>
              <a:rPr lang="en-US" dirty="0"/>
            </a:br>
            <a:r>
              <a:rPr lang="en-US" dirty="0"/>
              <a:t>Recommended readings on approach</a:t>
            </a:r>
          </a:p>
        </p:txBody>
      </p:sp>
      <p:sp>
        <p:nvSpPr>
          <p:cNvPr id="3" name="Content Placeholder 2">
            <a:extLst>
              <a:ext uri="{FF2B5EF4-FFF2-40B4-BE49-F238E27FC236}">
                <a16:creationId xmlns:a16="http://schemas.microsoft.com/office/drawing/2014/main" id="{9FA569A2-5BDE-484E-B901-DE805C49B808}"/>
              </a:ext>
            </a:extLst>
          </p:cNvPr>
          <p:cNvSpPr>
            <a:spLocks noGrp="1"/>
          </p:cNvSpPr>
          <p:nvPr>
            <p:ph idx="1"/>
          </p:nvPr>
        </p:nvSpPr>
        <p:spPr/>
        <p:txBody>
          <a:bodyPr/>
          <a:lstStyle/>
          <a:p>
            <a:pPr marL="514350" indent="-514350">
              <a:buFont typeface="+mj-lt"/>
              <a:buAutoNum type="arabicPeriod"/>
            </a:pPr>
            <a:r>
              <a:rPr lang="en-US" dirty="0" err="1"/>
              <a:t>Bor</a:t>
            </a:r>
            <a:r>
              <a:rPr lang="en-US" dirty="0"/>
              <a:t>, J., </a:t>
            </a:r>
            <a:r>
              <a:rPr lang="en-US" dirty="0" err="1"/>
              <a:t>Moscoe</a:t>
            </a:r>
            <a:r>
              <a:rPr lang="en-US" dirty="0"/>
              <a:t>, E., </a:t>
            </a:r>
            <a:r>
              <a:rPr lang="en-US" dirty="0" err="1"/>
              <a:t>Mutevedzi</a:t>
            </a:r>
            <a:r>
              <a:rPr lang="en-US" dirty="0"/>
              <a:t>, P., Newell, M. L., &amp; </a:t>
            </a:r>
            <a:r>
              <a:rPr lang="en-US" dirty="0" err="1"/>
              <a:t>Baernighausen</a:t>
            </a:r>
            <a:r>
              <a:rPr lang="en-US" dirty="0"/>
              <a:t>, T. (2014). Regression discontinuity designs in epidemiology: causal inference without randomized trials. </a:t>
            </a:r>
            <a:r>
              <a:rPr lang="en-US" i="1" dirty="0"/>
              <a:t>Epidemiology, 25</a:t>
            </a:r>
            <a:r>
              <a:rPr lang="en-US" dirty="0"/>
              <a:t>(5), 729-737</a:t>
            </a:r>
          </a:p>
          <a:p>
            <a:pPr marL="514350" indent="-514350">
              <a:buFont typeface="+mj-lt"/>
              <a:buAutoNum type="arabicPeriod"/>
            </a:pPr>
            <a:endParaRPr lang="en-US" dirty="0"/>
          </a:p>
          <a:p>
            <a:pPr marL="514350" indent="-514350">
              <a:buFont typeface="+mj-lt"/>
              <a:buAutoNum type="arabicPeriod"/>
            </a:pPr>
            <a:r>
              <a:rPr lang="en-US" dirty="0"/>
              <a:t>Lee DS, Lemieux T. Regression discontinuity designs in economics. </a:t>
            </a:r>
            <a:r>
              <a:rPr lang="en-US" i="1" dirty="0"/>
              <a:t>Journal of Economic Literature </a:t>
            </a:r>
            <a:r>
              <a:rPr lang="en-US" dirty="0"/>
              <a:t>2010;48:281–355</a:t>
            </a:r>
          </a:p>
          <a:p>
            <a:pPr marL="514350" indent="-514350">
              <a:buFont typeface="+mj-lt"/>
              <a:buAutoNum type="arabicPeriod"/>
            </a:pPr>
            <a:endParaRPr lang="en-US" dirty="0"/>
          </a:p>
          <a:p>
            <a:pPr marL="514350" indent="-514350">
              <a:buFont typeface="+mj-lt"/>
              <a:buAutoNum type="arabicPeriod"/>
            </a:pPr>
            <a:r>
              <a:rPr lang="en-US" dirty="0"/>
              <a:t>Robin Jacob, Pei Zhu, Marie-</a:t>
            </a:r>
            <a:r>
              <a:rPr lang="en-US" dirty="0" err="1"/>
              <a:t>Andrée</a:t>
            </a:r>
            <a:r>
              <a:rPr lang="en-US" dirty="0"/>
              <a:t> Somers, Howard Bloom. A Practical Guide to Regression Discontinuity [</a:t>
            </a:r>
            <a:r>
              <a:rPr lang="en-US" dirty="0">
                <a:hlinkClick r:id="rId2"/>
              </a:rPr>
              <a:t>link</a:t>
            </a:r>
            <a:r>
              <a:rPr lang="en-US" dirty="0"/>
              <a:t>]</a:t>
            </a:r>
          </a:p>
        </p:txBody>
      </p:sp>
      <p:sp>
        <p:nvSpPr>
          <p:cNvPr id="4" name="Slide Number Placeholder 3">
            <a:extLst>
              <a:ext uri="{FF2B5EF4-FFF2-40B4-BE49-F238E27FC236}">
                <a16:creationId xmlns:a16="http://schemas.microsoft.com/office/drawing/2014/main" id="{DF775A47-FFA6-4EDC-9F65-0D739777072B}"/>
              </a:ext>
            </a:extLst>
          </p:cNvPr>
          <p:cNvSpPr>
            <a:spLocks noGrp="1"/>
          </p:cNvSpPr>
          <p:nvPr>
            <p:ph type="sldNum" sz="quarter" idx="12"/>
          </p:nvPr>
        </p:nvSpPr>
        <p:spPr/>
        <p:txBody>
          <a:bodyPr/>
          <a:lstStyle/>
          <a:p>
            <a:fld id="{4698AAF4-35A4-40F4-A7AE-C8E2C41B9252}" type="slidenum">
              <a:rPr lang="en-US" smtClean="0"/>
              <a:t>40</a:t>
            </a:fld>
            <a:endParaRPr lang="en-US"/>
          </a:p>
        </p:txBody>
      </p:sp>
    </p:spTree>
    <p:extLst>
      <p:ext uri="{BB962C8B-B14F-4D97-AF65-F5344CB8AC3E}">
        <p14:creationId xmlns:p14="http://schemas.microsoft.com/office/powerpoint/2010/main" val="9862951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875BD-89E4-46C8-9526-B01E31E5F966}"/>
              </a:ext>
            </a:extLst>
          </p:cNvPr>
          <p:cNvSpPr>
            <a:spLocks noGrp="1"/>
          </p:cNvSpPr>
          <p:nvPr>
            <p:ph type="title"/>
          </p:nvPr>
        </p:nvSpPr>
        <p:spPr/>
        <p:txBody>
          <a:bodyPr/>
          <a:lstStyle/>
          <a:p>
            <a:r>
              <a:rPr lang="en-US" dirty="0"/>
              <a:t>Recommended readings for application of RDD</a:t>
            </a:r>
          </a:p>
        </p:txBody>
      </p:sp>
      <p:sp>
        <p:nvSpPr>
          <p:cNvPr id="3" name="Content Placeholder 2">
            <a:extLst>
              <a:ext uri="{FF2B5EF4-FFF2-40B4-BE49-F238E27FC236}">
                <a16:creationId xmlns:a16="http://schemas.microsoft.com/office/drawing/2014/main" id="{C61A0A45-D0E0-4908-9EBE-CEC572956F13}"/>
              </a:ext>
            </a:extLst>
          </p:cNvPr>
          <p:cNvSpPr>
            <a:spLocks noGrp="1"/>
          </p:cNvSpPr>
          <p:nvPr>
            <p:ph idx="1"/>
          </p:nvPr>
        </p:nvSpPr>
        <p:spPr/>
        <p:txBody>
          <a:bodyPr/>
          <a:lstStyle/>
          <a:p>
            <a:pPr marL="514350" indent="-514350">
              <a:buFont typeface="+mj-lt"/>
              <a:buAutoNum type="arabicPeriod"/>
            </a:pPr>
            <a:r>
              <a:rPr lang="en-US" dirty="0"/>
              <a:t>Almond, Douglas, Doyle, Joseph J., Kowalski, Amanda E., &amp; Williams, Heidi. (2010). “Estimating Marginal Returns to Medical Care: Evidence from At-risk Newborns”. </a:t>
            </a:r>
            <a:r>
              <a:rPr lang="en-US" i="1" dirty="0"/>
              <a:t>The Quarterly Journal of Economics, 125</a:t>
            </a:r>
            <a:r>
              <a:rPr lang="en-US" dirty="0"/>
              <a:t>(2), 591-634. </a:t>
            </a:r>
            <a:r>
              <a:rPr lang="en-US" dirty="0" err="1"/>
              <a:t>doi</a:t>
            </a:r>
            <a:r>
              <a:rPr lang="en-US" dirty="0"/>
              <a:t>: 10.1162/qjec.2010.125.2.591</a:t>
            </a:r>
          </a:p>
          <a:p>
            <a:pPr marL="514350" indent="-514350">
              <a:buFont typeface="+mj-lt"/>
              <a:buAutoNum type="arabicPeriod"/>
            </a:pPr>
            <a:endParaRPr lang="en-US" dirty="0"/>
          </a:p>
          <a:p>
            <a:pPr marL="514350" indent="-514350">
              <a:buFont typeface="+mj-lt"/>
              <a:buAutoNum type="arabicPeriod"/>
            </a:pPr>
            <a:r>
              <a:rPr lang="en-US" dirty="0"/>
              <a:t>Michael Anderson &amp; Carlos </a:t>
            </a:r>
            <a:r>
              <a:rPr lang="en-US" dirty="0" err="1"/>
              <a:t>Dobkin</a:t>
            </a:r>
            <a:r>
              <a:rPr lang="en-US" dirty="0"/>
              <a:t> &amp; Tal Gross, 2012. "The Effect of Health Insurance Coverage on the Use of Medical Services," American Economic Journal: Economic Policy, American Economic Association, vol. 4(1), pages 1-27, February</a:t>
            </a:r>
          </a:p>
          <a:p>
            <a:pPr marL="514350" indent="-514350">
              <a:buFont typeface="+mj-lt"/>
              <a:buAutoNum type="arabicPeriod"/>
            </a:pPr>
            <a:endParaRPr lang="en-US" dirty="0"/>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C5DD93A6-00A0-425A-B8BD-2520755AB54C}"/>
              </a:ext>
            </a:extLst>
          </p:cNvPr>
          <p:cNvSpPr>
            <a:spLocks noGrp="1"/>
          </p:cNvSpPr>
          <p:nvPr>
            <p:ph type="sldNum" sz="quarter" idx="12"/>
          </p:nvPr>
        </p:nvSpPr>
        <p:spPr/>
        <p:txBody>
          <a:bodyPr/>
          <a:lstStyle/>
          <a:p>
            <a:fld id="{4698AAF4-35A4-40F4-A7AE-C8E2C41B9252}" type="slidenum">
              <a:rPr lang="en-US" smtClean="0"/>
              <a:t>41</a:t>
            </a:fld>
            <a:endParaRPr lang="en-US"/>
          </a:p>
        </p:txBody>
      </p:sp>
    </p:spTree>
    <p:extLst>
      <p:ext uri="{BB962C8B-B14F-4D97-AF65-F5344CB8AC3E}">
        <p14:creationId xmlns:p14="http://schemas.microsoft.com/office/powerpoint/2010/main" val="41928111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C63F-F8F2-4CCF-9E65-B22E68351645}"/>
              </a:ext>
            </a:extLst>
          </p:cNvPr>
          <p:cNvSpPr>
            <a:spLocks noGrp="1"/>
          </p:cNvSpPr>
          <p:nvPr>
            <p:ph type="title"/>
          </p:nvPr>
        </p:nvSpPr>
        <p:spPr/>
        <p:txBody>
          <a:bodyPr/>
          <a:lstStyle/>
          <a:p>
            <a:r>
              <a:rPr lang="en-US" dirty="0"/>
              <a:t>Recommended readings for application of RDD</a:t>
            </a:r>
          </a:p>
        </p:txBody>
      </p:sp>
      <p:sp>
        <p:nvSpPr>
          <p:cNvPr id="3" name="Content Placeholder 2">
            <a:extLst>
              <a:ext uri="{FF2B5EF4-FFF2-40B4-BE49-F238E27FC236}">
                <a16:creationId xmlns:a16="http://schemas.microsoft.com/office/drawing/2014/main" id="{D02A4BA0-A60D-40D4-B55C-91019BBE7EE5}"/>
              </a:ext>
            </a:extLst>
          </p:cNvPr>
          <p:cNvSpPr>
            <a:spLocks noGrp="1"/>
          </p:cNvSpPr>
          <p:nvPr>
            <p:ph idx="1"/>
          </p:nvPr>
        </p:nvSpPr>
        <p:spPr/>
        <p:txBody>
          <a:bodyPr/>
          <a:lstStyle/>
          <a:p>
            <a:pPr marL="514350" indent="-514350">
              <a:buFont typeface="+mj-lt"/>
              <a:buAutoNum type="arabicPeriod" startAt="3"/>
            </a:pPr>
            <a:r>
              <a:rPr lang="en-US" dirty="0"/>
              <a:t>Anderson, Michael, &amp; Magruder, Jeremy. (2012). Learning from the Crowd: Regression Discontinuity Estimates of the Effects of an Online Review Database*. </a:t>
            </a:r>
            <a:r>
              <a:rPr lang="en-US" i="1" dirty="0"/>
              <a:t>The Economic Journal, 122</a:t>
            </a:r>
            <a:r>
              <a:rPr lang="en-US" dirty="0"/>
              <a:t>(563), 957-989. </a:t>
            </a:r>
            <a:r>
              <a:rPr lang="en-US" dirty="0" err="1"/>
              <a:t>doi</a:t>
            </a:r>
            <a:r>
              <a:rPr lang="en-US" dirty="0"/>
              <a:t>: 10.1111/j.1468-0297.2012.02512.x</a:t>
            </a:r>
          </a:p>
          <a:p>
            <a:pPr marL="514350" indent="-514350">
              <a:buFont typeface="+mj-lt"/>
              <a:buAutoNum type="arabicPeriod" startAt="3"/>
            </a:pPr>
            <a:endParaRPr lang="en-US" dirty="0"/>
          </a:p>
          <a:p>
            <a:pPr marL="514350" indent="-514350">
              <a:buFont typeface="+mj-lt"/>
              <a:buAutoNum type="arabicPeriod" startAt="3"/>
            </a:pPr>
            <a:r>
              <a:rPr lang="en-US" dirty="0"/>
              <a:t>Lee, David S., Moretti, Enrico, &amp; Butler, Matthew J. (2004). Do Voters Affect or Elect Policies? Evidence from the U. S. House. </a:t>
            </a:r>
            <a:r>
              <a:rPr lang="en-US" i="1" dirty="0"/>
              <a:t>The Quarterly Journal of Economics, 119</a:t>
            </a:r>
            <a:r>
              <a:rPr lang="en-US" dirty="0"/>
              <a:t>(3), 807-859. </a:t>
            </a:r>
            <a:r>
              <a:rPr lang="en-US" dirty="0" err="1"/>
              <a:t>doi</a:t>
            </a:r>
            <a:r>
              <a:rPr lang="en-US" dirty="0"/>
              <a:t>: 10.1162/0033553041502153</a:t>
            </a:r>
          </a:p>
        </p:txBody>
      </p:sp>
      <p:sp>
        <p:nvSpPr>
          <p:cNvPr id="4" name="Slide Number Placeholder 3">
            <a:extLst>
              <a:ext uri="{FF2B5EF4-FFF2-40B4-BE49-F238E27FC236}">
                <a16:creationId xmlns:a16="http://schemas.microsoft.com/office/drawing/2014/main" id="{FE9D1429-25AC-405B-A865-67E3C71E3D78}"/>
              </a:ext>
            </a:extLst>
          </p:cNvPr>
          <p:cNvSpPr>
            <a:spLocks noGrp="1"/>
          </p:cNvSpPr>
          <p:nvPr>
            <p:ph type="sldNum" sz="quarter" idx="12"/>
          </p:nvPr>
        </p:nvSpPr>
        <p:spPr/>
        <p:txBody>
          <a:bodyPr/>
          <a:lstStyle/>
          <a:p>
            <a:fld id="{4698AAF4-35A4-40F4-A7AE-C8E2C41B9252}" type="slidenum">
              <a:rPr lang="en-US" smtClean="0"/>
              <a:t>42</a:t>
            </a:fld>
            <a:endParaRPr lang="en-US"/>
          </a:p>
        </p:txBody>
      </p:sp>
    </p:spTree>
    <p:extLst>
      <p:ext uri="{BB962C8B-B14F-4D97-AF65-F5344CB8AC3E}">
        <p14:creationId xmlns:p14="http://schemas.microsoft.com/office/powerpoint/2010/main" val="20377655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3725"/>
          </a:xfrm>
        </p:spPr>
        <p:txBody>
          <a:bodyPr/>
          <a:lstStyle/>
          <a:p>
            <a:r>
              <a:rPr lang="en-US" dirty="0"/>
              <a:t>RDD Formal Assumptions </a:t>
            </a:r>
          </a:p>
        </p:txBody>
      </p:sp>
      <p:sp>
        <p:nvSpPr>
          <p:cNvPr id="3" name="Content Placeholder 2"/>
          <p:cNvSpPr>
            <a:spLocks noGrp="1"/>
          </p:cNvSpPr>
          <p:nvPr>
            <p:ph idx="1"/>
          </p:nvPr>
        </p:nvSpPr>
        <p:spPr>
          <a:xfrm>
            <a:off x="838200" y="1429789"/>
            <a:ext cx="10515600" cy="4747174"/>
          </a:xfrm>
        </p:spPr>
        <p:txBody>
          <a:bodyPr>
            <a:normAutofit fontScale="85000" lnSpcReduction="20000"/>
          </a:bodyPr>
          <a:lstStyle/>
          <a:p>
            <a:r>
              <a:rPr lang="en-US" dirty="0"/>
              <a:t>Outcome y, treatment x (either 0 or 1) , running variable z</a:t>
            </a:r>
          </a:p>
          <a:p>
            <a:endParaRPr lang="en-US" dirty="0"/>
          </a:p>
          <a:p>
            <a:endParaRPr lang="en-US" dirty="0"/>
          </a:p>
          <a:p>
            <a:endParaRPr lang="en-US" dirty="0"/>
          </a:p>
          <a:p>
            <a:endParaRPr lang="en-US" dirty="0"/>
          </a:p>
          <a:p>
            <a:r>
              <a:rPr lang="en-US" dirty="0"/>
              <a:t>Outcome a function of running variable, treatment, and covariates </a:t>
            </a:r>
          </a:p>
          <a:p>
            <a:endParaRPr lang="en-US" dirty="0"/>
          </a:p>
          <a:p>
            <a:r>
              <a:rPr lang="en-US" dirty="0"/>
              <a:t>Treatment can depend on running variable and covariates </a:t>
            </a:r>
          </a:p>
          <a:p>
            <a:endParaRPr lang="en-US" dirty="0"/>
          </a:p>
          <a:p>
            <a:r>
              <a:rPr lang="en-US" dirty="0"/>
              <a:t>General formulation allows for heterogeneous treatment effect </a:t>
            </a:r>
          </a:p>
          <a:p>
            <a:endParaRPr lang="en-US" dirty="0"/>
          </a:p>
          <a:p>
            <a:pPr marL="0" indent="0">
              <a:buNone/>
            </a:pPr>
            <a:r>
              <a:rPr lang="en-US" sz="2200" dirty="0"/>
              <a:t>Hahn, </a:t>
            </a:r>
            <a:r>
              <a:rPr lang="en-US" sz="2200" dirty="0" err="1"/>
              <a:t>Jinyong</a:t>
            </a:r>
            <a:r>
              <a:rPr lang="en-US" sz="2200" dirty="0"/>
              <a:t>, Petra Todd, and Wilbert Van der </a:t>
            </a:r>
            <a:r>
              <a:rPr lang="en-US" sz="2200" dirty="0" err="1"/>
              <a:t>Klaauw</a:t>
            </a:r>
            <a:r>
              <a:rPr lang="en-US" sz="2200" dirty="0"/>
              <a:t>. "Identification and estimation of treatment effects with a regression-discontinuity design." </a:t>
            </a:r>
            <a:r>
              <a:rPr lang="en-US" sz="2200" dirty="0" err="1"/>
              <a:t>Econometrica</a:t>
            </a:r>
            <a:r>
              <a:rPr lang="en-US" sz="2200" dirty="0"/>
              <a:t> 69.1 (2001): 201-209.</a:t>
            </a:r>
          </a:p>
        </p:txBody>
      </p:sp>
      <p:graphicFrame>
        <p:nvGraphicFramePr>
          <p:cNvPr id="6" name="Object 5"/>
          <p:cNvGraphicFramePr>
            <a:graphicFrameLocks noChangeAspect="1"/>
          </p:cNvGraphicFramePr>
          <p:nvPr>
            <p:extLst>
              <p:ext uri="{D42A27DB-BD31-4B8C-83A1-F6EECF244321}">
                <p14:modId xmlns:p14="http://schemas.microsoft.com/office/powerpoint/2010/main" val="675196718"/>
              </p:ext>
            </p:extLst>
          </p:nvPr>
        </p:nvGraphicFramePr>
        <p:xfrm>
          <a:off x="4611846" y="1831626"/>
          <a:ext cx="1621876" cy="449135"/>
        </p:xfrm>
        <a:graphic>
          <a:graphicData uri="http://schemas.openxmlformats.org/presentationml/2006/ole">
            <mc:AlternateContent xmlns:mc="http://schemas.openxmlformats.org/markup-compatibility/2006">
              <mc:Choice xmlns:v="urn:schemas-microsoft-com:vml" Requires="v">
                <p:oleObj name="Equation" r:id="rId2" imgW="825480" imgH="228600" progId="Equation.DSMT4">
                  <p:embed/>
                </p:oleObj>
              </mc:Choice>
              <mc:Fallback>
                <p:oleObj name="Equation" r:id="rId2" imgW="825480" imgH="228600" progId="Equation.DSMT4">
                  <p:embed/>
                  <p:pic>
                    <p:nvPicPr>
                      <p:cNvPr id="6" name="Object 5"/>
                      <p:cNvPicPr/>
                      <p:nvPr/>
                    </p:nvPicPr>
                    <p:blipFill>
                      <a:blip r:embed="rId3"/>
                      <a:stretch>
                        <a:fillRect/>
                      </a:stretch>
                    </p:blipFill>
                    <p:spPr>
                      <a:xfrm>
                        <a:off x="4611846" y="1831626"/>
                        <a:ext cx="1621876" cy="449135"/>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805903674"/>
              </p:ext>
            </p:extLst>
          </p:nvPr>
        </p:nvGraphicFramePr>
        <p:xfrm>
          <a:off x="3006971" y="2421700"/>
          <a:ext cx="5641673" cy="483572"/>
        </p:xfrm>
        <a:graphic>
          <a:graphicData uri="http://schemas.openxmlformats.org/presentationml/2006/ole">
            <mc:AlternateContent xmlns:mc="http://schemas.openxmlformats.org/markup-compatibility/2006">
              <mc:Choice xmlns:v="urn:schemas-microsoft-com:vml" Requires="v">
                <p:oleObj name="Equation" r:id="rId4" imgW="2666880" imgH="228600" progId="Equation.DSMT4">
                  <p:embed/>
                </p:oleObj>
              </mc:Choice>
              <mc:Fallback>
                <p:oleObj name="Equation" r:id="rId4" imgW="2666880" imgH="228600" progId="Equation.DSMT4">
                  <p:embed/>
                  <p:pic>
                    <p:nvPicPr>
                      <p:cNvPr id="9" name="Object 8"/>
                      <p:cNvPicPr/>
                      <p:nvPr/>
                    </p:nvPicPr>
                    <p:blipFill>
                      <a:blip r:embed="rId5"/>
                      <a:stretch>
                        <a:fillRect/>
                      </a:stretch>
                    </p:blipFill>
                    <p:spPr>
                      <a:xfrm>
                        <a:off x="3006971" y="2421700"/>
                        <a:ext cx="5641673" cy="483572"/>
                      </a:xfrm>
                      <a:prstGeom prst="rect">
                        <a:avLst/>
                      </a:prstGeom>
                    </p:spPr>
                  </p:pic>
                </p:oleObj>
              </mc:Fallback>
            </mc:AlternateContent>
          </a:graphicData>
        </a:graphic>
      </p:graphicFrame>
      <p:sp>
        <p:nvSpPr>
          <p:cNvPr id="10" name="Slide Number Placeholder 9"/>
          <p:cNvSpPr>
            <a:spLocks noGrp="1"/>
          </p:cNvSpPr>
          <p:nvPr>
            <p:ph type="sldNum" sz="quarter" idx="12"/>
          </p:nvPr>
        </p:nvSpPr>
        <p:spPr/>
        <p:txBody>
          <a:bodyPr/>
          <a:lstStyle/>
          <a:p>
            <a:fld id="{4698AAF4-35A4-40F4-A7AE-C8E2C41B9252}" type="slidenum">
              <a:rPr lang="en-US" smtClean="0"/>
              <a:t>43</a:t>
            </a:fld>
            <a:endParaRPr lang="en-US"/>
          </a:p>
        </p:txBody>
      </p:sp>
    </p:spTree>
    <p:extLst>
      <p:ext uri="{BB962C8B-B14F-4D97-AF65-F5344CB8AC3E}">
        <p14:creationId xmlns:p14="http://schemas.microsoft.com/office/powerpoint/2010/main" val="26669856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RDD Formal Assumptions </a:t>
            </a:r>
          </a:p>
        </p:txBody>
      </p:sp>
      <p:sp>
        <p:nvSpPr>
          <p:cNvPr id="3" name="Content Placeholder 2"/>
          <p:cNvSpPr>
            <a:spLocks noGrp="1"/>
          </p:cNvSpPr>
          <p:nvPr>
            <p:ph idx="1"/>
          </p:nvPr>
        </p:nvSpPr>
        <p:spPr>
          <a:xfrm>
            <a:off x="838200" y="1429789"/>
            <a:ext cx="10515600" cy="4747174"/>
          </a:xfrm>
        </p:spPr>
        <p:txBody>
          <a:bodyPr>
            <a:normAutofit/>
          </a:bodyPr>
          <a:lstStyle/>
          <a:p>
            <a:pPr marL="0" indent="0">
              <a:buNone/>
            </a:pPr>
            <a:r>
              <a:rPr lang="en-US" dirty="0"/>
              <a:t>ASSUMPTIONS:</a:t>
            </a:r>
          </a:p>
          <a:p>
            <a:pPr marL="0" indent="0">
              <a:buNone/>
            </a:pPr>
            <a:endParaRPr lang="en-US" dirty="0"/>
          </a:p>
          <a:p>
            <a:pPr marL="0" indent="0">
              <a:buNone/>
            </a:pPr>
            <a:r>
              <a:rPr lang="en-US" dirty="0"/>
              <a:t> (i) RD                                                                               exist</a:t>
            </a:r>
          </a:p>
          <a:p>
            <a:pPr marL="0" indent="0">
              <a:buNone/>
            </a:pPr>
            <a:endParaRPr lang="en-US" dirty="0"/>
          </a:p>
          <a:p>
            <a:pPr marL="0" indent="0">
              <a:buNone/>
            </a:pPr>
            <a:r>
              <a:rPr lang="en-US" dirty="0"/>
              <a:t>(ii)  Assumption A1                            is continuous at </a:t>
            </a:r>
          </a:p>
          <a:p>
            <a:pPr marL="0" indent="0">
              <a:buNone/>
            </a:pPr>
            <a:endParaRPr lang="en-US" sz="2200" dirty="0"/>
          </a:p>
        </p:txBody>
      </p:sp>
      <p:graphicFrame>
        <p:nvGraphicFramePr>
          <p:cNvPr id="4" name="Object 3"/>
          <p:cNvGraphicFramePr>
            <a:graphicFrameLocks noChangeAspect="1"/>
          </p:cNvGraphicFramePr>
          <p:nvPr>
            <p:extLst>
              <p:ext uri="{D42A27DB-BD31-4B8C-83A1-F6EECF244321}">
                <p14:modId xmlns:p14="http://schemas.microsoft.com/office/powerpoint/2010/main" val="2618841872"/>
              </p:ext>
            </p:extLst>
          </p:nvPr>
        </p:nvGraphicFramePr>
        <p:xfrm>
          <a:off x="2001559" y="2394930"/>
          <a:ext cx="5471046" cy="668857"/>
        </p:xfrm>
        <a:graphic>
          <a:graphicData uri="http://schemas.openxmlformats.org/presentationml/2006/ole">
            <mc:AlternateContent xmlns:mc="http://schemas.openxmlformats.org/markup-compatibility/2006">
              <mc:Choice xmlns:v="urn:schemas-microsoft-com:vml" Requires="v">
                <p:oleObj name="Equation" r:id="rId2" imgW="2603160" imgH="317160" progId="Equation.DSMT4">
                  <p:embed/>
                </p:oleObj>
              </mc:Choice>
              <mc:Fallback>
                <p:oleObj name="Equation" r:id="rId2" imgW="2603160" imgH="317160" progId="Equation.DSMT4">
                  <p:embed/>
                  <p:pic>
                    <p:nvPicPr>
                      <p:cNvPr id="4" name="Object 3"/>
                      <p:cNvPicPr/>
                      <p:nvPr/>
                    </p:nvPicPr>
                    <p:blipFill>
                      <a:blip r:embed="rId3"/>
                      <a:stretch>
                        <a:fillRect/>
                      </a:stretch>
                    </p:blipFill>
                    <p:spPr>
                      <a:xfrm>
                        <a:off x="2001559" y="2394930"/>
                        <a:ext cx="5471046" cy="668857"/>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730534115"/>
              </p:ext>
            </p:extLst>
          </p:nvPr>
        </p:nvGraphicFramePr>
        <p:xfrm>
          <a:off x="8955850" y="2394930"/>
          <a:ext cx="1126144" cy="474166"/>
        </p:xfrm>
        <a:graphic>
          <a:graphicData uri="http://schemas.openxmlformats.org/presentationml/2006/ole">
            <mc:AlternateContent xmlns:mc="http://schemas.openxmlformats.org/markup-compatibility/2006">
              <mc:Choice xmlns:v="urn:schemas-microsoft-com:vml" Requires="v">
                <p:oleObj name="Equation" r:id="rId4" imgW="482400" imgH="203040" progId="Equation.DSMT4">
                  <p:embed/>
                </p:oleObj>
              </mc:Choice>
              <mc:Fallback>
                <p:oleObj name="Equation" r:id="rId4" imgW="482400" imgH="203040" progId="Equation.DSMT4">
                  <p:embed/>
                  <p:pic>
                    <p:nvPicPr>
                      <p:cNvPr id="5" name="Object 4"/>
                      <p:cNvPicPr/>
                      <p:nvPr/>
                    </p:nvPicPr>
                    <p:blipFill>
                      <a:blip r:embed="rId5"/>
                      <a:stretch>
                        <a:fillRect/>
                      </a:stretch>
                    </p:blipFill>
                    <p:spPr>
                      <a:xfrm>
                        <a:off x="8955850" y="2394930"/>
                        <a:ext cx="1126144" cy="474166"/>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237713787"/>
              </p:ext>
            </p:extLst>
          </p:nvPr>
        </p:nvGraphicFramePr>
        <p:xfrm>
          <a:off x="3902880" y="3418672"/>
          <a:ext cx="1668404" cy="556135"/>
        </p:xfrm>
        <a:graphic>
          <a:graphicData uri="http://schemas.openxmlformats.org/presentationml/2006/ole">
            <mc:AlternateContent xmlns:mc="http://schemas.openxmlformats.org/markup-compatibility/2006">
              <mc:Choice xmlns:v="urn:schemas-microsoft-com:vml" Requires="v">
                <p:oleObj name="Equation" r:id="rId6" imgW="761760" imgH="253800" progId="Equation.DSMT4">
                  <p:embed/>
                </p:oleObj>
              </mc:Choice>
              <mc:Fallback>
                <p:oleObj name="Equation" r:id="rId6" imgW="761760" imgH="253800" progId="Equation.DSMT4">
                  <p:embed/>
                  <p:pic>
                    <p:nvPicPr>
                      <p:cNvPr id="7" name="Object 6"/>
                      <p:cNvPicPr/>
                      <p:nvPr/>
                    </p:nvPicPr>
                    <p:blipFill>
                      <a:blip r:embed="rId7"/>
                      <a:stretch>
                        <a:fillRect/>
                      </a:stretch>
                    </p:blipFill>
                    <p:spPr>
                      <a:xfrm>
                        <a:off x="3902880" y="3418672"/>
                        <a:ext cx="1668404" cy="556135"/>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546171720"/>
              </p:ext>
            </p:extLst>
          </p:nvPr>
        </p:nvGraphicFramePr>
        <p:xfrm>
          <a:off x="8390204" y="3459656"/>
          <a:ext cx="816625" cy="474169"/>
        </p:xfrm>
        <a:graphic>
          <a:graphicData uri="http://schemas.openxmlformats.org/presentationml/2006/ole">
            <mc:AlternateContent xmlns:mc="http://schemas.openxmlformats.org/markup-compatibility/2006">
              <mc:Choice xmlns:v="urn:schemas-microsoft-com:vml" Requires="v">
                <p:oleObj name="Equation" r:id="rId8" imgW="393480" imgH="228600" progId="Equation.DSMT4">
                  <p:embed/>
                </p:oleObj>
              </mc:Choice>
              <mc:Fallback>
                <p:oleObj name="Equation" r:id="rId8" imgW="393480" imgH="228600" progId="Equation.DSMT4">
                  <p:embed/>
                  <p:pic>
                    <p:nvPicPr>
                      <p:cNvPr id="8" name="Object 7"/>
                      <p:cNvPicPr/>
                      <p:nvPr/>
                    </p:nvPicPr>
                    <p:blipFill>
                      <a:blip r:embed="rId9"/>
                      <a:stretch>
                        <a:fillRect/>
                      </a:stretch>
                    </p:blipFill>
                    <p:spPr>
                      <a:xfrm>
                        <a:off x="8390204" y="3459656"/>
                        <a:ext cx="816625" cy="474169"/>
                      </a:xfrm>
                      <a:prstGeom prst="rect">
                        <a:avLst/>
                      </a:prstGeom>
                    </p:spPr>
                  </p:pic>
                </p:oleObj>
              </mc:Fallback>
            </mc:AlternateContent>
          </a:graphicData>
        </a:graphic>
      </p:graphicFrame>
      <p:sp>
        <p:nvSpPr>
          <p:cNvPr id="10" name="Slide Number Placeholder 9"/>
          <p:cNvSpPr>
            <a:spLocks noGrp="1"/>
          </p:cNvSpPr>
          <p:nvPr>
            <p:ph type="sldNum" sz="quarter" idx="12"/>
          </p:nvPr>
        </p:nvSpPr>
        <p:spPr/>
        <p:txBody>
          <a:bodyPr/>
          <a:lstStyle/>
          <a:p>
            <a:fld id="{4698AAF4-35A4-40F4-A7AE-C8E2C41B9252}" type="slidenum">
              <a:rPr lang="en-US" smtClean="0"/>
              <a:t>44</a:t>
            </a:fld>
            <a:endParaRPr lang="en-US"/>
          </a:p>
        </p:txBody>
      </p:sp>
    </p:spTree>
    <p:extLst>
      <p:ext uri="{BB962C8B-B14F-4D97-AF65-F5344CB8AC3E}">
        <p14:creationId xmlns:p14="http://schemas.microsoft.com/office/powerpoint/2010/main" val="2365170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Homogeneity and Heterogeneity   </a:t>
            </a:r>
          </a:p>
        </p:txBody>
      </p:sp>
      <p:sp>
        <p:nvSpPr>
          <p:cNvPr id="3" name="Content Placeholder 2"/>
          <p:cNvSpPr>
            <a:spLocks noGrp="1"/>
          </p:cNvSpPr>
          <p:nvPr>
            <p:ph idx="1"/>
          </p:nvPr>
        </p:nvSpPr>
        <p:spPr/>
        <p:txBody>
          <a:bodyPr/>
          <a:lstStyle/>
          <a:p>
            <a:r>
              <a:rPr lang="en-US" dirty="0"/>
              <a:t>Theorem: If we have RD and A1 and  </a:t>
            </a:r>
            <a:r>
              <a:rPr lang="en-US" dirty="0">
                <a:solidFill>
                  <a:srgbClr val="FF0000"/>
                </a:solidFill>
              </a:rPr>
              <a:t>homogeneity</a:t>
            </a:r>
            <a:r>
              <a:rPr lang="en-US" dirty="0"/>
              <a:t>             a constant then</a:t>
            </a:r>
          </a:p>
          <a:p>
            <a:endParaRPr lang="en-US" dirty="0"/>
          </a:p>
          <a:p>
            <a:endParaRPr lang="en-US" dirty="0"/>
          </a:p>
          <a:p>
            <a:r>
              <a:rPr lang="en-US" dirty="0"/>
              <a:t> Assumption A2                            is continuous at  </a:t>
            </a:r>
          </a:p>
          <a:p>
            <a:endParaRPr lang="en-US" dirty="0"/>
          </a:p>
          <a:p>
            <a:r>
              <a:rPr lang="en-US" dirty="0"/>
              <a:t>Theorem: If we have RD, A1, A2 and      is  </a:t>
            </a:r>
            <a:r>
              <a:rPr lang="en-US" dirty="0">
                <a:solidFill>
                  <a:srgbClr val="FF0000"/>
                </a:solidFill>
              </a:rPr>
              <a:t>independent</a:t>
            </a:r>
            <a:r>
              <a:rPr lang="en-US" dirty="0"/>
              <a:t> of      given then </a:t>
            </a:r>
          </a:p>
          <a:p>
            <a:endParaRPr lang="en-US" dirty="0"/>
          </a:p>
          <a:p>
            <a:endParaRPr lang="en-US" dirty="0"/>
          </a:p>
          <a:p>
            <a:endParaRPr lang="en-US" dirty="0"/>
          </a:p>
        </p:txBody>
      </p:sp>
      <p:graphicFrame>
        <p:nvGraphicFramePr>
          <p:cNvPr id="4" name="Object 3"/>
          <p:cNvGraphicFramePr>
            <a:graphicFrameLocks noChangeAspect="1"/>
          </p:cNvGraphicFramePr>
          <p:nvPr/>
        </p:nvGraphicFramePr>
        <p:xfrm>
          <a:off x="8454044" y="1815872"/>
          <a:ext cx="890963" cy="458210"/>
        </p:xfrm>
        <a:graphic>
          <a:graphicData uri="http://schemas.openxmlformats.org/presentationml/2006/ole">
            <mc:AlternateContent xmlns:mc="http://schemas.openxmlformats.org/markup-compatibility/2006">
              <mc:Choice xmlns:v="urn:schemas-microsoft-com:vml" Requires="v">
                <p:oleObj name="Equation" r:id="rId2" imgW="444240" imgH="228600" progId="Equation.DSMT4">
                  <p:embed/>
                </p:oleObj>
              </mc:Choice>
              <mc:Fallback>
                <p:oleObj name="Equation" r:id="rId2" imgW="444240" imgH="228600" progId="Equation.DSMT4">
                  <p:embed/>
                  <p:pic>
                    <p:nvPicPr>
                      <p:cNvPr id="4" name="Object 3"/>
                      <p:cNvPicPr/>
                      <p:nvPr/>
                    </p:nvPicPr>
                    <p:blipFill>
                      <a:blip r:embed="rId3"/>
                      <a:stretch>
                        <a:fillRect/>
                      </a:stretch>
                    </p:blipFill>
                    <p:spPr>
                      <a:xfrm>
                        <a:off x="8454044" y="1815872"/>
                        <a:ext cx="890963" cy="458210"/>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1687709" y="2513131"/>
          <a:ext cx="8617077" cy="894225"/>
        </p:xfrm>
        <a:graphic>
          <a:graphicData uri="http://schemas.openxmlformats.org/presentationml/2006/ole">
            <mc:AlternateContent xmlns:mc="http://schemas.openxmlformats.org/markup-compatibility/2006">
              <mc:Choice xmlns:v="urn:schemas-microsoft-com:vml" Requires="v">
                <p:oleObj name="Equation" r:id="rId4" imgW="4038480" imgH="419040" progId="Equation.DSMT4">
                  <p:embed/>
                </p:oleObj>
              </mc:Choice>
              <mc:Fallback>
                <p:oleObj name="Equation" r:id="rId4" imgW="4038480" imgH="419040" progId="Equation.DSMT4">
                  <p:embed/>
                  <p:pic>
                    <p:nvPicPr>
                      <p:cNvPr id="5" name="Object 4"/>
                      <p:cNvPicPr/>
                      <p:nvPr/>
                    </p:nvPicPr>
                    <p:blipFill>
                      <a:blip r:embed="rId5"/>
                      <a:stretch>
                        <a:fillRect/>
                      </a:stretch>
                    </p:blipFill>
                    <p:spPr>
                      <a:xfrm>
                        <a:off x="1687709" y="2513131"/>
                        <a:ext cx="8617077" cy="894225"/>
                      </a:xfrm>
                      <a:prstGeom prst="rect">
                        <a:avLst/>
                      </a:prstGeom>
                    </p:spPr>
                  </p:pic>
                </p:oleObj>
              </mc:Fallback>
            </mc:AlternateContent>
          </a:graphicData>
        </a:graphic>
      </p:graphicFrame>
      <p:graphicFrame>
        <p:nvGraphicFramePr>
          <p:cNvPr id="6" name="Object 5"/>
          <p:cNvGraphicFramePr>
            <a:graphicFrameLocks noChangeAspect="1"/>
          </p:cNvGraphicFramePr>
          <p:nvPr/>
        </p:nvGraphicFramePr>
        <p:xfrm>
          <a:off x="3721865" y="3645484"/>
          <a:ext cx="1863984" cy="621328"/>
        </p:xfrm>
        <a:graphic>
          <a:graphicData uri="http://schemas.openxmlformats.org/presentationml/2006/ole">
            <mc:AlternateContent xmlns:mc="http://schemas.openxmlformats.org/markup-compatibility/2006">
              <mc:Choice xmlns:v="urn:schemas-microsoft-com:vml" Requires="v">
                <p:oleObj name="Equation" r:id="rId6" imgW="761760" imgH="253800" progId="Equation.DSMT4">
                  <p:embed/>
                </p:oleObj>
              </mc:Choice>
              <mc:Fallback>
                <p:oleObj name="Equation" r:id="rId6" imgW="761760" imgH="253800" progId="Equation.DSMT4">
                  <p:embed/>
                  <p:pic>
                    <p:nvPicPr>
                      <p:cNvPr id="6" name="Object 5"/>
                      <p:cNvPicPr/>
                      <p:nvPr/>
                    </p:nvPicPr>
                    <p:blipFill>
                      <a:blip r:embed="rId7"/>
                      <a:stretch>
                        <a:fillRect/>
                      </a:stretch>
                    </p:blipFill>
                    <p:spPr>
                      <a:xfrm>
                        <a:off x="3721865" y="3645484"/>
                        <a:ext cx="1863984" cy="621328"/>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8273486" y="3764209"/>
          <a:ext cx="816625" cy="474169"/>
        </p:xfrm>
        <a:graphic>
          <a:graphicData uri="http://schemas.openxmlformats.org/presentationml/2006/ole">
            <mc:AlternateContent xmlns:mc="http://schemas.openxmlformats.org/markup-compatibility/2006">
              <mc:Choice xmlns:v="urn:schemas-microsoft-com:vml" Requires="v">
                <p:oleObj name="Equation" r:id="rId8" imgW="393480" imgH="228600" progId="Equation.DSMT4">
                  <p:embed/>
                </p:oleObj>
              </mc:Choice>
              <mc:Fallback>
                <p:oleObj name="Equation" r:id="rId8" imgW="393480" imgH="228600" progId="Equation.DSMT4">
                  <p:embed/>
                  <p:pic>
                    <p:nvPicPr>
                      <p:cNvPr id="7" name="Object 6"/>
                      <p:cNvPicPr/>
                      <p:nvPr/>
                    </p:nvPicPr>
                    <p:blipFill>
                      <a:blip r:embed="rId9"/>
                      <a:stretch>
                        <a:fillRect/>
                      </a:stretch>
                    </p:blipFill>
                    <p:spPr>
                      <a:xfrm>
                        <a:off x="8273486" y="3764209"/>
                        <a:ext cx="816625" cy="474169"/>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400803" y="4689852"/>
          <a:ext cx="324194" cy="610175"/>
        </p:xfrm>
        <a:graphic>
          <a:graphicData uri="http://schemas.openxmlformats.org/presentationml/2006/ole">
            <mc:AlternateContent xmlns:mc="http://schemas.openxmlformats.org/markup-compatibility/2006">
              <mc:Choice xmlns:v="urn:schemas-microsoft-com:vml" Requires="v">
                <p:oleObj name="Equation" r:id="rId10" imgW="152280" imgH="228600" progId="Equation.DSMT4">
                  <p:embed/>
                </p:oleObj>
              </mc:Choice>
              <mc:Fallback>
                <p:oleObj name="Equation" r:id="rId10" imgW="152280" imgH="228600" progId="Equation.DSMT4">
                  <p:embed/>
                  <p:pic>
                    <p:nvPicPr>
                      <p:cNvPr id="8" name="Object 7"/>
                      <p:cNvPicPr/>
                      <p:nvPr/>
                    </p:nvPicPr>
                    <p:blipFill>
                      <a:blip r:embed="rId11"/>
                      <a:stretch>
                        <a:fillRect/>
                      </a:stretch>
                    </p:blipFill>
                    <p:spPr>
                      <a:xfrm>
                        <a:off x="6400803" y="4689852"/>
                        <a:ext cx="324194" cy="610175"/>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9505607" y="4779931"/>
          <a:ext cx="310567" cy="430016"/>
        </p:xfrm>
        <a:graphic>
          <a:graphicData uri="http://schemas.openxmlformats.org/presentationml/2006/ole">
            <mc:AlternateContent xmlns:mc="http://schemas.openxmlformats.org/markup-compatibility/2006">
              <mc:Choice xmlns:v="urn:schemas-microsoft-com:vml" Requires="v">
                <p:oleObj name="Equation" r:id="rId12" imgW="164880" imgH="228600" progId="Equation.DSMT4">
                  <p:embed/>
                </p:oleObj>
              </mc:Choice>
              <mc:Fallback>
                <p:oleObj name="Equation" r:id="rId12" imgW="164880" imgH="228600" progId="Equation.DSMT4">
                  <p:embed/>
                  <p:pic>
                    <p:nvPicPr>
                      <p:cNvPr id="9" name="Object 8"/>
                      <p:cNvPicPr/>
                      <p:nvPr/>
                    </p:nvPicPr>
                    <p:blipFill>
                      <a:blip r:embed="rId13"/>
                      <a:stretch>
                        <a:fillRect/>
                      </a:stretch>
                    </p:blipFill>
                    <p:spPr>
                      <a:xfrm>
                        <a:off x="9505607" y="4779931"/>
                        <a:ext cx="310567" cy="430016"/>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4509800" y="5461628"/>
          <a:ext cx="3414712" cy="893762"/>
        </p:xfrm>
        <a:graphic>
          <a:graphicData uri="http://schemas.openxmlformats.org/presentationml/2006/ole">
            <mc:AlternateContent xmlns:mc="http://schemas.openxmlformats.org/markup-compatibility/2006">
              <mc:Choice xmlns:v="urn:schemas-microsoft-com:vml" Requires="v">
                <p:oleObj name="Equation" r:id="rId14" imgW="1600200" imgH="419040" progId="Equation.DSMT4">
                  <p:embed/>
                </p:oleObj>
              </mc:Choice>
              <mc:Fallback>
                <p:oleObj name="Equation" r:id="rId14" imgW="1600200" imgH="419040" progId="Equation.DSMT4">
                  <p:embed/>
                  <p:pic>
                    <p:nvPicPr>
                      <p:cNvPr id="10" name="Object 9"/>
                      <p:cNvPicPr/>
                      <p:nvPr/>
                    </p:nvPicPr>
                    <p:blipFill>
                      <a:blip r:embed="rId15"/>
                      <a:stretch>
                        <a:fillRect/>
                      </a:stretch>
                    </p:blipFill>
                    <p:spPr>
                      <a:xfrm>
                        <a:off x="4509800" y="5461628"/>
                        <a:ext cx="3414712" cy="893762"/>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10740388" y="4730406"/>
          <a:ext cx="392507" cy="539434"/>
        </p:xfrm>
        <a:graphic>
          <a:graphicData uri="http://schemas.openxmlformats.org/presentationml/2006/ole">
            <mc:AlternateContent xmlns:mc="http://schemas.openxmlformats.org/markup-compatibility/2006">
              <mc:Choice xmlns:v="urn:schemas-microsoft-com:vml" Requires="v">
                <p:oleObj name="Equation" r:id="rId16" imgW="139680" imgH="228600" progId="Equation.DSMT4">
                  <p:embed/>
                </p:oleObj>
              </mc:Choice>
              <mc:Fallback>
                <p:oleObj name="Equation" r:id="rId16" imgW="139680" imgH="228600" progId="Equation.DSMT4">
                  <p:embed/>
                  <p:pic>
                    <p:nvPicPr>
                      <p:cNvPr id="11" name="Object 10"/>
                      <p:cNvPicPr/>
                      <p:nvPr/>
                    </p:nvPicPr>
                    <p:blipFill>
                      <a:blip r:embed="rId17"/>
                      <a:stretch>
                        <a:fillRect/>
                      </a:stretch>
                    </p:blipFill>
                    <p:spPr>
                      <a:xfrm>
                        <a:off x="10740388" y="4730406"/>
                        <a:ext cx="392507" cy="539434"/>
                      </a:xfrm>
                      <a:prstGeom prst="rect">
                        <a:avLst/>
                      </a:prstGeom>
                    </p:spPr>
                  </p:pic>
                </p:oleObj>
              </mc:Fallback>
            </mc:AlternateContent>
          </a:graphicData>
        </a:graphic>
      </p:graphicFrame>
      <p:sp>
        <p:nvSpPr>
          <p:cNvPr id="12" name="Slide Number Placeholder 11"/>
          <p:cNvSpPr>
            <a:spLocks noGrp="1"/>
          </p:cNvSpPr>
          <p:nvPr>
            <p:ph type="sldNum" sz="quarter" idx="12"/>
          </p:nvPr>
        </p:nvSpPr>
        <p:spPr/>
        <p:txBody>
          <a:bodyPr/>
          <a:lstStyle/>
          <a:p>
            <a:fld id="{4698AAF4-35A4-40F4-A7AE-C8E2C41B9252}" type="slidenum">
              <a:rPr lang="en-US" smtClean="0"/>
              <a:t>45</a:t>
            </a:fld>
            <a:endParaRPr lang="en-US"/>
          </a:p>
        </p:txBody>
      </p:sp>
    </p:spTree>
    <p:extLst>
      <p:ext uri="{BB962C8B-B14F-4D97-AF65-F5344CB8AC3E}">
        <p14:creationId xmlns:p14="http://schemas.microsoft.com/office/powerpoint/2010/main" val="35592158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Exogeneity</a:t>
            </a:r>
            <a:r>
              <a:rPr lang="en-US" dirty="0"/>
              <a:t> and independence assumptions not needed in Fuzzy Regression Discontinuity </a:t>
            </a:r>
          </a:p>
        </p:txBody>
      </p:sp>
      <p:sp>
        <p:nvSpPr>
          <p:cNvPr id="3" name="Content Placeholder 2"/>
          <p:cNvSpPr>
            <a:spLocks noGrp="1"/>
          </p:cNvSpPr>
          <p:nvPr>
            <p:ph idx="1"/>
          </p:nvPr>
        </p:nvSpPr>
        <p:spPr/>
        <p:txBody>
          <a:bodyPr/>
          <a:lstStyle/>
          <a:p>
            <a:r>
              <a:rPr lang="en-US" dirty="0"/>
              <a:t>We do not need additional </a:t>
            </a:r>
            <a:r>
              <a:rPr lang="en-US" dirty="0" err="1"/>
              <a:t>exogeneity</a:t>
            </a:r>
            <a:r>
              <a:rPr lang="en-US" dirty="0"/>
              <a:t> and independence assumptions </a:t>
            </a:r>
          </a:p>
          <a:p>
            <a:r>
              <a:rPr lang="en-US" dirty="0"/>
              <a:t>The running variable z can affect the outcome directly but it most do so in in continuous way by assumption A1. A </a:t>
            </a:r>
            <a:r>
              <a:rPr lang="en-US" dirty="0">
                <a:solidFill>
                  <a:srgbClr val="FF0000"/>
                </a:solidFill>
              </a:rPr>
              <a:t>jump</a:t>
            </a:r>
            <a:r>
              <a:rPr lang="en-US" dirty="0"/>
              <a:t> in y at the regression discontinuity must be the result of an effect through x rather than a direct effect. </a:t>
            </a:r>
          </a:p>
          <a:p>
            <a:r>
              <a:rPr lang="en-US" dirty="0"/>
              <a:t>There maybe omitted variables correlated with both the running variable z and the outcome y (non –independence). However by A1 they lead to only continuous changes in the outcome as z changes. They cannot explain a </a:t>
            </a:r>
            <a:r>
              <a:rPr lang="en-US" dirty="0">
                <a:solidFill>
                  <a:srgbClr val="FF0000"/>
                </a:solidFill>
              </a:rPr>
              <a:t>jump</a:t>
            </a:r>
            <a:r>
              <a:rPr lang="en-US" dirty="0"/>
              <a:t> in y at the discontinuity.    </a:t>
            </a:r>
          </a:p>
          <a:p>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46</a:t>
            </a:fld>
            <a:endParaRPr lang="en-US"/>
          </a:p>
        </p:txBody>
      </p:sp>
    </p:spTree>
    <p:extLst>
      <p:ext uri="{BB962C8B-B14F-4D97-AF65-F5344CB8AC3E}">
        <p14:creationId xmlns:p14="http://schemas.microsoft.com/office/powerpoint/2010/main" val="1959252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Independence of treatment with respect to treatment effect </a:t>
            </a:r>
          </a:p>
        </p:txBody>
      </p:sp>
      <p:sp>
        <p:nvSpPr>
          <p:cNvPr id="3" name="Content Placeholder 2"/>
          <p:cNvSpPr>
            <a:spLocks noGrp="1"/>
          </p:cNvSpPr>
          <p:nvPr>
            <p:ph idx="1"/>
          </p:nvPr>
        </p:nvSpPr>
        <p:spPr/>
        <p:txBody>
          <a:bodyPr/>
          <a:lstStyle/>
          <a:p>
            <a:r>
              <a:rPr lang="en-US" dirty="0"/>
              <a:t>Probability of treatment not correlated with expected treatment effect </a:t>
            </a:r>
          </a:p>
          <a:p>
            <a:r>
              <a:rPr lang="en-US" dirty="0"/>
              <a:t>Violated if those with larger treatment effects more likely to be treated – selection into treatment </a:t>
            </a:r>
          </a:p>
          <a:p>
            <a:r>
              <a:rPr lang="en-US" dirty="0" err="1"/>
              <a:t>Eg</a:t>
            </a:r>
            <a:r>
              <a:rPr lang="en-US" dirty="0"/>
              <a:t> scholarship as a function of test scores and going to university  </a:t>
            </a:r>
          </a:p>
          <a:p>
            <a:pPr lvl="1"/>
            <a:r>
              <a:rPr lang="en-US" dirty="0"/>
              <a:t>Those with scholarship more likely to go at threshold </a:t>
            </a:r>
          </a:p>
          <a:p>
            <a:pPr lvl="1"/>
            <a:r>
              <a:rPr lang="en-US" dirty="0"/>
              <a:t>We see earnings effects at threshold</a:t>
            </a:r>
          </a:p>
          <a:p>
            <a:pPr lvl="1"/>
            <a:r>
              <a:rPr lang="en-US" dirty="0"/>
              <a:t>Those that go and take up the scholarship may select on have large returns to education due to higher earnings </a:t>
            </a:r>
          </a:p>
        </p:txBody>
      </p:sp>
      <p:sp>
        <p:nvSpPr>
          <p:cNvPr id="4" name="Slide Number Placeholder 3"/>
          <p:cNvSpPr>
            <a:spLocks noGrp="1"/>
          </p:cNvSpPr>
          <p:nvPr>
            <p:ph type="sldNum" sz="quarter" idx="12"/>
          </p:nvPr>
        </p:nvSpPr>
        <p:spPr/>
        <p:txBody>
          <a:bodyPr/>
          <a:lstStyle/>
          <a:p>
            <a:fld id="{4698AAF4-35A4-40F4-A7AE-C8E2C41B9252}" type="slidenum">
              <a:rPr lang="en-US" smtClean="0"/>
              <a:t>47</a:t>
            </a:fld>
            <a:endParaRPr lang="en-US"/>
          </a:p>
        </p:txBody>
      </p:sp>
    </p:spTree>
    <p:extLst>
      <p:ext uri="{BB962C8B-B14F-4D97-AF65-F5344CB8AC3E}">
        <p14:creationId xmlns:p14="http://schemas.microsoft.com/office/powerpoint/2010/main" val="30606746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However probability of treatment may be correlated with expected gain</a:t>
            </a:r>
          </a:p>
        </p:txBody>
      </p:sp>
      <p:sp>
        <p:nvSpPr>
          <p:cNvPr id="3" name="Content Placeholder 2"/>
          <p:cNvSpPr>
            <a:spLocks noGrp="1"/>
          </p:cNvSpPr>
          <p:nvPr>
            <p:ph idx="1"/>
          </p:nvPr>
        </p:nvSpPr>
        <p:spPr/>
        <p:txBody>
          <a:bodyPr>
            <a:normAutofit fontScale="92500" lnSpcReduction="10000"/>
          </a:bodyPr>
          <a:lstStyle/>
          <a:p>
            <a:r>
              <a:rPr lang="en-US" dirty="0"/>
              <a:t>Assumption A3 </a:t>
            </a:r>
          </a:p>
          <a:p>
            <a:pPr marL="0" indent="0">
              <a:buNone/>
            </a:pPr>
            <a:r>
              <a:rPr lang="en-US" dirty="0"/>
              <a:t>(i)                     is jointly independent of     near   </a:t>
            </a:r>
          </a:p>
          <a:p>
            <a:pPr marL="0" indent="0">
              <a:buNone/>
            </a:pPr>
            <a:endParaRPr lang="en-US" dirty="0"/>
          </a:p>
          <a:p>
            <a:pPr marL="0" indent="0">
              <a:buNone/>
            </a:pPr>
            <a:r>
              <a:rPr lang="en-US" dirty="0"/>
              <a:t>(ii) </a:t>
            </a:r>
          </a:p>
          <a:p>
            <a:endParaRPr lang="en-US" dirty="0"/>
          </a:p>
          <a:p>
            <a:r>
              <a:rPr lang="en-US" dirty="0"/>
              <a:t>(i) Means treatment effect may be correlated with treatment but effect of treatment for each individual does not vary with z near the discontinuity </a:t>
            </a:r>
          </a:p>
          <a:p>
            <a:pPr lvl="1"/>
            <a:r>
              <a:rPr lang="en-US" dirty="0"/>
              <a:t>Example multiple subgroups each with different constant treatment effects beta and different probabilities of being compliers </a:t>
            </a:r>
          </a:p>
          <a:p>
            <a:r>
              <a:rPr lang="en-US" dirty="0"/>
              <a:t>(ii) Monotonicity – implies no </a:t>
            </a:r>
            <a:r>
              <a:rPr lang="en-US" dirty="0" err="1"/>
              <a:t>defiers</a:t>
            </a:r>
            <a:r>
              <a:rPr lang="en-US" dirty="0"/>
              <a:t> in the neighborhood of the discontinuity   </a:t>
            </a:r>
          </a:p>
        </p:txBody>
      </p:sp>
      <p:graphicFrame>
        <p:nvGraphicFramePr>
          <p:cNvPr id="4" name="Object 3"/>
          <p:cNvGraphicFramePr>
            <a:graphicFrameLocks noChangeAspect="1"/>
          </p:cNvGraphicFramePr>
          <p:nvPr/>
        </p:nvGraphicFramePr>
        <p:xfrm>
          <a:off x="1350816" y="3009203"/>
          <a:ext cx="9630296" cy="630347"/>
        </p:xfrm>
        <a:graphic>
          <a:graphicData uri="http://schemas.openxmlformats.org/presentationml/2006/ole">
            <mc:AlternateContent xmlns:mc="http://schemas.openxmlformats.org/markup-compatibility/2006">
              <mc:Choice xmlns:v="urn:schemas-microsoft-com:vml" Requires="v">
                <p:oleObj name="Equation" r:id="rId2" imgW="3492360" imgH="228600" progId="Equation.DSMT4">
                  <p:embed/>
                </p:oleObj>
              </mc:Choice>
              <mc:Fallback>
                <p:oleObj name="Equation" r:id="rId2" imgW="3492360" imgH="228600" progId="Equation.DSMT4">
                  <p:embed/>
                  <p:pic>
                    <p:nvPicPr>
                      <p:cNvPr id="4" name="Object 3"/>
                      <p:cNvPicPr/>
                      <p:nvPr/>
                    </p:nvPicPr>
                    <p:blipFill>
                      <a:blip r:embed="rId3"/>
                      <a:stretch>
                        <a:fillRect/>
                      </a:stretch>
                    </p:blipFill>
                    <p:spPr>
                      <a:xfrm>
                        <a:off x="1350816" y="3009203"/>
                        <a:ext cx="9630296" cy="630347"/>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1442256" y="2266262"/>
          <a:ext cx="1220333" cy="439320"/>
        </p:xfrm>
        <a:graphic>
          <a:graphicData uri="http://schemas.openxmlformats.org/presentationml/2006/ole">
            <mc:AlternateContent xmlns:mc="http://schemas.openxmlformats.org/markup-compatibility/2006">
              <mc:Choice xmlns:v="urn:schemas-microsoft-com:vml" Requires="v">
                <p:oleObj name="Equation" r:id="rId4" imgW="634680" imgH="228600" progId="Equation.DSMT4">
                  <p:embed/>
                </p:oleObj>
              </mc:Choice>
              <mc:Fallback>
                <p:oleObj name="Equation" r:id="rId4" imgW="634680" imgH="228600" progId="Equation.DSMT4">
                  <p:embed/>
                  <p:pic>
                    <p:nvPicPr>
                      <p:cNvPr id="5" name="Object 4"/>
                      <p:cNvPicPr/>
                      <p:nvPr/>
                    </p:nvPicPr>
                    <p:blipFill>
                      <a:blip r:embed="rId5"/>
                      <a:stretch>
                        <a:fillRect/>
                      </a:stretch>
                    </p:blipFill>
                    <p:spPr>
                      <a:xfrm>
                        <a:off x="1442256" y="2266262"/>
                        <a:ext cx="1220333" cy="439320"/>
                      </a:xfrm>
                      <a:prstGeom prst="rect">
                        <a:avLst/>
                      </a:prstGeom>
                    </p:spPr>
                  </p:pic>
                </p:oleObj>
              </mc:Fallback>
            </mc:AlternateContent>
          </a:graphicData>
        </a:graphic>
      </p:graphicFrame>
      <p:graphicFrame>
        <p:nvGraphicFramePr>
          <p:cNvPr id="6" name="Object 5"/>
          <p:cNvGraphicFramePr>
            <a:graphicFrameLocks noChangeAspect="1"/>
          </p:cNvGraphicFramePr>
          <p:nvPr/>
        </p:nvGraphicFramePr>
        <p:xfrm>
          <a:off x="6096000" y="2285582"/>
          <a:ext cx="328612" cy="330200"/>
        </p:xfrm>
        <a:graphic>
          <a:graphicData uri="http://schemas.openxmlformats.org/presentationml/2006/ole">
            <mc:AlternateContent xmlns:mc="http://schemas.openxmlformats.org/markup-compatibility/2006">
              <mc:Choice xmlns:v="urn:schemas-microsoft-com:vml" Requires="v">
                <p:oleObj name="Equation" r:id="rId6" imgW="126720" imgH="126720" progId="Equation.DSMT4">
                  <p:embed/>
                </p:oleObj>
              </mc:Choice>
              <mc:Fallback>
                <p:oleObj name="Equation" r:id="rId6" imgW="126720" imgH="126720" progId="Equation.DSMT4">
                  <p:embed/>
                  <p:pic>
                    <p:nvPicPr>
                      <p:cNvPr id="6" name="Object 5"/>
                      <p:cNvPicPr/>
                      <p:nvPr/>
                    </p:nvPicPr>
                    <p:blipFill>
                      <a:blip r:embed="rId7"/>
                      <a:stretch>
                        <a:fillRect/>
                      </a:stretch>
                    </p:blipFill>
                    <p:spPr>
                      <a:xfrm>
                        <a:off x="6096000" y="2285582"/>
                        <a:ext cx="328612" cy="330200"/>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7064548" y="2154380"/>
          <a:ext cx="427990" cy="592603"/>
        </p:xfrm>
        <a:graphic>
          <a:graphicData uri="http://schemas.openxmlformats.org/presentationml/2006/ole">
            <mc:AlternateContent xmlns:mc="http://schemas.openxmlformats.org/markup-compatibility/2006">
              <mc:Choice xmlns:v="urn:schemas-microsoft-com:vml" Requires="v">
                <p:oleObj name="Equation" r:id="rId8" imgW="164880" imgH="228600" progId="Equation.DSMT4">
                  <p:embed/>
                </p:oleObj>
              </mc:Choice>
              <mc:Fallback>
                <p:oleObj name="Equation" r:id="rId8" imgW="164880" imgH="228600" progId="Equation.DSMT4">
                  <p:embed/>
                  <p:pic>
                    <p:nvPicPr>
                      <p:cNvPr id="7" name="Object 6"/>
                      <p:cNvPicPr/>
                      <p:nvPr/>
                    </p:nvPicPr>
                    <p:blipFill>
                      <a:blip r:embed="rId9"/>
                      <a:stretch>
                        <a:fillRect/>
                      </a:stretch>
                    </p:blipFill>
                    <p:spPr>
                      <a:xfrm>
                        <a:off x="7064548" y="2154380"/>
                        <a:ext cx="427990" cy="592603"/>
                      </a:xfrm>
                      <a:prstGeom prst="rect">
                        <a:avLst/>
                      </a:prstGeom>
                    </p:spPr>
                  </p:pic>
                </p:oleObj>
              </mc:Fallback>
            </mc:AlternateContent>
          </a:graphicData>
        </a:graphic>
      </p:graphicFrame>
      <p:sp>
        <p:nvSpPr>
          <p:cNvPr id="8" name="Slide Number Placeholder 7"/>
          <p:cNvSpPr>
            <a:spLocks noGrp="1"/>
          </p:cNvSpPr>
          <p:nvPr>
            <p:ph type="sldNum" sz="quarter" idx="12"/>
          </p:nvPr>
        </p:nvSpPr>
        <p:spPr/>
        <p:txBody>
          <a:bodyPr/>
          <a:lstStyle/>
          <a:p>
            <a:fld id="{4698AAF4-35A4-40F4-A7AE-C8E2C41B9252}" type="slidenum">
              <a:rPr lang="en-US" smtClean="0"/>
              <a:t>48</a:t>
            </a:fld>
            <a:endParaRPr lang="en-US"/>
          </a:p>
        </p:txBody>
      </p:sp>
    </p:spTree>
    <p:extLst>
      <p:ext uri="{BB962C8B-B14F-4D97-AF65-F5344CB8AC3E}">
        <p14:creationId xmlns:p14="http://schemas.microsoft.com/office/powerpoint/2010/main" val="39229194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Average Treatment Effect  </a:t>
            </a:r>
          </a:p>
        </p:txBody>
      </p:sp>
      <p:sp>
        <p:nvSpPr>
          <p:cNvPr id="3" name="Content Placeholder 2"/>
          <p:cNvSpPr>
            <a:spLocks noGrp="1"/>
          </p:cNvSpPr>
          <p:nvPr>
            <p:ph idx="1"/>
          </p:nvPr>
        </p:nvSpPr>
        <p:spPr/>
        <p:txBody>
          <a:bodyPr>
            <a:normAutofit lnSpcReduction="10000"/>
          </a:bodyPr>
          <a:lstStyle/>
          <a:p>
            <a:r>
              <a:rPr lang="en-US" dirty="0"/>
              <a:t>Suppose assumptions RD, A1, and A3 hold then</a:t>
            </a:r>
          </a:p>
          <a:p>
            <a:endParaRPr lang="en-US" dirty="0"/>
          </a:p>
          <a:p>
            <a:endParaRPr lang="en-US" dirty="0"/>
          </a:p>
          <a:p>
            <a:endParaRPr lang="en-US" dirty="0"/>
          </a:p>
          <a:p>
            <a:endParaRPr lang="en-US" dirty="0"/>
          </a:p>
          <a:p>
            <a:r>
              <a:rPr lang="en-US" dirty="0"/>
              <a:t>Under these assumptions the effect of treatment in a fuzzy RDD is the average treatment effect on compliers at the threshold.</a:t>
            </a:r>
          </a:p>
          <a:p>
            <a:r>
              <a:rPr lang="en-US" dirty="0"/>
              <a:t>Example treatment effect on women different than men (both constant) then the LATE depends on the ratio of women to men among compliers. </a:t>
            </a:r>
          </a:p>
        </p:txBody>
      </p:sp>
      <p:graphicFrame>
        <p:nvGraphicFramePr>
          <p:cNvPr id="4" name="Object 3"/>
          <p:cNvGraphicFramePr>
            <a:graphicFrameLocks noChangeAspect="1"/>
          </p:cNvGraphicFramePr>
          <p:nvPr/>
        </p:nvGraphicFramePr>
        <p:xfrm>
          <a:off x="2443306" y="2749089"/>
          <a:ext cx="6259513" cy="1012825"/>
        </p:xfrm>
        <a:graphic>
          <a:graphicData uri="http://schemas.openxmlformats.org/presentationml/2006/ole">
            <mc:AlternateContent xmlns:mc="http://schemas.openxmlformats.org/markup-compatibility/2006">
              <mc:Choice xmlns:v="urn:schemas-microsoft-com:vml" Requires="v">
                <p:oleObj name="Equation" r:id="rId2" imgW="2666880" imgH="431640" progId="Equation.DSMT4">
                  <p:embed/>
                </p:oleObj>
              </mc:Choice>
              <mc:Fallback>
                <p:oleObj name="Equation" r:id="rId2" imgW="2666880" imgH="431640" progId="Equation.DSMT4">
                  <p:embed/>
                  <p:pic>
                    <p:nvPicPr>
                      <p:cNvPr id="4" name="Object 3"/>
                      <p:cNvPicPr/>
                      <p:nvPr/>
                    </p:nvPicPr>
                    <p:blipFill>
                      <a:blip r:embed="rId3"/>
                      <a:stretch>
                        <a:fillRect/>
                      </a:stretch>
                    </p:blipFill>
                    <p:spPr>
                      <a:xfrm>
                        <a:off x="2443306" y="2749089"/>
                        <a:ext cx="6259513" cy="1012825"/>
                      </a:xfrm>
                      <a:prstGeom prst="rect">
                        <a:avLst/>
                      </a:prstGeom>
                    </p:spPr>
                  </p:pic>
                </p:oleObj>
              </mc:Fallback>
            </mc:AlternateContent>
          </a:graphicData>
        </a:graphic>
      </p:graphicFrame>
      <p:sp>
        <p:nvSpPr>
          <p:cNvPr id="5" name="Slide Number Placeholder 4"/>
          <p:cNvSpPr>
            <a:spLocks noGrp="1"/>
          </p:cNvSpPr>
          <p:nvPr>
            <p:ph type="sldNum" sz="quarter" idx="12"/>
          </p:nvPr>
        </p:nvSpPr>
        <p:spPr/>
        <p:txBody>
          <a:bodyPr/>
          <a:lstStyle/>
          <a:p>
            <a:fld id="{4698AAF4-35A4-40F4-A7AE-C8E2C41B9252}" type="slidenum">
              <a:rPr lang="en-US" smtClean="0"/>
              <a:t>49</a:t>
            </a:fld>
            <a:endParaRPr lang="en-US"/>
          </a:p>
        </p:txBody>
      </p:sp>
    </p:spTree>
    <p:extLst>
      <p:ext uri="{BB962C8B-B14F-4D97-AF65-F5344CB8AC3E}">
        <p14:creationId xmlns:p14="http://schemas.microsoft.com/office/powerpoint/2010/main" val="40427906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running variables</a:t>
            </a:r>
          </a:p>
        </p:txBody>
      </p:sp>
      <p:sp>
        <p:nvSpPr>
          <p:cNvPr id="3" name="Content Placeholder 2"/>
          <p:cNvSpPr>
            <a:spLocks noGrp="1"/>
          </p:cNvSpPr>
          <p:nvPr>
            <p:ph idx="1"/>
          </p:nvPr>
        </p:nvSpPr>
        <p:spPr>
          <a:xfrm>
            <a:off x="838200" y="1474237"/>
            <a:ext cx="10515600" cy="4702726"/>
          </a:xfrm>
        </p:spPr>
        <p:txBody>
          <a:bodyPr>
            <a:normAutofit fontScale="85000" lnSpcReduction="20000"/>
          </a:bodyPr>
          <a:lstStyle/>
          <a:p>
            <a:r>
              <a:rPr lang="en-US" dirty="0"/>
              <a:t>Two approaches (assume sharp RDD)</a:t>
            </a:r>
          </a:p>
          <a:p>
            <a:r>
              <a:rPr lang="en-US" dirty="0"/>
              <a:t>Approach 1: Define single running variable by distance (in some metric) from the threshold border with positive distance above and negative distance below threshold. Do all analysis in terms of this single running variable</a:t>
            </a:r>
          </a:p>
          <a:p>
            <a:r>
              <a:rPr lang="en-US" dirty="0"/>
              <a:t>If thresholds are of the form treat if z1&gt;z1* or z2&gt;z2* we can define </a:t>
            </a:r>
          </a:p>
          <a:p>
            <a:pPr lvl="1"/>
            <a:r>
              <a:rPr lang="en-US" dirty="0"/>
              <a:t>z = max{z1-z1*, z2-z2*} with a threshold at z*=0 </a:t>
            </a:r>
          </a:p>
          <a:p>
            <a:r>
              <a:rPr lang="en-US" dirty="0"/>
              <a:t>Approach 2: then we can do two separate RDD</a:t>
            </a:r>
          </a:p>
          <a:p>
            <a:pPr lvl="1"/>
            <a:r>
              <a:rPr lang="en-US" dirty="0"/>
              <a:t>Estimate effect at z1* for z2&lt;z2*</a:t>
            </a:r>
          </a:p>
          <a:p>
            <a:pPr lvl="1"/>
            <a:r>
              <a:rPr lang="en-US" dirty="0"/>
              <a:t>Estimate effect at z2* for z1&lt;z1*</a:t>
            </a:r>
          </a:p>
          <a:p>
            <a:r>
              <a:rPr lang="en-US" dirty="0"/>
              <a:t>Each approach estimates different ATE </a:t>
            </a:r>
          </a:p>
          <a:p>
            <a:pPr lvl="1"/>
            <a:r>
              <a:rPr lang="en-US" dirty="0"/>
              <a:t>Estimate effect at z1* for z2&lt;z2* - ATE crossing boundary z1* given z2&lt;z2*</a:t>
            </a:r>
          </a:p>
          <a:p>
            <a:pPr lvl="1"/>
            <a:r>
              <a:rPr lang="en-US" dirty="0"/>
              <a:t>Estimate effect at z2* for z1&lt;z1* - ATE crossing boundary z2* given z1&lt;z1*</a:t>
            </a:r>
          </a:p>
          <a:p>
            <a:pPr lvl="1"/>
            <a:r>
              <a:rPr lang="en-US" dirty="0"/>
              <a:t>Single running variable gives an average of these two effects weighted by the proportion of times we cross the threshold on each boundary</a:t>
            </a:r>
          </a:p>
          <a:p>
            <a:pPr lvl="1"/>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50</a:t>
            </a:fld>
            <a:endParaRPr lang="en-US"/>
          </a:p>
        </p:txBody>
      </p:sp>
    </p:spTree>
    <p:extLst>
      <p:ext uri="{BB962C8B-B14F-4D97-AF65-F5344CB8AC3E}">
        <p14:creationId xmlns:p14="http://schemas.microsoft.com/office/powerpoint/2010/main" val="1889352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3320</TotalTime>
  <Words>3861</Words>
  <Application>Microsoft Macintosh PowerPoint</Application>
  <PresentationFormat>Widescreen</PresentationFormat>
  <Paragraphs>408</Paragraphs>
  <Slides>50</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57" baseType="lpstr">
      <vt:lpstr>Andes</vt:lpstr>
      <vt:lpstr>Arial</vt:lpstr>
      <vt:lpstr>Calibri</vt:lpstr>
      <vt:lpstr>Calibri Light</vt:lpstr>
      <vt:lpstr>Cambria Math</vt:lpstr>
      <vt:lpstr>Office Theme</vt:lpstr>
      <vt:lpstr>Equation</vt:lpstr>
      <vt:lpstr>PHS 2000  Econometric Methods 2025  Lecture 3 Regression Discontinuity Design</vt:lpstr>
      <vt:lpstr>Plan of presentation</vt:lpstr>
      <vt:lpstr>Unobserved variables and observational biases</vt:lpstr>
      <vt:lpstr>Regression Discontinuity Designs (RDD) -- intuition</vt:lpstr>
      <vt:lpstr>Example 1 for discontinuities: Scholarship</vt:lpstr>
      <vt:lpstr>Example 2A: Guidelines -- birthweight</vt:lpstr>
      <vt:lpstr>Example 2B: Guidelines – pregnancy age</vt:lpstr>
      <vt:lpstr>Many other examples of RDD in the literature</vt:lpstr>
      <vt:lpstr>RDD – how it works</vt:lpstr>
      <vt:lpstr>Under what conditions can we estimate RDD?</vt:lpstr>
      <vt:lpstr>What assumptions required for RDD to be valid? </vt:lpstr>
      <vt:lpstr>RDD, RCTs, and IV estimation</vt:lpstr>
      <vt:lpstr>How do we feel about the identifying assumption in these cases</vt:lpstr>
      <vt:lpstr>Critical threshold for treatment</vt:lpstr>
      <vt:lpstr>Are there “discontinuities” in outcomes?</vt:lpstr>
      <vt:lpstr>Example – looking for discontinuities in outcomes</vt:lpstr>
      <vt:lpstr>Example – looking for discontinuities in outcomes</vt:lpstr>
      <vt:lpstr>Sharp discontinuities vs. fuzzy discontinuities</vt:lpstr>
      <vt:lpstr>Sharp or fuzzy</vt:lpstr>
      <vt:lpstr>Sharp or fuzzy</vt:lpstr>
      <vt:lpstr>Example of fuzzy RDD – length of stay after birth</vt:lpstr>
      <vt:lpstr>Identifying the causal effect</vt:lpstr>
      <vt:lpstr>Interpreting sharp vs. fuzzy designs</vt:lpstr>
      <vt:lpstr>Complier Average Causal Effect (CACE)</vt:lpstr>
      <vt:lpstr>Conceptual challenge 1: Plausibility of identifying assumption</vt:lpstr>
      <vt:lpstr>Example of violation of identifying assumption</vt:lpstr>
      <vt:lpstr>Conceptual challenge 2: External validity</vt:lpstr>
      <vt:lpstr>How do we feel about external validity for these cases?</vt:lpstr>
      <vt:lpstr>Conceptual challenge 3: Bandwidth and counterfactual outcomes</vt:lpstr>
      <vt:lpstr>PowerPoint Presentation</vt:lpstr>
      <vt:lpstr>Formal RDD Assumptions </vt:lpstr>
      <vt:lpstr>Advanced topics in RDD</vt:lpstr>
      <vt:lpstr>Practical Tips: Assessing the Validity of RDD</vt:lpstr>
      <vt:lpstr>Assessing bunching</vt:lpstr>
      <vt:lpstr>Age as a running variable – special issues</vt:lpstr>
      <vt:lpstr>What are we estimating?</vt:lpstr>
      <vt:lpstr>IV vs. RDD</vt:lpstr>
      <vt:lpstr>Strength of RDDs</vt:lpstr>
      <vt:lpstr>RDD summary</vt:lpstr>
      <vt:lpstr>Additional Slides  Recommended readings on approach</vt:lpstr>
      <vt:lpstr>Recommended readings for application of RDD</vt:lpstr>
      <vt:lpstr>Recommended readings for application of RDD</vt:lpstr>
      <vt:lpstr>RDD Formal Assumptions </vt:lpstr>
      <vt:lpstr>RDD Formal Assumptions </vt:lpstr>
      <vt:lpstr>Homogeneity and Heterogeneity   </vt:lpstr>
      <vt:lpstr>Exogeneity and independence assumptions not needed in Fuzzy Regression Discontinuity </vt:lpstr>
      <vt:lpstr>Independence of treatment with respect to treatment effect </vt:lpstr>
      <vt:lpstr>However probability of treatment may be correlated with expected gain</vt:lpstr>
      <vt:lpstr>Local Average Treatment Effect  </vt:lpstr>
      <vt:lpstr>Multiple running variables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dc:creator>
  <cp:lastModifiedBy>McConnell, Margaret Anne</cp:lastModifiedBy>
  <cp:revision>381</cp:revision>
  <dcterms:created xsi:type="dcterms:W3CDTF">2019-03-20T01:54:21Z</dcterms:created>
  <dcterms:modified xsi:type="dcterms:W3CDTF">2026-03-29T17:10:40Z</dcterms:modified>
</cp:coreProperties>
</file>